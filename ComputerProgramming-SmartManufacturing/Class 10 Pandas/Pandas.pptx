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5356B-D072-B3DE-2CF5-1E36E2EBF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439155-846F-E4ED-EC92-4C5BBF4C8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CA7EA-6F66-B984-73C9-B0C3D7A26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3380-28CF-4192-BC62-AB03505B87C8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8B0F1-6702-45BC-C75D-B66D817B4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61C6C-268A-22C9-6E7E-EDAAC1D4E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BF07E-9722-4A7D-A3F1-B89EA389D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13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AC5F4-99DF-E5F9-7D80-7B2830942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CBC77-4D96-119F-C0F5-A79808E68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5BD05-E2A2-25E9-E976-D398703F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3380-28CF-4192-BC62-AB03505B87C8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7B197-8EEB-C9C5-182B-6CF173D5A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E0912-53F1-3A3E-A02F-8A23B498E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BF07E-9722-4A7D-A3F1-B89EA389D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076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25FF-4BEF-6C2E-3BC9-11E63DB34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4ADC4-584D-9B8D-7E61-2CAD558DC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47888-334A-C42E-1D36-E8F87E99B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3380-28CF-4192-BC62-AB03505B87C8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17B77-35CE-39EC-356E-AF3D8074D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76E4B-B705-8184-0E1D-E02B70E43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BF07E-9722-4A7D-A3F1-B89EA389D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714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60FF4-DD18-7621-ED94-07CD76B19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A5C6C-6C56-0E2E-9712-CD73C81166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4A6B4-82B0-AE6A-8B51-195C10BCE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CA249B-AD38-2EEF-2946-1B0F82C15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3380-28CF-4192-BC62-AB03505B87C8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899EF-2BA3-DA20-5C46-6416F8C25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278DB2-CD85-7325-7F39-31739ACDB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BF07E-9722-4A7D-A3F1-B89EA389D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173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0C434-D97E-960D-1C9A-07B3A7C51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532E4-4857-9CDF-BAE3-BC9E2D83F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673A14-DE10-B91D-3D9D-A31AF0367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1B337A-594D-EDEC-F17D-6D26C8D301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3951D0-8BD1-CB2D-F06A-52ABF8066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68422D-26FC-8652-4671-DF46ACEB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3380-28CF-4192-BC62-AB03505B87C8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F115EA-0B4A-3279-A68B-34519F96F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854F4F-C924-670E-75F2-2ADD6CF1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BF07E-9722-4A7D-A3F1-B89EA389D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35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2C339-901E-72C8-2A89-2FCA0F8DC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1C7F33-FB84-232B-3B3A-121BE268C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3380-28CF-4192-BC62-AB03505B87C8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B89D52-3BCF-1265-0597-D1E028260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A69E5A-C65D-2350-4DDC-4BCEADF3A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BF07E-9722-4A7D-A3F1-B89EA389D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91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3E4AA7-FE54-0E9D-E4CC-2016E8D8B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3380-28CF-4192-BC62-AB03505B87C8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E958F7-013A-3940-CACC-DDC6C4C1D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13CBC-7A0D-E968-1464-8D13A7246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BF07E-9722-4A7D-A3F1-B89EA389D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020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305EB-1F59-4F36-F48A-B6B48CBD7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918FD-2AFD-95EF-362F-FDB53649A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8138DC-5F02-D63B-6E75-CCF88C6ED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B1A61-37F5-850B-E03E-91865505A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3380-28CF-4192-BC62-AB03505B87C8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77B29-059C-65C4-C8C2-471D9452C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33C12F-C988-F207-854B-B94C97D87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BF07E-9722-4A7D-A3F1-B89EA389D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51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F15DE-9150-9C38-35BB-746D67299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9C705-96C4-7C14-6D20-9FCFBC867C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198EF-7FF2-7479-8CCF-DCADDCDC0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D3BF7-4AB5-E33F-4337-32FF7D39C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3380-28CF-4192-BC62-AB03505B87C8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C451E-6574-DAAA-DA94-6E1B062FA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FF313-C86E-725D-089B-50C74339D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BF07E-9722-4A7D-A3F1-B89EA389D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265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28F37-A428-69B5-8405-AB6519BC5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699FB1-F0A0-DFFB-89B4-FCABFA95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7A7D4-2C68-8777-BC1B-1CEB18E1C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3380-28CF-4192-BC62-AB03505B87C8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D4B55-C316-E978-5F66-CF63CF125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ED832-8AAC-579D-B640-D4D0F6CA8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BF07E-9722-4A7D-A3F1-B89EA389D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560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9AFFD2-D45C-9D68-BC25-B478B6E8A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5337A-E277-B828-0FE1-E7A5B0149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F1034-785E-1C25-F4C8-78ED6C146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3380-28CF-4192-BC62-AB03505B87C8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E1A3C-D671-0738-F087-56352003F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18C00-1F8E-6502-34A5-CEAB587AA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BF07E-9722-4A7D-A3F1-B89EA389D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591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47B254-5864-DEF6-ADE7-84BC1071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4E7B0-F2E2-990B-CEE5-C2D21F35E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3AAC8-7F95-F8CC-96A1-166ACC1AD9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53380-28CF-4192-BC62-AB03505B87C8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50AB7-CEFE-FD7C-E60D-DA20AE24A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8956B-4CDD-3FF9-4EB2-A447763AE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BF07E-9722-4A7D-A3F1-B89EA389D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45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896AE-C2F1-1DA3-3ADA-540B26A63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Pandas?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81F1A-64A0-C362-7153-0F6D3C26B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  <a:r>
              <a:rPr lang="en-US" dirty="0"/>
              <a:t> A powerful data manipulation and analysis library for Python.</a:t>
            </a:r>
          </a:p>
          <a:p>
            <a:r>
              <a:rPr lang="en-US" b="1" dirty="0"/>
              <a:t>Key Features:</a:t>
            </a:r>
            <a:endParaRPr lang="en-US" dirty="0"/>
          </a:p>
          <a:p>
            <a:pPr lvl="1"/>
            <a:r>
              <a:rPr lang="en-US" dirty="0"/>
              <a:t>Data structures: Series and </a:t>
            </a:r>
            <a:r>
              <a:rPr lang="en-US" dirty="0" err="1"/>
              <a:t>DataFrame</a:t>
            </a:r>
            <a:endParaRPr lang="en-US" dirty="0"/>
          </a:p>
          <a:p>
            <a:pPr lvl="1"/>
            <a:r>
              <a:rPr lang="en-US" dirty="0"/>
              <a:t>Data cleaning and preparation</a:t>
            </a:r>
          </a:p>
          <a:p>
            <a:pPr lvl="1"/>
            <a:r>
              <a:rPr lang="en-US" dirty="0"/>
              <a:t>Data analysis and visualization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709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94E4F-8F2D-B9EC-FAFB-6F4E5662C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Pandas Series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FC8CA-2BE2-3CB1-0437-29C7ED2AA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  <a:r>
              <a:rPr lang="en-US" dirty="0"/>
              <a:t> A one-dimensional labeled array capable of holding any data type.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E220B5-2B9E-E40D-4A0B-9A5407190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419" y="3181315"/>
            <a:ext cx="2591162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832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BC2F1-746B-983B-B713-C82C650FE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Pandas </a:t>
            </a:r>
            <a:r>
              <a:rPr lang="en-US" b="1" dirty="0" err="1"/>
              <a:t>DataFrame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E81EA-8D70-102A-27FE-596EB54E2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  <a:r>
              <a:rPr lang="en-US" dirty="0"/>
              <a:t> A two-dimensional labeled data structure with columns of potentially different types.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210FD5-15A4-556F-1D3B-EDA7283F0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100" y="3583358"/>
            <a:ext cx="3762900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437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056C8-CFF9-7D6B-3B6A-CBD772E5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DataFrame</a:t>
            </a:r>
            <a:r>
              <a:rPr lang="en-US" b="1" dirty="0"/>
              <a:t> Basics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FB318-51F6-60CB-B886-6FF9F0486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Shape:</a:t>
            </a:r>
            <a:r>
              <a:rPr lang="en-US" dirty="0"/>
              <a:t> </a:t>
            </a:r>
            <a:r>
              <a:rPr lang="en-US" dirty="0" err="1"/>
              <a:t>df.shape</a:t>
            </a:r>
            <a:r>
              <a:rPr lang="en-US" dirty="0"/>
              <a:t> returns (4, 3)</a:t>
            </a:r>
          </a:p>
          <a:p>
            <a:r>
              <a:rPr lang="en-US" b="1" dirty="0"/>
              <a:t>Accessing Rows and Columns:</a:t>
            </a:r>
            <a:endParaRPr lang="en-US" dirty="0"/>
          </a:p>
          <a:p>
            <a:pPr lvl="1"/>
            <a:r>
              <a:rPr lang="en-US" dirty="0"/>
              <a:t>Number of rows: </a:t>
            </a:r>
            <a:r>
              <a:rPr lang="en-US" dirty="0" err="1"/>
              <a:t>df.shape</a:t>
            </a:r>
            <a:r>
              <a:rPr lang="en-US" dirty="0"/>
              <a:t>[0]</a:t>
            </a:r>
          </a:p>
          <a:p>
            <a:pPr lvl="1"/>
            <a:r>
              <a:rPr lang="en-US" dirty="0"/>
              <a:t>Number of columns: </a:t>
            </a:r>
            <a:r>
              <a:rPr lang="en-US" dirty="0" err="1"/>
              <a:t>df.shape</a:t>
            </a:r>
            <a:r>
              <a:rPr lang="en-US" dirty="0"/>
              <a:t>[1]</a:t>
            </a:r>
          </a:p>
          <a:p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f"No</a:t>
            </a:r>
            <a:r>
              <a:rPr lang="en-US" dirty="0"/>
              <a:t> of rows: {</a:t>
            </a:r>
            <a:r>
              <a:rPr lang="en-US" dirty="0" err="1"/>
              <a:t>df.shape</a:t>
            </a:r>
            <a:r>
              <a:rPr lang="en-US" dirty="0"/>
              <a:t>[0]}, No of columns: {</a:t>
            </a:r>
            <a:r>
              <a:rPr lang="en-US" dirty="0" err="1"/>
              <a:t>df.shape</a:t>
            </a:r>
            <a:r>
              <a:rPr lang="en-US" dirty="0"/>
              <a:t>[1]}")  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594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80933-ED93-322E-0981-26DACB143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Viewing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4D7A4-F8F7-0D46-A2ED-0819D5E1E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Head and Tail:</a:t>
            </a:r>
            <a:endParaRPr lang="en-US" dirty="0"/>
          </a:p>
          <a:p>
            <a:pPr lvl="1"/>
            <a:r>
              <a:rPr lang="en-US" dirty="0" err="1"/>
              <a:t>df.head</a:t>
            </a:r>
            <a:r>
              <a:rPr lang="en-US" dirty="0"/>
              <a:t>(2) shows the first 2 rows.</a:t>
            </a:r>
          </a:p>
          <a:p>
            <a:pPr lvl="1"/>
            <a:r>
              <a:rPr lang="en-US" dirty="0" err="1"/>
              <a:t>df.tail</a:t>
            </a:r>
            <a:r>
              <a:rPr lang="en-US" dirty="0"/>
              <a:t>(2) shows the last 2 rows.</a:t>
            </a:r>
          </a:p>
          <a:p>
            <a:r>
              <a:rPr lang="en-US" dirty="0"/>
              <a:t>df.info() 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039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76943-3CE1-5F8A-3662-F9D8FB7B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Selecting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1DA7C-C270-BAA0-EBCF-9E842517E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Selecting Columns:</a:t>
            </a:r>
            <a:endParaRPr lang="en-US" dirty="0"/>
          </a:p>
          <a:p>
            <a:pPr lvl="1"/>
            <a:r>
              <a:rPr lang="en-US" dirty="0" err="1"/>
              <a:t>df</a:t>
            </a:r>
            <a:r>
              <a:rPr lang="en-US" dirty="0"/>
              <a:t>["Temperature"]</a:t>
            </a:r>
          </a:p>
          <a:p>
            <a:pPr lvl="1"/>
            <a:r>
              <a:rPr lang="en-US" dirty="0" err="1"/>
              <a:t>df</a:t>
            </a:r>
            <a:r>
              <a:rPr lang="en-US" dirty="0"/>
              <a:t>[["Machine", "Temperature"]]</a:t>
            </a:r>
          </a:p>
          <a:p>
            <a:r>
              <a:rPr lang="en-US" b="1" dirty="0"/>
              <a:t>Value Counts</a:t>
            </a:r>
            <a:endParaRPr lang="en-US" dirty="0"/>
          </a:p>
          <a:p>
            <a:r>
              <a:rPr lang="en-US" dirty="0" err="1"/>
              <a:t>df</a:t>
            </a:r>
            <a:r>
              <a:rPr lang="en-US" dirty="0"/>
              <a:t>["Status"].</a:t>
            </a:r>
            <a:r>
              <a:rPr lang="en-US" dirty="0" err="1"/>
              <a:t>value_counts</a:t>
            </a:r>
            <a:r>
              <a:rPr lang="en-US" dirty="0"/>
              <a:t>().</a:t>
            </a:r>
            <a:r>
              <a:rPr lang="en-US" dirty="0" err="1"/>
              <a:t>reset_index</a:t>
            </a:r>
            <a:r>
              <a:rPr lang="en-US" dirty="0"/>
              <a:t>()  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480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2802-36A2-A3F0-3950-749AB4447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Filtering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656E3-0348-FE77-A76E-CE079904E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 err="1"/>
              <a:t>df</a:t>
            </a:r>
            <a:r>
              <a:rPr lang="en-US" dirty="0"/>
              <a:t>["Temperature"] &gt; 78] 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20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662D1-FC9B-6CDC-258E-863590D02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Reading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31AA5-4E86-2ECA-94C9-04AAB5227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Read Table</a:t>
            </a:r>
          </a:p>
          <a:p>
            <a:r>
              <a:rPr lang="en-US" dirty="0"/>
              <a:t>orders = </a:t>
            </a:r>
            <a:r>
              <a:rPr lang="en-US" dirty="0" err="1"/>
              <a:t>pd.read_table</a:t>
            </a:r>
            <a:r>
              <a:rPr lang="en-US" dirty="0"/>
              <a:t>("https://raw.githubusercontent.com/</a:t>
            </a:r>
            <a:r>
              <a:rPr lang="en-US" dirty="0" err="1"/>
              <a:t>justmarkham</a:t>
            </a:r>
            <a:r>
              <a:rPr lang="en-US" dirty="0"/>
              <a:t>/pandas-videos/master/data/</a:t>
            </a:r>
            <a:r>
              <a:rPr lang="en-US" dirty="0" err="1"/>
              <a:t>chiporders</a:t>
            </a:r>
            <a:r>
              <a:rPr lang="en-US" dirty="0"/>
              <a:t>")  </a:t>
            </a:r>
          </a:p>
          <a:p>
            <a:pPr marL="0" indent="0">
              <a:buNone/>
            </a:pPr>
            <a:endParaRPr lang="en-US" b="1" dirty="0"/>
          </a:p>
          <a:p>
            <a:endParaRPr lang="en-US" b="1" dirty="0"/>
          </a:p>
          <a:p>
            <a:r>
              <a:rPr lang="en-US" dirty="0"/>
              <a:t>Read CSV</a:t>
            </a:r>
          </a:p>
          <a:p>
            <a:pPr lvl="1"/>
            <a:r>
              <a:rPr lang="en-US" dirty="0"/>
              <a:t>movies = </a:t>
            </a:r>
            <a:r>
              <a:rPr lang="en-US" dirty="0" err="1"/>
              <a:t>pd.read_csv</a:t>
            </a:r>
            <a:r>
              <a:rPr lang="en-US" dirty="0"/>
              <a:t>("http://bit.ly/</a:t>
            </a:r>
            <a:r>
              <a:rPr lang="en-US" dirty="0" err="1"/>
              <a:t>imdbratings</a:t>
            </a:r>
            <a:r>
              <a:rPr lang="en-US" dirty="0"/>
              <a:t>")  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683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827C6-98B7-8314-B7A8-FAFFE9E3E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Manipulation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0CDE9-ABC6-DC16-C46D-0EDB04A4D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Renaming Columns</a:t>
            </a:r>
          </a:p>
          <a:p>
            <a:r>
              <a:rPr lang="en-US" dirty="0" err="1"/>
              <a:t>ufo.rename</a:t>
            </a:r>
            <a:r>
              <a:rPr lang="en-US" dirty="0"/>
              <a:t>(columns={"Colors Reported": "</a:t>
            </a:r>
            <a:r>
              <a:rPr lang="en-US" dirty="0" err="1"/>
              <a:t>Colors_Reported</a:t>
            </a:r>
            <a:r>
              <a:rPr lang="en-US" dirty="0"/>
              <a:t>"}, </a:t>
            </a:r>
            <a:r>
              <a:rPr lang="en-US" dirty="0" err="1"/>
              <a:t>inplace</a:t>
            </a:r>
            <a:r>
              <a:rPr lang="en-US" dirty="0"/>
              <a:t>=True)  </a:t>
            </a:r>
          </a:p>
          <a:p>
            <a:pPr marL="0" indent="0">
              <a:buNone/>
            </a:pPr>
            <a:br>
              <a:rPr lang="en-US" dirty="0"/>
            </a:br>
            <a:endParaRPr lang="en-US" b="1" dirty="0"/>
          </a:p>
          <a:p>
            <a:r>
              <a:rPr lang="en-US" b="1" dirty="0"/>
              <a:t>Dropping Columns</a:t>
            </a:r>
          </a:p>
          <a:p>
            <a:r>
              <a:rPr lang="en-US" dirty="0" err="1"/>
              <a:t>ufo.drop</a:t>
            </a:r>
            <a:r>
              <a:rPr lang="en-US" dirty="0"/>
              <a:t>("</a:t>
            </a:r>
            <a:r>
              <a:rPr lang="en-US" dirty="0" err="1"/>
              <a:t>Colors_Reported</a:t>
            </a:r>
            <a:r>
              <a:rPr lang="en-US" dirty="0"/>
              <a:t>", axis=1, </a:t>
            </a:r>
            <a:r>
              <a:rPr lang="en-US" dirty="0" err="1"/>
              <a:t>inplace</a:t>
            </a:r>
            <a:r>
              <a:rPr lang="en-US" dirty="0"/>
              <a:t>=True) 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641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14B51-152C-1C39-DE42-09F6BEB02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Grouping and Aggregation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1BB18-AF66-814B-FFF2-D40728A66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Group By</a:t>
            </a:r>
          </a:p>
          <a:p>
            <a:pPr lvl="1"/>
            <a:r>
              <a:rPr lang="en-US" dirty="0" err="1"/>
              <a:t>drinks.groupby</a:t>
            </a:r>
            <a:r>
              <a:rPr lang="en-US" dirty="0"/>
              <a:t>("continent").</a:t>
            </a:r>
            <a:r>
              <a:rPr lang="en-US" dirty="0" err="1"/>
              <a:t>beer_servings.mean</a:t>
            </a:r>
            <a:r>
              <a:rPr lang="en-US" dirty="0"/>
              <a:t>()  </a:t>
            </a:r>
            <a:endParaRPr lang="en-US" b="1" dirty="0"/>
          </a:p>
          <a:p>
            <a:r>
              <a:rPr lang="en-US" dirty="0"/>
              <a:t>Aggregation</a:t>
            </a:r>
          </a:p>
          <a:p>
            <a:pPr lvl="1"/>
            <a:r>
              <a:rPr lang="en-US" dirty="0" err="1"/>
              <a:t>drinks.groupby</a:t>
            </a:r>
            <a:r>
              <a:rPr lang="en-US" dirty="0"/>
              <a:t>('continent').</a:t>
            </a:r>
            <a:r>
              <a:rPr lang="en-US" dirty="0" err="1"/>
              <a:t>beer_servings.agg</a:t>
            </a:r>
            <a:r>
              <a:rPr lang="en-US" dirty="0"/>
              <a:t>(['count', 'mean', 'min', 'max']) </a:t>
            </a:r>
          </a:p>
        </p:txBody>
      </p:sp>
    </p:spTree>
    <p:extLst>
      <p:ext uri="{BB962C8B-B14F-4D97-AF65-F5344CB8AC3E}">
        <p14:creationId xmlns:p14="http://schemas.microsoft.com/office/powerpoint/2010/main" val="3103868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39BA5-82EB-4C87-516E-28B182FCC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Iterating Through </a:t>
            </a:r>
            <a:r>
              <a:rPr lang="en-US" b="1" dirty="0" err="1"/>
              <a:t>DataFrame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024E7-363E-BC8B-0A0A-C59BDA144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for index, row in </a:t>
            </a:r>
            <a:r>
              <a:rPr lang="en-US" dirty="0" err="1"/>
              <a:t>ufo.iterrows</a:t>
            </a:r>
            <a:r>
              <a:rPr lang="en-US"/>
              <a:t>():</a:t>
            </a:r>
          </a:p>
          <a:p>
            <a:pPr lvl="2"/>
            <a:r>
              <a:rPr lang="en-US"/>
              <a:t>print</a:t>
            </a:r>
            <a:r>
              <a:rPr lang="en-US" dirty="0"/>
              <a:t>(index, row["City"], row["State"]) </a:t>
            </a:r>
          </a:p>
        </p:txBody>
      </p:sp>
    </p:spTree>
    <p:extLst>
      <p:ext uri="{BB962C8B-B14F-4D97-AF65-F5344CB8AC3E}">
        <p14:creationId xmlns:p14="http://schemas.microsoft.com/office/powerpoint/2010/main" val="927850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362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What is Pandas? </vt:lpstr>
      <vt:lpstr>Pandas Series</vt:lpstr>
      <vt:lpstr>Pandas DataFrame</vt:lpstr>
      <vt:lpstr>DataFrame Basics</vt:lpstr>
      <vt:lpstr>Viewing Data</vt:lpstr>
      <vt:lpstr>Selecting Data</vt:lpstr>
      <vt:lpstr>Data Filtering</vt:lpstr>
      <vt:lpstr>Reading Data</vt:lpstr>
      <vt:lpstr>Data Manipulation</vt:lpstr>
      <vt:lpstr>Grouping and Aggregation</vt:lpstr>
      <vt:lpstr>Iterating Through DataFrame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Goel (MSTIC DS&amp;AI)</dc:creator>
  <cp:lastModifiedBy>Aakash Goel (MSTIC DS&amp;AI)</cp:lastModifiedBy>
  <cp:revision>10</cp:revision>
  <dcterms:created xsi:type="dcterms:W3CDTF">2025-08-21T10:19:14Z</dcterms:created>
  <dcterms:modified xsi:type="dcterms:W3CDTF">2025-08-21T11:05:38Z</dcterms:modified>
</cp:coreProperties>
</file>