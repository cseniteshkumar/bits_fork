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B1D2-3F0D-4923-DEE8-6061A37A0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22290-FA97-BE85-FE73-76C3100B2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AB13-C0A3-FC81-5404-C3F6B640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C9D4-9601-A2B6-30C6-36421E5B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1239-C3E6-430D-25E3-AF53A467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A7C0-2FB0-1A82-9585-45C74FC4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326A-671A-2A77-6D16-F0416581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BB326-588A-F20F-F02E-8FFABD79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A3559-3C8F-A360-7EB3-0ADDF4BE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73A0-8A89-2730-8E16-52274910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34E9-3112-F79B-8E8A-D4B822E0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C62F-5ADE-F969-2492-1B1D3C6B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4B43E-89A5-4AC0-616A-AE3B12D4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3CDFE-D723-152E-2DF8-D2F04DC6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4C29-8AC6-CE8D-CB34-052FE38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7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4EEF-D104-E6B5-7885-B2D50D9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2C2F7-1B52-866D-D358-0FEA792EF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366EC-AA9B-2FBB-76FC-141CCDBDB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4A45A-B4B9-01EC-3292-CD29BFB4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7AA2-C58D-90AB-1DE8-0FA1D7E9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2A22-651A-81F6-1F03-B3D5AB8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2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1AA6-9686-895D-F576-03EAF289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137A7-6864-B686-8E16-A012E8EAB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F6DCB-8595-C2E2-955E-62B2F5D4E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021B2-7248-6EB7-341F-E2528BFF0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3081E-42CB-C1D8-38BF-C45036009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49020-E96D-B00A-F8A0-B2D75E70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0E7AC-A191-A02A-A52D-9270C55B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2CE0B-ED66-AF80-150D-F3BA107C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2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B2F7-EF56-6A1A-9309-CE5C973C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158B2-4CF9-B2AC-8FEC-FCCD129B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7972-33F0-2522-6B6F-B147E8B6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9BFCF-E33A-6ADD-8390-7CD5E3A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6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816FB-1B10-AB1F-6E23-9D7B99F0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55DA6-7E1D-68B9-0627-60586EC7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DA992-EF58-D31E-900C-0EA05528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368E-3787-78A0-5705-291F13D8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6487-9D5F-DF10-3237-4592710C2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45782-130B-494A-D1F0-FFBCCB9A9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FF98E-FA5D-3704-9B1A-8D84C0EB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86A16-1DE8-B155-A125-E9CED1FA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369A-6693-3801-88FF-A55E4EDE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AB24-DFB7-5BE3-AB31-3415C340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9BDD0-D788-E5ED-805A-A92998BAA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A64BD-F780-3F8E-5BF5-C943F4A5B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E8EAE-EEC2-0AFC-F2DC-A1D301E0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90C1F-456F-C9B4-4062-BD380B49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1917-850F-6286-9C91-A97FD771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D920-9E17-BA3D-2F76-ABCB1DFD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AEADE-C52C-0266-AC07-3BC1EFC9A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385B9-96CA-294C-4932-34C0845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738A-12D5-E4B3-A6E4-E8065C9D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4622-B39A-FA01-17B8-8AE19A93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DEBF8-5868-BF9F-48B6-2D67C11CC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A82D4-63CD-4956-4F3B-72853CB55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37AB4-D92E-27E2-2ADA-6960550E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9B93-9224-12FE-D2A4-288DFB00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17D45-9897-5DCD-9EB3-BA906F5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39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581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600"/>
              <a:buNone/>
              <a:defRPr sz="16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6743699" y="6356350"/>
            <a:ext cx="25431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9658350" y="6356350"/>
            <a:ext cx="1695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9" descr="BITS Pilani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6705" y="192510"/>
            <a:ext cx="3338739" cy="865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0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25DD9-72D3-E900-1793-65A2A7C3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2C0D1-DBD4-F7EE-F1FA-A4E06906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585F-8819-2522-AA82-56C71634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A16CB-6717-C0A7-BE49-63C73F002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47A1C-3AFA-2A96-8EAD-7E9BAC03C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4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oelaakash123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0C69-C9ED-17AF-8127-828113E1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7273019" cy="1909763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Aakash Goel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https://www.linkedin.com/in/goelaakash123/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F7BA-7C01-3743-F6C5-F75895750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6B0C6-F660-E59C-6C87-5A6540BC8E38}"/>
              </a:ext>
            </a:extLst>
          </p:cNvPr>
          <p:cNvSpPr txBox="1"/>
          <p:nvPr/>
        </p:nvSpPr>
        <p:spPr>
          <a:xfrm>
            <a:off x="5491279" y="18095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b="1" u="sng" dirty="0"/>
              <a:t>Session 2: </a:t>
            </a:r>
          </a:p>
          <a:p>
            <a:pPr lvl="0">
              <a:buClr>
                <a:schemeClr val="dk1"/>
              </a:buClr>
              <a:buSzPts val="3600"/>
            </a:pPr>
            <a:r>
              <a:rPr lang="en-US" b="1" dirty="0"/>
              <a:t>Simulation and Visualization in Smart Manufacturing</a:t>
            </a:r>
          </a:p>
        </p:txBody>
      </p:sp>
    </p:spTree>
    <p:extLst>
      <p:ext uri="{BB962C8B-B14F-4D97-AF65-F5344CB8AC3E}">
        <p14:creationId xmlns:p14="http://schemas.microsoft.com/office/powerpoint/2010/main" val="59953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D7E7-3F4B-8AA0-7081-4589F479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C1DED5-C465-753C-108E-AFEDF97C90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real-time temperature simulation and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simple functions in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and visualize production line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data analysis with 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interactive visualizations with Plotly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VLOOKUP-style operations in Pandas</a:t>
            </a:r>
          </a:p>
        </p:txBody>
      </p:sp>
    </p:spTree>
    <p:extLst>
      <p:ext uri="{BB962C8B-B14F-4D97-AF65-F5344CB8AC3E}">
        <p14:creationId xmlns:p14="http://schemas.microsoft.com/office/powerpoint/2010/main" val="406943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F5DA-09EB-A1FA-36CA-0409926F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Simulation: 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636D12-DA84-8C1B-E9D8-3BFB971AA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to monitor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 temperature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manufacturing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Cooling should be turned ON if temperature exceeds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logged over time for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to track performance</a:t>
            </a:r>
          </a:p>
        </p:txBody>
      </p:sp>
    </p:spTree>
    <p:extLst>
      <p:ext uri="{BB962C8B-B14F-4D97-AF65-F5344CB8AC3E}">
        <p14:creationId xmlns:p14="http://schemas.microsoft.com/office/powerpoint/2010/main" val="99737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7D6A-6779-C5C7-A34D-8B939E76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Function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92395-69C8-7EB8-CC7D-B7EB10AB7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8" y="14819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add_two_number</a:t>
            </a:r>
            <a:r>
              <a:rPr lang="en-US" dirty="0"/>
              <a:t>(a, b):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sum_of_two_number</a:t>
            </a:r>
            <a:r>
              <a:rPr lang="en-US" dirty="0"/>
              <a:t> = a + b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sum_of_two_number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C708558-6045-50F2-1923-E406CCB46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3431417"/>
            <a:ext cx="2809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help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modularize code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return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sends the result back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36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6D34-2AB3-2F28-37C6-B9C7D2DE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Simulation Code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3978AA-8A25-1741-5884-B4703008B8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8"/>
            <a:ext cx="53998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random.uniform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generate values between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min_temp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max_temp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iteration simulates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reading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against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threshold_temp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decide cooling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1DFC9-663B-8E06-5F87-6C0B8180F71F}"/>
              </a:ext>
            </a:extLst>
          </p:cNvPr>
          <p:cNvSpPr txBox="1"/>
          <p:nvPr/>
        </p:nvSpPr>
        <p:spPr>
          <a:xfrm>
            <a:off x="838200" y="193843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 </a:t>
            </a:r>
            <a:r>
              <a:rPr lang="en-US" dirty="0" err="1"/>
              <a:t>simulate_temperature</a:t>
            </a:r>
            <a:r>
              <a:rPr lang="en-US" dirty="0"/>
              <a:t>():</a:t>
            </a:r>
          </a:p>
          <a:p>
            <a:r>
              <a:rPr lang="en-US" dirty="0"/>
              <a:t>    return </a:t>
            </a:r>
            <a:r>
              <a:rPr lang="en-US" dirty="0" err="1"/>
              <a:t>random.uniform</a:t>
            </a:r>
            <a:r>
              <a:rPr lang="en-US" dirty="0"/>
              <a:t>(</a:t>
            </a:r>
            <a:r>
              <a:rPr lang="en-US" dirty="0" err="1"/>
              <a:t>min_temp</a:t>
            </a:r>
            <a:r>
              <a:rPr lang="en-US" dirty="0"/>
              <a:t>, </a:t>
            </a:r>
            <a:r>
              <a:rPr lang="en-US" dirty="0" err="1"/>
              <a:t>max_temp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51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34FB-0DE2-3BDD-77F2-3532E8D7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Simulation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21B07-2628-380C-8B18-D758B1EAF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58071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Output: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 0s | Temp: 92.45°C | Cooling: ON Time 1s | Temp: 87.20°C | Cooling: OFF ...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interval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time.sleep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(2)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mimics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delay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1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261E-1131-3C7B-FEC9-2A5FF52B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4D2A5-E00B-FC45-5C98-A9359E261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Matplotlib Line Plot</a:t>
            </a:r>
            <a:endParaRPr lang="en-US" dirty="0"/>
          </a:p>
          <a:p>
            <a:r>
              <a:rPr lang="en-US" dirty="0"/>
              <a:t>Threshold marked with red dashed line</a:t>
            </a:r>
          </a:p>
          <a:p>
            <a:r>
              <a:rPr lang="en-US" dirty="0"/>
              <a:t>Cooling ON points marked in blue</a:t>
            </a:r>
          </a:p>
          <a:p>
            <a:r>
              <a:rPr lang="en-US" dirty="0"/>
              <a:t>Helps in quick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74718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9E41-3F07-9030-1D7F-7633E73D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Data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5BBC-F442-39E7-DB0A-F8EAC56C0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production_data</a:t>
            </a:r>
            <a:r>
              <a:rPr lang="en-US" dirty="0"/>
              <a:t> = {</a:t>
            </a:r>
          </a:p>
          <a:p>
            <a:r>
              <a:rPr lang="en-US" dirty="0"/>
              <a:t>    'Time': </a:t>
            </a:r>
            <a:r>
              <a:rPr lang="en-US" dirty="0" err="1"/>
              <a:t>np.arange</a:t>
            </a:r>
            <a:r>
              <a:rPr lang="en-US" dirty="0"/>
              <a:t>(100),</a:t>
            </a:r>
          </a:p>
          <a:p>
            <a:r>
              <a:rPr lang="en-US" dirty="0"/>
              <a:t>    'Units Produced': </a:t>
            </a:r>
            <a:r>
              <a:rPr lang="en-US" dirty="0" err="1"/>
              <a:t>np.random.randint</a:t>
            </a:r>
            <a:r>
              <a:rPr lang="en-US" dirty="0"/>
              <a:t>(80, 120, size=100),</a:t>
            </a:r>
          </a:p>
          <a:p>
            <a:r>
              <a:rPr lang="en-US" dirty="0"/>
              <a:t>    'Defective Units': </a:t>
            </a:r>
            <a:r>
              <a:rPr lang="en-US" dirty="0" err="1"/>
              <a:t>np.random.randint</a:t>
            </a:r>
            <a:r>
              <a:rPr lang="en-US" dirty="0"/>
              <a:t>(0, 10, size=100)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Random data generation for:</a:t>
            </a:r>
          </a:p>
          <a:p>
            <a:endParaRPr lang="en-US" dirty="0"/>
          </a:p>
          <a:p>
            <a:r>
              <a:rPr lang="en-US" dirty="0"/>
              <a:t>Units produced</a:t>
            </a:r>
          </a:p>
          <a:p>
            <a:endParaRPr lang="en-US" dirty="0"/>
          </a:p>
          <a:p>
            <a:r>
              <a:rPr lang="en-US" dirty="0"/>
              <a:t>Defective units</a:t>
            </a:r>
          </a:p>
          <a:p>
            <a:endParaRPr lang="en-US" dirty="0"/>
          </a:p>
          <a:p>
            <a:r>
              <a:rPr lang="en-US" dirty="0"/>
              <a:t>Used for digital twin simulation</a:t>
            </a:r>
          </a:p>
        </p:txBody>
      </p:sp>
    </p:spTree>
    <p:extLst>
      <p:ext uri="{BB962C8B-B14F-4D97-AF65-F5344CB8AC3E}">
        <p14:creationId xmlns:p14="http://schemas.microsoft.com/office/powerpoint/2010/main" val="386691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A6E8-F6F0-5EF8-1419-BADEF461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6203F-680A-7AFA-C850-68F97806B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['Yield'] = </a:t>
            </a:r>
            <a:r>
              <a:rPr lang="en-US" dirty="0" err="1"/>
              <a:t>df</a:t>
            </a:r>
            <a:r>
              <a:rPr lang="en-US" dirty="0"/>
              <a:t>['Units Produced'] - </a:t>
            </a:r>
            <a:r>
              <a:rPr lang="en-US" dirty="0" err="1"/>
              <a:t>df</a:t>
            </a:r>
            <a:r>
              <a:rPr lang="en-US" dirty="0"/>
              <a:t>['Defective Units']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['Efficiency'] = (</a:t>
            </a:r>
            <a:r>
              <a:rPr lang="en-US" dirty="0" err="1"/>
              <a:t>df</a:t>
            </a:r>
            <a:r>
              <a:rPr lang="en-US" dirty="0"/>
              <a:t>['Yield'] / </a:t>
            </a:r>
            <a:r>
              <a:rPr lang="en-US" dirty="0" err="1"/>
              <a:t>df</a:t>
            </a:r>
            <a:r>
              <a:rPr lang="en-US" dirty="0"/>
              <a:t>['Units Produced']) * 100</a:t>
            </a:r>
          </a:p>
          <a:p>
            <a:pPr marL="0" indent="0">
              <a:buNone/>
            </a:pPr>
            <a:r>
              <a:rPr lang="en-US" dirty="0"/>
              <a:t>Yield: Good units produced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Efficiency: Quality ratio in %</a:t>
            </a:r>
          </a:p>
        </p:txBody>
      </p:sp>
    </p:spTree>
    <p:extLst>
      <p:ext uri="{BB962C8B-B14F-4D97-AF65-F5344CB8AC3E}">
        <p14:creationId xmlns:p14="http://schemas.microsoft.com/office/powerpoint/2010/main" val="296694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8B-E17C-8F43-1F6B-5272FE3D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Analysis (Moving Average)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55BEC-B8E2-D6EB-1103-2AD23D577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Predicted_Yield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['Yield'].rolling(window=10).mean()</a:t>
            </a:r>
          </a:p>
          <a:p>
            <a:r>
              <a:rPr lang="en-US" dirty="0"/>
              <a:t>Rolling window for smoothing</a:t>
            </a:r>
          </a:p>
          <a:p>
            <a:endParaRPr lang="en-US" dirty="0"/>
          </a:p>
          <a:p>
            <a:r>
              <a:rPr lang="en-US" dirty="0"/>
              <a:t>Predictive insight for next production cycles</a:t>
            </a:r>
          </a:p>
        </p:txBody>
      </p:sp>
    </p:spTree>
    <p:extLst>
      <p:ext uri="{BB962C8B-B14F-4D97-AF65-F5344CB8AC3E}">
        <p14:creationId xmlns:p14="http://schemas.microsoft.com/office/powerpoint/2010/main" val="208116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0468-DCC0-F7DE-5528-99FDCD30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Twin Visualization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7FA3AB-95EE-A741-F007-CF3E84102F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plot: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Yield (Line + Markers)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Yield (Dashed 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Defective Units (Bar chart)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holistic production view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5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7472-64F7-5530-F271-FC2A8DB7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and Summarizing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6D2D-1B01-6E5D-50C0-C388634B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summary = </a:t>
            </a:r>
            <a:r>
              <a:rPr lang="en-US" dirty="0" err="1"/>
              <a:t>df.groupby</a:t>
            </a:r>
            <a:r>
              <a:rPr lang="en-US" dirty="0"/>
              <a:t>('Machine').sum()</a:t>
            </a:r>
          </a:p>
          <a:p>
            <a:pPr marL="0" indent="0">
              <a:buNone/>
            </a:pPr>
            <a:r>
              <a:rPr lang="en-US" dirty="0"/>
              <a:t>summary['Defect Rate'] = (summary['Defects'] / summary['Output']) * 100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Aggregates data machine-wise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Calculates defect rate %</a:t>
            </a:r>
          </a:p>
        </p:txBody>
      </p:sp>
    </p:spTree>
    <p:extLst>
      <p:ext uri="{BB962C8B-B14F-4D97-AF65-F5344CB8AC3E}">
        <p14:creationId xmlns:p14="http://schemas.microsoft.com/office/powerpoint/2010/main" val="143665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6186-C21D-FD96-BA56-985885DC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Visualization (</a:t>
            </a:r>
            <a:r>
              <a:rPr lang="en-US" dirty="0" err="1"/>
              <a:t>Plotly</a:t>
            </a:r>
            <a:r>
              <a:rPr lang="en-US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22CA55-7DD1-FFBB-CE1A-88E0A7590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 Graph Objects 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Yield (Line + Markers)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Yield (Dashed 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Defective Units (Bar)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Zoom, hover tooltips, and interactive legend</a:t>
            </a:r>
          </a:p>
        </p:txBody>
      </p:sp>
    </p:spTree>
    <p:extLst>
      <p:ext uri="{BB962C8B-B14F-4D97-AF65-F5344CB8AC3E}">
        <p14:creationId xmlns:p14="http://schemas.microsoft.com/office/powerpoint/2010/main" val="1813253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5D2B-FBA4-C5D9-3A13-43F1FEF7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VLOOKUP Equivalent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F6B0-DCB6-9A65-C713-C58E38C59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merged_data</a:t>
            </a:r>
            <a:r>
              <a:rPr lang="en-US" dirty="0"/>
              <a:t> = </a:t>
            </a:r>
            <a:r>
              <a:rPr lang="en-US" dirty="0" err="1"/>
              <a:t>pd.merge</a:t>
            </a:r>
            <a:r>
              <a:rPr lang="en-US" dirty="0"/>
              <a:t>(products, prices, on='</a:t>
            </a:r>
            <a:r>
              <a:rPr lang="en-US" dirty="0" err="1"/>
              <a:t>ProductID</a:t>
            </a:r>
            <a:r>
              <a:rPr lang="en-US" dirty="0"/>
              <a:t>', how='left')</a:t>
            </a:r>
          </a:p>
          <a:p>
            <a:pPr marL="0" indent="0">
              <a:buNone/>
            </a:pPr>
            <a:r>
              <a:rPr lang="en-US" dirty="0"/>
              <a:t>Merges datasets like Excel VLOOKUP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Matches on </a:t>
            </a:r>
            <a:r>
              <a:rPr lang="en-US" dirty="0" err="1"/>
              <a:t>ProductID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Useful for data enrichment</a:t>
            </a:r>
          </a:p>
        </p:txBody>
      </p:sp>
    </p:spTree>
    <p:extLst>
      <p:ext uri="{BB962C8B-B14F-4D97-AF65-F5344CB8AC3E}">
        <p14:creationId xmlns:p14="http://schemas.microsoft.com/office/powerpoint/2010/main" val="2586573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C8E5-3F0B-B32B-2D86-EE66DF37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CEA89C-2E5C-5B06-F2F9-6216CB6A6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simulation and visualization help monitor manufacturing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can optimize future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enables easy data transformation and merging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 offers interactivity for better analysis</a:t>
            </a:r>
          </a:p>
        </p:txBody>
      </p:sp>
    </p:spTree>
    <p:extLst>
      <p:ext uri="{BB962C8B-B14F-4D97-AF65-F5344CB8AC3E}">
        <p14:creationId xmlns:p14="http://schemas.microsoft.com/office/powerpoint/2010/main" val="78474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574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Calibri</vt:lpstr>
      <vt:lpstr>Office Theme</vt:lpstr>
      <vt:lpstr>Aakash Goel https://www.linkedin.com/in/goelaakash123/</vt:lpstr>
      <vt:lpstr>Learning Objectives</vt:lpstr>
      <vt:lpstr>Temperature Simulation: Problem Statement</vt:lpstr>
      <vt:lpstr>Python Function Basics</vt:lpstr>
      <vt:lpstr>Temperature Simulation Code</vt:lpstr>
      <vt:lpstr>Temperature Simulation Output</vt:lpstr>
      <vt:lpstr>Temperature Visualization</vt:lpstr>
      <vt:lpstr>Production Data Simulation</vt:lpstr>
      <vt:lpstr>Calculating KPIs</vt:lpstr>
      <vt:lpstr>Predictive Analysis (Moving Average)</vt:lpstr>
      <vt:lpstr>Digital Twin Visualization</vt:lpstr>
      <vt:lpstr>Grouping and Summarizing</vt:lpstr>
      <vt:lpstr>Interactive Visualization (Plotly)</vt:lpstr>
      <vt:lpstr>VLOOKUP Equivalent in Pandas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31</cp:revision>
  <dcterms:created xsi:type="dcterms:W3CDTF">2025-05-03T15:51:14Z</dcterms:created>
  <dcterms:modified xsi:type="dcterms:W3CDTF">2025-08-12T09:35:15Z</dcterms:modified>
</cp:coreProperties>
</file>