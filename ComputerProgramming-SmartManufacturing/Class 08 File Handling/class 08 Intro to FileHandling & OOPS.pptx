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F026B-1754-F729-85D2-79D6BEEA1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336E2E-D2E3-415B-4C2A-8089222DB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D69F1-D631-6AF4-7A96-E54C93C28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C5D37-3F2B-A843-B504-804E0588F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AFCD9-BAA3-7E49-1D78-E6DBEE77C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98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DC6E-E38B-C732-85E3-89754F1D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2B289-1BFE-D9C4-2DFD-558B176EA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C56BB-FCBF-8AA4-759E-F99659CB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97167-572D-DA44-A678-13599F93F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2BB64-7D2B-DD00-6DA1-81351C427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41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F46CF-1FAA-8E17-FD50-BF0454DC0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CACDC-63C2-CEE4-43A2-01A9F6FCF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5F01A-A73C-9EB4-CE14-472752160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6888F-E7D2-C4AD-2618-306C476EC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6AFE8-EF81-8A89-98FE-05000D58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5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2FAA-20D3-03F5-2B12-E10057B7D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FDCDA-51A8-F435-9A24-77CFB4E657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6AE6A-E5C2-305B-16B6-8C7DACCE3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228F2-CB45-2646-C170-2EEE1297A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7225D-2710-68D2-1D31-C85527956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7214D-9C7C-4C5A-11D5-6D4AFBA85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916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52EEC-081D-9C98-B2AD-FEC0A8A8A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0814E-F2CE-0999-5EA2-220C56499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8F945-0A65-7426-FE28-A21DB2F7B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0ADB8D-DD4C-F4B4-C4B8-2F1F5D1BA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74477-16D5-7C44-C20D-75F921F0E2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70946E-6AB6-F290-658F-D19A4CE1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A26FE-CBA7-7154-3866-2DF2C8222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EFF9AC-DB1E-DF99-D9D5-AA8D9F939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41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A6C63-9B6B-DDAE-00A4-81C52D257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CE6047-6CA9-13D0-ED03-0A6BCBEA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3AB630-9C77-31C7-EE83-D350C5DA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5C4DE-D316-20B3-CCA6-99982469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5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9774D-B5F7-734F-390B-2C3CB8837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04D4EC-F53E-5DC1-694E-D1ABED13B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AB1A3-1A40-2368-12D6-67B0ACB89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04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9C9B4-B524-51B7-299A-44A5220B3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4F0C2-ACFB-A841-1FB7-92A315A1F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11B1A-47EF-F6DD-2B20-6108E73DF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F6DDB-5A6D-4D37-8CA7-0D5880791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24C6B-81B8-8BF8-7C82-AE6004031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F21DE-8D52-2C06-908D-1317D28BA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325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FCD4F-297E-F2B3-0B37-D2F34943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E1E9AA-D93B-852B-6901-3EF3D5B424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0506F-A29D-E9BE-7C08-87B1437BF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05CCA-7CF5-E0B9-C606-6DC442560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2BF86-59A3-B113-09DA-3253A09E1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6A49A-9455-1CDC-D108-11C21D801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37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E23F2-A59B-6BFB-0BFC-DD570E6B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73F4B5-A587-7063-FA82-0AC13F102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669B7-1A62-A3D4-7D9C-0BC09C47A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8291F-E61F-2E62-6C5B-A1356140A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AE7A8-163A-CE81-F1DD-AB389E448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926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E9B647-4396-4558-7763-E0EE44EE65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E441F-8204-557E-0CD7-42487B956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C98A8-618C-7F8C-8149-4E0548801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1951-C9FB-4263-9AC6-481F0F204F0A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B56BC-CCFD-3C3A-98B1-36834F24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B1659-F51F-B676-1057-EF4B824B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37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159ADB-7BBF-D1EF-5442-29F8F6A04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86957-B2B9-5243-9E76-2F48A9044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BAC67-0B7B-BA69-FAF4-740EB8260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C1951-C9FB-4263-9AC6-481F0F204F0A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43622-CB54-5113-D6C9-B4D1D705ED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CE95E-8D65-F8EC-9791-9D66E2AB01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24FCFE-5F2F-49E0-9754-951315496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826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359A0B-97A9-5150-D270-02BFDD04B1B3}"/>
              </a:ext>
            </a:extLst>
          </p:cNvPr>
          <p:cNvSpPr txBox="1"/>
          <p:nvPr/>
        </p:nvSpPr>
        <p:spPr>
          <a:xfrm>
            <a:off x="4869539" y="2900855"/>
            <a:ext cx="16053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File Handling 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&amp;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Intro to Oops</a:t>
            </a:r>
          </a:p>
        </p:txBody>
      </p:sp>
    </p:spTree>
    <p:extLst>
      <p:ext uri="{BB962C8B-B14F-4D97-AF65-F5344CB8AC3E}">
        <p14:creationId xmlns:p14="http://schemas.microsoft.com/office/powerpoint/2010/main" val="3188032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56806-6EC5-6375-C1B9-7C6C5E749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Handling</a:t>
            </a:r>
            <a:endParaRPr lang="en-US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1FFFA7-2D9D-BFA0-1046-AF01C6ABEC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52856"/>
            <a:ext cx="8222123" cy="1696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File handling allows interaction with external files.</a:t>
            </a:r>
          </a:p>
          <a:p>
            <a:r>
              <a:rPr lang="en-US" b="1" dirty="0"/>
              <a:t>Why is it important?</a:t>
            </a:r>
            <a:endParaRPr lang="en-US" dirty="0"/>
          </a:p>
          <a:p>
            <a:pPr lvl="1"/>
            <a:r>
              <a:rPr lang="en-US" dirty="0"/>
              <a:t>Storing sensor data (e.g., temperature, pressure, speed).</a:t>
            </a:r>
          </a:p>
          <a:p>
            <a:pPr lvl="1"/>
            <a:r>
              <a:rPr lang="en-US" dirty="0"/>
              <a:t>Writing daily production reports.</a:t>
            </a:r>
          </a:p>
        </p:txBody>
      </p:sp>
    </p:spTree>
    <p:extLst>
      <p:ext uri="{BB962C8B-B14F-4D97-AF65-F5344CB8AC3E}">
        <p14:creationId xmlns:p14="http://schemas.microsoft.com/office/powerpoint/2010/main" val="826002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C1C03-EEA9-5C93-69BD-E8CABD624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AFE2D-4F71-3465-1F3F-6CB48C426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File Handling Modes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1211A7-C053-2EE6-39DF-3A46108C99B3}"/>
              </a:ext>
            </a:extLst>
          </p:cNvPr>
          <p:cNvSpPr txBox="1"/>
          <p:nvPr/>
        </p:nvSpPr>
        <p:spPr>
          <a:xfrm>
            <a:off x="3048000" y="251615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27B4"/>
                </a:solidFill>
                <a:effectLst/>
                <a:latin typeface="Courier New" panose="02070309020205020404" pitchFamily="49" charset="0"/>
              </a:rPr>
              <a:t>"r"</a:t>
            </a:r>
            <a:r>
              <a:rPr lang="en-US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: Read Only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27B4"/>
                </a:solidFill>
                <a:effectLst/>
                <a:latin typeface="Courier New" panose="02070309020205020404" pitchFamily="49" charset="0"/>
              </a:rPr>
              <a:t>"w"</a:t>
            </a:r>
            <a:r>
              <a:rPr lang="en-US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: Write (Overwrite)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27B4"/>
                </a:solidFill>
                <a:effectLst/>
                <a:latin typeface="Courier New" panose="02070309020205020404" pitchFamily="49" charset="0"/>
              </a:rPr>
              <a:t>"a"</a:t>
            </a:r>
            <a:r>
              <a:rPr lang="en-US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: Append (adds to the file)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27B4"/>
                </a:solidFill>
                <a:effectLst/>
                <a:latin typeface="Courier New" panose="02070309020205020404" pitchFamily="49" charset="0"/>
              </a:rPr>
              <a:t>"r+"</a:t>
            </a:r>
            <a:r>
              <a:rPr lang="en-US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: Read &amp; Write</a:t>
            </a:r>
          </a:p>
        </p:txBody>
      </p:sp>
    </p:spTree>
    <p:extLst>
      <p:ext uri="{BB962C8B-B14F-4D97-AF65-F5344CB8AC3E}">
        <p14:creationId xmlns:p14="http://schemas.microsoft.com/office/powerpoint/2010/main" val="2786910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5D977-30D9-F911-D97A-A91A5968F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FC979-8B3D-A560-550B-0AD337ECE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File Handling 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714B16-B333-FE3D-AED3-14E68871D19D}"/>
              </a:ext>
            </a:extLst>
          </p:cNvPr>
          <p:cNvSpPr txBox="1"/>
          <p:nvPr/>
        </p:nvSpPr>
        <p:spPr>
          <a:xfrm>
            <a:off x="3048000" y="251615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read(): Reads the entire file.</a:t>
            </a:r>
          </a:p>
          <a:p>
            <a:r>
              <a:rPr lang="en-US" dirty="0" err="1"/>
              <a:t>readlines</a:t>
            </a:r>
            <a:r>
              <a:rPr lang="en-US" dirty="0"/>
              <a:t>(): Reads line by line into a list.</a:t>
            </a:r>
          </a:p>
          <a:p>
            <a:r>
              <a:rPr lang="en-US" dirty="0" err="1"/>
              <a:t>readline</a:t>
            </a:r>
            <a:r>
              <a:rPr lang="en-US" dirty="0"/>
              <a:t>(): Reads one line at a time, useful for large files.</a:t>
            </a:r>
          </a:p>
        </p:txBody>
      </p:sp>
    </p:spTree>
    <p:extLst>
      <p:ext uri="{BB962C8B-B14F-4D97-AF65-F5344CB8AC3E}">
        <p14:creationId xmlns:p14="http://schemas.microsoft.com/office/powerpoint/2010/main" val="2617012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FBE06-6972-8BB1-0FC9-2E3C8A813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0C238-CC49-6A22-536C-574936033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Opening and Closing Files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ECF1E7-F3FE-5CA0-7F82-E8D9C886B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117" y="2624251"/>
            <a:ext cx="8534400" cy="1015663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Demonstrate opening a file for writing and closing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 code snippet: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Unicode MS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Segoe UI" panose="020B0502040204020203" pitchFamily="34" charset="0"/>
              </a:rPr>
              <a:t>file = open("log.txt", "w")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Segoe UI" panose="020B0502040204020203" pitchFamily="34" charset="0"/>
              </a:rPr>
              <a:t>file.write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Segoe UI" panose="020B0502040204020203" pitchFamily="34" charset="0"/>
              </a:rPr>
              <a:t>("Machine Started. This is our 1st experiment!")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Segoe UI" panose="020B0502040204020203" pitchFamily="34" charset="0"/>
              </a:rPr>
              <a:t>file.close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Segoe UI" panose="020B0502040204020203" pitchFamily="34" charset="0"/>
              </a:rPr>
              <a:t>(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70B34-5C3D-2BBE-1280-B5E6D4BB45AD}"/>
              </a:ext>
            </a:extLst>
          </p:cNvPr>
          <p:cNvSpPr txBox="1"/>
          <p:nvPr/>
        </p:nvSpPr>
        <p:spPr>
          <a:xfrm>
            <a:off x="1261241" y="43591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file = open("log.txt", "w")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file.write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("Machine Started. This is our 1st experiment!")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file.close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863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E306-C400-0624-BEE9-7F73EC823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F6C6-7E36-1E54-C5CE-2FAFA82D8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Reading from a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AFFD49-FA3A-E46E-ED48-06A17F5969B6}"/>
              </a:ext>
            </a:extLst>
          </p:cNvPr>
          <p:cNvSpPr txBox="1"/>
          <p:nvPr/>
        </p:nvSpPr>
        <p:spPr>
          <a:xfrm>
            <a:off x="956441" y="151089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Show how to open a file for reading and print its content.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Example code snippet: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0AEEB5-1DB2-2682-85BE-BF3A8595C5B1}"/>
              </a:ext>
            </a:extLst>
          </p:cNvPr>
          <p:cNvSpPr txBox="1"/>
          <p:nvPr/>
        </p:nvSpPr>
        <p:spPr>
          <a:xfrm>
            <a:off x="838200" y="251328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Courier New" panose="02070309020205020404" pitchFamily="49" charset="0"/>
              </a:rPr>
              <a:t>file = open("log.txt", "r") content = 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file.read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() print(content) 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file.close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()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601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C46EB-941A-2721-93ED-25720B6A1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Writing and Appending to Files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3095C-D435-BA3B-75C3-483D0BE2F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Writing to a new file and appending to an existing file.</a:t>
            </a:r>
          </a:p>
          <a:p>
            <a:r>
              <a:rPr lang="en-US" dirty="0"/>
              <a:t>Example code snippet:</a:t>
            </a:r>
          </a:p>
          <a:p>
            <a:pPr marL="0" indent="0">
              <a:buNone/>
            </a:pPr>
            <a:r>
              <a:rPr lang="en-US" dirty="0"/>
              <a:t>file = open("machine_status.txt", "w") </a:t>
            </a:r>
          </a:p>
          <a:p>
            <a:pPr marL="0" indent="0">
              <a:buNone/>
            </a:pPr>
            <a:r>
              <a:rPr lang="en-US" dirty="0" err="1"/>
              <a:t>file.write</a:t>
            </a:r>
            <a:r>
              <a:rPr lang="en-US" dirty="0"/>
              <a:t>("Machine A: Running\n") </a:t>
            </a:r>
          </a:p>
          <a:p>
            <a:pPr marL="0" indent="0">
              <a:buNone/>
            </a:pPr>
            <a:r>
              <a:rPr lang="en-US" dirty="0" err="1"/>
              <a:t>file.close</a:t>
            </a:r>
            <a:r>
              <a:rPr lang="en-US" dirty="0"/>
              <a:t>() </a:t>
            </a:r>
          </a:p>
          <a:p>
            <a:pPr marL="0" indent="0">
              <a:buNone/>
            </a:pPr>
            <a:r>
              <a:rPr lang="en-US" dirty="0"/>
              <a:t>file = open("machine_status.txt", "a") </a:t>
            </a:r>
          </a:p>
          <a:p>
            <a:pPr marL="0" indent="0">
              <a:buNone/>
            </a:pPr>
            <a:r>
              <a:rPr lang="en-US" dirty="0" err="1"/>
              <a:t>file.write</a:t>
            </a:r>
            <a:r>
              <a:rPr lang="en-US" dirty="0"/>
              <a:t>("Machine C: Faulty\n")</a:t>
            </a:r>
          </a:p>
          <a:p>
            <a:pPr marL="0" indent="0">
              <a:buNone/>
            </a:pPr>
            <a:r>
              <a:rPr lang="en-US" dirty="0" err="1"/>
              <a:t>file.close</a:t>
            </a:r>
            <a:r>
              <a:rPr lang="en-US" dirty="0"/>
              <a:t>() </a:t>
            </a:r>
          </a:p>
        </p:txBody>
      </p:sp>
    </p:spTree>
    <p:extLst>
      <p:ext uri="{BB962C8B-B14F-4D97-AF65-F5344CB8AC3E}">
        <p14:creationId xmlns:p14="http://schemas.microsoft.com/office/powerpoint/2010/main" val="4002784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B4DD4-EDD4-B46F-3510-8E0CD043E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B1BDF-457A-7CDD-585D-07F9C62FB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Use Cases of File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C7786-195A-B9B4-5927-DBF2B7FBD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="1" dirty="0"/>
              <a:t>Logging Machine Data:</a:t>
            </a:r>
            <a:endParaRPr lang="en-US" dirty="0"/>
          </a:p>
          <a:p>
            <a:pPr lvl="2"/>
            <a:r>
              <a:rPr lang="en-US" dirty="0"/>
              <a:t>Example of writing machine statuses to a log file.</a:t>
            </a:r>
          </a:p>
          <a:p>
            <a:pPr lvl="1"/>
            <a:r>
              <a:rPr lang="en-US" b="1" dirty="0"/>
              <a:t>Reading Sensor Data:</a:t>
            </a:r>
            <a:endParaRPr lang="en-US" dirty="0"/>
          </a:p>
          <a:p>
            <a:pPr lvl="2"/>
            <a:r>
              <a:rPr lang="en-US" dirty="0"/>
              <a:t>Example of reading sensor data from a CSV file.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422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DF8C0-CD6A-A767-3170-50067F4E0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84AD-085A-1322-297E-698FBF9B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Introduction to 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31377-BEB1-3D75-C68B-F592D553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use try-except?</a:t>
            </a:r>
          </a:p>
          <a:p>
            <a:pPr lvl="1"/>
            <a:r>
              <a:rPr lang="en-US" dirty="0"/>
              <a:t>Handle errors like file not found, file locked, or permission denied.</a:t>
            </a:r>
          </a:p>
          <a:p>
            <a:pPr lvl="1"/>
            <a:r>
              <a:rPr lang="en-US" dirty="0"/>
              <a:t>Prevent program crashes by handling exceptions gracefully.</a:t>
            </a:r>
          </a:p>
        </p:txBody>
      </p:sp>
    </p:spTree>
    <p:extLst>
      <p:ext uri="{BB962C8B-B14F-4D97-AF65-F5344CB8AC3E}">
        <p14:creationId xmlns:p14="http://schemas.microsoft.com/office/powerpoint/2010/main" val="596021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68F7E-495F-1FD3-D7A8-A6138588A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Exception Handling Example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E797CA-25D1-FEE1-3BD8-A054D1C921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65098"/>
            <a:ext cx="100584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of handling division by zero: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dirty="0"/>
              <a:t>try: a = 4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b = 0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c = a / b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except Exception as e: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print(</a:t>
            </a:r>
            <a:r>
              <a:rPr lang="en-US" dirty="0" err="1"/>
              <a:t>f"Exception</a:t>
            </a:r>
            <a:r>
              <a:rPr lang="en-US" dirty="0"/>
              <a:t>: {e}") 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600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E76C-4A5D-D7EC-67A8-771E59B82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Best Practices in File Handling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A7ED93-C311-0DE0-5473-0B26BDAEDE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539628"/>
            <a:ext cx="6479338" cy="9233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Validate file existence before reading.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Use try-except to handle file-related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Example of checking file existence: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 dirty="0"/>
              <a:t>import </a:t>
            </a:r>
            <a:r>
              <a:rPr lang="en-US" sz="1000" dirty="0" err="1"/>
              <a:t>os</a:t>
            </a:r>
            <a:r>
              <a:rPr lang="en-US" sz="1000" dirty="0"/>
              <a:t> filename = "machine_status.txt" status = </a:t>
            </a:r>
            <a:r>
              <a:rPr lang="en-US" sz="1000" dirty="0" err="1"/>
              <a:t>os.path.exists</a:t>
            </a:r>
            <a:r>
              <a:rPr lang="en-US" sz="1000" dirty="0"/>
              <a:t>(filename) print(</a:t>
            </a:r>
            <a:r>
              <a:rPr lang="en-US" sz="1000" dirty="0" err="1"/>
              <a:t>f"Status</a:t>
            </a:r>
            <a:r>
              <a:rPr lang="en-US" sz="1000" dirty="0"/>
              <a:t> of file: {filename}: {status}") 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093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97C69-3833-3AA1-5C7D-A9F1BA85A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80E4B-A084-B658-1129-63F9DF548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OOP organizes software design around objects.</a:t>
            </a:r>
          </a:p>
          <a:p>
            <a:r>
              <a:rPr lang="en-US" b="1" dirty="0"/>
              <a:t>Key Concepts:</a:t>
            </a:r>
            <a:endParaRPr lang="en-US" dirty="0"/>
          </a:p>
          <a:p>
            <a:pPr lvl="1"/>
            <a:r>
              <a:rPr lang="en-US" dirty="0"/>
              <a:t>Class: Blueprint for creating objects.</a:t>
            </a:r>
          </a:p>
          <a:p>
            <a:pPr lvl="1"/>
            <a:r>
              <a:rPr lang="en-US" dirty="0"/>
              <a:t>Object: Instance of a class.</a:t>
            </a:r>
          </a:p>
          <a:p>
            <a:pPr lvl="1"/>
            <a:r>
              <a:rPr lang="en-US" dirty="0"/>
              <a:t>Attribute: Data associated with an object.</a:t>
            </a:r>
          </a:p>
          <a:p>
            <a:pPr lvl="1"/>
            <a:r>
              <a:rPr lang="en-US" dirty="0"/>
              <a:t>Method: Functions inside a class.</a:t>
            </a:r>
          </a:p>
        </p:txBody>
      </p:sp>
    </p:spTree>
    <p:extLst>
      <p:ext uri="{BB962C8B-B14F-4D97-AF65-F5344CB8AC3E}">
        <p14:creationId xmlns:p14="http://schemas.microsoft.com/office/powerpoint/2010/main" val="2405797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81E59-7875-364B-1A47-E8C136ABF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class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C02DAB-2FA8-BE80-4046-F8F21F3200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4179" y="2677134"/>
            <a:ext cx="6563641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85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F79AB-BA02-3550-C7FC-655724367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Encapsulation in OOP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155206-E600-7D4C-671B-F0789124E0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Encapsulation hides internal object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Example of encapsulation using private attributes: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</a:br>
            <a:endParaRPr kumimoji="0" lang="en-US" altLang="en-US" sz="1000" b="0" i="0" u="none" strike="noStrike" cap="none" normalizeH="0" baseline="0">
              <a:ln>
                <a:noFill/>
              </a:ln>
              <a:solidFill>
                <a:srgbClr val="42424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8DD3B5-01DF-6ABE-543A-CF0AB1B48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638" y="2606289"/>
            <a:ext cx="3238952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090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29169-2AAF-A284-603B-64EBFBE8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Inheritance in OOP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35C1F0-00D9-DF42-A430-497774A3EB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Inheritance allows creating specialized classes from a base class.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Example of inheritance: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</a:br>
            <a:endParaRPr kumimoji="0" lang="en-US" altLang="en-US" sz="1000" b="0" i="0" u="none" strike="noStrike" cap="none" normalizeH="0" baseline="0">
              <a:ln>
                <a:noFill/>
              </a:ln>
              <a:solidFill>
                <a:srgbClr val="42424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95B07D-7E20-25C1-0AF7-4989646AA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976" y="2717234"/>
            <a:ext cx="3067478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963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550</Words>
  <Application>Microsoft Office PowerPoint</Application>
  <PresentationFormat>Widescreen</PresentationFormat>
  <Paragraphs>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Arial Unicode MS</vt:lpstr>
      <vt:lpstr>Courier New</vt:lpstr>
      <vt:lpstr>Segoe UI</vt:lpstr>
      <vt:lpstr>Times New Roman</vt:lpstr>
      <vt:lpstr>Office Theme</vt:lpstr>
      <vt:lpstr>PowerPoint Presentation</vt:lpstr>
      <vt:lpstr>File Handling</vt:lpstr>
      <vt:lpstr>File Handling Modes</vt:lpstr>
      <vt:lpstr>File Handling Methods</vt:lpstr>
      <vt:lpstr>Opening and Closing Files</vt:lpstr>
      <vt:lpstr>Reading from a File</vt:lpstr>
      <vt:lpstr>Writing and Appending to Files</vt:lpstr>
      <vt:lpstr> Use Cases of File Handling</vt:lpstr>
      <vt:lpstr> Introduction to Exception Handling</vt:lpstr>
      <vt:lpstr>Exception Handling Example</vt:lpstr>
      <vt:lpstr> Best Practices in File Handling</vt:lpstr>
      <vt:lpstr>Introduction to OOP</vt:lpstr>
      <vt:lpstr>Basic class example</vt:lpstr>
      <vt:lpstr>Encapsulation in OOP</vt:lpstr>
      <vt:lpstr>Inheritance in OOP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Goel (MSTIC DS&amp;AI)</dc:creator>
  <cp:lastModifiedBy>Aakash Goel (MSTIC DS&amp;AI)</cp:lastModifiedBy>
  <cp:revision>19</cp:revision>
  <dcterms:created xsi:type="dcterms:W3CDTF">2025-06-17T11:28:02Z</dcterms:created>
  <dcterms:modified xsi:type="dcterms:W3CDTF">2025-08-17T08:34:21Z</dcterms:modified>
</cp:coreProperties>
</file>