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7" r:id="rId2"/>
    <p:sldMasterId id="2147483680" r:id="rId3"/>
  </p:sldMasterIdLst>
  <p:notesMasterIdLst>
    <p:notesMasterId r:id="rId59"/>
  </p:notesMasterIdLst>
  <p:sldIdLst>
    <p:sldId id="319"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20" r:id="rId57"/>
    <p:sldId id="309" r:id="rId58"/>
  </p:sldIdLst>
  <p:sldSz cx="9144000" cy="6858000" type="screen4x3"/>
  <p:notesSz cx="10234613" cy="7104063"/>
  <p:embeddedFontLst>
    <p:embeddedFont>
      <p:font typeface="SimSun-ExtB" panose="02010609060101010101" pitchFamily="49" charset="-122"/>
      <p:regular r:id="rId60"/>
    </p:embeddedFont>
    <p:embeddedFont>
      <p:font typeface="Helvetica Neue" panose="020B060402020202020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hxg0FL1w14vDwbY2bJpkweBFs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568" y="2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4.fntdata"/><Relationship Id="rId68"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customschemas.google.com/relationships/presentationmetadata" Target="metadata"/><Relationship Id="rId5" Type="http://schemas.openxmlformats.org/officeDocument/2006/relationships/slide" Target="slides/slide2.xml"/><Relationship Id="rId61" Type="http://schemas.openxmlformats.org/officeDocument/2006/relationships/font" Target="fonts/font2.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font" Target="fonts/font5.fntdata"/><Relationship Id="rId69"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notesMaster" Target="notesMasters/notesMaster1.xml"/><Relationship Id="rId6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3.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1.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4428781" cy="353559"/>
          </a:xfrm>
          <a:prstGeom prst="rect">
            <a:avLst/>
          </a:prstGeom>
          <a:noFill/>
          <a:ln>
            <a:noFill/>
          </a:ln>
        </p:spPr>
        <p:txBody>
          <a:bodyPr spcFirstLastPara="1" wrap="square" lIns="95300" tIns="47650" rIns="95300" bIns="4765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5761413" y="0"/>
            <a:ext cx="4428781" cy="353559"/>
          </a:xfrm>
          <a:prstGeom prst="rect">
            <a:avLst/>
          </a:prstGeom>
          <a:noFill/>
          <a:ln>
            <a:noFill/>
          </a:ln>
        </p:spPr>
        <p:txBody>
          <a:bodyPr spcFirstLastPara="1" wrap="square" lIns="95300" tIns="47650" rIns="95300" bIns="4765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6777521"/>
            <a:ext cx="4428781" cy="353559"/>
          </a:xfrm>
          <a:prstGeom prst="rect">
            <a:avLst/>
          </a:prstGeom>
          <a:noFill/>
          <a:ln>
            <a:noFill/>
          </a:ln>
        </p:spPr>
        <p:txBody>
          <a:bodyPr spcFirstLastPara="1" wrap="square" lIns="95300" tIns="47650" rIns="95300" bIns="4765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mailto:AP@.75"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55: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0" i="0" u="none" strike="noStrike" cap="none" dirty="0">
                <a:solidFill>
                  <a:schemeClr val="dk1"/>
                </a:solidFill>
                <a:effectLst/>
                <a:latin typeface="Times New Roman"/>
                <a:ea typeface="Times New Roman"/>
                <a:cs typeface="Times New Roman"/>
                <a:sym typeface="Times New Roman"/>
              </a:rPr>
              <a:t>"Let's start by looking at the basic structure of a Convolutional Neural Network, or CNN. CNNs are designed to process data with a grid-like topology, such as images."</a:t>
            </a:r>
          </a:p>
          <a:p>
            <a:r>
              <a:rPr lang="en-US" sz="1200" b="0" i="0" u="none" strike="noStrike" cap="none" dirty="0">
                <a:solidFill>
                  <a:schemeClr val="dk1"/>
                </a:solidFill>
                <a:effectLst/>
                <a:latin typeface="Times New Roman"/>
                <a:ea typeface="Times New Roman"/>
                <a:cs typeface="Times New Roman"/>
                <a:sym typeface="Times New Roman"/>
              </a:rPr>
              <a:t>"The input image is passed through a series of layers, each performing a convolution operation. This is where the network learns to identify features like edges, textures, and more complex patterns."</a:t>
            </a:r>
          </a:p>
          <a:p>
            <a:r>
              <a:rPr lang="en-US" sz="1200" b="0" i="0" u="none" strike="noStrike" cap="none" dirty="0">
                <a:solidFill>
                  <a:schemeClr val="dk1"/>
                </a:solidFill>
                <a:effectLst/>
                <a:latin typeface="Times New Roman"/>
                <a:ea typeface="Times New Roman"/>
                <a:cs typeface="Times New Roman"/>
                <a:sym typeface="Times New Roman"/>
              </a:rPr>
              <a:t>"In the diagram, you can see the flow from the input (x) through convolutional layers (C) and activation functions (f(n))."</a:t>
            </a:r>
          </a:p>
          <a:p>
            <a:r>
              <a:rPr lang="en-US" sz="1200" b="0" i="0" u="none" strike="noStrike" cap="none" dirty="0">
                <a:solidFill>
                  <a:schemeClr val="dk1"/>
                </a:solidFill>
                <a:effectLst/>
                <a:latin typeface="Times New Roman"/>
                <a:ea typeface="Times New Roman"/>
                <a:cs typeface="Times New Roman"/>
                <a:sym typeface="Times New Roman"/>
              </a:rPr>
              <a:t>"Weights (W) and biases (b) are crucial as they are adjusted during training to minimize the error in predictions."</a:t>
            </a:r>
          </a:p>
          <a:p>
            <a:pPr marL="0" lvl="0" indent="0" algn="l" rtl="0">
              <a:lnSpc>
                <a:spcPct val="100000"/>
              </a:lnSpc>
              <a:spcBef>
                <a:spcPts val="360"/>
              </a:spcBef>
              <a:spcAft>
                <a:spcPts val="0"/>
              </a:spcAft>
              <a:buSzPts val="1400"/>
              <a:buNone/>
            </a:pPr>
            <a:endParaRPr dirty="0"/>
          </a:p>
        </p:txBody>
      </p:sp>
      <p:sp>
        <p:nvSpPr>
          <p:cNvPr id="432" name="Google Shape;432;p55: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56: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0" i="0" u="none" strike="noStrike" cap="none" dirty="0">
                <a:solidFill>
                  <a:schemeClr val="dk1"/>
                </a:solidFill>
                <a:effectLst/>
                <a:latin typeface="Times New Roman"/>
                <a:ea typeface="Times New Roman"/>
                <a:cs typeface="Times New Roman"/>
                <a:sym typeface="Times New Roman"/>
              </a:rPr>
              <a:t>"CNNs work by parameterizing the image using convolutional filter weights and biases. This means the network learns a function that maps the input image to a desired output."</a:t>
            </a:r>
          </a:p>
          <a:p>
            <a:r>
              <a:rPr lang="en-US" sz="1200" b="0" i="0" u="none" strike="noStrike" cap="none" dirty="0">
                <a:solidFill>
                  <a:schemeClr val="dk1"/>
                </a:solidFill>
                <a:effectLst/>
                <a:latin typeface="Times New Roman"/>
                <a:ea typeface="Times New Roman"/>
                <a:cs typeface="Times New Roman"/>
                <a:sym typeface="Times New Roman"/>
              </a:rPr>
              <a:t>"We design the form of this function and fit the parameters to the data through training. This involves adjusting the weights and biases to minimize the loss."</a:t>
            </a:r>
          </a:p>
          <a:p>
            <a:r>
              <a:rPr lang="en-US" sz="1200" b="0" i="0" u="none" strike="noStrike" cap="none" dirty="0">
                <a:solidFill>
                  <a:schemeClr val="dk1"/>
                </a:solidFill>
                <a:effectLst/>
                <a:latin typeface="Times New Roman"/>
                <a:ea typeface="Times New Roman"/>
                <a:cs typeface="Times New Roman"/>
                <a:sym typeface="Times New Roman"/>
              </a:rPr>
              <a:t>"The transformation process involves converting an image with dimensions (Height, Width, Channels) into a feature vector (F), which is a compact representation of the image."</a:t>
            </a:r>
          </a:p>
          <a:p>
            <a:pPr marL="0" lvl="0" indent="0" algn="l" rtl="0">
              <a:lnSpc>
                <a:spcPct val="100000"/>
              </a:lnSpc>
              <a:spcBef>
                <a:spcPts val="360"/>
              </a:spcBef>
              <a:spcAft>
                <a:spcPts val="0"/>
              </a:spcAft>
              <a:buSzPts val="1400"/>
              <a:buNone/>
            </a:pPr>
            <a:endParaRPr dirty="0"/>
          </a:p>
        </p:txBody>
      </p:sp>
      <p:sp>
        <p:nvSpPr>
          <p:cNvPr id="483" name="Google Shape;483;p56: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57: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0" i="0" u="none" strike="noStrike" cap="none" dirty="0">
                <a:solidFill>
                  <a:schemeClr val="dk1"/>
                </a:solidFill>
                <a:effectLst/>
                <a:latin typeface="Times New Roman"/>
                <a:ea typeface="Times New Roman"/>
                <a:cs typeface="Times New Roman"/>
                <a:sym typeface="Times New Roman"/>
              </a:rPr>
              <a:t>"Here, we see the process of converting an </a:t>
            </a:r>
            <a:r>
              <a:rPr lang="en-US" sz="1200" b="0" i="0" u="none" strike="noStrike" cap="none" dirty="0" err="1">
                <a:solidFill>
                  <a:schemeClr val="dk1"/>
                </a:solidFill>
                <a:effectLst/>
                <a:latin typeface="Times New Roman"/>
                <a:ea typeface="Times New Roman"/>
                <a:cs typeface="Times New Roman"/>
                <a:sym typeface="Times New Roman"/>
              </a:rPr>
              <a:t>HxW</a:t>
            </a:r>
            <a:r>
              <a:rPr lang="en-US" sz="1200" b="0" i="0" u="none" strike="noStrike" cap="none" dirty="0">
                <a:solidFill>
                  <a:schemeClr val="dk1"/>
                </a:solidFill>
                <a:effectLst/>
                <a:latin typeface="Times New Roman"/>
                <a:ea typeface="Times New Roman"/>
                <a:cs typeface="Times New Roman"/>
                <a:sym typeface="Times New Roman"/>
              </a:rPr>
              <a:t> image into an F-dimensional vector using a CNN."</a:t>
            </a:r>
          </a:p>
          <a:p>
            <a:r>
              <a:rPr lang="en-US" sz="1200" b="0" i="0" u="none" strike="noStrike" cap="none" dirty="0">
                <a:solidFill>
                  <a:schemeClr val="dk1"/>
                </a:solidFill>
                <a:effectLst/>
                <a:latin typeface="Times New Roman"/>
                <a:ea typeface="Times New Roman"/>
                <a:cs typeface="Times New Roman"/>
                <a:sym typeface="Times New Roman"/>
              </a:rPr>
              <a:t>"This conversion allows us to ask interesting questions about the image, such as: Which pixels represent a cat? How far is each pixel from the camera? Which pixels might be fake?"</a:t>
            </a:r>
          </a:p>
          <a:p>
            <a:r>
              <a:rPr lang="en-US" sz="1200" b="0" i="0" u="none" strike="noStrike" cap="none" dirty="0">
                <a:solidFill>
                  <a:schemeClr val="dk1"/>
                </a:solidFill>
                <a:effectLst/>
                <a:latin typeface="Times New Roman"/>
                <a:ea typeface="Times New Roman"/>
                <a:cs typeface="Times New Roman"/>
                <a:sym typeface="Times New Roman"/>
              </a:rPr>
              <a:t>"These questions highlight the practical applications of CNNs in tasks like object detection, depth estimation, and image authenticity verification."</a:t>
            </a:r>
          </a:p>
          <a:p>
            <a:pPr marL="0" lvl="0" indent="0" algn="l" rtl="0">
              <a:lnSpc>
                <a:spcPct val="100000"/>
              </a:lnSpc>
              <a:spcBef>
                <a:spcPts val="360"/>
              </a:spcBef>
              <a:spcAft>
                <a:spcPts val="0"/>
              </a:spcAft>
              <a:buSzPts val="1400"/>
              <a:buNone/>
            </a:pPr>
            <a:endParaRPr dirty="0"/>
          </a:p>
        </p:txBody>
      </p:sp>
      <p:sp>
        <p:nvSpPr>
          <p:cNvPr id="503" name="Google Shape;503;p57: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58: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0" i="0" u="none" strike="noStrike" cap="none" dirty="0">
                <a:solidFill>
                  <a:schemeClr val="dk1"/>
                </a:solidFill>
                <a:effectLst/>
                <a:latin typeface="Times New Roman"/>
                <a:ea typeface="Times New Roman"/>
                <a:cs typeface="Times New Roman"/>
                <a:sym typeface="Times New Roman"/>
              </a:rPr>
              <a:t>"Semantic segmentation involves predicting an F-dimensional vector for each pixel in the image."</a:t>
            </a:r>
          </a:p>
          <a:p>
            <a:r>
              <a:rPr lang="en-US" sz="1200" b="0" i="0" u="none" strike="noStrike" cap="none" dirty="0">
                <a:solidFill>
                  <a:schemeClr val="dk1"/>
                </a:solidFill>
                <a:effectLst/>
                <a:latin typeface="Times New Roman"/>
                <a:ea typeface="Times New Roman"/>
                <a:cs typeface="Times New Roman"/>
                <a:sym typeface="Times New Roman"/>
              </a:rPr>
              <a:t>"Each vector represents the probability of each class at every pixel, allowing us to label each pixel with a class."</a:t>
            </a:r>
          </a:p>
          <a:p>
            <a:r>
              <a:rPr lang="en-US" sz="1200" b="0" i="0" u="none" strike="noStrike" cap="none" dirty="0">
                <a:solidFill>
                  <a:schemeClr val="dk1"/>
                </a:solidFill>
                <a:effectLst/>
                <a:latin typeface="Times New Roman"/>
                <a:ea typeface="Times New Roman"/>
                <a:cs typeface="Times New Roman"/>
                <a:sym typeface="Times New Roman"/>
              </a:rPr>
              <a:t>"The loss is computed and backpropagated at every pixel, which is crucial for training the network to accurately segment the image."</a:t>
            </a:r>
          </a:p>
          <a:p>
            <a:pPr marL="0" lvl="0" indent="0" algn="l" rtl="0">
              <a:lnSpc>
                <a:spcPct val="100000"/>
              </a:lnSpc>
              <a:spcBef>
                <a:spcPts val="360"/>
              </a:spcBef>
              <a:spcAft>
                <a:spcPts val="0"/>
              </a:spcAft>
              <a:buSzPts val="1400"/>
              <a:buNone/>
            </a:pPr>
            <a:endParaRPr dirty="0"/>
          </a:p>
        </p:txBody>
      </p:sp>
      <p:sp>
        <p:nvSpPr>
          <p:cNvPr id="522" name="Google Shape;522;p58: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59: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0" i="0" u="none" strike="noStrike" cap="none" dirty="0">
                <a:solidFill>
                  <a:schemeClr val="dk1"/>
                </a:solidFill>
                <a:effectLst/>
                <a:latin typeface="Times New Roman"/>
                <a:ea typeface="Times New Roman"/>
                <a:cs typeface="Times New Roman"/>
                <a:sym typeface="Times New Roman"/>
              </a:rPr>
              <a:t>"In semantic segmentation, each pixel in an image is assigned a label, which is often visualized using different colors."</a:t>
            </a:r>
          </a:p>
          <a:p>
            <a:r>
              <a:rPr lang="en-US" sz="1200" b="0" i="0" u="none" strike="noStrike" cap="none" dirty="0">
                <a:solidFill>
                  <a:schemeClr val="dk1"/>
                </a:solidFill>
                <a:effectLst/>
                <a:latin typeface="Times New Roman"/>
                <a:ea typeface="Times New Roman"/>
                <a:cs typeface="Times New Roman"/>
                <a:sym typeface="Times New Roman"/>
              </a:rPr>
              <a:t>"As you can see in the examples, the input images are transformed into labeled outputs, where each color represents a different class."</a:t>
            </a:r>
          </a:p>
          <a:p>
            <a:r>
              <a:rPr lang="en-US" sz="1200" b="0" i="0" u="none" strike="noStrike" cap="none" dirty="0">
                <a:solidFill>
                  <a:schemeClr val="dk1"/>
                </a:solidFill>
                <a:effectLst/>
                <a:latin typeface="Times New Roman"/>
                <a:ea typeface="Times New Roman"/>
                <a:cs typeface="Times New Roman"/>
                <a:sym typeface="Times New Roman"/>
              </a:rPr>
              <a:t>"It's important to note that semantic segmentation does not distinguish between different instances of the same class."</a:t>
            </a:r>
          </a:p>
          <a:p>
            <a:pPr marL="0" lvl="0" indent="0" algn="l" rtl="0">
              <a:lnSpc>
                <a:spcPct val="100000"/>
              </a:lnSpc>
              <a:spcBef>
                <a:spcPts val="360"/>
              </a:spcBef>
              <a:spcAft>
                <a:spcPts val="0"/>
              </a:spcAft>
              <a:buSzPts val="1400"/>
              <a:buNone/>
            </a:pPr>
            <a:endParaRPr dirty="0"/>
          </a:p>
        </p:txBody>
      </p:sp>
      <p:sp>
        <p:nvSpPr>
          <p:cNvPr id="541" name="Google Shape;541;p59: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60: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Understanding "Semantic"</a:t>
            </a:r>
            <a:endParaRPr lang="en-US" sz="1200" b="0" i="0" u="none" strike="noStrike" cap="none" dirty="0">
              <a:solidFill>
                <a:schemeClr val="dk1"/>
              </a:solidFill>
              <a:effectLst/>
              <a:latin typeface="Times New Roman"/>
              <a:ea typeface="Times New Roman"/>
              <a:cs typeface="Times New Roman"/>
              <a:sym typeface="Times New Roman"/>
            </a:endParaRPr>
          </a:p>
          <a:p>
            <a:pPr lvl="1"/>
            <a:r>
              <a:rPr lang="en-US" sz="1200" b="0" i="0" u="none" strike="noStrike" cap="none" dirty="0">
                <a:solidFill>
                  <a:schemeClr val="dk1"/>
                </a:solidFill>
                <a:effectLst/>
                <a:latin typeface="Times New Roman"/>
                <a:ea typeface="Times New Roman"/>
                <a:cs typeface="Times New Roman"/>
                <a:sym typeface="Times New Roman"/>
              </a:rPr>
              <a:t>"The term 'semantic' in semantic segmentation refers to the process of naming or classifying parts of an image."</a:t>
            </a:r>
          </a:p>
          <a:p>
            <a:pPr lvl="1"/>
            <a:r>
              <a:rPr lang="en-US" sz="1200" b="0" i="0" u="none" strike="noStrike" cap="none" dirty="0">
                <a:solidFill>
                  <a:schemeClr val="dk1"/>
                </a:solidFill>
                <a:effectLst/>
                <a:latin typeface="Times New Roman"/>
                <a:ea typeface="Times New Roman"/>
                <a:cs typeface="Times New Roman"/>
                <a:sym typeface="Times New Roman"/>
              </a:rPr>
              <a:t>"This involves identifying and labeling different parts of an image based on their class, such as 'horse,' 'rider,' or 'background.'"</a:t>
            </a:r>
          </a:p>
          <a:p>
            <a:pPr lvl="1"/>
            <a:r>
              <a:rPr lang="en-US" sz="1200" b="0" i="0" u="none" strike="noStrike" cap="none" dirty="0">
                <a:solidFill>
                  <a:schemeClr val="dk1"/>
                </a:solidFill>
                <a:effectLst/>
                <a:latin typeface="Times New Roman"/>
                <a:ea typeface="Times New Roman"/>
                <a:cs typeface="Times New Roman"/>
                <a:sym typeface="Times New Roman"/>
              </a:rPr>
              <a:t>"The goal is to provide a meaningful interpretation of the image by assigning a class label to each pixel."</a:t>
            </a:r>
          </a:p>
          <a:p>
            <a:pPr marL="0" lvl="0" indent="0" algn="l" rtl="0">
              <a:lnSpc>
                <a:spcPct val="100000"/>
              </a:lnSpc>
              <a:spcBef>
                <a:spcPts val="360"/>
              </a:spcBef>
              <a:spcAft>
                <a:spcPts val="0"/>
              </a:spcAft>
              <a:buSzPts val="1400"/>
              <a:buNone/>
            </a:pPr>
            <a:endParaRPr dirty="0"/>
          </a:p>
        </p:txBody>
      </p:sp>
      <p:sp>
        <p:nvSpPr>
          <p:cNvPr id="558" name="Google Shape;558;p60: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61: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Semantic Segmentation Loss Function</a:t>
            </a:r>
            <a:endParaRPr lang="en-US" sz="1200" b="0" i="0" u="none" strike="noStrike" cap="none" dirty="0">
              <a:solidFill>
                <a:schemeClr val="dk1"/>
              </a:solidFill>
              <a:effectLst/>
              <a:latin typeface="Times New Roman"/>
              <a:ea typeface="Times New Roman"/>
              <a:cs typeface="Times New Roman"/>
              <a:sym typeface="Times New Roman"/>
            </a:endParaRPr>
          </a:p>
          <a:p>
            <a:pPr lvl="1"/>
            <a:r>
              <a:rPr lang="en-US" sz="1200" b="0" i="0" u="none" strike="noStrike" cap="none" dirty="0">
                <a:solidFill>
                  <a:schemeClr val="dk1"/>
                </a:solidFill>
                <a:effectLst/>
                <a:latin typeface="Times New Roman"/>
                <a:ea typeface="Times New Roman"/>
                <a:cs typeface="Times New Roman"/>
                <a:sym typeface="Times New Roman"/>
              </a:rPr>
              <a:t>"The loss function used in semantic segmentation is an F-way classification loss function."</a:t>
            </a:r>
          </a:p>
          <a:p>
            <a:pPr lvl="1"/>
            <a:r>
              <a:rPr lang="en-US" sz="1200" b="0" i="0" u="none" strike="noStrike" cap="none" dirty="0">
                <a:solidFill>
                  <a:schemeClr val="dk1"/>
                </a:solidFill>
                <a:effectLst/>
                <a:latin typeface="Times New Roman"/>
                <a:ea typeface="Times New Roman"/>
                <a:cs typeface="Times New Roman"/>
                <a:sym typeface="Times New Roman"/>
              </a:rPr>
              <a:t>"This involves computing the loss at every pixel using a formula that includes </a:t>
            </a:r>
            <a:r>
              <a:rPr lang="en-US" sz="1200" b="0" i="0" u="none" strike="noStrike" cap="none" dirty="0" err="1">
                <a:solidFill>
                  <a:schemeClr val="dk1"/>
                </a:solidFill>
                <a:effectLst/>
                <a:latin typeface="Times New Roman"/>
                <a:ea typeface="Times New Roman"/>
                <a:cs typeface="Times New Roman"/>
                <a:sym typeface="Times New Roman"/>
              </a:rPr>
              <a:t>softmax</a:t>
            </a:r>
            <a:r>
              <a:rPr lang="en-US" sz="1200" b="0" i="0" u="none" strike="noStrike" cap="none" dirty="0">
                <a:solidFill>
                  <a:schemeClr val="dk1"/>
                </a:solidFill>
                <a:effectLst/>
                <a:latin typeface="Times New Roman"/>
                <a:ea typeface="Times New Roman"/>
                <a:cs typeface="Times New Roman"/>
                <a:sym typeface="Times New Roman"/>
              </a:rPr>
              <a:t> and cross-entropy."</a:t>
            </a:r>
          </a:p>
          <a:p>
            <a:pPr lvl="1"/>
            <a:r>
              <a:rPr lang="en-US" sz="1200" b="0" i="0" u="none" strike="noStrike" cap="none" dirty="0">
                <a:solidFill>
                  <a:schemeClr val="dk1"/>
                </a:solidFill>
                <a:effectLst/>
                <a:latin typeface="Times New Roman"/>
                <a:ea typeface="Times New Roman"/>
                <a:cs typeface="Times New Roman"/>
                <a:sym typeface="Times New Roman"/>
              </a:rPr>
              <a:t>"The loss function helps the network learn to make accurate predictions by penalizing incorrect classifications."</a:t>
            </a:r>
          </a:p>
          <a:p>
            <a:pPr marL="0" lvl="0" indent="0" algn="l" rtl="0">
              <a:lnSpc>
                <a:spcPct val="100000"/>
              </a:lnSpc>
              <a:spcBef>
                <a:spcPts val="360"/>
              </a:spcBef>
              <a:spcAft>
                <a:spcPts val="0"/>
              </a:spcAft>
              <a:buSzPts val="1400"/>
              <a:buNone/>
            </a:pPr>
            <a:endParaRPr dirty="0"/>
          </a:p>
        </p:txBody>
      </p:sp>
      <p:sp>
        <p:nvSpPr>
          <p:cNvPr id="574" name="Google Shape;574;p61: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62: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Encoder-Decoder Architecture</a:t>
            </a:r>
            <a:endParaRPr lang="en-US" sz="1200" b="0" i="0" u="none" strike="noStrike" cap="none" dirty="0">
              <a:solidFill>
                <a:schemeClr val="dk1"/>
              </a:solidFill>
              <a:effectLst/>
              <a:latin typeface="Times New Roman"/>
              <a:ea typeface="Times New Roman"/>
              <a:cs typeface="Times New Roman"/>
              <a:sym typeface="Times New Roman"/>
            </a:endParaRPr>
          </a:p>
          <a:p>
            <a:pPr lvl="1"/>
            <a:r>
              <a:rPr lang="en-US" sz="1200" b="0" i="0" u="none" strike="noStrike" cap="none" dirty="0">
                <a:solidFill>
                  <a:schemeClr val="dk1"/>
                </a:solidFill>
                <a:effectLst/>
                <a:latin typeface="Times New Roman"/>
                <a:ea typeface="Times New Roman"/>
                <a:cs typeface="Times New Roman"/>
                <a:sym typeface="Times New Roman"/>
              </a:rPr>
              <a:t>"The encoder-decoder architecture is a popular approach in semantic segmentation."</a:t>
            </a:r>
          </a:p>
          <a:p>
            <a:pPr lvl="1"/>
            <a:r>
              <a:rPr lang="en-US" sz="1200" b="0" i="0" u="none" strike="noStrike" cap="none" dirty="0">
                <a:solidFill>
                  <a:schemeClr val="dk1"/>
                </a:solidFill>
                <a:effectLst/>
                <a:latin typeface="Times New Roman"/>
                <a:ea typeface="Times New Roman"/>
                <a:cs typeface="Times New Roman"/>
                <a:sym typeface="Times New Roman"/>
              </a:rPr>
              <a:t>"The key idea is to first </a:t>
            </a:r>
            <a:r>
              <a:rPr lang="en-US" sz="1200" b="0" i="0" u="none" strike="noStrike" cap="none" dirty="0" err="1">
                <a:solidFill>
                  <a:schemeClr val="dk1"/>
                </a:solidFill>
                <a:effectLst/>
                <a:latin typeface="Times New Roman"/>
                <a:ea typeface="Times New Roman"/>
                <a:cs typeface="Times New Roman"/>
                <a:sym typeface="Times New Roman"/>
              </a:rPr>
              <a:t>downsample</a:t>
            </a:r>
            <a:r>
              <a:rPr lang="en-US" sz="1200" b="0" i="0" u="none" strike="noStrike" cap="none" dirty="0">
                <a:solidFill>
                  <a:schemeClr val="dk1"/>
                </a:solidFill>
                <a:effectLst/>
                <a:latin typeface="Times New Roman"/>
                <a:ea typeface="Times New Roman"/>
                <a:cs typeface="Times New Roman"/>
                <a:sym typeface="Times New Roman"/>
              </a:rPr>
              <a:t> the input towards the middle of the network and then </a:t>
            </a:r>
            <a:r>
              <a:rPr lang="en-US" sz="1200" b="0" i="0" u="none" strike="noStrike" cap="none" dirty="0" err="1">
                <a:solidFill>
                  <a:schemeClr val="dk1"/>
                </a:solidFill>
                <a:effectLst/>
                <a:latin typeface="Times New Roman"/>
                <a:ea typeface="Times New Roman"/>
                <a:cs typeface="Times New Roman"/>
                <a:sym typeface="Times New Roman"/>
              </a:rPr>
              <a:t>upsample</a:t>
            </a:r>
            <a:r>
              <a:rPr lang="en-US" sz="1200" b="0" i="0" u="none" strike="noStrike" cap="none" dirty="0">
                <a:solidFill>
                  <a:schemeClr val="dk1"/>
                </a:solidFill>
                <a:effectLst/>
                <a:latin typeface="Times New Roman"/>
                <a:ea typeface="Times New Roman"/>
                <a:cs typeface="Times New Roman"/>
                <a:sym typeface="Times New Roman"/>
              </a:rPr>
              <a:t> it back to the original resolution."</a:t>
            </a:r>
          </a:p>
          <a:p>
            <a:pPr lvl="1"/>
            <a:r>
              <a:rPr lang="en-US" sz="1200" b="0" i="0" u="none" strike="noStrike" cap="none" dirty="0">
                <a:solidFill>
                  <a:schemeClr val="dk1"/>
                </a:solidFill>
                <a:effectLst/>
                <a:latin typeface="Times New Roman"/>
                <a:ea typeface="Times New Roman"/>
                <a:cs typeface="Times New Roman"/>
                <a:sym typeface="Times New Roman"/>
              </a:rPr>
              <a:t>"</a:t>
            </a:r>
            <a:r>
              <a:rPr lang="en-US" sz="1200" b="0" i="0" u="none" strike="noStrike" cap="none" dirty="0" err="1">
                <a:solidFill>
                  <a:schemeClr val="dk1"/>
                </a:solidFill>
                <a:effectLst/>
                <a:latin typeface="Times New Roman"/>
                <a:ea typeface="Times New Roman"/>
                <a:cs typeface="Times New Roman"/>
                <a:sym typeface="Times New Roman"/>
              </a:rPr>
              <a:t>Downsampling</a:t>
            </a:r>
            <a:r>
              <a:rPr lang="en-US" sz="1200" b="0" i="0" u="none" strike="noStrike" cap="none" dirty="0">
                <a:solidFill>
                  <a:schemeClr val="dk1"/>
                </a:solidFill>
                <a:effectLst/>
                <a:latin typeface="Times New Roman"/>
                <a:ea typeface="Times New Roman"/>
                <a:cs typeface="Times New Roman"/>
                <a:sym typeface="Times New Roman"/>
              </a:rPr>
              <a:t> is achieved through convolutions and pooling, which help capture the essential features of the image while reducing its size."</a:t>
            </a:r>
          </a:p>
          <a:p>
            <a:pPr marL="0" lvl="0" indent="0" algn="l" rtl="0">
              <a:lnSpc>
                <a:spcPct val="100000"/>
              </a:lnSpc>
              <a:spcBef>
                <a:spcPts val="360"/>
              </a:spcBef>
              <a:spcAft>
                <a:spcPts val="0"/>
              </a:spcAft>
              <a:buSzPts val="1400"/>
              <a:buNone/>
            </a:pPr>
            <a:endParaRPr dirty="0"/>
          </a:p>
        </p:txBody>
      </p:sp>
      <p:sp>
        <p:nvSpPr>
          <p:cNvPr id="601" name="Google Shape;601;p62: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63: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Parameter Acquisition in CNNs</a:t>
            </a:r>
            <a:endParaRPr lang="en-US" sz="1200" b="0" i="0" u="none" strike="noStrike" cap="none" dirty="0">
              <a:solidFill>
                <a:schemeClr val="dk1"/>
              </a:solidFill>
              <a:effectLst/>
              <a:latin typeface="Times New Roman"/>
              <a:ea typeface="Times New Roman"/>
              <a:cs typeface="Times New Roman"/>
              <a:sym typeface="Times New Roman"/>
            </a:endParaRPr>
          </a:p>
          <a:p>
            <a:pPr lvl="1"/>
            <a:r>
              <a:rPr lang="en-US" sz="1200" b="0" i="0" u="none" strike="noStrike" cap="none" dirty="0">
                <a:solidFill>
                  <a:schemeClr val="dk1"/>
                </a:solidFill>
                <a:effectLst/>
                <a:latin typeface="Times New Roman"/>
                <a:ea typeface="Times New Roman"/>
                <a:cs typeface="Times New Roman"/>
                <a:sym typeface="Times New Roman"/>
              </a:rPr>
              <a:t>"In CNNs, parameters are obtained through a process that maps images to vectors."</a:t>
            </a:r>
          </a:p>
          <a:p>
            <a:pPr lvl="1"/>
            <a:r>
              <a:rPr lang="en-US" sz="1200" b="0" i="0" u="none" strike="noStrike" cap="none" dirty="0">
                <a:solidFill>
                  <a:schemeClr val="dk1"/>
                </a:solidFill>
                <a:effectLst/>
                <a:latin typeface="Times New Roman"/>
                <a:ea typeface="Times New Roman"/>
                <a:cs typeface="Times New Roman"/>
                <a:sym typeface="Times New Roman"/>
              </a:rPr>
              <a:t>"1x1 convolutions are used to rewrite vector-vector operations, simplifying the computations and reducing the number of parameters."</a:t>
            </a:r>
          </a:p>
          <a:p>
            <a:pPr lvl="1"/>
            <a:r>
              <a:rPr lang="en-US" sz="1200" b="0" i="0" u="none" strike="noStrike" cap="none" dirty="0">
                <a:solidFill>
                  <a:schemeClr val="dk1"/>
                </a:solidFill>
                <a:effectLst/>
                <a:latin typeface="Times New Roman"/>
                <a:ea typeface="Times New Roman"/>
                <a:cs typeface="Times New Roman"/>
                <a:sym typeface="Times New Roman"/>
              </a:rPr>
              <a:t>"This approach is particularly useful in fully convolutional networks, where the goal is to maintain spatial information throughout the network."</a:t>
            </a:r>
          </a:p>
          <a:p>
            <a:pPr marL="0" lvl="0" indent="0" algn="l" rtl="0">
              <a:lnSpc>
                <a:spcPct val="100000"/>
              </a:lnSpc>
              <a:spcBef>
                <a:spcPts val="360"/>
              </a:spcBef>
              <a:spcAft>
                <a:spcPts val="0"/>
              </a:spcAft>
              <a:buSzPts val="1400"/>
              <a:buNone/>
            </a:pPr>
            <a:endParaRPr dirty="0"/>
          </a:p>
        </p:txBody>
      </p:sp>
      <p:sp>
        <p:nvSpPr>
          <p:cNvPr id="628" name="Google Shape;628;p63: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64: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Mapping Images to Vectors and Images</a:t>
            </a:r>
            <a:endParaRPr lang="en-US" sz="1200" b="0" i="0" u="none" strike="noStrike" cap="none" dirty="0">
              <a:solidFill>
                <a:schemeClr val="dk1"/>
              </a:solidFill>
              <a:effectLst/>
              <a:latin typeface="Times New Roman"/>
              <a:ea typeface="Times New Roman"/>
              <a:cs typeface="Times New Roman"/>
              <a:sym typeface="Times New Roman"/>
            </a:endParaRPr>
          </a:p>
          <a:p>
            <a:pPr lvl="1"/>
            <a:r>
              <a:rPr lang="en-US" sz="1200" b="0" i="0" u="none" strike="noStrike" cap="none" dirty="0">
                <a:solidFill>
                  <a:schemeClr val="dk1"/>
                </a:solidFill>
                <a:effectLst/>
                <a:latin typeface="Times New Roman"/>
                <a:ea typeface="Times New Roman"/>
                <a:cs typeface="Times New Roman"/>
                <a:sym typeface="Times New Roman"/>
              </a:rPr>
              <a:t>"Here, we compare CNNs that map images to vectors with those that map images to images."</a:t>
            </a:r>
          </a:p>
          <a:p>
            <a:pPr lvl="1"/>
            <a:r>
              <a:rPr lang="en-US" sz="1200" b="0" i="0" u="none" strike="noStrike" cap="none" dirty="0">
                <a:solidFill>
                  <a:schemeClr val="dk1"/>
                </a:solidFill>
                <a:effectLst/>
                <a:latin typeface="Times New Roman"/>
                <a:ea typeface="Times New Roman"/>
                <a:cs typeface="Times New Roman"/>
                <a:sym typeface="Times New Roman"/>
              </a:rPr>
              <a:t>"One question to consider is: What if we make the input bigger? How does this affect the network's performance and output?"</a:t>
            </a:r>
          </a:p>
          <a:p>
            <a:pPr lvl="1"/>
            <a:r>
              <a:rPr lang="en-US" sz="1200" b="0" i="0" u="none" strike="noStrike" cap="none" dirty="0">
                <a:solidFill>
                  <a:schemeClr val="dk1"/>
                </a:solidFill>
                <a:effectLst/>
                <a:latin typeface="Times New Roman"/>
                <a:ea typeface="Times New Roman"/>
                <a:cs typeface="Times New Roman"/>
                <a:sym typeface="Times New Roman"/>
              </a:rPr>
              <a:t>"Larger inputs can provide more detailed information, but they also require more computational resources and may lead to overfitting if not handled properly."</a:t>
            </a:r>
          </a:p>
          <a:p>
            <a:pPr marL="0" lvl="0" indent="0" algn="l" rtl="0">
              <a:lnSpc>
                <a:spcPct val="100000"/>
              </a:lnSpc>
              <a:spcBef>
                <a:spcPts val="360"/>
              </a:spcBef>
              <a:spcAft>
                <a:spcPts val="0"/>
              </a:spcAft>
              <a:buSzPts val="1400"/>
              <a:buNone/>
            </a:pPr>
            <a:endParaRPr dirty="0"/>
          </a:p>
        </p:txBody>
      </p:sp>
      <p:sp>
        <p:nvSpPr>
          <p:cNvPr id="656" name="Google Shape;656;p64: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65: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Conclusion</a:t>
            </a:r>
            <a:endParaRPr lang="en-US" sz="1200" b="0" i="0" u="none" strike="noStrike" cap="none" dirty="0">
              <a:solidFill>
                <a:schemeClr val="dk1"/>
              </a:solidFill>
              <a:effectLst/>
              <a:latin typeface="Times New Roman"/>
              <a:ea typeface="Times New Roman"/>
              <a:cs typeface="Times New Roman"/>
              <a:sym typeface="Times New Roman"/>
            </a:endParaRPr>
          </a:p>
          <a:p>
            <a:pPr lvl="1"/>
            <a:r>
              <a:rPr lang="en-US" sz="1200" b="0" i="0" u="none" strike="noStrike" cap="none" dirty="0">
                <a:solidFill>
                  <a:schemeClr val="dk1"/>
                </a:solidFill>
                <a:effectLst/>
                <a:latin typeface="Times New Roman"/>
                <a:ea typeface="Times New Roman"/>
                <a:cs typeface="Times New Roman"/>
                <a:sym typeface="Times New Roman"/>
              </a:rPr>
              <a:t>"To wrap up, we've explored the key concepts of semantic segmentation and how CNNs are used to achieve this task."</a:t>
            </a:r>
          </a:p>
          <a:p>
            <a:pPr lvl="1"/>
            <a:r>
              <a:rPr lang="en-US" sz="1200" b="0" i="0" u="none" strike="noStrike" cap="none" dirty="0">
                <a:solidFill>
                  <a:schemeClr val="dk1"/>
                </a:solidFill>
                <a:effectLst/>
                <a:latin typeface="Times New Roman"/>
                <a:ea typeface="Times New Roman"/>
                <a:cs typeface="Times New Roman"/>
                <a:sym typeface="Times New Roman"/>
              </a:rPr>
              <a:t>"We've seen how CNNs transform images into feature vectors and how semantic segmentation assigns class labels to each pixel."</a:t>
            </a:r>
          </a:p>
          <a:p>
            <a:pPr lvl="1"/>
            <a:r>
              <a:rPr lang="en-US" sz="1200" b="0" i="0" u="none" strike="noStrike" cap="none" dirty="0">
                <a:solidFill>
                  <a:schemeClr val="dk1"/>
                </a:solidFill>
                <a:effectLst/>
                <a:latin typeface="Times New Roman"/>
                <a:ea typeface="Times New Roman"/>
                <a:cs typeface="Times New Roman"/>
                <a:sym typeface="Times New Roman"/>
              </a:rPr>
              <a:t>"I encourage you to explore further applications and challenges in this field, and feel free to ask any questions you might have."</a:t>
            </a:r>
          </a:p>
          <a:p>
            <a:pPr marL="0" lvl="0" indent="0" algn="l" rtl="0">
              <a:lnSpc>
                <a:spcPct val="100000"/>
              </a:lnSpc>
              <a:spcBef>
                <a:spcPts val="360"/>
              </a:spcBef>
              <a:spcAft>
                <a:spcPts val="0"/>
              </a:spcAft>
              <a:buSzPts val="1400"/>
              <a:buNone/>
            </a:pPr>
            <a:endParaRPr dirty="0"/>
          </a:p>
        </p:txBody>
      </p:sp>
      <p:sp>
        <p:nvSpPr>
          <p:cNvPr id="692" name="Google Shape;692;p65: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66: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How Do We </a:t>
            </a:r>
            <a:r>
              <a:rPr lang="en-US" sz="1200" b="1" i="0" u="none" strike="noStrike" cap="none" dirty="0" err="1">
                <a:solidFill>
                  <a:schemeClr val="dk1"/>
                </a:solidFill>
                <a:effectLst/>
                <a:latin typeface="Times New Roman"/>
                <a:ea typeface="Times New Roman"/>
                <a:cs typeface="Times New Roman"/>
                <a:sym typeface="Times New Roman"/>
              </a:rPr>
              <a:t>Upsample</a:t>
            </a:r>
            <a:r>
              <a:rPr lang="en-US" sz="1200" b="1" i="0" u="none" strike="noStrike" cap="none" dirty="0">
                <a:solidFill>
                  <a:schemeClr val="dk1"/>
                </a:solidFill>
                <a:effectLst/>
                <a:latin typeface="Times New Roman"/>
                <a:ea typeface="Times New Roman"/>
                <a:cs typeface="Times New Roman"/>
                <a:sym typeface="Times New Roman"/>
              </a:rPr>
              <a:t>?</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"Now, let's talk about </a:t>
            </a:r>
            <a:r>
              <a:rPr lang="en-US" sz="1200" b="0" i="0" u="none" strike="noStrike" cap="none" dirty="0" err="1">
                <a:solidFill>
                  <a:schemeClr val="dk1"/>
                </a:solidFill>
                <a:effectLst/>
                <a:latin typeface="Times New Roman"/>
                <a:ea typeface="Times New Roman"/>
                <a:cs typeface="Times New Roman"/>
                <a:sym typeface="Times New Roman"/>
              </a:rPr>
              <a:t>upsampling</a:t>
            </a:r>
            <a:r>
              <a:rPr lang="en-US" sz="1200" b="0" i="0" u="none" strike="noStrike" cap="none" dirty="0">
                <a:solidFill>
                  <a:schemeClr val="dk1"/>
                </a:solidFill>
                <a:effectLst/>
                <a:latin typeface="Times New Roman"/>
                <a:ea typeface="Times New Roman"/>
                <a:cs typeface="Times New Roman"/>
                <a:sym typeface="Times New Roman"/>
              </a:rPr>
              <a:t>, which is essentially the reverse of </a:t>
            </a:r>
            <a:r>
              <a:rPr lang="en-US" sz="1200" b="0" i="0" u="none" strike="noStrike" cap="none" dirty="0" err="1">
                <a:solidFill>
                  <a:schemeClr val="dk1"/>
                </a:solidFill>
                <a:effectLst/>
                <a:latin typeface="Times New Roman"/>
                <a:ea typeface="Times New Roman"/>
                <a:cs typeface="Times New Roman"/>
                <a:sym typeface="Times New Roman"/>
              </a:rPr>
              <a:t>downsampling</a:t>
            </a:r>
            <a:r>
              <a:rPr lang="en-US" sz="1200" b="0" i="0" u="none" strike="noStrike" cap="none" dirty="0">
                <a:solidFill>
                  <a:schemeClr val="dk1"/>
                </a:solidFill>
                <a:effectLst/>
                <a:latin typeface="Times New Roman"/>
                <a:ea typeface="Times New Roman"/>
                <a:cs typeface="Times New Roman"/>
                <a:sym typeface="Times New Roman"/>
              </a:rPr>
              <a:t>."</a:t>
            </a:r>
          </a:p>
          <a:p>
            <a:r>
              <a:rPr lang="en-US" sz="1200" b="0" i="0" u="none" strike="noStrike" cap="none" dirty="0">
                <a:solidFill>
                  <a:schemeClr val="dk1"/>
                </a:solidFill>
                <a:effectLst/>
                <a:latin typeface="Times New Roman"/>
                <a:ea typeface="Times New Roman"/>
                <a:cs typeface="Times New Roman"/>
                <a:sym typeface="Times New Roman"/>
              </a:rPr>
              <a:t>"To </a:t>
            </a:r>
            <a:r>
              <a:rPr lang="en-US" sz="1200" b="0" i="0" u="none" strike="noStrike" cap="none" dirty="0" err="1">
                <a:solidFill>
                  <a:schemeClr val="dk1"/>
                </a:solidFill>
                <a:effectLst/>
                <a:latin typeface="Times New Roman"/>
                <a:ea typeface="Times New Roman"/>
                <a:cs typeface="Times New Roman"/>
                <a:sym typeface="Times New Roman"/>
              </a:rPr>
              <a:t>upsample</a:t>
            </a:r>
            <a:r>
              <a:rPr lang="en-US" sz="1200" b="0" i="0" u="none" strike="noStrike" cap="none" dirty="0">
                <a:solidFill>
                  <a:schemeClr val="dk1"/>
                </a:solidFill>
                <a:effectLst/>
                <a:latin typeface="Times New Roman"/>
                <a:ea typeface="Times New Roman"/>
                <a:cs typeface="Times New Roman"/>
                <a:sym typeface="Times New Roman"/>
              </a:rPr>
              <a:t>, we can use techniques like '</a:t>
            </a:r>
            <a:r>
              <a:rPr lang="en-US" sz="1200" b="0" i="0" u="none" strike="noStrike" cap="none" dirty="0" err="1">
                <a:solidFill>
                  <a:schemeClr val="dk1"/>
                </a:solidFill>
                <a:effectLst/>
                <a:latin typeface="Times New Roman"/>
                <a:ea typeface="Times New Roman"/>
                <a:cs typeface="Times New Roman"/>
                <a:sym typeface="Times New Roman"/>
              </a:rPr>
              <a:t>unpooling</a:t>
            </a:r>
            <a:r>
              <a:rPr lang="en-US" sz="1200" b="0" i="0" u="none" strike="noStrike" cap="none" dirty="0">
                <a:solidFill>
                  <a:schemeClr val="dk1"/>
                </a:solidFill>
                <a:effectLst/>
                <a:latin typeface="Times New Roman"/>
                <a:ea typeface="Times New Roman"/>
                <a:cs typeface="Times New Roman"/>
                <a:sym typeface="Times New Roman"/>
              </a:rPr>
              <a:t>' and 'transpose convolution.'"</a:t>
            </a:r>
          </a:p>
          <a:p>
            <a:r>
              <a:rPr lang="en-US" sz="1200" b="0" i="0" u="none" strike="noStrike" cap="none" dirty="0">
                <a:solidFill>
                  <a:schemeClr val="dk1"/>
                </a:solidFill>
                <a:effectLst/>
                <a:latin typeface="Times New Roman"/>
                <a:ea typeface="Times New Roman"/>
                <a:cs typeface="Times New Roman"/>
                <a:sym typeface="Times New Roman"/>
              </a:rPr>
              <a:t>"</a:t>
            </a:r>
            <a:r>
              <a:rPr lang="en-US" sz="1200" b="0" i="0" u="none" strike="noStrike" cap="none" dirty="0" err="1">
                <a:solidFill>
                  <a:schemeClr val="dk1"/>
                </a:solidFill>
                <a:effectLst/>
                <a:latin typeface="Times New Roman"/>
                <a:ea typeface="Times New Roman"/>
                <a:cs typeface="Times New Roman"/>
                <a:sym typeface="Times New Roman"/>
              </a:rPr>
              <a:t>Unpooling</a:t>
            </a:r>
            <a:r>
              <a:rPr lang="en-US" sz="1200" b="0" i="0" u="none" strike="noStrike" cap="none" dirty="0">
                <a:solidFill>
                  <a:schemeClr val="dk1"/>
                </a:solidFill>
                <a:effectLst/>
                <a:latin typeface="Times New Roman"/>
                <a:ea typeface="Times New Roman"/>
                <a:cs typeface="Times New Roman"/>
                <a:sym typeface="Times New Roman"/>
              </a:rPr>
              <a:t> is the opposite of pooling, where we expand the feature map back to its original size."</a:t>
            </a:r>
          </a:p>
          <a:p>
            <a:r>
              <a:rPr lang="en-US" sz="1200" b="0" i="0" u="none" strike="noStrike" cap="none" dirty="0">
                <a:solidFill>
                  <a:schemeClr val="dk1"/>
                </a:solidFill>
                <a:effectLst/>
                <a:latin typeface="Times New Roman"/>
                <a:ea typeface="Times New Roman"/>
                <a:cs typeface="Times New Roman"/>
                <a:sym typeface="Times New Roman"/>
              </a:rPr>
              <a:t>"Transpose convolution, also known as deconvolution, is used to increase the spatial dimensions of the feature map."</a:t>
            </a:r>
          </a:p>
          <a:p>
            <a:pPr marL="0" lvl="0" indent="0" algn="l" rtl="0">
              <a:lnSpc>
                <a:spcPct val="100000"/>
              </a:lnSpc>
              <a:spcBef>
                <a:spcPts val="360"/>
              </a:spcBef>
              <a:spcAft>
                <a:spcPts val="0"/>
              </a:spcAft>
              <a:buSzPts val="1400"/>
              <a:buNone/>
            </a:pPr>
            <a:endParaRPr dirty="0"/>
          </a:p>
        </p:txBody>
      </p:sp>
      <p:sp>
        <p:nvSpPr>
          <p:cNvPr id="728" name="Google Shape;728;p66: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67: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Recall: Pooling</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"Pooling is a crucial operation in CNNs that reduces the spatial dimensions of the input."</a:t>
            </a:r>
          </a:p>
          <a:p>
            <a:r>
              <a:rPr lang="en-US" sz="1200" b="0" i="0" u="none" strike="noStrike" cap="none" dirty="0">
                <a:solidFill>
                  <a:schemeClr val="dk1"/>
                </a:solidFill>
                <a:effectLst/>
                <a:latin typeface="Times New Roman"/>
                <a:ea typeface="Times New Roman"/>
                <a:cs typeface="Times New Roman"/>
                <a:sym typeface="Times New Roman"/>
              </a:rPr>
              <a:t>"Here, we see an example of max-pooling with a 2x2 filter and a stride of 2."</a:t>
            </a:r>
          </a:p>
          <a:p>
            <a:r>
              <a:rPr lang="en-US" sz="1200" b="0" i="0" u="none" strike="noStrike" cap="none" dirty="0">
                <a:solidFill>
                  <a:schemeClr val="dk1"/>
                </a:solidFill>
                <a:effectLst/>
                <a:latin typeface="Times New Roman"/>
                <a:ea typeface="Times New Roman"/>
                <a:cs typeface="Times New Roman"/>
                <a:sym typeface="Times New Roman"/>
              </a:rPr>
              <a:t>"Pooling helps in reducing the computational load and also makes the network invariant to small translations."</a:t>
            </a:r>
          </a:p>
          <a:p>
            <a:pPr marL="0" lvl="0" indent="0" algn="l" rtl="0">
              <a:lnSpc>
                <a:spcPct val="100000"/>
              </a:lnSpc>
              <a:spcBef>
                <a:spcPts val="360"/>
              </a:spcBef>
              <a:spcAft>
                <a:spcPts val="0"/>
              </a:spcAft>
              <a:buSzPts val="1400"/>
              <a:buNone/>
            </a:pPr>
            <a:endParaRPr dirty="0"/>
          </a:p>
        </p:txBody>
      </p:sp>
      <p:sp>
        <p:nvSpPr>
          <p:cNvPr id="746" name="Google Shape;746;p67: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p68: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Now: </a:t>
            </a:r>
            <a:r>
              <a:rPr lang="en-US" sz="1200" b="1" i="0" u="none" strike="noStrike" cap="none" dirty="0" err="1">
                <a:solidFill>
                  <a:schemeClr val="dk1"/>
                </a:solidFill>
                <a:effectLst/>
                <a:latin typeface="Times New Roman"/>
                <a:ea typeface="Times New Roman"/>
                <a:cs typeface="Times New Roman"/>
                <a:sym typeface="Times New Roman"/>
              </a:rPr>
              <a:t>Unpooling</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a:t>
            </a:r>
            <a:r>
              <a:rPr lang="en-US" sz="1200" b="0" i="0" u="none" strike="noStrike" cap="none" dirty="0" err="1">
                <a:solidFill>
                  <a:schemeClr val="dk1"/>
                </a:solidFill>
                <a:effectLst/>
                <a:latin typeface="Times New Roman"/>
                <a:ea typeface="Times New Roman"/>
                <a:cs typeface="Times New Roman"/>
                <a:sym typeface="Times New Roman"/>
              </a:rPr>
              <a:t>Unpooling</a:t>
            </a:r>
            <a:r>
              <a:rPr lang="en-US" sz="1200" b="0" i="0" u="none" strike="noStrike" cap="none" dirty="0">
                <a:solidFill>
                  <a:schemeClr val="dk1"/>
                </a:solidFill>
                <a:effectLst/>
                <a:latin typeface="Times New Roman"/>
                <a:ea typeface="Times New Roman"/>
                <a:cs typeface="Times New Roman"/>
                <a:sym typeface="Times New Roman"/>
              </a:rPr>
              <a:t> is the process of reversing pooling operations to restore the original dimensions."</a:t>
            </a:r>
          </a:p>
          <a:p>
            <a:r>
              <a:rPr lang="en-US" sz="1200" b="0" i="0" u="none" strike="noStrike" cap="none" dirty="0">
                <a:solidFill>
                  <a:schemeClr val="dk1"/>
                </a:solidFill>
                <a:effectLst/>
                <a:latin typeface="Times New Roman"/>
                <a:ea typeface="Times New Roman"/>
                <a:cs typeface="Times New Roman"/>
                <a:sym typeface="Times New Roman"/>
              </a:rPr>
              <a:t>"In this example, we use nearest neighbor </a:t>
            </a:r>
            <a:r>
              <a:rPr lang="en-US" sz="1200" b="0" i="0" u="none" strike="noStrike" cap="none" dirty="0" err="1">
                <a:solidFill>
                  <a:schemeClr val="dk1"/>
                </a:solidFill>
                <a:effectLst/>
                <a:latin typeface="Times New Roman"/>
                <a:ea typeface="Times New Roman"/>
                <a:cs typeface="Times New Roman"/>
                <a:sym typeface="Times New Roman"/>
              </a:rPr>
              <a:t>unpooling</a:t>
            </a:r>
            <a:r>
              <a:rPr lang="en-US" sz="1200" b="0" i="0" u="none" strike="noStrike" cap="none" dirty="0">
                <a:solidFill>
                  <a:schemeClr val="dk1"/>
                </a:solidFill>
                <a:effectLst/>
                <a:latin typeface="Times New Roman"/>
                <a:ea typeface="Times New Roman"/>
                <a:cs typeface="Times New Roman"/>
                <a:sym typeface="Times New Roman"/>
              </a:rPr>
              <a:t> to expand the feature map by a factor of 2."</a:t>
            </a:r>
          </a:p>
          <a:p>
            <a:r>
              <a:rPr lang="en-US" sz="1200" b="0" i="0" u="none" strike="noStrike" cap="none" dirty="0">
                <a:solidFill>
                  <a:schemeClr val="dk1"/>
                </a:solidFill>
                <a:effectLst/>
                <a:latin typeface="Times New Roman"/>
                <a:ea typeface="Times New Roman"/>
                <a:cs typeface="Times New Roman"/>
                <a:sym typeface="Times New Roman"/>
              </a:rPr>
              <a:t>"</a:t>
            </a:r>
            <a:r>
              <a:rPr lang="en-US" sz="1200" b="0" i="0" u="none" strike="noStrike" cap="none" dirty="0" err="1">
                <a:solidFill>
                  <a:schemeClr val="dk1"/>
                </a:solidFill>
                <a:effectLst/>
                <a:latin typeface="Times New Roman"/>
                <a:ea typeface="Times New Roman"/>
                <a:cs typeface="Times New Roman"/>
                <a:sym typeface="Times New Roman"/>
              </a:rPr>
              <a:t>Unpooling</a:t>
            </a:r>
            <a:r>
              <a:rPr lang="en-US" sz="1200" b="0" i="0" u="none" strike="noStrike" cap="none" dirty="0">
                <a:solidFill>
                  <a:schemeClr val="dk1"/>
                </a:solidFill>
                <a:effectLst/>
                <a:latin typeface="Times New Roman"/>
                <a:ea typeface="Times New Roman"/>
                <a:cs typeface="Times New Roman"/>
                <a:sym typeface="Times New Roman"/>
              </a:rPr>
              <a:t> helps in reconstructing the spatial dimensions lost during pooling."</a:t>
            </a:r>
          </a:p>
          <a:p>
            <a:br>
              <a:rPr lang="en-US" sz="1200" b="0" i="0" u="none" strike="noStrike" cap="none" dirty="0">
                <a:solidFill>
                  <a:schemeClr val="dk1"/>
                </a:solidFill>
                <a:effectLst/>
                <a:latin typeface="Times New Roman"/>
                <a:ea typeface="Times New Roman"/>
                <a:cs typeface="Times New Roman"/>
                <a:sym typeface="Times New Roman"/>
              </a:rPr>
            </a:br>
            <a:endParaRPr dirty="0"/>
          </a:p>
        </p:txBody>
      </p:sp>
      <p:sp>
        <p:nvSpPr>
          <p:cNvPr id="812" name="Google Shape;812;p68: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p69: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Recall: Convolution</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"Let's revisit the concept of convolution, which is fundamental to CNNs."</a:t>
            </a:r>
          </a:p>
          <a:p>
            <a:r>
              <a:rPr lang="en-US" sz="1200" b="0" i="0" u="none" strike="noStrike" cap="none" dirty="0">
                <a:solidFill>
                  <a:schemeClr val="dk1"/>
                </a:solidFill>
                <a:effectLst/>
                <a:latin typeface="Times New Roman"/>
                <a:ea typeface="Times New Roman"/>
                <a:cs typeface="Times New Roman"/>
                <a:sym typeface="Times New Roman"/>
              </a:rPr>
              <a:t>"Here, we have a 3x3 convolution with a stride of 2 and padding of 1."</a:t>
            </a:r>
          </a:p>
          <a:p>
            <a:r>
              <a:rPr lang="en-US" sz="1200" b="0" i="0" u="none" strike="noStrike" cap="none" dirty="0">
                <a:solidFill>
                  <a:schemeClr val="dk1"/>
                </a:solidFill>
                <a:effectLst/>
                <a:latin typeface="Times New Roman"/>
                <a:ea typeface="Times New Roman"/>
                <a:cs typeface="Times New Roman"/>
                <a:sym typeface="Times New Roman"/>
              </a:rPr>
              <a:t>"The convolution operation involves computing the dot product between the filter and the input region."</a:t>
            </a:r>
          </a:p>
          <a:p>
            <a:pPr marL="0" lvl="0" indent="0" algn="l" rtl="0">
              <a:lnSpc>
                <a:spcPct val="100000"/>
              </a:lnSpc>
              <a:spcBef>
                <a:spcPts val="360"/>
              </a:spcBef>
              <a:spcAft>
                <a:spcPts val="0"/>
              </a:spcAft>
              <a:buSzPts val="1400"/>
              <a:buNone/>
            </a:pPr>
            <a:endParaRPr dirty="0"/>
          </a:p>
        </p:txBody>
      </p:sp>
      <p:sp>
        <p:nvSpPr>
          <p:cNvPr id="878" name="Google Shape;878;p69: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p70: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Recall: Convolution (Continued)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"In this slide, we see how multiple filters can be applied to the same input region."</a:t>
            </a:r>
          </a:p>
          <a:p>
            <a:r>
              <a:rPr lang="en-US" sz="1200" b="0" i="0" u="none" strike="noStrike" cap="none" dirty="0">
                <a:solidFill>
                  <a:schemeClr val="dk1"/>
                </a:solidFill>
                <a:effectLst/>
                <a:latin typeface="Times New Roman"/>
                <a:ea typeface="Times New Roman"/>
                <a:cs typeface="Times New Roman"/>
                <a:sym typeface="Times New Roman"/>
              </a:rPr>
              <a:t>"Each filter extracts different features from the input, contributing to the richness of the feature map."</a:t>
            </a:r>
          </a:p>
          <a:p>
            <a:pPr marL="0" lvl="0" indent="0" algn="l" rtl="0">
              <a:lnSpc>
                <a:spcPct val="100000"/>
              </a:lnSpc>
              <a:spcBef>
                <a:spcPts val="360"/>
              </a:spcBef>
              <a:spcAft>
                <a:spcPts val="0"/>
              </a:spcAft>
              <a:buSzPts val="1400"/>
              <a:buNone/>
            </a:pPr>
            <a:endParaRPr dirty="0"/>
          </a:p>
        </p:txBody>
      </p:sp>
      <p:sp>
        <p:nvSpPr>
          <p:cNvPr id="906" name="Google Shape;906;p70: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338546bb019_0_0:notes"/>
          <p:cNvSpPr>
            <a:spLocks noGrp="1" noRot="1" noChangeAspect="1"/>
          </p:cNvSpPr>
          <p:nvPr>
            <p:ph type="sldImg" idx="2"/>
          </p:nvPr>
        </p:nvSpPr>
        <p:spPr>
          <a:xfrm>
            <a:off x="3328988" y="531813"/>
            <a:ext cx="3533700" cy="2651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338546bb019_0_0:notes"/>
          <p:cNvSpPr txBox="1">
            <a:spLocks noGrp="1"/>
          </p:cNvSpPr>
          <p:nvPr>
            <p:ph type="body" idx="1"/>
          </p:nvPr>
        </p:nvSpPr>
        <p:spPr>
          <a:xfrm>
            <a:off x="1328190" y="3359395"/>
            <a:ext cx="7533900" cy="3240900"/>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938" name="Google Shape;938;g338546bb019_0_0:notes"/>
          <p:cNvSpPr txBox="1">
            <a:spLocks noGrp="1"/>
          </p:cNvSpPr>
          <p:nvPr>
            <p:ph type="sldNum" idx="12"/>
          </p:nvPr>
        </p:nvSpPr>
        <p:spPr>
          <a:xfrm>
            <a:off x="5761413" y="6777521"/>
            <a:ext cx="4428900" cy="353700"/>
          </a:xfrm>
          <a:prstGeom prst="rect">
            <a:avLst/>
          </a:prstGeom>
        </p:spPr>
        <p:txBody>
          <a:bodyPr spcFirstLastPara="1" wrap="square" lIns="95300" tIns="47650" rIns="95300" bIns="47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p71: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Recall: Convolution (Further)</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"As we continue, notice how the convolution operation slides over the input, applying the filter at each step."</a:t>
            </a:r>
          </a:p>
          <a:p>
            <a:r>
              <a:rPr lang="en-US" sz="1200" b="0" i="0" u="none" strike="noStrike" cap="none" dirty="0">
                <a:solidFill>
                  <a:schemeClr val="dk1"/>
                </a:solidFill>
                <a:effectLst/>
                <a:latin typeface="Times New Roman"/>
                <a:ea typeface="Times New Roman"/>
                <a:cs typeface="Times New Roman"/>
                <a:sym typeface="Times New Roman"/>
              </a:rPr>
              <a:t>"This process generates a feature map that captures spatial hierarchies in the input data."</a:t>
            </a:r>
          </a:p>
          <a:p>
            <a:pPr marL="0" lvl="0" indent="0" algn="l" rtl="0">
              <a:lnSpc>
                <a:spcPct val="100000"/>
              </a:lnSpc>
              <a:spcBef>
                <a:spcPts val="360"/>
              </a:spcBef>
              <a:spcAft>
                <a:spcPts val="0"/>
              </a:spcAft>
              <a:buSzPts val="1400"/>
              <a:buNone/>
            </a:pPr>
            <a:endParaRPr dirty="0"/>
          </a:p>
        </p:txBody>
      </p:sp>
      <p:sp>
        <p:nvSpPr>
          <p:cNvPr id="942" name="Google Shape;942;p71: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72: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Transpose Convolution</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"Transpose convolution is used to increase the spatial dimensions of the feature map."</a:t>
            </a:r>
          </a:p>
          <a:p>
            <a:r>
              <a:rPr lang="en-US" sz="1200" b="0" i="0" u="none" strike="noStrike" cap="none" dirty="0">
                <a:solidFill>
                  <a:schemeClr val="dk1"/>
                </a:solidFill>
                <a:effectLst/>
                <a:latin typeface="Times New Roman"/>
                <a:ea typeface="Times New Roman"/>
                <a:cs typeface="Times New Roman"/>
                <a:sym typeface="Times New Roman"/>
              </a:rPr>
              <a:t>"In this operation, the output is generated by weighting the filter with the input values."</a:t>
            </a:r>
          </a:p>
          <a:p>
            <a:r>
              <a:rPr lang="en-US" sz="1200" b="0" i="0" u="none" strike="noStrike" cap="none" dirty="0">
                <a:solidFill>
                  <a:schemeClr val="dk1"/>
                </a:solidFill>
                <a:effectLst/>
                <a:latin typeface="Times New Roman"/>
                <a:ea typeface="Times New Roman"/>
                <a:cs typeface="Times New Roman"/>
                <a:sym typeface="Times New Roman"/>
              </a:rPr>
              <a:t>"This technique is essential for tasks like semantic segmentation, where we need to produce high-resolution outputs."</a:t>
            </a:r>
          </a:p>
          <a:p>
            <a:pPr marL="0" lvl="0" indent="0" algn="l" rtl="0">
              <a:lnSpc>
                <a:spcPct val="100000"/>
              </a:lnSpc>
              <a:spcBef>
                <a:spcPts val="360"/>
              </a:spcBef>
              <a:spcAft>
                <a:spcPts val="0"/>
              </a:spcAft>
              <a:buSzPts val="1400"/>
              <a:buNone/>
            </a:pPr>
            <a:endParaRPr dirty="0"/>
          </a:p>
        </p:txBody>
      </p:sp>
      <p:sp>
        <p:nvSpPr>
          <p:cNvPr id="976" name="Google Shape;976;p72: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73: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Transpose Convolution (Continued)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"When performing transpose convolution, overlapping regions in the output are summed."</a:t>
            </a:r>
          </a:p>
          <a:p>
            <a:r>
              <a:rPr lang="en-US" sz="1200" b="0" i="0" u="none" strike="noStrike" cap="none" dirty="0">
                <a:solidFill>
                  <a:schemeClr val="dk1"/>
                </a:solidFill>
                <a:effectLst/>
                <a:latin typeface="Times New Roman"/>
                <a:ea typeface="Times New Roman"/>
                <a:cs typeface="Times New Roman"/>
                <a:sym typeface="Times New Roman"/>
              </a:rPr>
              <a:t>"This slide illustrates how the outputs from different input positions are combined to form the final feature map."</a:t>
            </a:r>
          </a:p>
          <a:p>
            <a:pPr marL="0" lvl="0" indent="0" algn="l" rtl="0">
              <a:lnSpc>
                <a:spcPct val="100000"/>
              </a:lnSpc>
              <a:spcBef>
                <a:spcPts val="360"/>
              </a:spcBef>
              <a:spcAft>
                <a:spcPts val="0"/>
              </a:spcAft>
              <a:buSzPts val="1400"/>
              <a:buNone/>
            </a:pPr>
            <a:endParaRPr dirty="0"/>
          </a:p>
        </p:txBody>
      </p:sp>
      <p:sp>
        <p:nvSpPr>
          <p:cNvPr id="1011" name="Google Shape;1011;p73: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p74: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Putting it Together</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"Let's put everything together to understand the complete process."</a:t>
            </a:r>
          </a:p>
          <a:p>
            <a:r>
              <a:rPr lang="en-US" sz="1200" b="0" i="0" u="none" strike="noStrike" cap="none" dirty="0">
                <a:solidFill>
                  <a:schemeClr val="dk1"/>
                </a:solidFill>
                <a:effectLst/>
                <a:latin typeface="Times New Roman"/>
                <a:ea typeface="Times New Roman"/>
                <a:cs typeface="Times New Roman"/>
                <a:sym typeface="Times New Roman"/>
              </a:rPr>
              <a:t>"In an encoder-decoder architecture, convolutions and pooling are used to </a:t>
            </a:r>
            <a:r>
              <a:rPr lang="en-US" sz="1200" b="0" i="0" u="none" strike="noStrike" cap="none" dirty="0" err="1">
                <a:solidFill>
                  <a:schemeClr val="dk1"/>
                </a:solidFill>
                <a:effectLst/>
                <a:latin typeface="Times New Roman"/>
                <a:ea typeface="Times New Roman"/>
                <a:cs typeface="Times New Roman"/>
                <a:sym typeface="Times New Roman"/>
              </a:rPr>
              <a:t>downsample</a:t>
            </a:r>
            <a:r>
              <a:rPr lang="en-US" sz="1200" b="0" i="0" u="none" strike="noStrike" cap="none" dirty="0">
                <a:solidFill>
                  <a:schemeClr val="dk1"/>
                </a:solidFill>
                <a:effectLst/>
                <a:latin typeface="Times New Roman"/>
                <a:ea typeface="Times New Roman"/>
                <a:cs typeface="Times New Roman"/>
                <a:sym typeface="Times New Roman"/>
              </a:rPr>
              <a:t> or compress the input, forming the 'encoder' part."</a:t>
            </a:r>
          </a:p>
          <a:p>
            <a:r>
              <a:rPr lang="en-US" sz="1200" b="0" i="0" u="none" strike="noStrike" cap="none" dirty="0">
                <a:solidFill>
                  <a:schemeClr val="dk1"/>
                </a:solidFill>
                <a:effectLst/>
                <a:latin typeface="Times New Roman"/>
                <a:ea typeface="Times New Roman"/>
                <a:cs typeface="Times New Roman"/>
                <a:sym typeface="Times New Roman"/>
              </a:rPr>
              <a:t>"Transpose convolutions and </a:t>
            </a:r>
            <a:r>
              <a:rPr lang="en-US" sz="1200" b="0" i="0" u="none" strike="noStrike" cap="none" dirty="0" err="1">
                <a:solidFill>
                  <a:schemeClr val="dk1"/>
                </a:solidFill>
                <a:effectLst/>
                <a:latin typeface="Times New Roman"/>
                <a:ea typeface="Times New Roman"/>
                <a:cs typeface="Times New Roman"/>
                <a:sym typeface="Times New Roman"/>
              </a:rPr>
              <a:t>unpooling</a:t>
            </a:r>
            <a:r>
              <a:rPr lang="en-US" sz="1200" b="0" i="0" u="none" strike="noStrike" cap="none" dirty="0">
                <a:solidFill>
                  <a:schemeClr val="dk1"/>
                </a:solidFill>
                <a:effectLst/>
                <a:latin typeface="Times New Roman"/>
                <a:ea typeface="Times New Roman"/>
                <a:cs typeface="Times New Roman"/>
                <a:sym typeface="Times New Roman"/>
              </a:rPr>
              <a:t> are used to </a:t>
            </a:r>
            <a:r>
              <a:rPr lang="en-US" sz="1200" b="0" i="0" u="none" strike="noStrike" cap="none" dirty="0" err="1">
                <a:solidFill>
                  <a:schemeClr val="dk1"/>
                </a:solidFill>
                <a:effectLst/>
                <a:latin typeface="Times New Roman"/>
                <a:ea typeface="Times New Roman"/>
                <a:cs typeface="Times New Roman"/>
                <a:sym typeface="Times New Roman"/>
              </a:rPr>
              <a:t>upsample</a:t>
            </a:r>
            <a:r>
              <a:rPr lang="en-US" sz="1200" b="0" i="0" u="none" strike="noStrike" cap="none" dirty="0">
                <a:solidFill>
                  <a:schemeClr val="dk1"/>
                </a:solidFill>
                <a:effectLst/>
                <a:latin typeface="Times New Roman"/>
                <a:ea typeface="Times New Roman"/>
                <a:cs typeface="Times New Roman"/>
                <a:sym typeface="Times New Roman"/>
              </a:rPr>
              <a:t> or decompress the feature map, forming the 'decoder' part."</a:t>
            </a:r>
          </a:p>
          <a:p>
            <a:r>
              <a:rPr lang="en-US" sz="1200" b="0" i="0" u="none" strike="noStrike" cap="none" dirty="0">
                <a:solidFill>
                  <a:schemeClr val="dk1"/>
                </a:solidFill>
                <a:effectLst/>
                <a:latin typeface="Times New Roman"/>
                <a:ea typeface="Times New Roman"/>
                <a:cs typeface="Times New Roman"/>
                <a:sym typeface="Times New Roman"/>
              </a:rPr>
              <a:t>"This architecture is powerful for tasks like semantic segmentation, where we need to maintain spatial information while processing the image."</a:t>
            </a:r>
          </a:p>
          <a:p>
            <a:pPr marL="0" lvl="0" indent="0" algn="l" rtl="0">
              <a:lnSpc>
                <a:spcPct val="100000"/>
              </a:lnSpc>
              <a:spcBef>
                <a:spcPts val="360"/>
              </a:spcBef>
              <a:spcAft>
                <a:spcPts val="0"/>
              </a:spcAft>
              <a:buSzPts val="1400"/>
              <a:buNone/>
            </a:pPr>
            <a:endParaRPr dirty="0"/>
          </a:p>
        </p:txBody>
      </p:sp>
      <p:sp>
        <p:nvSpPr>
          <p:cNvPr id="1051" name="Google Shape;1051;p74: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p75: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Putting It Together – Block Sizes</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"When designing neural networks, it's important to remember that they come in various forms and configurations."</a:t>
            </a:r>
          </a:p>
          <a:p>
            <a:r>
              <a:rPr lang="en-US" sz="1200" b="0" i="0" u="none" strike="noStrike" cap="none" dirty="0">
                <a:solidFill>
                  <a:schemeClr val="dk1"/>
                </a:solidFill>
                <a:effectLst/>
                <a:latin typeface="Times New Roman"/>
                <a:ea typeface="Times New Roman"/>
                <a:cs typeface="Times New Roman"/>
                <a:sym typeface="Times New Roman"/>
              </a:rPr>
              <a:t>"Don't take any block sizes literally; they are often flexible and can be adjusted based on the task."</a:t>
            </a:r>
          </a:p>
          <a:p>
            <a:r>
              <a:rPr lang="en-US" sz="1200" b="0" i="0" u="none" strike="noStrike" cap="none" dirty="0">
                <a:solidFill>
                  <a:schemeClr val="dk1"/>
                </a:solidFill>
                <a:effectLst/>
                <a:latin typeface="Times New Roman"/>
                <a:ea typeface="Times New Roman"/>
                <a:cs typeface="Times New Roman"/>
                <a:sym typeface="Times New Roman"/>
              </a:rPr>
              <a:t>"Typically, networks maintain some spatial resolution throughout the layers, but this isn't always the case."</a:t>
            </a:r>
          </a:p>
          <a:p>
            <a:r>
              <a:rPr lang="en-US" sz="1200" b="0" i="0" u="none" strike="noStrike" cap="none" dirty="0">
                <a:solidFill>
                  <a:schemeClr val="dk1"/>
                </a:solidFill>
                <a:effectLst/>
                <a:latin typeface="Times New Roman"/>
                <a:ea typeface="Times New Roman"/>
                <a:cs typeface="Times New Roman"/>
                <a:sym typeface="Times New Roman"/>
              </a:rPr>
              <a:t>"On the left, we see an example of encoding to a smaller spatial tensor before decoding, while on the right, the network encodes to a 1D vector before decoding."</a:t>
            </a:r>
          </a:p>
          <a:p>
            <a:pPr marL="0" lvl="0" indent="0" algn="l" rtl="0">
              <a:lnSpc>
                <a:spcPct val="100000"/>
              </a:lnSpc>
              <a:spcBef>
                <a:spcPts val="360"/>
              </a:spcBef>
              <a:spcAft>
                <a:spcPts val="0"/>
              </a:spcAft>
              <a:buSzPts val="1400"/>
              <a:buNone/>
            </a:pPr>
            <a:endParaRPr dirty="0"/>
          </a:p>
        </p:txBody>
      </p:sp>
      <p:sp>
        <p:nvSpPr>
          <p:cNvPr id="1086" name="Google Shape;1086;p75: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76: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Putting It Together – Block Sizes (Continued)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"In many networks, you'll find multiple layers at each spatial resolution."</a:t>
            </a:r>
          </a:p>
          <a:p>
            <a:r>
              <a:rPr lang="en-US" sz="1200" b="0" i="0" u="none" strike="noStrike" cap="none" dirty="0">
                <a:solidFill>
                  <a:schemeClr val="dk1"/>
                </a:solidFill>
                <a:effectLst/>
                <a:latin typeface="Times New Roman"/>
                <a:ea typeface="Times New Roman"/>
                <a:cs typeface="Times New Roman"/>
                <a:sym typeface="Times New Roman"/>
              </a:rPr>
              <a:t>"It's common to halve the spatial resolution and double the feature depth every few layers, as shown here."</a:t>
            </a:r>
          </a:p>
          <a:p>
            <a:r>
              <a:rPr lang="en-US" sz="1200" b="0" i="0" u="none" strike="noStrike" cap="none" dirty="0">
                <a:solidFill>
                  <a:schemeClr val="dk1"/>
                </a:solidFill>
                <a:effectLst/>
                <a:latin typeface="Times New Roman"/>
                <a:ea typeface="Times New Roman"/>
                <a:cs typeface="Times New Roman"/>
                <a:sym typeface="Times New Roman"/>
              </a:rPr>
              <a:t>"This approach helps in capturing more complex features while reducing the spatial dimensions, which is efficient for computation."</a:t>
            </a:r>
          </a:p>
          <a:p>
            <a:pPr marL="0" lvl="0" indent="0" algn="l" rtl="0">
              <a:lnSpc>
                <a:spcPct val="100000"/>
              </a:lnSpc>
              <a:spcBef>
                <a:spcPts val="360"/>
              </a:spcBef>
              <a:spcAft>
                <a:spcPts val="0"/>
              </a:spcAft>
              <a:buSzPts val="1400"/>
              <a:buNone/>
            </a:pPr>
            <a:endParaRPr dirty="0"/>
          </a:p>
        </p:txBody>
      </p:sp>
      <p:sp>
        <p:nvSpPr>
          <p:cNvPr id="1122" name="Google Shape;1122;p76: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p77: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Missing Details</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"While the output may have the same height and width as the input, simply </a:t>
            </a:r>
            <a:r>
              <a:rPr lang="en-US" sz="1200" b="0" i="0" u="none" strike="noStrike" cap="none" dirty="0" err="1">
                <a:solidFill>
                  <a:schemeClr val="dk1"/>
                </a:solidFill>
                <a:effectLst/>
                <a:latin typeface="Times New Roman"/>
                <a:ea typeface="Times New Roman"/>
                <a:cs typeface="Times New Roman"/>
                <a:sym typeface="Times New Roman"/>
              </a:rPr>
              <a:t>upsampling</a:t>
            </a:r>
            <a:r>
              <a:rPr lang="en-US" sz="1200" b="0" i="0" u="none" strike="noStrike" cap="none" dirty="0">
                <a:solidFill>
                  <a:schemeClr val="dk1"/>
                </a:solidFill>
                <a:effectLst/>
                <a:latin typeface="Times New Roman"/>
                <a:ea typeface="Times New Roman"/>
                <a:cs typeface="Times New Roman"/>
                <a:sym typeface="Times New Roman"/>
              </a:rPr>
              <a:t> can lead to results that lack detail or are not well-aligned with the original image."</a:t>
            </a:r>
          </a:p>
          <a:p>
            <a:r>
              <a:rPr lang="en-US" sz="1200" b="0" i="0" u="none" strike="noStrike" cap="none" dirty="0">
                <a:solidFill>
                  <a:schemeClr val="dk1"/>
                </a:solidFill>
                <a:effectLst/>
                <a:latin typeface="Times New Roman"/>
                <a:ea typeface="Times New Roman"/>
                <a:cs typeface="Times New Roman"/>
                <a:sym typeface="Times New Roman"/>
              </a:rPr>
              <a:t>"This happens because information about fine details is often lost during the </a:t>
            </a:r>
            <a:r>
              <a:rPr lang="en-US" sz="1200" b="0" i="0" u="none" strike="noStrike" cap="none" dirty="0" err="1">
                <a:solidFill>
                  <a:schemeClr val="dk1"/>
                </a:solidFill>
                <a:effectLst/>
                <a:latin typeface="Times New Roman"/>
                <a:ea typeface="Times New Roman"/>
                <a:cs typeface="Times New Roman"/>
                <a:sym typeface="Times New Roman"/>
              </a:rPr>
              <a:t>downsampling</a:t>
            </a:r>
            <a:r>
              <a:rPr lang="en-US" sz="1200" b="0" i="0" u="none" strike="noStrike" cap="none" dirty="0">
                <a:solidFill>
                  <a:schemeClr val="dk1"/>
                </a:solidFill>
                <a:effectLst/>
                <a:latin typeface="Times New Roman"/>
                <a:ea typeface="Times New Roman"/>
                <a:cs typeface="Times New Roman"/>
                <a:sym typeface="Times New Roman"/>
              </a:rPr>
              <a:t> process."</a:t>
            </a:r>
          </a:p>
          <a:p>
            <a:r>
              <a:rPr lang="en-US" sz="1200" b="0" i="0" u="none" strike="noStrike" cap="none" dirty="0">
                <a:solidFill>
                  <a:schemeClr val="dk1"/>
                </a:solidFill>
                <a:effectLst/>
                <a:latin typeface="Times New Roman"/>
                <a:ea typeface="Times New Roman"/>
                <a:cs typeface="Times New Roman"/>
                <a:sym typeface="Times New Roman"/>
              </a:rPr>
              <a:t>"Understanding why this occurs is crucial for improving the accuracy of semantic segmentation models."</a:t>
            </a:r>
          </a:p>
          <a:p>
            <a:pPr marL="0" lvl="0" indent="0" algn="l" rtl="0">
              <a:lnSpc>
                <a:spcPct val="100000"/>
              </a:lnSpc>
              <a:spcBef>
                <a:spcPts val="360"/>
              </a:spcBef>
              <a:spcAft>
                <a:spcPts val="0"/>
              </a:spcAft>
              <a:buSzPts val="1400"/>
              <a:buNone/>
            </a:pPr>
            <a:endParaRPr dirty="0"/>
          </a:p>
        </p:txBody>
      </p:sp>
      <p:sp>
        <p:nvSpPr>
          <p:cNvPr id="1169" name="Google Shape;1169;p77: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p78: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Missing Details (Continued)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"The question we need to address is: Where is the useful information about the high-frequency details of the image?"</a:t>
            </a:r>
          </a:p>
          <a:p>
            <a:r>
              <a:rPr lang="en-US" sz="1200" b="0" i="0" u="none" strike="noStrike" cap="none" dirty="0">
                <a:solidFill>
                  <a:schemeClr val="dk1"/>
                </a:solidFill>
                <a:effectLst/>
                <a:latin typeface="Times New Roman"/>
                <a:ea typeface="Times New Roman"/>
                <a:cs typeface="Times New Roman"/>
                <a:sym typeface="Times New Roman"/>
              </a:rPr>
              <a:t>"As we move through the network, we need to ensure that important details are preserved or reconstructed in the output."</a:t>
            </a:r>
          </a:p>
          <a:p>
            <a:pPr marL="0" lvl="0" indent="0" algn="l" rtl="0">
              <a:lnSpc>
                <a:spcPct val="100000"/>
              </a:lnSpc>
              <a:spcBef>
                <a:spcPts val="360"/>
              </a:spcBef>
              <a:spcAft>
                <a:spcPts val="0"/>
              </a:spcAft>
              <a:buSzPts val="1400"/>
              <a:buNone/>
            </a:pPr>
            <a:endParaRPr dirty="0"/>
          </a:p>
        </p:txBody>
      </p:sp>
      <p:sp>
        <p:nvSpPr>
          <p:cNvPr id="1193" name="Google Shape;1193;p78: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p79: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Missing Details – Copying Details Forward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"One way to preserve details is by copying activations forward in the network."</a:t>
            </a:r>
          </a:p>
          <a:p>
            <a:r>
              <a:rPr lang="en-US" sz="1200" b="0" i="0" u="none" strike="noStrike" cap="none" dirty="0">
                <a:solidFill>
                  <a:schemeClr val="dk1"/>
                </a:solidFill>
                <a:effectLst/>
                <a:latin typeface="Times New Roman"/>
                <a:ea typeface="Times New Roman"/>
                <a:cs typeface="Times New Roman"/>
                <a:sym typeface="Times New Roman"/>
              </a:rPr>
              <a:t>"By doing this, subsequent layers at the same resolution can figure out how to fuse these details effectively."</a:t>
            </a:r>
          </a:p>
          <a:p>
            <a:r>
              <a:rPr lang="en-US" sz="1200" b="0" i="0" u="none" strike="noStrike" cap="none" dirty="0">
                <a:solidFill>
                  <a:schemeClr val="dk1"/>
                </a:solidFill>
                <a:effectLst/>
                <a:latin typeface="Times New Roman"/>
                <a:ea typeface="Times New Roman"/>
                <a:cs typeface="Times New Roman"/>
                <a:sym typeface="Times New Roman"/>
              </a:rPr>
              <a:t>"This technique helps in maintaining the integrity of high-frequency details throughout the network."</a:t>
            </a:r>
          </a:p>
          <a:p>
            <a:pPr marL="0" lvl="0" indent="0" algn="l" rtl="0">
              <a:lnSpc>
                <a:spcPct val="100000"/>
              </a:lnSpc>
              <a:spcBef>
                <a:spcPts val="360"/>
              </a:spcBef>
              <a:spcAft>
                <a:spcPts val="0"/>
              </a:spcAft>
              <a:buSzPts val="1400"/>
              <a:buNone/>
            </a:pPr>
            <a:endParaRPr dirty="0"/>
          </a:p>
        </p:txBody>
      </p:sp>
      <p:sp>
        <p:nvSpPr>
          <p:cNvPr id="1231" name="Google Shape;1231;p79: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p80: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U-Net</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"U-Net is an extremely popular architecture, originally developed for biomedical image segmentation."</a:t>
            </a:r>
          </a:p>
          <a:p>
            <a:r>
              <a:rPr lang="en-US" sz="1200" b="0" i="0" u="none" strike="noStrike" cap="none" dirty="0">
                <a:solidFill>
                  <a:schemeClr val="dk1"/>
                </a:solidFill>
                <a:effectLst/>
                <a:latin typeface="Times New Roman"/>
                <a:ea typeface="Times New Roman"/>
                <a:cs typeface="Times New Roman"/>
                <a:sym typeface="Times New Roman"/>
              </a:rPr>
              <a:t>"It features a symmetric encoder-decoder structure with skip connections that help retain spatial information."</a:t>
            </a:r>
          </a:p>
          <a:p>
            <a:r>
              <a:rPr lang="en-US" sz="1200" b="0" i="0" u="none" strike="noStrike" cap="none" dirty="0">
                <a:solidFill>
                  <a:schemeClr val="dk1"/>
                </a:solidFill>
                <a:effectLst/>
                <a:latin typeface="Times New Roman"/>
                <a:ea typeface="Times New Roman"/>
                <a:cs typeface="Times New Roman"/>
                <a:sym typeface="Times New Roman"/>
              </a:rPr>
              <a:t>"These skip connections allow the network to combine low-level features with high-level features, improving segmentation accuracy."</a:t>
            </a:r>
          </a:p>
          <a:p>
            <a:pPr marL="0" lvl="0" indent="0" algn="l" rtl="0">
              <a:lnSpc>
                <a:spcPct val="100000"/>
              </a:lnSpc>
              <a:spcBef>
                <a:spcPts val="360"/>
              </a:spcBef>
              <a:spcAft>
                <a:spcPts val="0"/>
              </a:spcAft>
              <a:buSzPts val="1400"/>
              <a:buNone/>
            </a:pPr>
            <a:endParaRPr dirty="0"/>
          </a:p>
        </p:txBody>
      </p:sp>
      <p:sp>
        <p:nvSpPr>
          <p:cNvPr id="1270" name="Google Shape;1270;p80: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3"/>
        <p:cNvGrpSpPr/>
        <p:nvPr/>
      </p:nvGrpSpPr>
      <p:grpSpPr>
        <a:xfrm>
          <a:off x="0" y="0"/>
          <a:ext cx="0" cy="0"/>
          <a:chOff x="0" y="0"/>
          <a:chExt cx="0" cy="0"/>
        </a:xfrm>
      </p:grpSpPr>
      <p:sp>
        <p:nvSpPr>
          <p:cNvPr id="1304" name="Google Shape;1304;p81: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Evaluating Pixel Labels</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"Once we have the final output from the CNN, we need to convert it into labels for each pixel."</a:t>
            </a:r>
          </a:p>
          <a:p>
            <a:r>
              <a:rPr lang="en-US" sz="1200" b="0" i="0" u="none" strike="noStrike" cap="none" dirty="0">
                <a:solidFill>
                  <a:schemeClr val="dk1"/>
                </a:solidFill>
                <a:effectLst/>
                <a:latin typeface="Times New Roman"/>
                <a:ea typeface="Times New Roman"/>
                <a:cs typeface="Times New Roman"/>
                <a:sym typeface="Times New Roman"/>
              </a:rPr>
              <a:t>"This is done using an argmax operation over the labels, which selects the class with the highest probability for each pixel."</a:t>
            </a:r>
          </a:p>
          <a:p>
            <a:r>
              <a:rPr lang="en-US" sz="1200" b="0" i="0" u="none" strike="noStrike" cap="none" dirty="0">
                <a:solidFill>
                  <a:schemeClr val="dk1"/>
                </a:solidFill>
                <a:effectLst/>
                <a:latin typeface="Times New Roman"/>
                <a:ea typeface="Times New Roman"/>
                <a:cs typeface="Times New Roman"/>
                <a:sym typeface="Times New Roman"/>
              </a:rPr>
              <a:t>"The result is a segmented image where each pixel is assigned to a predicted class."</a:t>
            </a:r>
          </a:p>
          <a:p>
            <a:pPr marL="0" lvl="0" indent="0" algn="l" rtl="0">
              <a:lnSpc>
                <a:spcPct val="100000"/>
              </a:lnSpc>
              <a:spcBef>
                <a:spcPts val="360"/>
              </a:spcBef>
              <a:spcAft>
                <a:spcPts val="0"/>
              </a:spcAft>
              <a:buSzPts val="1400"/>
              <a:buNone/>
            </a:pPr>
            <a:endParaRPr dirty="0"/>
          </a:p>
        </p:txBody>
      </p:sp>
      <p:sp>
        <p:nvSpPr>
          <p:cNvPr id="1305" name="Google Shape;1305;p81: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p82: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Evaluating Semantic Segmentation</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"To evaluate the performance of our semantic segmentation model, we compare the predicted labels with the ground truth."</a:t>
            </a:r>
          </a:p>
          <a:p>
            <a:r>
              <a:rPr lang="en-US" sz="1200" b="0" i="0" u="none" strike="noStrike" cap="none" dirty="0">
                <a:solidFill>
                  <a:schemeClr val="dk1"/>
                </a:solidFill>
                <a:effectLst/>
                <a:latin typeface="Times New Roman"/>
                <a:ea typeface="Times New Roman"/>
                <a:cs typeface="Times New Roman"/>
                <a:sym typeface="Times New Roman"/>
              </a:rPr>
              <a:t>"Here, we see the input image, the model's prediction, and the ground truth side by side."</a:t>
            </a:r>
          </a:p>
          <a:p>
            <a:r>
              <a:rPr lang="en-US" sz="1200" b="0" i="0" u="none" strike="noStrike" cap="none" dirty="0">
                <a:solidFill>
                  <a:schemeClr val="dk1"/>
                </a:solidFill>
                <a:effectLst/>
                <a:latin typeface="Times New Roman"/>
                <a:ea typeface="Times New Roman"/>
                <a:cs typeface="Times New Roman"/>
                <a:sym typeface="Times New Roman"/>
              </a:rPr>
              <a:t>"By analyzing these results, we can assess how well the model is performing and identify areas for improvement."</a:t>
            </a:r>
          </a:p>
          <a:p>
            <a:pPr marL="0" lvl="0" indent="0" algn="l" rtl="0">
              <a:lnSpc>
                <a:spcPct val="100000"/>
              </a:lnSpc>
              <a:spcBef>
                <a:spcPts val="360"/>
              </a:spcBef>
              <a:spcAft>
                <a:spcPts val="0"/>
              </a:spcAft>
              <a:buSzPts val="1400"/>
              <a:buNone/>
            </a:pPr>
            <a:endParaRPr dirty="0"/>
          </a:p>
        </p:txBody>
      </p:sp>
      <p:sp>
        <p:nvSpPr>
          <p:cNvPr id="1329" name="Google Shape;1329;p82: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9"/>
        <p:cNvGrpSpPr/>
        <p:nvPr/>
      </p:nvGrpSpPr>
      <p:grpSpPr>
        <a:xfrm>
          <a:off x="0" y="0"/>
          <a:ext cx="0" cy="0"/>
          <a:chOff x="0" y="0"/>
          <a:chExt cx="0" cy="0"/>
        </a:xfrm>
      </p:grpSpPr>
      <p:sp>
        <p:nvSpPr>
          <p:cNvPr id="1340" name="Google Shape;1340;p83: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0" i="0" u="none" strike="noStrike" cap="none" dirty="0">
                <a:solidFill>
                  <a:schemeClr val="dk1"/>
                </a:solidFill>
                <a:effectLst/>
                <a:latin typeface="Times New Roman"/>
                <a:ea typeface="Times New Roman"/>
                <a:cs typeface="Times New Roman"/>
                <a:sym typeface="Times New Roman"/>
              </a:rPr>
              <a:t>"In semantic segmentation, both the prediction and ground truth are images where each pixel is assigned one of F classes."</a:t>
            </a:r>
          </a:p>
          <a:p>
            <a:r>
              <a:rPr lang="en-US" sz="1200" b="0" i="0" u="none" strike="noStrike" cap="none" dirty="0">
                <a:solidFill>
                  <a:schemeClr val="dk1"/>
                </a:solidFill>
                <a:effectLst/>
                <a:latin typeface="Times New Roman"/>
                <a:ea typeface="Times New Roman"/>
                <a:cs typeface="Times New Roman"/>
                <a:sym typeface="Times New Roman"/>
              </a:rPr>
              <a:t>"To evaluate the accuracy, we calculate the mean of correctly predicted pixels, denoted as mean(ŷ = y)."</a:t>
            </a:r>
          </a:p>
          <a:p>
            <a:r>
              <a:rPr lang="en-US" sz="1200" b="0" i="0" u="none" strike="noStrike" cap="none" dirty="0">
                <a:solidFill>
                  <a:schemeClr val="dk1"/>
                </a:solidFill>
                <a:effectLst/>
                <a:latin typeface="Times New Roman"/>
                <a:ea typeface="Times New Roman"/>
                <a:cs typeface="Times New Roman"/>
                <a:sym typeface="Times New Roman"/>
              </a:rPr>
              <a:t>"Another important metric is Intersection over Union (</a:t>
            </a:r>
            <a:r>
              <a:rPr lang="en-US" sz="1200" b="0" i="0" u="none" strike="noStrike" cap="none" dirty="0" err="1">
                <a:solidFill>
                  <a:schemeClr val="dk1"/>
                </a:solidFill>
                <a:effectLst/>
                <a:latin typeface="Times New Roman"/>
                <a:ea typeface="Times New Roman"/>
                <a:cs typeface="Times New Roman"/>
                <a:sym typeface="Times New Roman"/>
              </a:rPr>
              <a:t>IoU</a:t>
            </a:r>
            <a:r>
              <a:rPr lang="en-US" sz="1200" b="0" i="0" u="none" strike="noStrike" cap="none" dirty="0">
                <a:solidFill>
                  <a:schemeClr val="dk1"/>
                </a:solidFill>
                <a:effectLst/>
                <a:latin typeface="Times New Roman"/>
                <a:ea typeface="Times New Roman"/>
                <a:cs typeface="Times New Roman"/>
                <a:sym typeface="Times New Roman"/>
              </a:rPr>
              <a:t>), which is averaged over all classes. It measures the overlap between the predicted and true regions."</a:t>
            </a:r>
          </a:p>
          <a:p>
            <a:pPr marL="0" lvl="0" indent="0" algn="l" rtl="0">
              <a:lnSpc>
                <a:spcPct val="100000"/>
              </a:lnSpc>
              <a:spcBef>
                <a:spcPts val="360"/>
              </a:spcBef>
              <a:spcAft>
                <a:spcPts val="0"/>
              </a:spcAft>
              <a:buSzPts val="1400"/>
              <a:buNone/>
            </a:pPr>
            <a:endParaRPr dirty="0"/>
          </a:p>
        </p:txBody>
      </p:sp>
      <p:sp>
        <p:nvSpPr>
          <p:cNvPr id="1341" name="Google Shape;1341;p83: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5"/>
        <p:cNvGrpSpPr/>
        <p:nvPr/>
      </p:nvGrpSpPr>
      <p:grpSpPr>
        <a:xfrm>
          <a:off x="0" y="0"/>
          <a:ext cx="0" cy="0"/>
          <a:chOff x="0" y="0"/>
          <a:chExt cx="0" cy="0"/>
        </a:xfrm>
      </p:grpSpPr>
      <p:sp>
        <p:nvSpPr>
          <p:cNvPr id="1366" name="Google Shape;1366;p84: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pPr marL="0" lvl="0" indent="0" algn="l" rtl="0">
              <a:lnSpc>
                <a:spcPct val="100000"/>
              </a:lnSpc>
              <a:spcBef>
                <a:spcPts val="360"/>
              </a:spcBef>
              <a:spcAft>
                <a:spcPts val="0"/>
              </a:spcAft>
              <a:buSzPts val="1400"/>
              <a:buNone/>
            </a:pPr>
            <a:endParaRPr/>
          </a:p>
        </p:txBody>
      </p:sp>
      <p:sp>
        <p:nvSpPr>
          <p:cNvPr id="1367" name="Google Shape;1367;p84: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p:cNvGrpSpPr/>
        <p:nvPr/>
      </p:nvGrpSpPr>
      <p:grpSpPr>
        <a:xfrm>
          <a:off x="0" y="0"/>
          <a:ext cx="0" cy="0"/>
          <a:chOff x="0" y="0"/>
          <a:chExt cx="0" cy="0"/>
        </a:xfrm>
      </p:grpSpPr>
      <p:sp>
        <p:nvSpPr>
          <p:cNvPr id="1371" name="Google Shape;1371;p85: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Why "Transpose Convolution"?</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"Transpose convolution can be understood as a way to perform convolution operations in reverse."</a:t>
            </a:r>
          </a:p>
          <a:p>
            <a:r>
              <a:rPr lang="en-US" sz="1200" b="0" i="0" u="none" strike="noStrike" cap="none" dirty="0">
                <a:solidFill>
                  <a:schemeClr val="dk1"/>
                </a:solidFill>
                <a:effectLst/>
                <a:latin typeface="Times New Roman"/>
                <a:ea typeface="Times New Roman"/>
                <a:cs typeface="Times New Roman"/>
                <a:sym typeface="Times New Roman"/>
              </a:rPr>
              <a:t>"Here, we see how a standard convolution can be expressed as a matrix multiplication."</a:t>
            </a:r>
          </a:p>
          <a:p>
            <a:r>
              <a:rPr lang="en-US" sz="1200" b="0" i="0" u="none" strike="noStrike" cap="none" dirty="0">
                <a:solidFill>
                  <a:schemeClr val="dk1"/>
                </a:solidFill>
                <a:effectLst/>
                <a:latin typeface="Times New Roman"/>
                <a:ea typeface="Times New Roman"/>
                <a:cs typeface="Times New Roman"/>
                <a:sym typeface="Times New Roman"/>
              </a:rPr>
              <a:t>"The input, filter, stride, and padding are used to compute the output through this matrix operation."</a:t>
            </a:r>
          </a:p>
          <a:p>
            <a:pPr marL="0" lvl="0" indent="0" algn="l" rtl="0">
              <a:lnSpc>
                <a:spcPct val="100000"/>
              </a:lnSpc>
              <a:spcBef>
                <a:spcPts val="360"/>
              </a:spcBef>
              <a:spcAft>
                <a:spcPts val="0"/>
              </a:spcAft>
              <a:buSzPts val="1400"/>
              <a:buNone/>
            </a:pPr>
            <a:endParaRPr dirty="0"/>
          </a:p>
        </p:txBody>
      </p:sp>
      <p:sp>
        <p:nvSpPr>
          <p:cNvPr id="1372" name="Google Shape;1372;p85: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9"/>
        <p:cNvGrpSpPr/>
        <p:nvPr/>
      </p:nvGrpSpPr>
      <p:grpSpPr>
        <a:xfrm>
          <a:off x="0" y="0"/>
          <a:ext cx="0" cy="0"/>
          <a:chOff x="0" y="0"/>
          <a:chExt cx="0" cy="0"/>
        </a:xfrm>
      </p:grpSpPr>
      <p:sp>
        <p:nvSpPr>
          <p:cNvPr id="1430" name="Google Shape;1430;p86: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Why "Transpose Convolution"? (Continued)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"Transpose convolution is essentially the transposed version of a standard convolution."</a:t>
            </a:r>
          </a:p>
          <a:p>
            <a:r>
              <a:rPr lang="en-US" sz="1200" b="0" i="0" u="none" strike="noStrike" cap="none" dirty="0">
                <a:solidFill>
                  <a:schemeClr val="dk1"/>
                </a:solidFill>
                <a:effectLst/>
                <a:latin typeface="Times New Roman"/>
                <a:ea typeface="Times New Roman"/>
                <a:cs typeface="Times New Roman"/>
                <a:sym typeface="Times New Roman"/>
              </a:rPr>
              <a:t>"This operation allows us to increase the spatial dimensions of the input, which is crucial for tasks like </a:t>
            </a:r>
            <a:r>
              <a:rPr lang="en-US" sz="1200" b="0" i="0" u="none" strike="noStrike" cap="none" dirty="0" err="1">
                <a:solidFill>
                  <a:schemeClr val="dk1"/>
                </a:solidFill>
                <a:effectLst/>
                <a:latin typeface="Times New Roman"/>
                <a:ea typeface="Times New Roman"/>
                <a:cs typeface="Times New Roman"/>
                <a:sym typeface="Times New Roman"/>
              </a:rPr>
              <a:t>upsampling</a:t>
            </a:r>
            <a:r>
              <a:rPr lang="en-US" sz="1200" b="0" i="0" u="none" strike="noStrike" cap="none" dirty="0">
                <a:solidFill>
                  <a:schemeClr val="dk1"/>
                </a:solidFill>
                <a:effectLst/>
                <a:latin typeface="Times New Roman"/>
                <a:ea typeface="Times New Roman"/>
                <a:cs typeface="Times New Roman"/>
                <a:sym typeface="Times New Roman"/>
              </a:rPr>
              <a:t> in semantic segmentation."</a:t>
            </a:r>
          </a:p>
          <a:p>
            <a:r>
              <a:rPr lang="en-US" sz="1200" b="0" i="0" u="none" strike="noStrike" cap="none" dirty="0">
                <a:solidFill>
                  <a:schemeClr val="dk1"/>
                </a:solidFill>
                <a:effectLst/>
                <a:latin typeface="Times New Roman"/>
                <a:ea typeface="Times New Roman"/>
                <a:cs typeface="Times New Roman"/>
                <a:sym typeface="Times New Roman"/>
              </a:rPr>
              <a:t>"The transposed matrix operation helps in reconstructing the spatial structure of the input."</a:t>
            </a:r>
          </a:p>
          <a:p>
            <a:pPr marL="0" lvl="0" indent="0" algn="l" rtl="0">
              <a:lnSpc>
                <a:spcPct val="100000"/>
              </a:lnSpc>
              <a:spcBef>
                <a:spcPts val="360"/>
              </a:spcBef>
              <a:spcAft>
                <a:spcPts val="0"/>
              </a:spcAft>
              <a:buSzPts val="1400"/>
              <a:buNone/>
            </a:pPr>
            <a:endParaRPr dirty="0"/>
          </a:p>
        </p:txBody>
      </p:sp>
      <p:sp>
        <p:nvSpPr>
          <p:cNvPr id="1431" name="Google Shape;1431;p86: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8"/>
        <p:cNvGrpSpPr/>
        <p:nvPr/>
      </p:nvGrpSpPr>
      <p:grpSpPr>
        <a:xfrm>
          <a:off x="0" y="0"/>
          <a:ext cx="0" cy="0"/>
          <a:chOff x="0" y="0"/>
          <a:chExt cx="0" cy="0"/>
        </a:xfrm>
      </p:grpSpPr>
      <p:sp>
        <p:nvSpPr>
          <p:cNvPr id="1499" name="Google Shape;1499;p87: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Performance Metrics for Segmentation</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"For a deeper understanding of performance metrics used in segmentation, please refer to the additional materials provided."</a:t>
            </a:r>
          </a:p>
          <a:p>
            <a:r>
              <a:rPr lang="en-US" sz="1200" b="0" i="0" u="none" strike="noStrike" cap="none" dirty="0">
                <a:solidFill>
                  <a:schemeClr val="dk1"/>
                </a:solidFill>
                <a:effectLst/>
                <a:latin typeface="Times New Roman"/>
                <a:ea typeface="Times New Roman"/>
                <a:cs typeface="Times New Roman"/>
                <a:sym typeface="Times New Roman"/>
              </a:rPr>
              <a:t>"These materials will cover various metrics and their applications in evaluating segmentation models."</a:t>
            </a:r>
          </a:p>
          <a:p>
            <a:pPr marL="0" lvl="0" indent="0" algn="l" rtl="0">
              <a:lnSpc>
                <a:spcPct val="100000"/>
              </a:lnSpc>
              <a:spcBef>
                <a:spcPts val="360"/>
              </a:spcBef>
              <a:spcAft>
                <a:spcPts val="0"/>
              </a:spcAft>
              <a:buSzPts val="1400"/>
              <a:buNone/>
            </a:pPr>
            <a:endParaRPr dirty="0"/>
          </a:p>
        </p:txBody>
      </p:sp>
      <p:sp>
        <p:nvSpPr>
          <p:cNvPr id="1500" name="Google Shape;1500;p87: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p88: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err="1">
                <a:solidFill>
                  <a:schemeClr val="dk1"/>
                </a:solidFill>
                <a:effectLst/>
                <a:latin typeface="Times New Roman"/>
                <a:ea typeface="Times New Roman"/>
                <a:cs typeface="Times New Roman"/>
                <a:sym typeface="Times New Roman"/>
              </a:rPr>
              <a:t>mAP</a:t>
            </a:r>
            <a:r>
              <a:rPr lang="en-US" sz="1200" b="1" i="0" u="none" strike="noStrike" cap="none" dirty="0">
                <a:solidFill>
                  <a:schemeClr val="dk1"/>
                </a:solidFill>
                <a:effectLst/>
                <a:latin typeface="Times New Roman"/>
                <a:ea typeface="Times New Roman"/>
                <a:cs typeface="Times New Roman"/>
                <a:sym typeface="Times New Roman"/>
              </a:rPr>
              <a:t> for Object Detection</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"Now, let's shift our focus to object detection and discuss the metric known as mean Average Precision (</a:t>
            </a:r>
            <a:r>
              <a:rPr lang="en-US" sz="1200" b="0" i="0" u="none" strike="noStrike" cap="none" dirty="0" err="1">
                <a:solidFill>
                  <a:schemeClr val="dk1"/>
                </a:solidFill>
                <a:effectLst/>
                <a:latin typeface="Times New Roman"/>
                <a:ea typeface="Times New Roman"/>
                <a:cs typeface="Times New Roman"/>
                <a:sym typeface="Times New Roman"/>
              </a:rPr>
              <a:t>mAP</a:t>
            </a:r>
            <a:r>
              <a:rPr lang="en-US" sz="1200" b="0" i="0" u="none" strike="noStrike" cap="none" dirty="0">
                <a:solidFill>
                  <a:schemeClr val="dk1"/>
                </a:solidFill>
                <a:effectLst/>
                <a:latin typeface="Times New Roman"/>
                <a:ea typeface="Times New Roman"/>
                <a:cs typeface="Times New Roman"/>
                <a:sym typeface="Times New Roman"/>
              </a:rPr>
              <a:t>)."</a:t>
            </a:r>
          </a:p>
          <a:p>
            <a:r>
              <a:rPr lang="en-US" sz="1200" b="0" i="0" u="none" strike="noStrike" cap="none" dirty="0">
                <a:solidFill>
                  <a:schemeClr val="dk1"/>
                </a:solidFill>
                <a:effectLst/>
                <a:latin typeface="Times New Roman"/>
                <a:ea typeface="Times New Roman"/>
                <a:cs typeface="Times New Roman"/>
                <a:sym typeface="Times New Roman"/>
              </a:rPr>
              <a:t>"This metric is widely used to evaluate the performance of object detectors like Faster R-CNN and SSD."</a:t>
            </a:r>
          </a:p>
          <a:p>
            <a:pPr marL="0" lvl="0" indent="0" algn="l" rtl="0">
              <a:lnSpc>
                <a:spcPct val="100000"/>
              </a:lnSpc>
              <a:spcBef>
                <a:spcPts val="360"/>
              </a:spcBef>
              <a:spcAft>
                <a:spcPts val="0"/>
              </a:spcAft>
              <a:buSzPts val="1400"/>
              <a:buNone/>
            </a:pPr>
            <a:endParaRPr dirty="0"/>
          </a:p>
        </p:txBody>
      </p:sp>
      <p:sp>
        <p:nvSpPr>
          <p:cNvPr id="1505" name="Google Shape;1505;p88: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9"/>
        <p:cNvGrpSpPr/>
        <p:nvPr/>
      </p:nvGrpSpPr>
      <p:grpSpPr>
        <a:xfrm>
          <a:off x="0" y="0"/>
          <a:ext cx="0" cy="0"/>
          <a:chOff x="0" y="0"/>
          <a:chExt cx="0" cy="0"/>
        </a:xfrm>
      </p:grpSpPr>
      <p:sp>
        <p:nvSpPr>
          <p:cNvPr id="1510" name="Google Shape;1510;p89: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err="1">
                <a:solidFill>
                  <a:schemeClr val="dk1"/>
                </a:solidFill>
                <a:effectLst/>
                <a:latin typeface="Times New Roman"/>
                <a:ea typeface="Times New Roman"/>
                <a:cs typeface="Times New Roman"/>
                <a:sym typeface="Times New Roman"/>
              </a:rPr>
              <a:t>mAP</a:t>
            </a:r>
            <a:r>
              <a:rPr lang="en-US" sz="1200" b="1" i="0" u="none" strike="noStrike" cap="none" dirty="0">
                <a:solidFill>
                  <a:schemeClr val="dk1"/>
                </a:solidFill>
                <a:effectLst/>
                <a:latin typeface="Times New Roman"/>
                <a:ea typeface="Times New Roman"/>
                <a:cs typeface="Times New Roman"/>
                <a:sym typeface="Times New Roman"/>
              </a:rPr>
              <a:t> for Object Detection (Continued)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a:t>
            </a:r>
            <a:r>
              <a:rPr lang="en-US" sz="1200" b="0" i="0" u="none" strike="noStrike" cap="none" dirty="0" err="1">
                <a:solidFill>
                  <a:schemeClr val="dk1"/>
                </a:solidFill>
                <a:effectLst/>
                <a:latin typeface="Times New Roman"/>
                <a:ea typeface="Times New Roman"/>
                <a:cs typeface="Times New Roman"/>
                <a:sym typeface="Times New Roman"/>
              </a:rPr>
              <a:t>mAP</a:t>
            </a:r>
            <a:r>
              <a:rPr lang="en-US" sz="1200" b="0" i="0" u="none" strike="noStrike" cap="none" dirty="0">
                <a:solidFill>
                  <a:schemeClr val="dk1"/>
                </a:solidFill>
                <a:effectLst/>
                <a:latin typeface="Times New Roman"/>
                <a:ea typeface="Times New Roman"/>
                <a:cs typeface="Times New Roman"/>
                <a:sym typeface="Times New Roman"/>
              </a:rPr>
              <a:t> stands for mean Average Precision, a popular metric for measuring the accuracy of object detectors."</a:t>
            </a:r>
          </a:p>
          <a:p>
            <a:r>
              <a:rPr lang="en-US" sz="1200" b="0" i="0" u="none" strike="noStrike" cap="none" dirty="0">
                <a:solidFill>
                  <a:schemeClr val="dk1"/>
                </a:solidFill>
                <a:effectLst/>
                <a:latin typeface="Times New Roman"/>
                <a:ea typeface="Times New Roman"/>
                <a:cs typeface="Times New Roman"/>
                <a:sym typeface="Times New Roman"/>
              </a:rPr>
              <a:t>"Average Precision (AP) computes the average precision value for recall values ranging from 0 to 1."</a:t>
            </a:r>
          </a:p>
          <a:p>
            <a:r>
              <a:rPr lang="en-US" sz="1200" b="0" i="0" u="none" strike="noStrike" cap="none" dirty="0">
                <a:solidFill>
                  <a:schemeClr val="dk1"/>
                </a:solidFill>
                <a:effectLst/>
                <a:latin typeface="Times New Roman"/>
                <a:ea typeface="Times New Roman"/>
                <a:cs typeface="Times New Roman"/>
                <a:sym typeface="Times New Roman"/>
              </a:rPr>
              <a:t>"Before diving into </a:t>
            </a:r>
            <a:r>
              <a:rPr lang="en-US" sz="1200" b="0" i="0" u="none" strike="noStrike" cap="none" dirty="0" err="1">
                <a:solidFill>
                  <a:schemeClr val="dk1"/>
                </a:solidFill>
                <a:effectLst/>
                <a:latin typeface="Times New Roman"/>
                <a:ea typeface="Times New Roman"/>
                <a:cs typeface="Times New Roman"/>
                <a:sym typeface="Times New Roman"/>
              </a:rPr>
              <a:t>mAP</a:t>
            </a:r>
            <a:r>
              <a:rPr lang="en-US" sz="1200" b="0" i="0" u="none" strike="noStrike" cap="none" dirty="0">
                <a:solidFill>
                  <a:schemeClr val="dk1"/>
                </a:solidFill>
                <a:effectLst/>
                <a:latin typeface="Times New Roman"/>
                <a:ea typeface="Times New Roman"/>
                <a:cs typeface="Times New Roman"/>
                <a:sym typeface="Times New Roman"/>
              </a:rPr>
              <a:t>, we'll quickly recap precision, recall, and Intersection over Union (</a:t>
            </a:r>
            <a:r>
              <a:rPr lang="en-US" sz="1200" b="0" i="0" u="none" strike="noStrike" cap="none" dirty="0" err="1">
                <a:solidFill>
                  <a:schemeClr val="dk1"/>
                </a:solidFill>
                <a:effectLst/>
                <a:latin typeface="Times New Roman"/>
                <a:ea typeface="Times New Roman"/>
                <a:cs typeface="Times New Roman"/>
                <a:sym typeface="Times New Roman"/>
              </a:rPr>
              <a:t>IoU</a:t>
            </a:r>
            <a:r>
              <a:rPr lang="en-US" sz="1200" b="0" i="0" u="none" strike="noStrike" cap="none" dirty="0">
                <a:solidFill>
                  <a:schemeClr val="dk1"/>
                </a:solidFill>
                <a:effectLst/>
                <a:latin typeface="Times New Roman"/>
                <a:ea typeface="Times New Roman"/>
                <a:cs typeface="Times New Roman"/>
                <a:sym typeface="Times New Roman"/>
              </a:rPr>
              <a:t>)."</a:t>
            </a:r>
          </a:p>
          <a:p>
            <a:pPr marL="0" lvl="0" indent="0" algn="l" rtl="0">
              <a:lnSpc>
                <a:spcPct val="100000"/>
              </a:lnSpc>
              <a:spcBef>
                <a:spcPts val="360"/>
              </a:spcBef>
              <a:spcAft>
                <a:spcPts val="0"/>
              </a:spcAft>
              <a:buSzPts val="1400"/>
              <a:buNone/>
            </a:pPr>
            <a:endParaRPr dirty="0"/>
          </a:p>
        </p:txBody>
      </p:sp>
      <p:sp>
        <p:nvSpPr>
          <p:cNvPr id="1511" name="Google Shape;1511;p89: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5"/>
        <p:cNvGrpSpPr/>
        <p:nvPr/>
      </p:nvGrpSpPr>
      <p:grpSpPr>
        <a:xfrm>
          <a:off x="0" y="0"/>
          <a:ext cx="0" cy="0"/>
          <a:chOff x="0" y="0"/>
          <a:chExt cx="0" cy="0"/>
        </a:xfrm>
      </p:grpSpPr>
      <p:sp>
        <p:nvSpPr>
          <p:cNvPr id="1516" name="Google Shape;1516;p90: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Precision &amp; Recall</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"Precision measures the accuracy of your predictions, specifically the percentage of correct predictions."</a:t>
            </a:r>
          </a:p>
          <a:p>
            <a:r>
              <a:rPr lang="en-US" sz="1200" b="0" i="0" u="none" strike="noStrike" cap="none" dirty="0">
                <a:solidFill>
                  <a:schemeClr val="dk1"/>
                </a:solidFill>
                <a:effectLst/>
                <a:latin typeface="Times New Roman"/>
                <a:ea typeface="Times New Roman"/>
                <a:cs typeface="Times New Roman"/>
                <a:sym typeface="Times New Roman"/>
              </a:rPr>
              <a:t>"Recall measures how well you identify all positive instances. For example, finding 80% of possible positives in your top predictions."</a:t>
            </a:r>
          </a:p>
          <a:p>
            <a:r>
              <a:rPr lang="en-US" sz="1200" b="0" i="0" u="none" strike="noStrike" cap="none" dirty="0">
                <a:solidFill>
                  <a:schemeClr val="dk1"/>
                </a:solidFill>
                <a:effectLst/>
                <a:latin typeface="Times New Roman"/>
                <a:ea typeface="Times New Roman"/>
                <a:cs typeface="Times New Roman"/>
                <a:sym typeface="Times New Roman"/>
              </a:rPr>
              <a:t>"The F1 score combines precision and recall, providing a balanced measure of a model's performance."</a:t>
            </a:r>
          </a:p>
          <a:p>
            <a:pPr marL="0" lvl="0" indent="0" algn="l" rtl="0">
              <a:lnSpc>
                <a:spcPct val="100000"/>
              </a:lnSpc>
              <a:spcBef>
                <a:spcPts val="360"/>
              </a:spcBef>
              <a:spcAft>
                <a:spcPts val="0"/>
              </a:spcAft>
              <a:buSzPts val="1400"/>
              <a:buNone/>
            </a:pPr>
            <a:endParaRPr dirty="0"/>
          </a:p>
        </p:txBody>
      </p:sp>
      <p:sp>
        <p:nvSpPr>
          <p:cNvPr id="1517" name="Google Shape;1517;p90: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4"/>
        <p:cNvGrpSpPr/>
        <p:nvPr/>
      </p:nvGrpSpPr>
      <p:grpSpPr>
        <a:xfrm>
          <a:off x="0" y="0"/>
          <a:ext cx="0" cy="0"/>
          <a:chOff x="0" y="0"/>
          <a:chExt cx="0" cy="0"/>
        </a:xfrm>
      </p:grpSpPr>
      <p:sp>
        <p:nvSpPr>
          <p:cNvPr id="1525" name="Google Shape;1525;p91: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err="1">
                <a:solidFill>
                  <a:schemeClr val="dk1"/>
                </a:solidFill>
                <a:effectLst/>
                <a:latin typeface="Times New Roman"/>
                <a:ea typeface="Times New Roman"/>
                <a:cs typeface="Times New Roman"/>
                <a:sym typeface="Times New Roman"/>
              </a:rPr>
              <a:t>IoU</a:t>
            </a:r>
            <a:r>
              <a:rPr lang="en-US" sz="1200" b="1" i="0" u="none" strike="noStrike" cap="none" dirty="0">
                <a:solidFill>
                  <a:schemeClr val="dk1"/>
                </a:solidFill>
                <a:effectLst/>
                <a:latin typeface="Times New Roman"/>
                <a:ea typeface="Times New Roman"/>
                <a:cs typeface="Times New Roman"/>
                <a:sym typeface="Times New Roman"/>
              </a:rPr>
              <a:t> (Intersection over Union)</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a:t>
            </a:r>
            <a:r>
              <a:rPr lang="en-US" sz="1200" b="0" i="0" u="none" strike="noStrike" cap="none" dirty="0" err="1">
                <a:solidFill>
                  <a:schemeClr val="dk1"/>
                </a:solidFill>
                <a:effectLst/>
                <a:latin typeface="Times New Roman"/>
                <a:ea typeface="Times New Roman"/>
                <a:cs typeface="Times New Roman"/>
                <a:sym typeface="Times New Roman"/>
              </a:rPr>
              <a:t>IoU</a:t>
            </a:r>
            <a:r>
              <a:rPr lang="en-US" sz="1200" b="0" i="0" u="none" strike="noStrike" cap="none" dirty="0">
                <a:solidFill>
                  <a:schemeClr val="dk1"/>
                </a:solidFill>
                <a:effectLst/>
                <a:latin typeface="Times New Roman"/>
                <a:ea typeface="Times New Roman"/>
                <a:cs typeface="Times New Roman"/>
                <a:sym typeface="Times New Roman"/>
              </a:rPr>
              <a:t> measures the overlap between two boundaries, such as predicted and ground truth boundaries."</a:t>
            </a:r>
          </a:p>
          <a:p>
            <a:r>
              <a:rPr lang="en-US" sz="1200" b="0" i="0" u="none" strike="noStrike" cap="none" dirty="0">
                <a:solidFill>
                  <a:schemeClr val="dk1"/>
                </a:solidFill>
                <a:effectLst/>
                <a:latin typeface="Times New Roman"/>
                <a:ea typeface="Times New Roman"/>
                <a:cs typeface="Times New Roman"/>
                <a:sym typeface="Times New Roman"/>
              </a:rPr>
              <a:t>"It's used to assess how much the predicted boundary overlaps with the actual object boundary."</a:t>
            </a:r>
          </a:p>
          <a:p>
            <a:r>
              <a:rPr lang="en-US" sz="1200" b="0" i="0" u="none" strike="noStrike" cap="none" dirty="0">
                <a:solidFill>
                  <a:schemeClr val="dk1"/>
                </a:solidFill>
                <a:effectLst/>
                <a:latin typeface="Times New Roman"/>
                <a:ea typeface="Times New Roman"/>
                <a:cs typeface="Times New Roman"/>
                <a:sym typeface="Times New Roman"/>
              </a:rPr>
              <a:t>"In some datasets, an </a:t>
            </a:r>
            <a:r>
              <a:rPr lang="en-US" sz="1200" b="0" i="0" u="none" strike="noStrike" cap="none" dirty="0" err="1">
                <a:solidFill>
                  <a:schemeClr val="dk1"/>
                </a:solidFill>
                <a:effectLst/>
                <a:latin typeface="Times New Roman"/>
                <a:ea typeface="Times New Roman"/>
                <a:cs typeface="Times New Roman"/>
                <a:sym typeface="Times New Roman"/>
              </a:rPr>
              <a:t>IoU</a:t>
            </a:r>
            <a:r>
              <a:rPr lang="en-US" sz="1200" b="0" i="0" u="none" strike="noStrike" cap="none" dirty="0">
                <a:solidFill>
                  <a:schemeClr val="dk1"/>
                </a:solidFill>
                <a:effectLst/>
                <a:latin typeface="Times New Roman"/>
                <a:ea typeface="Times New Roman"/>
                <a:cs typeface="Times New Roman"/>
                <a:sym typeface="Times New Roman"/>
              </a:rPr>
              <a:t> threshold is predefined to classify predictions as true or false positives."</a:t>
            </a:r>
          </a:p>
          <a:p>
            <a:pPr marL="0" lvl="0" indent="0" algn="l" rtl="0">
              <a:lnSpc>
                <a:spcPct val="100000"/>
              </a:lnSpc>
              <a:spcBef>
                <a:spcPts val="360"/>
              </a:spcBef>
              <a:spcAft>
                <a:spcPts val="0"/>
              </a:spcAft>
              <a:buSzPts val="1400"/>
              <a:buNone/>
            </a:pPr>
            <a:endParaRPr dirty="0"/>
          </a:p>
        </p:txBody>
      </p:sp>
      <p:sp>
        <p:nvSpPr>
          <p:cNvPr id="1526" name="Google Shape;1526;p91: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1"/>
        <p:cNvGrpSpPr/>
        <p:nvPr/>
      </p:nvGrpSpPr>
      <p:grpSpPr>
        <a:xfrm>
          <a:off x="0" y="0"/>
          <a:ext cx="0" cy="0"/>
          <a:chOff x="0" y="0"/>
          <a:chExt cx="0" cy="0"/>
        </a:xfrm>
      </p:grpSpPr>
      <p:sp>
        <p:nvSpPr>
          <p:cNvPr id="1532" name="Google Shape;1532;p92: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Average Precision</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"Let's look at an example to understand how average precision is calculated."</a:t>
            </a:r>
          </a:p>
          <a:p>
            <a:r>
              <a:rPr lang="en-US" sz="1200" b="0" i="0" u="none" strike="noStrike" cap="none" dirty="0">
                <a:solidFill>
                  <a:schemeClr val="dk1"/>
                </a:solidFill>
                <a:effectLst/>
                <a:latin typeface="Times New Roman"/>
                <a:ea typeface="Times New Roman"/>
                <a:cs typeface="Times New Roman"/>
                <a:sym typeface="Times New Roman"/>
              </a:rPr>
              <a:t>"In this simplified example, we rank predictions for apples based on confidence levels and determine correctness using an </a:t>
            </a:r>
            <a:r>
              <a:rPr lang="en-US" sz="1200" b="0" i="0" u="none" strike="noStrike" cap="none" dirty="0" err="1">
                <a:solidFill>
                  <a:schemeClr val="dk1"/>
                </a:solidFill>
                <a:effectLst/>
                <a:latin typeface="Times New Roman"/>
                <a:ea typeface="Times New Roman"/>
                <a:cs typeface="Times New Roman"/>
                <a:sym typeface="Times New Roman"/>
              </a:rPr>
              <a:t>IoU</a:t>
            </a:r>
            <a:r>
              <a:rPr lang="en-US" sz="1200" b="0" i="0" u="none" strike="noStrike" cap="none" dirty="0">
                <a:solidFill>
                  <a:schemeClr val="dk1"/>
                </a:solidFill>
                <a:effectLst/>
                <a:latin typeface="Times New Roman"/>
                <a:ea typeface="Times New Roman"/>
                <a:cs typeface="Times New Roman"/>
                <a:sym typeface="Times New Roman"/>
              </a:rPr>
              <a:t> threshold of 0.5."</a:t>
            </a:r>
          </a:p>
          <a:p>
            <a:pPr marL="0" lvl="0" indent="0" algn="l" rtl="0">
              <a:lnSpc>
                <a:spcPct val="100000"/>
              </a:lnSpc>
              <a:spcBef>
                <a:spcPts val="360"/>
              </a:spcBef>
              <a:spcAft>
                <a:spcPts val="0"/>
              </a:spcAft>
              <a:buSzPts val="1400"/>
              <a:buNone/>
            </a:pPr>
            <a:endParaRPr dirty="0"/>
          </a:p>
        </p:txBody>
      </p:sp>
      <p:sp>
        <p:nvSpPr>
          <p:cNvPr id="1533" name="Google Shape;1533;p92: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8"/>
        <p:cNvGrpSpPr/>
        <p:nvPr/>
      </p:nvGrpSpPr>
      <p:grpSpPr>
        <a:xfrm>
          <a:off x="0" y="0"/>
          <a:ext cx="0" cy="0"/>
          <a:chOff x="0" y="0"/>
          <a:chExt cx="0" cy="0"/>
        </a:xfrm>
      </p:grpSpPr>
      <p:sp>
        <p:nvSpPr>
          <p:cNvPr id="1539" name="Google Shape;1539;p93: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Average Precision (Continued)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"Taking the row with rank #3, we calculate precision as the proportion of true positives, which is 2/3 or 0.67."</a:t>
            </a:r>
          </a:p>
          <a:p>
            <a:r>
              <a:rPr lang="en-US" sz="1200" b="0" i="0" u="none" strike="noStrike" cap="none" dirty="0">
                <a:solidFill>
                  <a:schemeClr val="dk1"/>
                </a:solidFill>
                <a:effectLst/>
                <a:latin typeface="Times New Roman"/>
                <a:ea typeface="Times New Roman"/>
                <a:cs typeface="Times New Roman"/>
                <a:sym typeface="Times New Roman"/>
              </a:rPr>
              <a:t>"Recall is the proportion of true positives out of all possible positives, calculated as 2/5 or 0.4."</a:t>
            </a:r>
          </a:p>
          <a:p>
            <a:r>
              <a:rPr lang="en-US" sz="1200" b="0" i="0" u="none" strike="noStrike" cap="none" dirty="0">
                <a:solidFill>
                  <a:schemeClr val="dk1"/>
                </a:solidFill>
                <a:effectLst/>
                <a:latin typeface="Times New Roman"/>
                <a:ea typeface="Times New Roman"/>
                <a:cs typeface="Times New Roman"/>
                <a:sym typeface="Times New Roman"/>
              </a:rPr>
              <a:t>"As we move down the ranking, recall values increase, while precision may fluctuate due to false positives."</a:t>
            </a:r>
          </a:p>
          <a:p>
            <a:pPr marL="0" lvl="0" indent="0" algn="l" rtl="0">
              <a:lnSpc>
                <a:spcPct val="100000"/>
              </a:lnSpc>
              <a:spcBef>
                <a:spcPts val="360"/>
              </a:spcBef>
              <a:spcAft>
                <a:spcPts val="0"/>
              </a:spcAft>
              <a:buSzPts val="1400"/>
              <a:buNone/>
            </a:pPr>
            <a:endParaRPr dirty="0"/>
          </a:p>
        </p:txBody>
      </p:sp>
      <p:sp>
        <p:nvSpPr>
          <p:cNvPr id="1540" name="Google Shape;1540;p93: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5"/>
        <p:cNvGrpSpPr/>
        <p:nvPr/>
      </p:nvGrpSpPr>
      <p:grpSpPr>
        <a:xfrm>
          <a:off x="0" y="0"/>
          <a:ext cx="0" cy="0"/>
          <a:chOff x="0" y="0"/>
          <a:chExt cx="0" cy="0"/>
        </a:xfrm>
      </p:grpSpPr>
      <p:sp>
        <p:nvSpPr>
          <p:cNvPr id="1546" name="Google Shape;1546;p94: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Average Precision</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"Let's visualize the relationship between precision and recall by plotting them to observe the zig-zag pattern."</a:t>
            </a:r>
          </a:p>
          <a:p>
            <a:r>
              <a:rPr lang="en-US" sz="1200" b="0" i="0" u="none" strike="noStrike" cap="none" dirty="0">
                <a:solidFill>
                  <a:schemeClr val="dk1"/>
                </a:solidFill>
                <a:effectLst/>
                <a:latin typeface="Times New Roman"/>
                <a:ea typeface="Times New Roman"/>
                <a:cs typeface="Times New Roman"/>
                <a:sym typeface="Times New Roman"/>
              </a:rPr>
              <a:t>"The general definition of Average Precision (AP) involves finding the area under the precision-recall curve."</a:t>
            </a:r>
          </a:p>
          <a:p>
            <a:r>
              <a:rPr lang="en-US" sz="1200" b="0" i="0" u="none" strike="noStrike" cap="none" dirty="0">
                <a:solidFill>
                  <a:schemeClr val="dk1"/>
                </a:solidFill>
                <a:effectLst/>
                <a:latin typeface="Times New Roman"/>
                <a:ea typeface="Times New Roman"/>
                <a:cs typeface="Times New Roman"/>
                <a:sym typeface="Times New Roman"/>
              </a:rPr>
              <a:t>"This area gives us a single value that summarizes the trade-off between precision and recall across different thresholds."</a:t>
            </a:r>
          </a:p>
          <a:p>
            <a:pPr marL="0" lvl="0" indent="0" algn="l" rtl="0">
              <a:lnSpc>
                <a:spcPct val="100000"/>
              </a:lnSpc>
              <a:spcBef>
                <a:spcPts val="360"/>
              </a:spcBef>
              <a:spcAft>
                <a:spcPts val="0"/>
              </a:spcAft>
              <a:buSzPts val="1400"/>
              <a:buNone/>
            </a:pPr>
            <a:endParaRPr dirty="0"/>
          </a:p>
        </p:txBody>
      </p:sp>
      <p:sp>
        <p:nvSpPr>
          <p:cNvPr id="1547" name="Google Shape;1547;p94: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4"/>
        <p:cNvGrpSpPr/>
        <p:nvPr/>
      </p:nvGrpSpPr>
      <p:grpSpPr>
        <a:xfrm>
          <a:off x="0" y="0"/>
          <a:ext cx="0" cy="0"/>
          <a:chOff x="0" y="0"/>
          <a:chExt cx="0" cy="0"/>
        </a:xfrm>
      </p:grpSpPr>
      <p:sp>
        <p:nvSpPr>
          <p:cNvPr id="1555" name="Google Shape;1555;p95: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Average Precision (Continued)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"Precision and recall values range between 0 and 1, so AP also falls within this range."</a:t>
            </a:r>
          </a:p>
          <a:p>
            <a:r>
              <a:rPr lang="en-US" sz="1200" b="0" i="0" u="none" strike="noStrike" cap="none" dirty="0">
                <a:solidFill>
                  <a:schemeClr val="dk1"/>
                </a:solidFill>
                <a:effectLst/>
                <a:latin typeface="Times New Roman"/>
                <a:ea typeface="Times New Roman"/>
                <a:cs typeface="Times New Roman"/>
                <a:sym typeface="Times New Roman"/>
              </a:rPr>
              <a:t>"Before calculating AP, we often smooth out the zig-zag pattern in the precision-recall curve."</a:t>
            </a:r>
          </a:p>
          <a:p>
            <a:r>
              <a:rPr lang="en-US" sz="1200" b="0" i="0" u="none" strike="noStrike" cap="none" dirty="0">
                <a:solidFill>
                  <a:schemeClr val="dk1"/>
                </a:solidFill>
                <a:effectLst/>
                <a:latin typeface="Times New Roman"/>
                <a:ea typeface="Times New Roman"/>
                <a:cs typeface="Times New Roman"/>
                <a:sym typeface="Times New Roman"/>
              </a:rPr>
              <a:t>"Graphically, this involves replacing each precision value with the maximum precision value to the right of that recall level."</a:t>
            </a:r>
          </a:p>
          <a:p>
            <a:pPr marL="0" lvl="0" indent="0" algn="l" rtl="0">
              <a:lnSpc>
                <a:spcPct val="100000"/>
              </a:lnSpc>
              <a:spcBef>
                <a:spcPts val="360"/>
              </a:spcBef>
              <a:spcAft>
                <a:spcPts val="0"/>
              </a:spcAft>
              <a:buSzPts val="1400"/>
              <a:buNone/>
            </a:pPr>
            <a:endParaRPr dirty="0"/>
          </a:p>
        </p:txBody>
      </p:sp>
      <p:sp>
        <p:nvSpPr>
          <p:cNvPr id="1556" name="Google Shape;1556;p95: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p96: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Average Precision (Further)</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"By transforming the orange line into the green line, the curve decreases monotonically instead of zig-zagging."</a:t>
            </a:r>
          </a:p>
          <a:p>
            <a:r>
              <a:rPr lang="en-US" sz="1200" b="0" i="0" u="none" strike="noStrike" cap="none" dirty="0">
                <a:solidFill>
                  <a:schemeClr val="dk1"/>
                </a:solidFill>
                <a:effectLst/>
                <a:latin typeface="Times New Roman"/>
                <a:ea typeface="Times New Roman"/>
                <a:cs typeface="Times New Roman"/>
                <a:sym typeface="Times New Roman"/>
              </a:rPr>
              <a:t>"This smoothing makes the AP value less sensitive to small variations in the ranking."</a:t>
            </a:r>
          </a:p>
          <a:p>
            <a:r>
              <a:rPr lang="en-US" sz="1200" b="0" i="0" u="none" strike="noStrike" cap="none" dirty="0">
                <a:solidFill>
                  <a:schemeClr val="dk1"/>
                </a:solidFill>
                <a:effectLst/>
                <a:latin typeface="Times New Roman"/>
                <a:ea typeface="Times New Roman"/>
                <a:cs typeface="Times New Roman"/>
                <a:sym typeface="Times New Roman"/>
              </a:rPr>
              <a:t>"Mathematically, we replace the precision value for recall r with the maximum precision for any recall greater than or equal to r."</a:t>
            </a:r>
          </a:p>
          <a:p>
            <a:pPr marL="0" lvl="0" indent="0" algn="l" rtl="0">
              <a:lnSpc>
                <a:spcPct val="100000"/>
              </a:lnSpc>
              <a:spcBef>
                <a:spcPts val="360"/>
              </a:spcBef>
              <a:spcAft>
                <a:spcPts val="0"/>
              </a:spcAft>
              <a:buSzPts val="1400"/>
              <a:buNone/>
            </a:pPr>
            <a:endParaRPr dirty="0"/>
          </a:p>
        </p:txBody>
      </p:sp>
      <p:sp>
        <p:nvSpPr>
          <p:cNvPr id="1563" name="Google Shape;1563;p96: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9"/>
        <p:cNvGrpSpPr/>
        <p:nvPr/>
      </p:nvGrpSpPr>
      <p:grpSpPr>
        <a:xfrm>
          <a:off x="0" y="0"/>
          <a:ext cx="0" cy="0"/>
          <a:chOff x="0" y="0"/>
          <a:chExt cx="0" cy="0"/>
        </a:xfrm>
      </p:grpSpPr>
      <p:sp>
        <p:nvSpPr>
          <p:cNvPr id="1570" name="Google Shape;1570;p97: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Interpolated AP</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"PASCAL VOC is a well-known dataset for object detection, and it uses specific criteria for evaluating predictions."</a:t>
            </a:r>
          </a:p>
          <a:p>
            <a:r>
              <a:rPr lang="en-US" sz="1200" b="0" i="0" u="none" strike="noStrike" cap="none" dirty="0">
                <a:solidFill>
                  <a:schemeClr val="dk1"/>
                </a:solidFill>
                <a:effectLst/>
                <a:latin typeface="Times New Roman"/>
                <a:ea typeface="Times New Roman"/>
                <a:cs typeface="Times New Roman"/>
                <a:sym typeface="Times New Roman"/>
              </a:rPr>
              <a:t>"For the PASCAL VOC challenge, a prediction is considered positive if </a:t>
            </a:r>
            <a:r>
              <a:rPr lang="en-US" sz="1200" b="0" i="0" u="none" strike="noStrike" cap="none" dirty="0" err="1">
                <a:solidFill>
                  <a:schemeClr val="dk1"/>
                </a:solidFill>
                <a:effectLst/>
                <a:latin typeface="Times New Roman"/>
                <a:ea typeface="Times New Roman"/>
                <a:cs typeface="Times New Roman"/>
                <a:sym typeface="Times New Roman"/>
              </a:rPr>
              <a:t>IoU</a:t>
            </a:r>
            <a:r>
              <a:rPr lang="en-US" sz="1200" b="0" i="0" u="none" strike="noStrike" cap="none" dirty="0">
                <a:solidFill>
                  <a:schemeClr val="dk1"/>
                </a:solidFill>
                <a:effectLst/>
                <a:latin typeface="Times New Roman"/>
                <a:ea typeface="Times New Roman"/>
                <a:cs typeface="Times New Roman"/>
                <a:sym typeface="Times New Roman"/>
              </a:rPr>
              <a:t> is greater than or equal to 0.5."</a:t>
            </a:r>
          </a:p>
          <a:p>
            <a:r>
              <a:rPr lang="en-US" sz="1200" b="0" i="0" u="none" strike="noStrike" cap="none" dirty="0">
                <a:solidFill>
                  <a:schemeClr val="dk1"/>
                </a:solidFill>
                <a:effectLst/>
                <a:latin typeface="Times New Roman"/>
                <a:ea typeface="Times New Roman"/>
                <a:cs typeface="Times New Roman"/>
                <a:sym typeface="Times New Roman"/>
              </a:rPr>
              <a:t>"In PASCAL VOC2008, an average for the 11-point interpolated AP is calculated to evaluate performance."</a:t>
            </a:r>
          </a:p>
          <a:p>
            <a:pPr marL="0" lvl="0" indent="0" algn="l" rtl="0">
              <a:lnSpc>
                <a:spcPct val="100000"/>
              </a:lnSpc>
              <a:spcBef>
                <a:spcPts val="360"/>
              </a:spcBef>
              <a:spcAft>
                <a:spcPts val="0"/>
              </a:spcAft>
              <a:buSzPts val="1400"/>
              <a:buNone/>
            </a:pPr>
            <a:endParaRPr dirty="0"/>
          </a:p>
        </p:txBody>
      </p:sp>
      <p:sp>
        <p:nvSpPr>
          <p:cNvPr id="1571" name="Google Shape;1571;p97: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p98: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Interpolated AP (Continued)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"To calculate interpolated AP, we divide the recall range from 0 to 1 into 11 points."</a:t>
            </a:r>
          </a:p>
          <a:p>
            <a:r>
              <a:rPr lang="en-US" sz="1200" b="0" i="0" u="none" strike="noStrike" cap="none" dirty="0">
                <a:solidFill>
                  <a:schemeClr val="dk1"/>
                </a:solidFill>
                <a:effectLst/>
                <a:latin typeface="Times New Roman"/>
                <a:ea typeface="Times New Roman"/>
                <a:cs typeface="Times New Roman"/>
                <a:sym typeface="Times New Roman"/>
              </a:rPr>
              <a:t>"We then compute the average of the maximum precision values at these recall points."</a:t>
            </a:r>
          </a:p>
          <a:p>
            <a:r>
              <a:rPr lang="en-US" sz="1200" b="0" i="0" u="none" strike="noStrike" cap="none" dirty="0">
                <a:solidFill>
                  <a:schemeClr val="dk1"/>
                </a:solidFill>
                <a:effectLst/>
                <a:latin typeface="Times New Roman"/>
                <a:ea typeface="Times New Roman"/>
                <a:cs typeface="Times New Roman"/>
                <a:sym typeface="Times New Roman"/>
              </a:rPr>
              <a:t>"In our example, the AP is calculated as the average of these maximum precision values."</a:t>
            </a:r>
          </a:p>
          <a:p>
            <a:pPr marL="0" lvl="0" indent="0" algn="l" rtl="0">
              <a:lnSpc>
                <a:spcPct val="100000"/>
              </a:lnSpc>
              <a:spcBef>
                <a:spcPts val="360"/>
              </a:spcBef>
              <a:spcAft>
                <a:spcPts val="0"/>
              </a:spcAft>
              <a:buSzPts val="1400"/>
              <a:buNone/>
            </a:pPr>
            <a:endParaRPr dirty="0"/>
          </a:p>
        </p:txBody>
      </p:sp>
      <p:sp>
        <p:nvSpPr>
          <p:cNvPr id="1578" name="Google Shape;1578;p98: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5"/>
        <p:cNvGrpSpPr/>
        <p:nvPr/>
      </p:nvGrpSpPr>
      <p:grpSpPr>
        <a:xfrm>
          <a:off x="0" y="0"/>
          <a:ext cx="0" cy="0"/>
          <a:chOff x="0" y="0"/>
          <a:chExt cx="0" cy="0"/>
        </a:xfrm>
      </p:grpSpPr>
      <p:sp>
        <p:nvSpPr>
          <p:cNvPr id="1586" name="Google Shape;1586;p99: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Interpolated AP (Further)</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"When the AP value becomes very small, we can assume the remaining terms are negligible."</a:t>
            </a:r>
          </a:p>
          <a:p>
            <a:r>
              <a:rPr lang="en-US" sz="1200" b="0" i="0" u="none" strike="noStrike" cap="none" dirty="0">
                <a:solidFill>
                  <a:schemeClr val="dk1"/>
                </a:solidFill>
                <a:effectLst/>
                <a:latin typeface="Times New Roman"/>
                <a:ea typeface="Times New Roman"/>
                <a:cs typeface="Times New Roman"/>
                <a:sym typeface="Times New Roman"/>
              </a:rPr>
              <a:t>"This means we don't need to make predictions until recall reaches 100%."</a:t>
            </a:r>
          </a:p>
          <a:p>
            <a:r>
              <a:rPr lang="en-US" sz="1200" b="0" i="0" u="none" strike="noStrike" cap="none" dirty="0">
                <a:solidFill>
                  <a:schemeClr val="dk1"/>
                </a:solidFill>
                <a:effectLst/>
                <a:latin typeface="Times New Roman"/>
                <a:ea typeface="Times New Roman"/>
                <a:cs typeface="Times New Roman"/>
                <a:sym typeface="Times New Roman"/>
              </a:rPr>
              <a:t>"The interpolated method has limitations, such as being less precise and losing the ability to differentiate methods with low AP."</a:t>
            </a:r>
          </a:p>
          <a:p>
            <a:pPr marL="0" lvl="0" indent="0" algn="l" rtl="0">
              <a:lnSpc>
                <a:spcPct val="100000"/>
              </a:lnSpc>
              <a:spcBef>
                <a:spcPts val="360"/>
              </a:spcBef>
              <a:spcAft>
                <a:spcPts val="0"/>
              </a:spcAft>
              <a:buSzPts val="1400"/>
              <a:buNone/>
            </a:pPr>
            <a:endParaRPr dirty="0"/>
          </a:p>
        </p:txBody>
      </p:sp>
      <p:sp>
        <p:nvSpPr>
          <p:cNvPr id="1587" name="Google Shape;1587;p99: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1"/>
        <p:cNvGrpSpPr/>
        <p:nvPr/>
      </p:nvGrpSpPr>
      <p:grpSpPr>
        <a:xfrm>
          <a:off x="0" y="0"/>
          <a:ext cx="0" cy="0"/>
          <a:chOff x="0" y="0"/>
          <a:chExt cx="0" cy="0"/>
        </a:xfrm>
      </p:grpSpPr>
      <p:sp>
        <p:nvSpPr>
          <p:cNvPr id="1592" name="Google Shape;1592;p100: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AP (Area under Curve AUC)</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"For later Pascal VOC competitions, the curve is sampled at all unique recall values whenever the maximum precision value drops."</a:t>
            </a:r>
          </a:p>
          <a:p>
            <a:r>
              <a:rPr lang="en-US" sz="1200" b="0" i="0" u="none" strike="noStrike" cap="none" dirty="0">
                <a:solidFill>
                  <a:schemeClr val="dk1"/>
                </a:solidFill>
                <a:effectLst/>
                <a:latin typeface="Times New Roman"/>
                <a:ea typeface="Times New Roman"/>
                <a:cs typeface="Times New Roman"/>
                <a:sym typeface="Times New Roman"/>
              </a:rPr>
              <a:t>"This change allows us to measure the exact area under the precision-recall curve after removing zigzags."</a:t>
            </a:r>
          </a:p>
          <a:p>
            <a:pPr marL="0" lvl="0" indent="0" algn="l" rtl="0">
              <a:lnSpc>
                <a:spcPct val="100000"/>
              </a:lnSpc>
              <a:spcBef>
                <a:spcPts val="360"/>
              </a:spcBef>
              <a:spcAft>
                <a:spcPts val="0"/>
              </a:spcAft>
              <a:buSzPts val="1400"/>
              <a:buNone/>
            </a:pPr>
            <a:endParaRPr dirty="0"/>
          </a:p>
        </p:txBody>
      </p:sp>
      <p:sp>
        <p:nvSpPr>
          <p:cNvPr id="1593" name="Google Shape;1593;p100: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8"/>
        <p:cNvGrpSpPr/>
        <p:nvPr/>
      </p:nvGrpSpPr>
      <p:grpSpPr>
        <a:xfrm>
          <a:off x="0" y="0"/>
          <a:ext cx="0" cy="0"/>
          <a:chOff x="0" y="0"/>
          <a:chExt cx="0" cy="0"/>
        </a:xfrm>
      </p:grpSpPr>
      <p:sp>
        <p:nvSpPr>
          <p:cNvPr id="1599" name="Google Shape;1599;p101: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AP (Area under Curve AUC) (Continued)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"No approximation or interpolation is needed with this method."</a:t>
            </a:r>
          </a:p>
          <a:p>
            <a:r>
              <a:rPr lang="en-US" sz="1200" b="0" i="0" u="none" strike="noStrike" cap="none" dirty="0">
                <a:solidFill>
                  <a:schemeClr val="dk1"/>
                </a:solidFill>
                <a:effectLst/>
                <a:latin typeface="Times New Roman"/>
                <a:ea typeface="Times New Roman"/>
                <a:cs typeface="Times New Roman"/>
                <a:sym typeface="Times New Roman"/>
              </a:rPr>
              <a:t>"Instead of sampling 11 points, we sample whenever precision drops and compute AP as the sum of rectangular blocks."</a:t>
            </a:r>
          </a:p>
          <a:p>
            <a:pPr marL="0" lvl="0" indent="0" algn="l" rtl="0">
              <a:lnSpc>
                <a:spcPct val="100000"/>
              </a:lnSpc>
              <a:spcBef>
                <a:spcPts val="360"/>
              </a:spcBef>
              <a:spcAft>
                <a:spcPts val="0"/>
              </a:spcAft>
              <a:buSzPts val="1400"/>
              <a:buNone/>
            </a:pPr>
            <a:endParaRPr dirty="0"/>
          </a:p>
        </p:txBody>
      </p:sp>
      <p:sp>
        <p:nvSpPr>
          <p:cNvPr id="1600" name="Google Shape;1600;p101: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p102: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COCO </a:t>
            </a:r>
            <a:r>
              <a:rPr lang="en-US" sz="1200" b="1" i="0" u="none" strike="noStrike" cap="none" dirty="0" err="1">
                <a:solidFill>
                  <a:schemeClr val="dk1"/>
                </a:solidFill>
                <a:effectLst/>
                <a:latin typeface="Times New Roman"/>
                <a:ea typeface="Times New Roman"/>
                <a:cs typeface="Times New Roman"/>
                <a:sym typeface="Times New Roman"/>
              </a:rPr>
              <a:t>mAP</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"In recent research, results are often reported for the COCO dataset using a 101-point interpolated AP definition."</a:t>
            </a:r>
          </a:p>
          <a:p>
            <a:r>
              <a:rPr lang="en-US" sz="1200" b="0" i="0" u="none" strike="noStrike" cap="none" dirty="0">
                <a:solidFill>
                  <a:schemeClr val="dk1"/>
                </a:solidFill>
                <a:effectLst/>
                <a:latin typeface="Times New Roman"/>
                <a:ea typeface="Times New Roman"/>
                <a:cs typeface="Times New Roman"/>
                <a:sym typeface="Times New Roman"/>
              </a:rPr>
              <a:t>"For COCO, AP is averaged over multiple </a:t>
            </a:r>
            <a:r>
              <a:rPr lang="en-US" sz="1200" b="0" i="0" u="none" strike="noStrike" cap="none" dirty="0" err="1">
                <a:solidFill>
                  <a:schemeClr val="dk1"/>
                </a:solidFill>
                <a:effectLst/>
                <a:latin typeface="Times New Roman"/>
                <a:ea typeface="Times New Roman"/>
                <a:cs typeface="Times New Roman"/>
                <a:sym typeface="Times New Roman"/>
              </a:rPr>
              <a:t>IoU</a:t>
            </a:r>
            <a:r>
              <a:rPr lang="en-US" sz="1200" b="0" i="0" u="none" strike="noStrike" cap="none" dirty="0">
                <a:solidFill>
                  <a:schemeClr val="dk1"/>
                </a:solidFill>
                <a:effectLst/>
                <a:latin typeface="Times New Roman"/>
                <a:ea typeface="Times New Roman"/>
                <a:cs typeface="Times New Roman"/>
                <a:sym typeface="Times New Roman"/>
              </a:rPr>
              <a:t> thresholds, from 0.5 to 0.95, with a step size of 0.05."</a:t>
            </a:r>
          </a:p>
          <a:p>
            <a:r>
              <a:rPr lang="en-US" sz="1200" b="0" i="0" u="none" strike="noStrike" cap="none" dirty="0">
                <a:solidFill>
                  <a:schemeClr val="dk1"/>
                </a:solidFill>
                <a:effectLst/>
                <a:latin typeface="Times New Roman"/>
                <a:ea typeface="Times New Roman"/>
                <a:cs typeface="Times New Roman"/>
                <a:sym typeface="Times New Roman"/>
              </a:rPr>
              <a:t>"This comprehensive evaluation provides a more detailed assessment of model performance across different </a:t>
            </a:r>
            <a:r>
              <a:rPr lang="en-US" sz="1200" b="0" i="0" u="none" strike="noStrike" cap="none" dirty="0" err="1">
                <a:solidFill>
                  <a:schemeClr val="dk1"/>
                </a:solidFill>
                <a:effectLst/>
                <a:latin typeface="Times New Roman"/>
                <a:ea typeface="Times New Roman"/>
                <a:cs typeface="Times New Roman"/>
                <a:sym typeface="Times New Roman"/>
              </a:rPr>
              <a:t>IoU</a:t>
            </a:r>
            <a:r>
              <a:rPr lang="en-US" sz="1200" b="0" i="0" u="none" strike="noStrike" cap="none" dirty="0">
                <a:solidFill>
                  <a:schemeClr val="dk1"/>
                </a:solidFill>
                <a:effectLst/>
                <a:latin typeface="Times New Roman"/>
                <a:ea typeface="Times New Roman"/>
                <a:cs typeface="Times New Roman"/>
                <a:sym typeface="Times New Roman"/>
              </a:rPr>
              <a:t> levels."</a:t>
            </a:r>
          </a:p>
          <a:p>
            <a:pPr marL="0" lvl="0" indent="0" algn="l" rtl="0">
              <a:lnSpc>
                <a:spcPct val="100000"/>
              </a:lnSpc>
              <a:spcBef>
                <a:spcPts val="360"/>
              </a:spcBef>
              <a:spcAft>
                <a:spcPts val="0"/>
              </a:spcAft>
              <a:buSzPts val="1400"/>
              <a:buNone/>
            </a:pPr>
            <a:endParaRPr dirty="0"/>
          </a:p>
        </p:txBody>
      </p:sp>
      <p:sp>
        <p:nvSpPr>
          <p:cNvPr id="1611" name="Google Shape;1611;p102: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5"/>
        <p:cNvGrpSpPr/>
        <p:nvPr/>
      </p:nvGrpSpPr>
      <p:grpSpPr>
        <a:xfrm>
          <a:off x="0" y="0"/>
          <a:ext cx="0" cy="0"/>
          <a:chOff x="0" y="0"/>
          <a:chExt cx="0" cy="0"/>
        </a:xfrm>
      </p:grpSpPr>
      <p:sp>
        <p:nvSpPr>
          <p:cNvPr id="1616" name="Google Shape;1616;p103: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COCO </a:t>
            </a:r>
            <a:r>
              <a:rPr lang="en-US" sz="1200" b="1" i="0" u="none" strike="noStrike" cap="none" dirty="0" err="1">
                <a:solidFill>
                  <a:schemeClr val="dk1"/>
                </a:solidFill>
                <a:effectLst/>
                <a:latin typeface="Times New Roman"/>
                <a:ea typeface="Times New Roman"/>
                <a:cs typeface="Times New Roman"/>
                <a:sym typeface="Times New Roman"/>
              </a:rPr>
              <a:t>mAP</a:t>
            </a:r>
            <a:r>
              <a:rPr lang="en-US" sz="1200" b="1" i="0" u="none" strike="noStrike" cap="none" dirty="0">
                <a:solidFill>
                  <a:schemeClr val="dk1"/>
                </a:solidFill>
                <a:effectLst/>
                <a:latin typeface="Times New Roman"/>
                <a:ea typeface="Times New Roman"/>
                <a:cs typeface="Times New Roman"/>
                <a:sym typeface="Times New Roman"/>
              </a:rPr>
              <a:t> (Continued)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"The COCO dataset also includes other metrics, such as AP across scales and average recall (AR) for different object sizes."</a:t>
            </a:r>
          </a:p>
          <a:p>
            <a:r>
              <a:rPr lang="en-US" sz="1200" b="0" i="0" u="none" strike="noStrike" cap="none" dirty="0">
                <a:solidFill>
                  <a:schemeClr val="dk1"/>
                </a:solidFill>
                <a:effectLst/>
                <a:latin typeface="Times New Roman"/>
                <a:ea typeface="Times New Roman"/>
                <a:cs typeface="Times New Roman"/>
                <a:sym typeface="Times New Roman"/>
              </a:rPr>
              <a:t>"These metrics help evaluate model performance on small, medium, and large objects, as well as the ability to detect multiple objects per image."</a:t>
            </a:r>
          </a:p>
          <a:p>
            <a:pPr marL="0" lvl="0" indent="0" algn="l" rtl="0">
              <a:lnSpc>
                <a:spcPct val="100000"/>
              </a:lnSpc>
              <a:spcBef>
                <a:spcPts val="360"/>
              </a:spcBef>
              <a:spcAft>
                <a:spcPts val="0"/>
              </a:spcAft>
              <a:buSzPts val="1400"/>
              <a:buNone/>
            </a:pPr>
            <a:endParaRPr dirty="0"/>
          </a:p>
        </p:txBody>
      </p:sp>
      <p:sp>
        <p:nvSpPr>
          <p:cNvPr id="1617" name="Google Shape;1617;p103: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2"/>
        <p:cNvGrpSpPr/>
        <p:nvPr/>
      </p:nvGrpSpPr>
      <p:grpSpPr>
        <a:xfrm>
          <a:off x="0" y="0"/>
          <a:ext cx="0" cy="0"/>
          <a:chOff x="0" y="0"/>
          <a:chExt cx="0" cy="0"/>
        </a:xfrm>
      </p:grpSpPr>
      <p:sp>
        <p:nvSpPr>
          <p:cNvPr id="1623" name="Google Shape;1623;p104: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COCO </a:t>
            </a:r>
            <a:r>
              <a:rPr lang="en-US" sz="1200" b="1" i="0" u="none" strike="noStrike" cap="none" dirty="0" err="1">
                <a:solidFill>
                  <a:schemeClr val="dk1"/>
                </a:solidFill>
                <a:effectLst/>
                <a:latin typeface="Times New Roman"/>
                <a:ea typeface="Times New Roman"/>
                <a:cs typeface="Times New Roman"/>
                <a:sym typeface="Times New Roman"/>
              </a:rPr>
              <a:t>mAP</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"Let's look at an example of the Average Precision (AP) results for the YOLOv3 detector on the COCO dataset."</a:t>
            </a:r>
          </a:p>
          <a:p>
            <a:r>
              <a:rPr lang="en-US" sz="1200" b="0" i="0" u="none" strike="noStrike" cap="none" dirty="0">
                <a:solidFill>
                  <a:schemeClr val="dk1"/>
                </a:solidFill>
                <a:effectLst/>
                <a:latin typeface="Times New Roman"/>
                <a:ea typeface="Times New Roman"/>
                <a:cs typeface="Times New Roman"/>
                <a:sym typeface="Times New Roman"/>
              </a:rPr>
              <a:t>"The table shows AP results across different </a:t>
            </a:r>
            <a:r>
              <a:rPr lang="en-US" sz="1200" b="0" i="0" u="none" strike="noStrike" cap="none" dirty="0" err="1">
                <a:solidFill>
                  <a:schemeClr val="dk1"/>
                </a:solidFill>
                <a:effectLst/>
                <a:latin typeface="Times New Roman"/>
                <a:ea typeface="Times New Roman"/>
                <a:cs typeface="Times New Roman"/>
                <a:sym typeface="Times New Roman"/>
              </a:rPr>
              <a:t>IoU</a:t>
            </a:r>
            <a:r>
              <a:rPr lang="en-US" sz="1200" b="0" i="0" u="none" strike="noStrike" cap="none" dirty="0">
                <a:solidFill>
                  <a:schemeClr val="dk1"/>
                </a:solidFill>
                <a:effectLst/>
                <a:latin typeface="Times New Roman"/>
                <a:ea typeface="Times New Roman"/>
                <a:cs typeface="Times New Roman"/>
                <a:sym typeface="Times New Roman"/>
              </a:rPr>
              <a:t> thresholds, such as AP@50 and AP@75, as well as for different object sizes (small, medium, large)."</a:t>
            </a:r>
          </a:p>
          <a:p>
            <a:r>
              <a:rPr lang="en-US" sz="1200" b="0" i="0" u="none" strike="noStrike" cap="none" dirty="0">
                <a:solidFill>
                  <a:schemeClr val="dk1"/>
                </a:solidFill>
                <a:effectLst/>
                <a:latin typeface="Times New Roman"/>
                <a:ea typeface="Times New Roman"/>
                <a:cs typeface="Times New Roman"/>
                <a:sym typeface="Times New Roman"/>
              </a:rPr>
              <a:t>"For clarity, </a:t>
            </a:r>
            <a:r>
              <a:rPr lang="en-US" sz="1200" b="0" i="0" u="none" strike="noStrike" cap="none" dirty="0">
                <a:solidFill>
                  <a:schemeClr val="dk1"/>
                </a:solidFill>
                <a:effectLst/>
                <a:latin typeface="Times New Roman"/>
                <a:ea typeface="Times New Roman"/>
                <a:cs typeface="Times New Roman"/>
                <a:sym typeface="Times New Roman"/>
                <a:hlinkClick r:id="rId3"/>
              </a:rPr>
              <a:t>AP@.75</a:t>
            </a:r>
            <a:r>
              <a:rPr lang="en-US" sz="1200" b="0" i="0" u="none" strike="noStrike" cap="none" dirty="0">
                <a:solidFill>
                  <a:schemeClr val="dk1"/>
                </a:solidFill>
                <a:effectLst/>
                <a:latin typeface="Times New Roman"/>
                <a:ea typeface="Times New Roman"/>
                <a:cs typeface="Times New Roman"/>
                <a:sym typeface="Times New Roman"/>
              </a:rPr>
              <a:t> refers to the AP calculated with an </a:t>
            </a:r>
            <a:r>
              <a:rPr lang="en-US" sz="1200" b="0" i="0" u="none" strike="noStrike" cap="none" dirty="0" err="1">
                <a:solidFill>
                  <a:schemeClr val="dk1"/>
                </a:solidFill>
                <a:effectLst/>
                <a:latin typeface="Times New Roman"/>
                <a:ea typeface="Times New Roman"/>
                <a:cs typeface="Times New Roman"/>
                <a:sym typeface="Times New Roman"/>
              </a:rPr>
              <a:t>IoU</a:t>
            </a:r>
            <a:r>
              <a:rPr lang="en-US" sz="1200" b="0" i="0" u="none" strike="noStrike" cap="none" dirty="0">
                <a:solidFill>
                  <a:schemeClr val="dk1"/>
                </a:solidFill>
                <a:effectLst/>
                <a:latin typeface="Times New Roman"/>
                <a:ea typeface="Times New Roman"/>
                <a:cs typeface="Times New Roman"/>
                <a:sym typeface="Times New Roman"/>
              </a:rPr>
              <a:t> threshold of 0.75."</a:t>
            </a:r>
          </a:p>
          <a:p>
            <a:r>
              <a:rPr lang="en-US" sz="1200" b="0" i="0" u="none" strike="noStrike" cap="none" dirty="0">
                <a:solidFill>
                  <a:schemeClr val="dk1"/>
                </a:solidFill>
                <a:effectLst/>
                <a:latin typeface="Times New Roman"/>
                <a:ea typeface="Times New Roman"/>
                <a:cs typeface="Times New Roman"/>
                <a:sym typeface="Times New Roman"/>
              </a:rPr>
              <a:t>"This table also compares the performance of YOLOv3 with other methods, highlighting the effectiveness of different backbones and configurations."</a:t>
            </a:r>
          </a:p>
          <a:p>
            <a:pPr marL="0" lvl="0" indent="0" algn="l" rtl="0">
              <a:lnSpc>
                <a:spcPct val="100000"/>
              </a:lnSpc>
              <a:spcBef>
                <a:spcPts val="360"/>
              </a:spcBef>
              <a:spcAft>
                <a:spcPts val="0"/>
              </a:spcAft>
              <a:buSzPts val="1400"/>
              <a:buNone/>
            </a:pPr>
            <a:endParaRPr dirty="0"/>
          </a:p>
        </p:txBody>
      </p:sp>
      <p:sp>
        <p:nvSpPr>
          <p:cNvPr id="1624" name="Google Shape;1624;p104: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p:cNvGrpSpPr/>
        <p:nvPr/>
      </p:nvGrpSpPr>
      <p:grpSpPr>
        <a:xfrm>
          <a:off x="0" y="0"/>
          <a:ext cx="0" cy="0"/>
          <a:chOff x="0" y="0"/>
          <a:chExt cx="0" cy="0"/>
        </a:xfrm>
      </p:grpSpPr>
      <p:sp>
        <p:nvSpPr>
          <p:cNvPr id="1631" name="Google Shape;1631;p105: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r>
              <a:rPr lang="en-US" sz="1200" b="1" i="0" u="none" strike="noStrike" cap="none" dirty="0">
                <a:solidFill>
                  <a:schemeClr val="dk1"/>
                </a:solidFill>
                <a:effectLst/>
                <a:latin typeface="Times New Roman"/>
                <a:ea typeface="Times New Roman"/>
                <a:cs typeface="Times New Roman"/>
                <a:sym typeface="Times New Roman"/>
              </a:rPr>
              <a:t>COCO </a:t>
            </a:r>
            <a:r>
              <a:rPr lang="en-US" sz="1200" b="1" i="0" u="none" strike="noStrike" cap="none" dirty="0" err="1">
                <a:solidFill>
                  <a:schemeClr val="dk1"/>
                </a:solidFill>
                <a:effectLst/>
                <a:latin typeface="Times New Roman"/>
                <a:ea typeface="Times New Roman"/>
                <a:cs typeface="Times New Roman"/>
                <a:sym typeface="Times New Roman"/>
              </a:rPr>
              <a:t>mAP</a:t>
            </a:r>
            <a:r>
              <a:rPr lang="en-US" sz="1200" b="1" i="0" u="none" strike="noStrike" cap="none" dirty="0">
                <a:solidFill>
                  <a:schemeClr val="dk1"/>
                </a:solidFill>
                <a:effectLst/>
                <a:latin typeface="Times New Roman"/>
                <a:ea typeface="Times New Roman"/>
                <a:cs typeface="Times New Roman"/>
                <a:sym typeface="Times New Roman"/>
              </a:rPr>
              <a:t> (Continued)</a:t>
            </a:r>
            <a:endParaRPr lang="en-US" sz="1200" b="0" i="0" u="none" strike="noStrike" cap="none" dirty="0">
              <a:solidFill>
                <a:schemeClr val="dk1"/>
              </a:solidFill>
              <a:effectLst/>
              <a:latin typeface="Times New Roman"/>
              <a:ea typeface="Times New Roman"/>
              <a:cs typeface="Times New Roman"/>
              <a:sym typeface="Times New Roman"/>
            </a:endParaRPr>
          </a:p>
          <a:p>
            <a:r>
              <a:rPr lang="en-US" sz="1200" b="0" i="0" u="none" strike="noStrike" cap="none" dirty="0">
                <a:solidFill>
                  <a:schemeClr val="dk1"/>
                </a:solidFill>
                <a:effectLst/>
                <a:latin typeface="Times New Roman"/>
                <a:ea typeface="Times New Roman"/>
                <a:cs typeface="Times New Roman"/>
                <a:sym typeface="Times New Roman"/>
              </a:rPr>
              <a:t>"</a:t>
            </a:r>
            <a:r>
              <a:rPr lang="en-US" sz="1200" b="0" i="0" u="none" strike="noStrike" cap="none" dirty="0" err="1">
                <a:solidFill>
                  <a:schemeClr val="dk1"/>
                </a:solidFill>
                <a:effectLst/>
                <a:latin typeface="Times New Roman"/>
                <a:ea typeface="Times New Roman"/>
                <a:cs typeface="Times New Roman"/>
                <a:sym typeface="Times New Roman"/>
              </a:rPr>
              <a:t>mAP</a:t>
            </a:r>
            <a:r>
              <a:rPr lang="en-US" sz="1200" b="0" i="0" u="none" strike="noStrike" cap="none" dirty="0">
                <a:solidFill>
                  <a:schemeClr val="dk1"/>
                </a:solidFill>
                <a:effectLst/>
                <a:latin typeface="Times New Roman"/>
                <a:ea typeface="Times New Roman"/>
                <a:cs typeface="Times New Roman"/>
                <a:sym typeface="Times New Roman"/>
              </a:rPr>
              <a:t>, or mean Average Precision, is essentially the average of AP values across different classes or categories."</a:t>
            </a:r>
          </a:p>
          <a:p>
            <a:r>
              <a:rPr lang="en-US" sz="1200" b="0" i="0" u="none" strike="noStrike" cap="none" dirty="0">
                <a:solidFill>
                  <a:schemeClr val="dk1"/>
                </a:solidFill>
                <a:effectLst/>
                <a:latin typeface="Times New Roman"/>
                <a:ea typeface="Times New Roman"/>
                <a:cs typeface="Times New Roman"/>
                <a:sym typeface="Times New Roman"/>
              </a:rPr>
              <a:t>"In some contexts, AP and </a:t>
            </a:r>
            <a:r>
              <a:rPr lang="en-US" sz="1200" b="0" i="0" u="none" strike="noStrike" cap="none" dirty="0" err="1">
                <a:solidFill>
                  <a:schemeClr val="dk1"/>
                </a:solidFill>
                <a:effectLst/>
                <a:latin typeface="Times New Roman"/>
                <a:ea typeface="Times New Roman"/>
                <a:cs typeface="Times New Roman"/>
                <a:sym typeface="Times New Roman"/>
              </a:rPr>
              <a:t>mAP</a:t>
            </a:r>
            <a:r>
              <a:rPr lang="en-US" sz="1200" b="0" i="0" u="none" strike="noStrike" cap="none" dirty="0">
                <a:solidFill>
                  <a:schemeClr val="dk1"/>
                </a:solidFill>
                <a:effectLst/>
                <a:latin typeface="Times New Roman"/>
                <a:ea typeface="Times New Roman"/>
                <a:cs typeface="Times New Roman"/>
                <a:sym typeface="Times New Roman"/>
              </a:rPr>
              <a:t> are used interchangeably, especially under the COCO context where they mean the same thing."</a:t>
            </a:r>
          </a:p>
          <a:p>
            <a:r>
              <a:rPr lang="en-US" sz="1200" b="0" i="0" u="none" strike="noStrike" cap="none" dirty="0">
                <a:solidFill>
                  <a:schemeClr val="dk1"/>
                </a:solidFill>
                <a:effectLst/>
                <a:latin typeface="Times New Roman"/>
                <a:ea typeface="Times New Roman"/>
                <a:cs typeface="Times New Roman"/>
                <a:sym typeface="Times New Roman"/>
              </a:rPr>
              <a:t>"The COCO dataset averages AP over all categories, and this is traditionally referred to as </a:t>
            </a:r>
            <a:r>
              <a:rPr lang="en-US" sz="1200" b="0" i="0" u="none" strike="noStrike" cap="none" dirty="0" err="1">
                <a:solidFill>
                  <a:schemeClr val="dk1"/>
                </a:solidFill>
                <a:effectLst/>
                <a:latin typeface="Times New Roman"/>
                <a:ea typeface="Times New Roman"/>
                <a:cs typeface="Times New Roman"/>
                <a:sym typeface="Times New Roman"/>
              </a:rPr>
              <a:t>mAP</a:t>
            </a:r>
            <a:r>
              <a:rPr lang="en-US" sz="1200" b="0" i="0" u="none" strike="noStrike" cap="none" dirty="0">
                <a:solidFill>
                  <a:schemeClr val="dk1"/>
                </a:solidFill>
                <a:effectLst/>
                <a:latin typeface="Times New Roman"/>
                <a:ea typeface="Times New Roman"/>
                <a:cs typeface="Times New Roman"/>
                <a:sym typeface="Times New Roman"/>
              </a:rPr>
              <a:t>."</a:t>
            </a:r>
          </a:p>
          <a:p>
            <a:r>
              <a:rPr lang="en-US" sz="1200" b="0" i="0" u="none" strike="noStrike" cap="none" dirty="0">
                <a:solidFill>
                  <a:schemeClr val="dk1"/>
                </a:solidFill>
                <a:effectLst/>
                <a:latin typeface="Times New Roman"/>
                <a:ea typeface="Times New Roman"/>
                <a:cs typeface="Times New Roman"/>
                <a:sym typeface="Times New Roman"/>
              </a:rPr>
              <a:t>"In other datasets like ImageNet, the AUC (Area Under Curve) method is used for evaluation."</a:t>
            </a:r>
          </a:p>
          <a:p>
            <a:r>
              <a:rPr lang="en-US" sz="1200" b="0" i="0" u="none" strike="noStrike" cap="none" dirty="0">
                <a:solidFill>
                  <a:schemeClr val="dk1"/>
                </a:solidFill>
                <a:effectLst/>
                <a:latin typeface="Times New Roman"/>
                <a:ea typeface="Times New Roman"/>
                <a:cs typeface="Times New Roman"/>
                <a:sym typeface="Times New Roman"/>
              </a:rPr>
              <a:t>"To summarize, while the principle of measuring AP is consistent, the exact calculation can vary depending on the dataset. Fortunately, development kits are available to help calculate these metrics accurately."</a:t>
            </a:r>
          </a:p>
          <a:p>
            <a:pPr marL="0" lvl="0" indent="0" algn="l" rtl="0">
              <a:lnSpc>
                <a:spcPct val="100000"/>
              </a:lnSpc>
              <a:spcBef>
                <a:spcPts val="360"/>
              </a:spcBef>
              <a:spcAft>
                <a:spcPts val="0"/>
              </a:spcAft>
              <a:buSzPts val="1400"/>
              <a:buNone/>
            </a:pPr>
            <a:endParaRPr dirty="0"/>
          </a:p>
        </p:txBody>
      </p:sp>
      <p:sp>
        <p:nvSpPr>
          <p:cNvPr id="1632" name="Google Shape;1632;p105: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6"/>
        <p:cNvGrpSpPr/>
        <p:nvPr/>
      </p:nvGrpSpPr>
      <p:grpSpPr>
        <a:xfrm>
          <a:off x="0" y="0"/>
          <a:ext cx="0" cy="0"/>
          <a:chOff x="0" y="0"/>
          <a:chExt cx="0" cy="0"/>
        </a:xfrm>
      </p:grpSpPr>
      <p:sp>
        <p:nvSpPr>
          <p:cNvPr id="1637" name="Google Shape;1637;g28fa4b45176_0_531:notes"/>
          <p:cNvSpPr txBox="1">
            <a:spLocks noGrp="1"/>
          </p:cNvSpPr>
          <p:nvPr>
            <p:ph type="body" idx="1"/>
          </p:nvPr>
        </p:nvSpPr>
        <p:spPr>
          <a:xfrm>
            <a:off x="1023460" y="3418824"/>
            <a:ext cx="8187600" cy="2797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8" name="Google Shape;1638;g28fa4b45176_0_531:notes"/>
          <p:cNvSpPr>
            <a:spLocks noGrp="1" noRot="1" noChangeAspect="1"/>
          </p:cNvSpPr>
          <p:nvPr>
            <p:ph type="sldImg" idx="2"/>
          </p:nvPr>
        </p:nvSpPr>
        <p:spPr>
          <a:xfrm>
            <a:off x="3517900" y="887413"/>
            <a:ext cx="3198813" cy="23987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vimalsp@wilp.bits-pilani.ac.in" TargetMode="External"/><Relationship Id="rId2" Type="http://schemas.openxmlformats.org/officeDocument/2006/relationships/image" Target="../media/image2.gif"/><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mailto:vimalsp@wilp.bits-pilani.ac.in" TargetMode="External"/><Relationship Id="rId2" Type="http://schemas.openxmlformats.org/officeDocument/2006/relationships/image" Target="../media/image2.gif"/><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4"/>
        <p:cNvGrpSpPr/>
        <p:nvPr/>
      </p:nvGrpSpPr>
      <p:grpSpPr>
        <a:xfrm>
          <a:off x="0" y="0"/>
          <a:ext cx="0" cy="0"/>
          <a:chOff x="0" y="0"/>
          <a:chExt cx="0" cy="0"/>
        </a:xfrm>
      </p:grpSpPr>
      <p:pic>
        <p:nvPicPr>
          <p:cNvPr id="15" name="Google Shape;15;g28fa4b45176_0_226"/>
          <p:cNvPicPr preferRelativeResize="0"/>
          <p:nvPr/>
        </p:nvPicPr>
        <p:blipFill rotWithShape="1">
          <a:blip r:embed="rId2">
            <a:alphaModFix/>
          </a:blip>
          <a:srcRect/>
          <a:stretch/>
        </p:blipFill>
        <p:spPr>
          <a:xfrm>
            <a:off x="0" y="0"/>
            <a:ext cx="4186242" cy="5143500"/>
          </a:xfrm>
          <a:prstGeom prst="rect">
            <a:avLst/>
          </a:prstGeom>
          <a:noFill/>
          <a:ln>
            <a:noFill/>
          </a:ln>
        </p:spPr>
      </p:pic>
      <p:sp>
        <p:nvSpPr>
          <p:cNvPr id="16" name="Google Shape;16;g28fa4b45176_0_226"/>
          <p:cNvSpPr txBox="1">
            <a:spLocks noGrp="1"/>
          </p:cNvSpPr>
          <p:nvPr>
            <p:ph type="title"/>
          </p:nvPr>
        </p:nvSpPr>
        <p:spPr>
          <a:xfrm>
            <a:off x="3493293" y="2809875"/>
            <a:ext cx="5022000" cy="19098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g28fa4b45176_0_226"/>
          <p:cNvSpPr txBox="1">
            <a:spLocks noGrp="1"/>
          </p:cNvSpPr>
          <p:nvPr>
            <p:ph type="subTitle" idx="1"/>
          </p:nvPr>
        </p:nvSpPr>
        <p:spPr>
          <a:xfrm>
            <a:off x="3493294" y="5028803"/>
            <a:ext cx="5022000" cy="3651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1000"/>
              </a:spcBef>
              <a:spcAft>
                <a:spcPts val="0"/>
              </a:spcAft>
              <a:buClr>
                <a:srgbClr val="757070"/>
              </a:buClr>
              <a:buSzPts val="1600"/>
              <a:buNone/>
              <a:defRPr sz="1600">
                <a:solidFill>
                  <a:srgbClr val="75707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g28fa4b45176_0_226"/>
          <p:cNvSpPr txBox="1">
            <a:spLocks noGrp="1"/>
          </p:cNvSpPr>
          <p:nvPr>
            <p:ph type="ftr" idx="11"/>
          </p:nvPr>
        </p:nvSpPr>
        <p:spPr>
          <a:xfrm>
            <a:off x="5057774" y="6356350"/>
            <a:ext cx="19074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g28fa4b45176_0_226"/>
          <p:cNvSpPr txBox="1">
            <a:spLocks noGrp="1"/>
          </p:cNvSpPr>
          <p:nvPr>
            <p:ph type="sldNum" idx="12"/>
          </p:nvPr>
        </p:nvSpPr>
        <p:spPr>
          <a:xfrm>
            <a:off x="7243763" y="6356350"/>
            <a:ext cx="1271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g28fa4b45176_0_226" descr="BITS Pilani logo"/>
          <p:cNvPicPr preferRelativeResize="0"/>
          <p:nvPr/>
        </p:nvPicPr>
        <p:blipFill rotWithShape="1">
          <a:blip r:embed="rId3">
            <a:alphaModFix/>
          </a:blip>
          <a:srcRect/>
          <a:stretch/>
        </p:blipFill>
        <p:spPr>
          <a:xfrm>
            <a:off x="6627529" y="192510"/>
            <a:ext cx="2504055" cy="6494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1"/>
        <p:cNvGrpSpPr/>
        <p:nvPr/>
      </p:nvGrpSpPr>
      <p:grpSpPr>
        <a:xfrm>
          <a:off x="0" y="0"/>
          <a:ext cx="0" cy="0"/>
          <a:chOff x="0" y="0"/>
          <a:chExt cx="0" cy="0"/>
        </a:xfrm>
      </p:grpSpPr>
      <p:pic>
        <p:nvPicPr>
          <p:cNvPr id="22" name="Google Shape;22;g28fa4b45176_0_197" descr="BITS Pilani logo"/>
          <p:cNvPicPr preferRelativeResize="0"/>
          <p:nvPr/>
        </p:nvPicPr>
        <p:blipFill rotWithShape="1">
          <a:blip r:embed="rId2">
            <a:alphaModFix/>
          </a:blip>
          <a:srcRect/>
          <a:stretch/>
        </p:blipFill>
        <p:spPr>
          <a:xfrm>
            <a:off x="6617084" y="262802"/>
            <a:ext cx="2504055" cy="649430"/>
          </a:xfrm>
          <a:prstGeom prst="rect">
            <a:avLst/>
          </a:prstGeom>
          <a:noFill/>
          <a:ln>
            <a:noFill/>
          </a:ln>
        </p:spPr>
      </p:pic>
      <p:sp>
        <p:nvSpPr>
          <p:cNvPr id="23" name="Google Shape;23;g28fa4b45176_0_197"/>
          <p:cNvSpPr txBox="1"/>
          <p:nvPr/>
        </p:nvSpPr>
        <p:spPr>
          <a:xfrm>
            <a:off x="2783149" y="5716225"/>
            <a:ext cx="5908200" cy="8658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l" rtl="0">
              <a:lnSpc>
                <a:spcPct val="90000"/>
              </a:lnSpc>
              <a:spcBef>
                <a:spcPts val="0"/>
              </a:spcBef>
              <a:spcAft>
                <a:spcPts val="0"/>
              </a:spcAft>
              <a:buClr>
                <a:schemeClr val="dk1"/>
              </a:buClr>
              <a:buSzPct val="108106"/>
              <a:buFont typeface="Arial"/>
              <a:buNone/>
            </a:pPr>
            <a:endParaRPr sz="1600" b="1" i="1" u="none" strike="noStrike" cap="none">
              <a:solidFill>
                <a:srgbClr val="7030A0"/>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ct val="108106"/>
              <a:buFont typeface="Arial"/>
              <a:buNone/>
            </a:pPr>
            <a:endParaRPr sz="1600" b="1" i="1" u="none" strike="noStrike" cap="none">
              <a:solidFill>
                <a:srgbClr val="7030A0"/>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ct val="108106"/>
              <a:buFont typeface="Arial"/>
              <a:buNone/>
            </a:pPr>
            <a:endParaRPr sz="1600" b="1" i="1" u="none" strike="noStrike" cap="none">
              <a:solidFill>
                <a:srgbClr val="7030A0"/>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ct val="108106"/>
              <a:buFont typeface="Arial"/>
              <a:buNone/>
            </a:pPr>
            <a:r>
              <a:rPr lang="en-US" sz="1600" b="1" i="1" u="none" strike="noStrike" cap="none">
                <a:solidFill>
                  <a:srgbClr val="7030A0"/>
                </a:solidFill>
                <a:latin typeface="Calibri"/>
                <a:ea typeface="Calibri"/>
                <a:cs typeface="Calibri"/>
                <a:sym typeface="Calibri"/>
              </a:rPr>
              <a:t>	S. P. Vimal</a:t>
            </a:r>
            <a:r>
              <a:rPr lang="en-US" sz="1600" b="1" i="1" u="none" strike="noStrike" cap="none">
                <a:solidFill>
                  <a:schemeClr val="dk1"/>
                </a:solidFill>
                <a:latin typeface="Calibri"/>
                <a:ea typeface="Calibri"/>
                <a:cs typeface="Calibri"/>
                <a:sym typeface="Calibri"/>
              </a:rPr>
              <a:t> | </a:t>
            </a:r>
            <a:r>
              <a:rPr lang="en-US" sz="1600" b="1" i="1" u="none" strike="noStrike" cap="none">
                <a:solidFill>
                  <a:srgbClr val="833C0B"/>
                </a:solidFill>
                <a:latin typeface="Calibri"/>
                <a:ea typeface="Calibri"/>
                <a:cs typeface="Calibri"/>
                <a:sym typeface="Calibri"/>
              </a:rPr>
              <a:t>CSIS Department</a:t>
            </a:r>
            <a:r>
              <a:rPr lang="en-US" sz="1600" b="1" i="1" u="none" strike="noStrike" cap="none">
                <a:solidFill>
                  <a:srgbClr val="2E75B5"/>
                </a:solidFill>
                <a:latin typeface="Calibri"/>
                <a:ea typeface="Calibri"/>
                <a:cs typeface="Calibri"/>
                <a:sym typeface="Calibri"/>
              </a:rPr>
              <a:t> </a:t>
            </a:r>
            <a:r>
              <a:rPr lang="en-US" sz="1600" b="1" i="1" u="none" strike="noStrike" cap="none">
                <a:solidFill>
                  <a:schemeClr val="dk1"/>
                </a:solidFill>
                <a:latin typeface="Calibri"/>
                <a:ea typeface="Calibri"/>
                <a:cs typeface="Calibri"/>
                <a:sym typeface="Calibri"/>
              </a:rPr>
              <a:t>| </a:t>
            </a:r>
            <a:r>
              <a:rPr lang="en-US" sz="1600" b="1" i="1" u="none" strike="noStrike" cap="none">
                <a:solidFill>
                  <a:srgbClr val="833C0B"/>
                </a:solidFill>
                <a:latin typeface="Calibri"/>
                <a:ea typeface="Calibri"/>
                <a:cs typeface="Calibri"/>
                <a:sym typeface="Calibri"/>
              </a:rPr>
              <a:t>WILP</a:t>
            </a:r>
            <a:r>
              <a:rPr lang="en-US" sz="1600" b="1" i="1" u="none" strike="noStrike" cap="none">
                <a:solidFill>
                  <a:schemeClr val="dk1"/>
                </a:solidFill>
                <a:latin typeface="Calibri"/>
                <a:ea typeface="Calibri"/>
                <a:cs typeface="Calibri"/>
                <a:sym typeface="Calibri"/>
              </a:rPr>
              <a:t> | </a:t>
            </a:r>
            <a:r>
              <a:rPr lang="en-US" sz="1600" b="1" i="1" u="none" strike="noStrike" cap="none">
                <a:solidFill>
                  <a:srgbClr val="833C0B"/>
                </a:solidFill>
                <a:latin typeface="Calibri"/>
                <a:ea typeface="Calibri"/>
                <a:cs typeface="Calibri"/>
                <a:sym typeface="Calibri"/>
              </a:rPr>
              <a:t>BITS – Pilani </a:t>
            </a:r>
            <a:r>
              <a:rPr lang="en-US" sz="1600" b="1" i="1" u="none" strike="noStrike" cap="none">
                <a:solidFill>
                  <a:schemeClr val="dk1"/>
                </a:solidFill>
                <a:latin typeface="Calibri"/>
                <a:ea typeface="Calibri"/>
                <a:cs typeface="Calibri"/>
                <a:sym typeface="Calibri"/>
              </a:rPr>
              <a:t>(</a:t>
            </a:r>
            <a:r>
              <a:rPr lang="en-US" sz="1600" b="1" i="1" u="sng" strike="noStrike" cap="none">
                <a:solidFill>
                  <a:schemeClr val="hlink"/>
                </a:solidFill>
                <a:latin typeface="Calibri"/>
                <a:ea typeface="Calibri"/>
                <a:cs typeface="Calibri"/>
                <a:sym typeface="Calibri"/>
                <a:hlinkClick r:id="rId3"/>
              </a:rPr>
              <a:t>vimalsp@wilp.bits-pilani.ac.in</a:t>
            </a:r>
            <a:r>
              <a:rPr lang="en-US" sz="1600" b="1" i="1"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pic>
        <p:nvPicPr>
          <p:cNvPr id="24" name="Google Shape;24;g28fa4b45176_0_197"/>
          <p:cNvPicPr preferRelativeResize="0"/>
          <p:nvPr/>
        </p:nvPicPr>
        <p:blipFill rotWithShape="1">
          <a:blip r:embed="rId4">
            <a:alphaModFix/>
          </a:blip>
          <a:srcRect/>
          <a:stretch/>
        </p:blipFill>
        <p:spPr>
          <a:xfrm>
            <a:off x="0" y="0"/>
            <a:ext cx="4186242" cy="5143500"/>
          </a:xfrm>
          <a:prstGeom prst="rect">
            <a:avLst/>
          </a:prstGeom>
          <a:noFill/>
          <a:ln>
            <a:noFill/>
          </a:ln>
        </p:spPr>
      </p:pic>
      <p:sp>
        <p:nvSpPr>
          <p:cNvPr id="25" name="Google Shape;25;g28fa4b45176_0_197"/>
          <p:cNvSpPr txBox="1">
            <a:spLocks noGrp="1"/>
          </p:cNvSpPr>
          <p:nvPr>
            <p:ph type="ctrTitle"/>
          </p:nvPr>
        </p:nvSpPr>
        <p:spPr>
          <a:xfrm>
            <a:off x="1400993" y="3226527"/>
            <a:ext cx="7117500" cy="12735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600"/>
              <a:buFont typeface="Calibri"/>
              <a:buNone/>
              <a:defRPr sz="3600" cap="none">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g28fa4b45176_0_197"/>
          <p:cNvSpPr txBox="1"/>
          <p:nvPr/>
        </p:nvSpPr>
        <p:spPr>
          <a:xfrm>
            <a:off x="48394" y="1053900"/>
            <a:ext cx="3147000" cy="909600"/>
          </a:xfrm>
          <a:prstGeom prst="rect">
            <a:avLst/>
          </a:prstGeom>
          <a:noFill/>
          <a:ln>
            <a:noFill/>
          </a:ln>
        </p:spPr>
        <p:txBody>
          <a:bodyPr spcFirstLastPara="1" wrap="square" lIns="91425" tIns="45700" rIns="91425" bIns="45700" anchor="t" anchorCtr="0">
            <a:normAutofit lnSpcReduction="10000"/>
          </a:bodyPr>
          <a:lstStyle/>
          <a:p>
            <a:pPr marL="0" marR="0" lvl="0" indent="0" algn="r" rtl="0">
              <a:lnSpc>
                <a:spcPct val="90000"/>
              </a:lnSpc>
              <a:spcBef>
                <a:spcPts val="0"/>
              </a:spcBef>
              <a:spcAft>
                <a:spcPts val="0"/>
              </a:spcAft>
              <a:buClr>
                <a:schemeClr val="dk1"/>
              </a:buClr>
              <a:buSzPts val="1600"/>
              <a:buFont typeface="Arial"/>
              <a:buNone/>
            </a:pPr>
            <a:r>
              <a:rPr lang="en-US" sz="2600" b="0" i="0" u="none" strike="noStrike" cap="none">
                <a:solidFill>
                  <a:schemeClr val="dk1"/>
                </a:solidFill>
                <a:latin typeface="Calibri"/>
                <a:ea typeface="Calibri"/>
                <a:cs typeface="Calibri"/>
                <a:sym typeface="Calibri"/>
              </a:rPr>
              <a:t>Computer Vision</a:t>
            </a:r>
            <a:endParaRPr sz="2600" b="0" i="0" u="none" strike="noStrike" cap="none">
              <a:solidFill>
                <a:schemeClr val="dk1"/>
              </a:solidFill>
              <a:latin typeface="Calibri"/>
              <a:ea typeface="Calibri"/>
              <a:cs typeface="Calibri"/>
              <a:sym typeface="Calibri"/>
            </a:endParaRPr>
          </a:p>
          <a:p>
            <a:pPr marL="0" marR="0" lvl="0" indent="0" algn="r" rtl="0">
              <a:lnSpc>
                <a:spcPct val="90000"/>
              </a:lnSpc>
              <a:spcBef>
                <a:spcPts val="0"/>
              </a:spcBef>
              <a:spcAft>
                <a:spcPts val="0"/>
              </a:spcAft>
              <a:buClr>
                <a:schemeClr val="dk1"/>
              </a:buClr>
              <a:buSzPts val="1600"/>
              <a:buFont typeface="Arial"/>
              <a:buNone/>
            </a:pPr>
            <a:r>
              <a:rPr lang="en-US" sz="1700" b="0" i="0" u="none" strike="noStrike" cap="none">
                <a:solidFill>
                  <a:schemeClr val="dk1"/>
                </a:solidFill>
                <a:latin typeface="Calibri"/>
                <a:ea typeface="Calibri"/>
                <a:cs typeface="Calibri"/>
                <a:sym typeface="Calibri"/>
              </a:rPr>
              <a:t>2023-24 First Semester, M.Tech (AIML)   </a:t>
            </a:r>
            <a:endParaRPr sz="15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27"/>
        <p:cNvGrpSpPr/>
        <p:nvPr/>
      </p:nvGrpSpPr>
      <p:grpSpPr>
        <a:xfrm>
          <a:off x="0" y="0"/>
          <a:ext cx="0" cy="0"/>
          <a:chOff x="0" y="0"/>
          <a:chExt cx="0" cy="0"/>
        </a:xfrm>
      </p:grpSpPr>
      <p:pic>
        <p:nvPicPr>
          <p:cNvPr id="28" name="Google Shape;28;g28fa4b45176_0_203" descr="BITS Pilani logo"/>
          <p:cNvPicPr preferRelativeResize="0"/>
          <p:nvPr/>
        </p:nvPicPr>
        <p:blipFill rotWithShape="1">
          <a:blip r:embed="rId2">
            <a:alphaModFix/>
          </a:blip>
          <a:srcRect/>
          <a:stretch/>
        </p:blipFill>
        <p:spPr>
          <a:xfrm>
            <a:off x="288131" y="288928"/>
            <a:ext cx="2504055" cy="649430"/>
          </a:xfrm>
          <a:prstGeom prst="rect">
            <a:avLst/>
          </a:prstGeom>
          <a:noFill/>
          <a:ln>
            <a:noFill/>
          </a:ln>
        </p:spPr>
      </p:pic>
      <p:sp>
        <p:nvSpPr>
          <p:cNvPr id="29" name="Google Shape;29;g28fa4b45176_0_203"/>
          <p:cNvSpPr txBox="1">
            <a:spLocks noGrp="1"/>
          </p:cNvSpPr>
          <p:nvPr>
            <p:ph type="title"/>
          </p:nvPr>
        </p:nvSpPr>
        <p:spPr>
          <a:xfrm>
            <a:off x="351337" y="1671639"/>
            <a:ext cx="4504200" cy="6531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g28fa4b45176_0_203"/>
          <p:cNvSpPr txBox="1">
            <a:spLocks noGrp="1"/>
          </p:cNvSpPr>
          <p:nvPr>
            <p:ph type="body" idx="1"/>
          </p:nvPr>
        </p:nvSpPr>
        <p:spPr>
          <a:xfrm>
            <a:off x="1021556" y="2586447"/>
            <a:ext cx="4504200" cy="33048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g28fa4b45176_0_203"/>
          <p:cNvSpPr txBox="1">
            <a:spLocks noGrp="1"/>
          </p:cNvSpPr>
          <p:nvPr>
            <p:ph type="ftr" idx="11"/>
          </p:nvPr>
        </p:nvSpPr>
        <p:spPr>
          <a:xfrm>
            <a:off x="1847850" y="6356350"/>
            <a:ext cx="2609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g28fa4b45176_0_20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33"/>
        <p:cNvGrpSpPr/>
        <p:nvPr/>
      </p:nvGrpSpPr>
      <p:grpSpPr>
        <a:xfrm>
          <a:off x="0" y="0"/>
          <a:ext cx="0" cy="0"/>
          <a:chOff x="0" y="0"/>
          <a:chExt cx="0" cy="0"/>
        </a:xfrm>
      </p:grpSpPr>
      <p:sp>
        <p:nvSpPr>
          <p:cNvPr id="34" name="Google Shape;34;g28fa4b45176_0_20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4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5" name="Google Shape;35;g28fa4b45176_0_209"/>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6" name="Google Shape;36;g28fa4b45176_0_209"/>
          <p:cNvSpPr txBox="1">
            <a:spLocks noGrp="1"/>
          </p:cNvSpPr>
          <p:nvPr>
            <p:ph type="dt" idx="10"/>
          </p:nvPr>
        </p:nvSpPr>
        <p:spPr>
          <a:xfrm>
            <a:off x="457200" y="6245225"/>
            <a:ext cx="2133600" cy="476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7" name="Google Shape;37;g28fa4b45176_0_209"/>
          <p:cNvSpPr txBox="1">
            <a:spLocks noGrp="1"/>
          </p:cNvSpPr>
          <p:nvPr>
            <p:ph type="ftr" idx="11"/>
          </p:nvPr>
        </p:nvSpPr>
        <p:spPr>
          <a:xfrm>
            <a:off x="3124200" y="6245225"/>
            <a:ext cx="28956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g28fa4b45176_0_209"/>
          <p:cNvSpPr txBox="1">
            <a:spLocks noGrp="1"/>
          </p:cNvSpPr>
          <p:nvPr>
            <p:ph type="sldNum" idx="12"/>
          </p:nvPr>
        </p:nvSpPr>
        <p:spPr>
          <a:xfrm>
            <a:off x="6553200" y="6245225"/>
            <a:ext cx="21336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g28fa4b45176_0_21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4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1" name="Google Shape;41;g28fa4b45176_0_215"/>
          <p:cNvSpPr txBox="1">
            <a:spLocks noGrp="1"/>
          </p:cNvSpPr>
          <p:nvPr>
            <p:ph type="dt" idx="10"/>
          </p:nvPr>
        </p:nvSpPr>
        <p:spPr>
          <a:xfrm>
            <a:off x="457200" y="6245225"/>
            <a:ext cx="2133600" cy="476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 name="Google Shape;42;g28fa4b45176_0_215"/>
          <p:cNvSpPr txBox="1">
            <a:spLocks noGrp="1"/>
          </p:cNvSpPr>
          <p:nvPr>
            <p:ph type="ftr" idx="11"/>
          </p:nvPr>
        </p:nvSpPr>
        <p:spPr>
          <a:xfrm>
            <a:off x="3124200" y="6245225"/>
            <a:ext cx="28956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g28fa4b45176_0_215"/>
          <p:cNvSpPr txBox="1">
            <a:spLocks noGrp="1"/>
          </p:cNvSpPr>
          <p:nvPr>
            <p:ph type="sldNum" idx="12"/>
          </p:nvPr>
        </p:nvSpPr>
        <p:spPr>
          <a:xfrm>
            <a:off x="6553200" y="6245225"/>
            <a:ext cx="21336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2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hart">
  <p:cSld name="Chart">
    <p:bg>
      <p:bgPr>
        <a:solidFill>
          <a:schemeClr val="accent1"/>
        </a:solidFill>
        <a:effectLst/>
      </p:bgPr>
    </p:bg>
    <p:spTree>
      <p:nvGrpSpPr>
        <p:cNvPr id="1" name="Shape 44"/>
        <p:cNvGrpSpPr/>
        <p:nvPr/>
      </p:nvGrpSpPr>
      <p:grpSpPr>
        <a:xfrm>
          <a:off x="0" y="0"/>
          <a:ext cx="0" cy="0"/>
          <a:chOff x="0" y="0"/>
          <a:chExt cx="0" cy="0"/>
        </a:xfrm>
      </p:grpSpPr>
      <p:sp>
        <p:nvSpPr>
          <p:cNvPr id="45" name="Google Shape;45;g28fa4b45176_0_220"/>
          <p:cNvSpPr txBox="1">
            <a:spLocks noGrp="1"/>
          </p:cNvSpPr>
          <p:nvPr>
            <p:ph type="title"/>
          </p:nvPr>
        </p:nvSpPr>
        <p:spPr>
          <a:xfrm>
            <a:off x="628650" y="365125"/>
            <a:ext cx="7886700" cy="12468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g28fa4b45176_0_220"/>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g28fa4b45176_0_220"/>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48" name="Google Shape;48;g28fa4b45176_0_220"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
        <p:nvSpPr>
          <p:cNvPr id="49" name="Google Shape;49;g28fa4b45176_0_220"/>
          <p:cNvSpPr txBox="1">
            <a:spLocks noGrp="1"/>
          </p:cNvSpPr>
          <p:nvPr>
            <p:ph type="body" idx="1"/>
          </p:nvPr>
        </p:nvSpPr>
        <p:spPr>
          <a:xfrm>
            <a:off x="628650" y="1894114"/>
            <a:ext cx="7886700" cy="41802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mart Art">
  <p:cSld name="Smart Art">
    <p:bg>
      <p:bgPr>
        <a:solidFill>
          <a:schemeClr val="lt1"/>
        </a:solidFill>
        <a:effectLst/>
      </p:bgPr>
    </p:bg>
    <p:spTree>
      <p:nvGrpSpPr>
        <p:cNvPr id="1" name="Shape 50"/>
        <p:cNvGrpSpPr/>
        <p:nvPr/>
      </p:nvGrpSpPr>
      <p:grpSpPr>
        <a:xfrm>
          <a:off x="0" y="0"/>
          <a:ext cx="0" cy="0"/>
          <a:chOff x="0" y="0"/>
          <a:chExt cx="0" cy="0"/>
        </a:xfrm>
      </p:grpSpPr>
      <p:sp>
        <p:nvSpPr>
          <p:cNvPr id="51" name="Google Shape;51;g28fa4b45176_0_233"/>
          <p:cNvSpPr txBox="1">
            <a:spLocks noGrp="1"/>
          </p:cNvSpPr>
          <p:nvPr>
            <p:ph type="title"/>
          </p:nvPr>
        </p:nvSpPr>
        <p:spPr>
          <a:xfrm>
            <a:off x="628650" y="365126"/>
            <a:ext cx="7650000" cy="10278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g28fa4b45176_0_23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g28fa4b45176_0_23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54" name="Google Shape;54;g28fa4b45176_0_233"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
        <p:nvSpPr>
          <p:cNvPr id="55" name="Google Shape;55;g28fa4b45176_0_233"/>
          <p:cNvSpPr txBox="1">
            <a:spLocks noGrp="1"/>
          </p:cNvSpPr>
          <p:nvPr>
            <p:ph type="body" idx="1"/>
          </p:nvPr>
        </p:nvSpPr>
        <p:spPr>
          <a:xfrm>
            <a:off x="628650" y="1632858"/>
            <a:ext cx="7886700" cy="44415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Break" type="title">
  <p:cSld name="TITLE">
    <p:bg>
      <p:bgPr>
        <a:solidFill>
          <a:schemeClr val="dk1"/>
        </a:solidFill>
        <a:effectLst/>
      </p:bgPr>
    </p:bg>
    <p:spTree>
      <p:nvGrpSpPr>
        <p:cNvPr id="1" name="Shape 56"/>
        <p:cNvGrpSpPr/>
        <p:nvPr/>
      </p:nvGrpSpPr>
      <p:grpSpPr>
        <a:xfrm>
          <a:off x="0" y="0"/>
          <a:ext cx="0" cy="0"/>
          <a:chOff x="0" y="0"/>
          <a:chExt cx="0" cy="0"/>
        </a:xfrm>
      </p:grpSpPr>
      <p:sp>
        <p:nvSpPr>
          <p:cNvPr id="57" name="Google Shape;57;g28fa4b45176_0_239"/>
          <p:cNvSpPr txBox="1">
            <a:spLocks noGrp="1"/>
          </p:cNvSpPr>
          <p:nvPr>
            <p:ph type="ctrTitle"/>
          </p:nvPr>
        </p:nvSpPr>
        <p:spPr>
          <a:xfrm>
            <a:off x="5243513" y="2148840"/>
            <a:ext cx="3134700" cy="17154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28fa4b45176_0_239"/>
          <p:cNvSpPr txBox="1">
            <a:spLocks noGrp="1"/>
          </p:cNvSpPr>
          <p:nvPr>
            <p:ph type="subTitle" idx="1"/>
          </p:nvPr>
        </p:nvSpPr>
        <p:spPr>
          <a:xfrm>
            <a:off x="5243513" y="3962003"/>
            <a:ext cx="3134700" cy="3651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59" name="Google Shape;59;g28fa4b45176_0_239"/>
          <p:cNvPicPr preferRelativeResize="0"/>
          <p:nvPr/>
        </p:nvPicPr>
        <p:blipFill rotWithShape="1">
          <a:blip r:embed="rId2">
            <a:alphaModFix/>
          </a:blip>
          <a:srcRect/>
          <a:stretch/>
        </p:blipFill>
        <p:spPr>
          <a:xfrm>
            <a:off x="0" y="828675"/>
            <a:ext cx="4407694" cy="390048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ntent">
  <p:cSld name="Three Content">
    <p:bg>
      <p:bgPr>
        <a:solidFill>
          <a:schemeClr val="lt1"/>
        </a:solidFill>
        <a:effectLst/>
      </p:bgPr>
    </p:bg>
    <p:spTree>
      <p:nvGrpSpPr>
        <p:cNvPr id="1" name="Shape 60"/>
        <p:cNvGrpSpPr/>
        <p:nvPr/>
      </p:nvGrpSpPr>
      <p:grpSpPr>
        <a:xfrm>
          <a:off x="0" y="0"/>
          <a:ext cx="0" cy="0"/>
          <a:chOff x="0" y="0"/>
          <a:chExt cx="0" cy="0"/>
        </a:xfrm>
      </p:grpSpPr>
      <p:sp>
        <p:nvSpPr>
          <p:cNvPr id="61" name="Google Shape;61;g28fa4b45176_0_243"/>
          <p:cNvSpPr txBox="1">
            <a:spLocks noGrp="1"/>
          </p:cNvSpPr>
          <p:nvPr>
            <p:ph type="title"/>
          </p:nvPr>
        </p:nvSpPr>
        <p:spPr>
          <a:xfrm>
            <a:off x="932328" y="443369"/>
            <a:ext cx="7583100" cy="10515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g28fa4b45176_0_243"/>
          <p:cNvSpPr txBox="1">
            <a:spLocks noGrp="1"/>
          </p:cNvSpPr>
          <p:nvPr>
            <p:ph type="body" idx="1"/>
          </p:nvPr>
        </p:nvSpPr>
        <p:spPr>
          <a:xfrm>
            <a:off x="932327" y="1932770"/>
            <a:ext cx="2161800" cy="823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3" name="Google Shape;63;g28fa4b45176_0_243"/>
          <p:cNvSpPr txBox="1">
            <a:spLocks noGrp="1"/>
          </p:cNvSpPr>
          <p:nvPr>
            <p:ph type="body" idx="2"/>
          </p:nvPr>
        </p:nvSpPr>
        <p:spPr>
          <a:xfrm>
            <a:off x="932328" y="3056709"/>
            <a:ext cx="2161800" cy="2775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g28fa4b45176_0_243"/>
          <p:cNvSpPr txBox="1">
            <a:spLocks noGrp="1"/>
          </p:cNvSpPr>
          <p:nvPr>
            <p:ph type="body" idx="3"/>
          </p:nvPr>
        </p:nvSpPr>
        <p:spPr>
          <a:xfrm>
            <a:off x="3485748" y="1953443"/>
            <a:ext cx="2172600" cy="823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5" name="Google Shape;65;g28fa4b45176_0_243"/>
          <p:cNvSpPr txBox="1">
            <a:spLocks noGrp="1"/>
          </p:cNvSpPr>
          <p:nvPr>
            <p:ph type="body" idx="4"/>
          </p:nvPr>
        </p:nvSpPr>
        <p:spPr>
          <a:xfrm>
            <a:off x="3485749" y="3056709"/>
            <a:ext cx="2172600" cy="2775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g28fa4b45176_0_243"/>
          <p:cNvSpPr txBox="1">
            <a:spLocks noGrp="1"/>
          </p:cNvSpPr>
          <p:nvPr>
            <p:ph type="body" idx="5"/>
          </p:nvPr>
        </p:nvSpPr>
        <p:spPr>
          <a:xfrm>
            <a:off x="6049815" y="1958896"/>
            <a:ext cx="2161800" cy="823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7" name="Google Shape;67;g28fa4b45176_0_243"/>
          <p:cNvSpPr txBox="1">
            <a:spLocks noGrp="1"/>
          </p:cNvSpPr>
          <p:nvPr>
            <p:ph type="body" idx="6"/>
          </p:nvPr>
        </p:nvSpPr>
        <p:spPr>
          <a:xfrm>
            <a:off x="6049816" y="3056709"/>
            <a:ext cx="2161800" cy="2775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g28fa4b45176_0_24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g28fa4b45176_0_24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70" name="Google Shape;70;g28fa4b45176_0_243"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71"/>
        <p:cNvGrpSpPr/>
        <p:nvPr/>
      </p:nvGrpSpPr>
      <p:grpSpPr>
        <a:xfrm>
          <a:off x="0" y="0"/>
          <a:ext cx="0" cy="0"/>
          <a:chOff x="0" y="0"/>
          <a:chExt cx="0" cy="0"/>
        </a:xfrm>
      </p:grpSpPr>
      <p:sp>
        <p:nvSpPr>
          <p:cNvPr id="72" name="Google Shape;72;g28fa4b45176_0_254"/>
          <p:cNvSpPr txBox="1">
            <a:spLocks noGrp="1"/>
          </p:cNvSpPr>
          <p:nvPr>
            <p:ph type="title"/>
          </p:nvPr>
        </p:nvSpPr>
        <p:spPr>
          <a:xfrm>
            <a:off x="628650" y="365125"/>
            <a:ext cx="7886700" cy="1246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000"/>
              <a:buFont typeface="Calibri"/>
              <a:buNone/>
              <a:defRPr sz="4000" b="1"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g28fa4b45176_0_254"/>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g28fa4b45176_0_254"/>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75" name="Google Shape;75;g28fa4b45176_0_254"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
        <p:nvSpPr>
          <p:cNvPr id="76" name="Google Shape;76;g28fa4b45176_0_254"/>
          <p:cNvSpPr txBox="1">
            <a:spLocks noGrp="1"/>
          </p:cNvSpPr>
          <p:nvPr>
            <p:ph type="body" idx="1"/>
          </p:nvPr>
        </p:nvSpPr>
        <p:spPr>
          <a:xfrm>
            <a:off x="628650" y="1894114"/>
            <a:ext cx="7886700" cy="41802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genda" type="obj">
  <p:cSld name="OBJECT">
    <p:bg>
      <p:bgPr>
        <a:solidFill>
          <a:schemeClr val="dk1"/>
        </a:solidFill>
        <a:effectLst/>
      </p:bgPr>
    </p:bg>
    <p:spTree>
      <p:nvGrpSpPr>
        <p:cNvPr id="1" name="Shape 77"/>
        <p:cNvGrpSpPr/>
        <p:nvPr/>
      </p:nvGrpSpPr>
      <p:grpSpPr>
        <a:xfrm>
          <a:off x="0" y="0"/>
          <a:ext cx="0" cy="0"/>
          <a:chOff x="0" y="0"/>
          <a:chExt cx="0" cy="0"/>
        </a:xfrm>
      </p:grpSpPr>
      <p:pic>
        <p:nvPicPr>
          <p:cNvPr id="78" name="Google Shape;78;g28fa4b45176_0_260"/>
          <p:cNvPicPr preferRelativeResize="0"/>
          <p:nvPr/>
        </p:nvPicPr>
        <p:blipFill rotWithShape="1">
          <a:blip r:embed="rId2">
            <a:alphaModFix/>
          </a:blip>
          <a:srcRect t="18298" r="28340" b="23070"/>
          <a:stretch/>
        </p:blipFill>
        <p:spPr>
          <a:xfrm>
            <a:off x="4116611" y="0"/>
            <a:ext cx="5027390" cy="6858000"/>
          </a:xfrm>
          <a:prstGeom prst="rect">
            <a:avLst/>
          </a:prstGeom>
          <a:noFill/>
          <a:ln>
            <a:noFill/>
          </a:ln>
        </p:spPr>
      </p:pic>
      <p:sp>
        <p:nvSpPr>
          <p:cNvPr id="79" name="Google Shape;79;g28fa4b45176_0_260"/>
          <p:cNvSpPr txBox="1">
            <a:spLocks noGrp="1"/>
          </p:cNvSpPr>
          <p:nvPr>
            <p:ph type="title"/>
          </p:nvPr>
        </p:nvSpPr>
        <p:spPr>
          <a:xfrm>
            <a:off x="1000125" y="1020445"/>
            <a:ext cx="2171700" cy="1325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g28fa4b45176_0_260"/>
          <p:cNvSpPr txBox="1">
            <a:spLocks noGrp="1"/>
          </p:cNvSpPr>
          <p:nvPr>
            <p:ph type="body" idx="1"/>
          </p:nvPr>
        </p:nvSpPr>
        <p:spPr>
          <a:xfrm>
            <a:off x="1000125" y="2924175"/>
            <a:ext cx="2171700" cy="2519400"/>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chemeClr val="lt1"/>
              </a:buClr>
              <a:buSzPts val="1400"/>
              <a:buNone/>
              <a:defRPr sz="1400">
                <a:solidFill>
                  <a:schemeClr val="lt1"/>
                </a:solidFill>
              </a:defRPr>
            </a:lvl1pPr>
            <a:lvl2pPr marL="914400" lvl="1" indent="-228600" algn="l">
              <a:lnSpc>
                <a:spcPct val="150000"/>
              </a:lnSpc>
              <a:spcBef>
                <a:spcPts val="500"/>
              </a:spcBef>
              <a:spcAft>
                <a:spcPts val="0"/>
              </a:spcAft>
              <a:buClr>
                <a:schemeClr val="lt1"/>
              </a:buClr>
              <a:buSzPts val="1400"/>
              <a:buNone/>
              <a:defRPr sz="1400">
                <a:solidFill>
                  <a:schemeClr val="lt1"/>
                </a:solidFill>
              </a:defRPr>
            </a:lvl2pPr>
            <a:lvl3pPr marL="1371600" lvl="2" indent="-228600" algn="l">
              <a:lnSpc>
                <a:spcPct val="150000"/>
              </a:lnSpc>
              <a:spcBef>
                <a:spcPts val="500"/>
              </a:spcBef>
              <a:spcAft>
                <a:spcPts val="0"/>
              </a:spcAft>
              <a:buClr>
                <a:schemeClr val="lt1"/>
              </a:buClr>
              <a:buSzPts val="1400"/>
              <a:buNone/>
              <a:defRPr sz="1400">
                <a:solidFill>
                  <a:schemeClr val="lt1"/>
                </a:solidFill>
              </a:defRPr>
            </a:lvl3pPr>
            <a:lvl4pPr marL="1828800" lvl="3" indent="-228600" algn="l">
              <a:lnSpc>
                <a:spcPct val="150000"/>
              </a:lnSpc>
              <a:spcBef>
                <a:spcPts val="500"/>
              </a:spcBef>
              <a:spcAft>
                <a:spcPts val="0"/>
              </a:spcAft>
              <a:buClr>
                <a:schemeClr val="lt1"/>
              </a:buClr>
              <a:buSzPts val="1400"/>
              <a:buNone/>
              <a:defRPr sz="1400">
                <a:solidFill>
                  <a:schemeClr val="lt1"/>
                </a:solidFill>
              </a:defRPr>
            </a:lvl4pPr>
            <a:lvl5pPr marL="2286000" lvl="4" indent="-228600" algn="l">
              <a:lnSpc>
                <a:spcPct val="150000"/>
              </a:lnSpc>
              <a:spcBef>
                <a:spcPts val="500"/>
              </a:spcBef>
              <a:spcAft>
                <a:spcPts val="0"/>
              </a:spcAft>
              <a:buClr>
                <a:schemeClr val="lt1"/>
              </a:buClr>
              <a:buSzPts val="1400"/>
              <a:buNone/>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g28fa4b45176_0_260"/>
          <p:cNvSpPr txBox="1">
            <a:spLocks noGrp="1"/>
          </p:cNvSpPr>
          <p:nvPr>
            <p:ph type="ftr" idx="11"/>
          </p:nvPr>
        </p:nvSpPr>
        <p:spPr>
          <a:xfrm>
            <a:off x="2002414" y="6356349"/>
            <a:ext cx="1862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g28fa4b45176_0_260"/>
          <p:cNvSpPr txBox="1">
            <a:spLocks noGrp="1"/>
          </p:cNvSpPr>
          <p:nvPr>
            <p:ph type="sldNum" idx="12"/>
          </p:nvPr>
        </p:nvSpPr>
        <p:spPr>
          <a:xfrm>
            <a:off x="4152229" y="6356350"/>
            <a:ext cx="740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Introduction" type="secHead">
  <p:cSld name="SECTION_HEADER">
    <p:spTree>
      <p:nvGrpSpPr>
        <p:cNvPr id="1" name="Shape 83"/>
        <p:cNvGrpSpPr/>
        <p:nvPr/>
      </p:nvGrpSpPr>
      <p:grpSpPr>
        <a:xfrm>
          <a:off x="0" y="0"/>
          <a:ext cx="0" cy="0"/>
          <a:chOff x="0" y="0"/>
          <a:chExt cx="0" cy="0"/>
        </a:xfrm>
      </p:grpSpPr>
      <p:sp>
        <p:nvSpPr>
          <p:cNvPr id="84" name="Google Shape;84;g28fa4b45176_0_266"/>
          <p:cNvSpPr txBox="1">
            <a:spLocks noGrp="1"/>
          </p:cNvSpPr>
          <p:nvPr>
            <p:ph type="title"/>
          </p:nvPr>
        </p:nvSpPr>
        <p:spPr>
          <a:xfrm>
            <a:off x="351337" y="1671639"/>
            <a:ext cx="4504200" cy="6531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g28fa4b45176_0_266"/>
          <p:cNvSpPr txBox="1">
            <a:spLocks noGrp="1"/>
          </p:cNvSpPr>
          <p:nvPr>
            <p:ph type="body" idx="1"/>
          </p:nvPr>
        </p:nvSpPr>
        <p:spPr>
          <a:xfrm>
            <a:off x="1021556" y="2586447"/>
            <a:ext cx="4504200" cy="33048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86" name="Google Shape;86;g28fa4b45176_0_266"/>
          <p:cNvSpPr txBox="1">
            <a:spLocks noGrp="1"/>
          </p:cNvSpPr>
          <p:nvPr>
            <p:ph type="ftr" idx="11"/>
          </p:nvPr>
        </p:nvSpPr>
        <p:spPr>
          <a:xfrm>
            <a:off x="1847850" y="6356350"/>
            <a:ext cx="2609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g28fa4b45176_0_266"/>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88" name="Google Shape;88;g28fa4b45176_0_266" descr="BITS Pilani logo"/>
          <p:cNvPicPr preferRelativeResize="0"/>
          <p:nvPr/>
        </p:nvPicPr>
        <p:blipFill rotWithShape="1">
          <a:blip r:embed="rId2">
            <a:alphaModFix/>
          </a:blip>
          <a:srcRect/>
          <a:stretch/>
        </p:blipFill>
        <p:spPr>
          <a:xfrm>
            <a:off x="288131" y="288928"/>
            <a:ext cx="2504055" cy="64943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am Slide 4 People">
  <p:cSld name="Team Slide 4 People">
    <p:bg>
      <p:bgPr>
        <a:solidFill>
          <a:schemeClr val="lt1"/>
        </a:solidFill>
        <a:effectLst/>
      </p:bgPr>
    </p:bg>
    <p:spTree>
      <p:nvGrpSpPr>
        <p:cNvPr id="1" name="Shape 89"/>
        <p:cNvGrpSpPr/>
        <p:nvPr/>
      </p:nvGrpSpPr>
      <p:grpSpPr>
        <a:xfrm>
          <a:off x="0" y="0"/>
          <a:ext cx="0" cy="0"/>
          <a:chOff x="0" y="0"/>
          <a:chExt cx="0" cy="0"/>
        </a:xfrm>
      </p:grpSpPr>
      <p:sp>
        <p:nvSpPr>
          <p:cNvPr id="90" name="Google Shape;90;g28fa4b45176_0_272"/>
          <p:cNvSpPr txBox="1">
            <a:spLocks noGrp="1"/>
          </p:cNvSpPr>
          <p:nvPr>
            <p:ph type="title"/>
          </p:nvPr>
        </p:nvSpPr>
        <p:spPr>
          <a:xfrm>
            <a:off x="921425" y="373362"/>
            <a:ext cx="7847100" cy="12987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g28fa4b45176_0_272"/>
          <p:cNvSpPr>
            <a:spLocks noGrp="1"/>
          </p:cNvSpPr>
          <p:nvPr>
            <p:ph type="pic" idx="2"/>
          </p:nvPr>
        </p:nvSpPr>
        <p:spPr>
          <a:xfrm>
            <a:off x="1115386" y="2886074"/>
            <a:ext cx="1384200" cy="1384200"/>
          </a:xfrm>
          <a:prstGeom prst="rect">
            <a:avLst/>
          </a:prstGeom>
          <a:solidFill>
            <a:srgbClr val="F2F2F2"/>
          </a:solidFill>
          <a:ln>
            <a:noFill/>
          </a:ln>
        </p:spPr>
      </p:sp>
      <p:sp>
        <p:nvSpPr>
          <p:cNvPr id="92" name="Google Shape;92;g28fa4b45176_0_272"/>
          <p:cNvSpPr txBox="1">
            <a:spLocks noGrp="1"/>
          </p:cNvSpPr>
          <p:nvPr>
            <p:ph type="body" idx="1"/>
          </p:nvPr>
        </p:nvSpPr>
        <p:spPr>
          <a:xfrm>
            <a:off x="921426" y="5084524"/>
            <a:ext cx="17385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3" name="Google Shape;93;g28fa4b45176_0_272"/>
          <p:cNvSpPr txBox="1">
            <a:spLocks noGrp="1"/>
          </p:cNvSpPr>
          <p:nvPr>
            <p:ph type="body" idx="3"/>
          </p:nvPr>
        </p:nvSpPr>
        <p:spPr>
          <a:xfrm>
            <a:off x="1115386" y="5464114"/>
            <a:ext cx="13842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4" name="Google Shape;94;g28fa4b45176_0_272"/>
          <p:cNvSpPr>
            <a:spLocks noGrp="1"/>
          </p:cNvSpPr>
          <p:nvPr>
            <p:ph type="pic" idx="4"/>
          </p:nvPr>
        </p:nvSpPr>
        <p:spPr>
          <a:xfrm>
            <a:off x="2877685" y="2886074"/>
            <a:ext cx="1384200" cy="1384200"/>
          </a:xfrm>
          <a:prstGeom prst="rect">
            <a:avLst/>
          </a:prstGeom>
          <a:solidFill>
            <a:srgbClr val="F2F2F2"/>
          </a:solidFill>
          <a:ln>
            <a:noFill/>
          </a:ln>
        </p:spPr>
      </p:sp>
      <p:sp>
        <p:nvSpPr>
          <p:cNvPr id="95" name="Google Shape;95;g28fa4b45176_0_272"/>
          <p:cNvSpPr txBox="1">
            <a:spLocks noGrp="1"/>
          </p:cNvSpPr>
          <p:nvPr>
            <p:ph type="body" idx="5"/>
          </p:nvPr>
        </p:nvSpPr>
        <p:spPr>
          <a:xfrm>
            <a:off x="2683725" y="5084524"/>
            <a:ext cx="17481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6" name="Google Shape;96;g28fa4b45176_0_272"/>
          <p:cNvSpPr txBox="1">
            <a:spLocks noGrp="1"/>
          </p:cNvSpPr>
          <p:nvPr>
            <p:ph type="body" idx="6"/>
          </p:nvPr>
        </p:nvSpPr>
        <p:spPr>
          <a:xfrm>
            <a:off x="2877685" y="5478796"/>
            <a:ext cx="13920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7" name="Google Shape;97;g28fa4b45176_0_272"/>
          <p:cNvSpPr>
            <a:spLocks noGrp="1"/>
          </p:cNvSpPr>
          <p:nvPr>
            <p:ph type="pic" idx="7"/>
          </p:nvPr>
        </p:nvSpPr>
        <p:spPr>
          <a:xfrm>
            <a:off x="4745684" y="2886074"/>
            <a:ext cx="1384200" cy="1384200"/>
          </a:xfrm>
          <a:prstGeom prst="rect">
            <a:avLst/>
          </a:prstGeom>
          <a:solidFill>
            <a:srgbClr val="F2F2F2"/>
          </a:solidFill>
          <a:ln>
            <a:noFill/>
          </a:ln>
        </p:spPr>
      </p:sp>
      <p:sp>
        <p:nvSpPr>
          <p:cNvPr id="98" name="Google Shape;98;g28fa4b45176_0_272"/>
          <p:cNvSpPr txBox="1">
            <a:spLocks noGrp="1"/>
          </p:cNvSpPr>
          <p:nvPr>
            <p:ph type="body" idx="8"/>
          </p:nvPr>
        </p:nvSpPr>
        <p:spPr>
          <a:xfrm>
            <a:off x="4551723" y="5084524"/>
            <a:ext cx="17385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g28fa4b45176_0_272"/>
          <p:cNvSpPr txBox="1">
            <a:spLocks noGrp="1"/>
          </p:cNvSpPr>
          <p:nvPr>
            <p:ph type="body" idx="9"/>
          </p:nvPr>
        </p:nvSpPr>
        <p:spPr>
          <a:xfrm>
            <a:off x="4745683" y="5478796"/>
            <a:ext cx="13842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0" name="Google Shape;100;g28fa4b45176_0_272"/>
          <p:cNvSpPr>
            <a:spLocks noGrp="1"/>
          </p:cNvSpPr>
          <p:nvPr>
            <p:ph type="pic" idx="13"/>
          </p:nvPr>
        </p:nvSpPr>
        <p:spPr>
          <a:xfrm>
            <a:off x="6560594" y="2886074"/>
            <a:ext cx="1384200" cy="1384200"/>
          </a:xfrm>
          <a:prstGeom prst="rect">
            <a:avLst/>
          </a:prstGeom>
          <a:solidFill>
            <a:srgbClr val="F2F2F2"/>
          </a:solidFill>
          <a:ln>
            <a:noFill/>
          </a:ln>
        </p:spPr>
      </p:sp>
      <p:sp>
        <p:nvSpPr>
          <p:cNvPr id="101" name="Google Shape;101;g28fa4b45176_0_272"/>
          <p:cNvSpPr txBox="1">
            <a:spLocks noGrp="1"/>
          </p:cNvSpPr>
          <p:nvPr>
            <p:ph type="body" idx="14"/>
          </p:nvPr>
        </p:nvSpPr>
        <p:spPr>
          <a:xfrm>
            <a:off x="6366634" y="5084524"/>
            <a:ext cx="17385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2" name="Google Shape;102;g28fa4b45176_0_272"/>
          <p:cNvSpPr txBox="1">
            <a:spLocks noGrp="1"/>
          </p:cNvSpPr>
          <p:nvPr>
            <p:ph type="body" idx="15"/>
          </p:nvPr>
        </p:nvSpPr>
        <p:spPr>
          <a:xfrm>
            <a:off x="6560594" y="5464114"/>
            <a:ext cx="13842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3" name="Google Shape;103;g28fa4b45176_0_272"/>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g28fa4b45176_0_272"/>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05" name="Google Shape;105;g28fa4b45176_0_272"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eam Slide 8 People">
  <p:cSld name="Team Slide 8 People">
    <p:bg>
      <p:bgPr>
        <a:solidFill>
          <a:schemeClr val="dk1"/>
        </a:solidFill>
        <a:effectLst/>
      </p:bgPr>
    </p:bg>
    <p:spTree>
      <p:nvGrpSpPr>
        <p:cNvPr id="1" name="Shape 106"/>
        <p:cNvGrpSpPr/>
        <p:nvPr/>
      </p:nvGrpSpPr>
      <p:grpSpPr>
        <a:xfrm>
          <a:off x="0" y="0"/>
          <a:ext cx="0" cy="0"/>
          <a:chOff x="0" y="0"/>
          <a:chExt cx="0" cy="0"/>
        </a:xfrm>
      </p:grpSpPr>
      <p:grpSp>
        <p:nvGrpSpPr>
          <p:cNvPr id="107" name="Google Shape;107;g28fa4b45176_0_289"/>
          <p:cNvGrpSpPr/>
          <p:nvPr/>
        </p:nvGrpSpPr>
        <p:grpSpPr>
          <a:xfrm>
            <a:off x="0" y="473953"/>
            <a:ext cx="9144000" cy="4216002"/>
            <a:chOff x="0" y="473953"/>
            <a:chExt cx="12192000" cy="5621336"/>
          </a:xfrm>
        </p:grpSpPr>
        <p:pic>
          <p:nvPicPr>
            <p:cNvPr id="108" name="Google Shape;108;g28fa4b45176_0_289"/>
            <p:cNvPicPr preferRelativeResize="0"/>
            <p:nvPr/>
          </p:nvPicPr>
          <p:blipFill rotWithShape="1">
            <a:blip r:embed="rId2">
              <a:alphaModFix/>
            </a:blip>
            <a:srcRect/>
            <a:stretch/>
          </p:blipFill>
          <p:spPr>
            <a:xfrm>
              <a:off x="0" y="473953"/>
              <a:ext cx="2057400" cy="1647825"/>
            </a:xfrm>
            <a:prstGeom prst="rect">
              <a:avLst/>
            </a:prstGeom>
            <a:noFill/>
            <a:ln>
              <a:noFill/>
            </a:ln>
          </p:spPr>
        </p:pic>
        <p:pic>
          <p:nvPicPr>
            <p:cNvPr id="109" name="Google Shape;109;g28fa4b45176_0_289"/>
            <p:cNvPicPr preferRelativeResize="0"/>
            <p:nvPr/>
          </p:nvPicPr>
          <p:blipFill rotWithShape="1">
            <a:blip r:embed="rId3">
              <a:alphaModFix/>
            </a:blip>
            <a:srcRect/>
            <a:stretch/>
          </p:blipFill>
          <p:spPr>
            <a:xfrm>
              <a:off x="11049000" y="5180889"/>
              <a:ext cx="1143000" cy="914400"/>
            </a:xfrm>
            <a:prstGeom prst="rect">
              <a:avLst/>
            </a:prstGeom>
            <a:noFill/>
            <a:ln>
              <a:noFill/>
            </a:ln>
          </p:spPr>
        </p:pic>
      </p:grpSp>
      <p:sp>
        <p:nvSpPr>
          <p:cNvPr id="110" name="Google Shape;110;g28fa4b45176_0_289"/>
          <p:cNvSpPr txBox="1">
            <a:spLocks noGrp="1"/>
          </p:cNvSpPr>
          <p:nvPr>
            <p:ph type="title"/>
          </p:nvPr>
        </p:nvSpPr>
        <p:spPr>
          <a:xfrm>
            <a:off x="1413867" y="892177"/>
            <a:ext cx="6316200" cy="13257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2800"/>
              <a:buFont typeface="Calibri"/>
              <a:buNone/>
              <a:defRPr sz="28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g28fa4b45176_0_289"/>
          <p:cNvSpPr>
            <a:spLocks noGrp="1"/>
          </p:cNvSpPr>
          <p:nvPr>
            <p:ph type="pic" idx="2"/>
          </p:nvPr>
        </p:nvSpPr>
        <p:spPr>
          <a:xfrm>
            <a:off x="1407882" y="2428875"/>
            <a:ext cx="800100" cy="800100"/>
          </a:xfrm>
          <a:prstGeom prst="rect">
            <a:avLst/>
          </a:prstGeom>
          <a:solidFill>
            <a:schemeClr val="lt1"/>
          </a:solidFill>
          <a:ln>
            <a:noFill/>
          </a:ln>
        </p:spPr>
      </p:sp>
      <p:sp>
        <p:nvSpPr>
          <p:cNvPr id="112" name="Google Shape;112;g28fa4b45176_0_289"/>
          <p:cNvSpPr txBox="1">
            <a:spLocks noGrp="1"/>
          </p:cNvSpPr>
          <p:nvPr>
            <p:ph type="body" idx="1"/>
          </p:nvPr>
        </p:nvSpPr>
        <p:spPr>
          <a:xfrm>
            <a:off x="1125126" y="3654378"/>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3" name="Google Shape;113;g28fa4b45176_0_289"/>
          <p:cNvSpPr txBox="1">
            <a:spLocks noGrp="1"/>
          </p:cNvSpPr>
          <p:nvPr>
            <p:ph type="body" idx="3"/>
          </p:nvPr>
        </p:nvSpPr>
        <p:spPr>
          <a:xfrm>
            <a:off x="1125126" y="3809747"/>
            <a:ext cx="13716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4" name="Google Shape;114;g28fa4b45176_0_289"/>
          <p:cNvSpPr>
            <a:spLocks noGrp="1"/>
          </p:cNvSpPr>
          <p:nvPr>
            <p:ph type="pic" idx="4"/>
          </p:nvPr>
        </p:nvSpPr>
        <p:spPr>
          <a:xfrm>
            <a:off x="3169703" y="2428875"/>
            <a:ext cx="800100" cy="800100"/>
          </a:xfrm>
          <a:prstGeom prst="rect">
            <a:avLst/>
          </a:prstGeom>
          <a:solidFill>
            <a:schemeClr val="lt1"/>
          </a:solidFill>
          <a:ln>
            <a:noFill/>
          </a:ln>
        </p:spPr>
      </p:sp>
      <p:sp>
        <p:nvSpPr>
          <p:cNvPr id="115" name="Google Shape;115;g28fa4b45176_0_289"/>
          <p:cNvSpPr txBox="1">
            <a:spLocks noGrp="1"/>
          </p:cNvSpPr>
          <p:nvPr>
            <p:ph type="body" idx="5"/>
          </p:nvPr>
        </p:nvSpPr>
        <p:spPr>
          <a:xfrm>
            <a:off x="2886946" y="3654378"/>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g28fa4b45176_0_289"/>
          <p:cNvSpPr txBox="1">
            <a:spLocks noGrp="1"/>
          </p:cNvSpPr>
          <p:nvPr>
            <p:ph type="body" idx="6"/>
          </p:nvPr>
        </p:nvSpPr>
        <p:spPr>
          <a:xfrm>
            <a:off x="2886946" y="3809747"/>
            <a:ext cx="13716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7" name="Google Shape;117;g28fa4b45176_0_289"/>
          <p:cNvSpPr>
            <a:spLocks noGrp="1"/>
          </p:cNvSpPr>
          <p:nvPr>
            <p:ph type="pic" idx="7"/>
          </p:nvPr>
        </p:nvSpPr>
        <p:spPr>
          <a:xfrm>
            <a:off x="4991688" y="2428875"/>
            <a:ext cx="800100" cy="800100"/>
          </a:xfrm>
          <a:prstGeom prst="rect">
            <a:avLst/>
          </a:prstGeom>
          <a:solidFill>
            <a:schemeClr val="lt1"/>
          </a:solidFill>
          <a:ln>
            <a:noFill/>
          </a:ln>
        </p:spPr>
      </p:sp>
      <p:sp>
        <p:nvSpPr>
          <p:cNvPr id="118" name="Google Shape;118;g28fa4b45176_0_289"/>
          <p:cNvSpPr txBox="1">
            <a:spLocks noGrp="1"/>
          </p:cNvSpPr>
          <p:nvPr>
            <p:ph type="body" idx="8"/>
          </p:nvPr>
        </p:nvSpPr>
        <p:spPr>
          <a:xfrm>
            <a:off x="4648766" y="3654378"/>
            <a:ext cx="15789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g28fa4b45176_0_289"/>
          <p:cNvSpPr txBox="1">
            <a:spLocks noGrp="1"/>
          </p:cNvSpPr>
          <p:nvPr>
            <p:ph type="body" idx="9"/>
          </p:nvPr>
        </p:nvSpPr>
        <p:spPr>
          <a:xfrm>
            <a:off x="4571999" y="3809747"/>
            <a:ext cx="17250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0" name="Google Shape;120;g28fa4b45176_0_289"/>
          <p:cNvSpPr>
            <a:spLocks noGrp="1"/>
          </p:cNvSpPr>
          <p:nvPr>
            <p:ph type="pic" idx="13"/>
          </p:nvPr>
        </p:nvSpPr>
        <p:spPr>
          <a:xfrm>
            <a:off x="6852611" y="2428875"/>
            <a:ext cx="800100" cy="800100"/>
          </a:xfrm>
          <a:prstGeom prst="rect">
            <a:avLst/>
          </a:prstGeom>
          <a:solidFill>
            <a:schemeClr val="lt1"/>
          </a:solidFill>
          <a:ln>
            <a:noFill/>
          </a:ln>
        </p:spPr>
      </p:sp>
      <p:sp>
        <p:nvSpPr>
          <p:cNvPr id="121" name="Google Shape;121;g28fa4b45176_0_289"/>
          <p:cNvSpPr txBox="1">
            <a:spLocks noGrp="1"/>
          </p:cNvSpPr>
          <p:nvPr>
            <p:ph type="body" idx="14"/>
          </p:nvPr>
        </p:nvSpPr>
        <p:spPr>
          <a:xfrm>
            <a:off x="6569855" y="3654378"/>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g28fa4b45176_0_289"/>
          <p:cNvSpPr txBox="1">
            <a:spLocks noGrp="1"/>
          </p:cNvSpPr>
          <p:nvPr>
            <p:ph type="body" idx="15"/>
          </p:nvPr>
        </p:nvSpPr>
        <p:spPr>
          <a:xfrm>
            <a:off x="6558360" y="3809747"/>
            <a:ext cx="13830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3" name="Google Shape;123;g28fa4b45176_0_289"/>
          <p:cNvSpPr>
            <a:spLocks noGrp="1"/>
          </p:cNvSpPr>
          <p:nvPr>
            <p:ph type="pic" idx="16"/>
          </p:nvPr>
        </p:nvSpPr>
        <p:spPr>
          <a:xfrm>
            <a:off x="1407882" y="4287711"/>
            <a:ext cx="800100" cy="800100"/>
          </a:xfrm>
          <a:prstGeom prst="rect">
            <a:avLst/>
          </a:prstGeom>
          <a:solidFill>
            <a:schemeClr val="lt1"/>
          </a:solidFill>
          <a:ln>
            <a:noFill/>
          </a:ln>
        </p:spPr>
      </p:sp>
      <p:sp>
        <p:nvSpPr>
          <p:cNvPr id="124" name="Google Shape;124;g28fa4b45176_0_289"/>
          <p:cNvSpPr txBox="1">
            <a:spLocks noGrp="1"/>
          </p:cNvSpPr>
          <p:nvPr>
            <p:ph type="body" idx="17"/>
          </p:nvPr>
        </p:nvSpPr>
        <p:spPr>
          <a:xfrm>
            <a:off x="1125126" y="5513214"/>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5" name="Google Shape;125;g28fa4b45176_0_289"/>
          <p:cNvSpPr txBox="1">
            <a:spLocks noGrp="1"/>
          </p:cNvSpPr>
          <p:nvPr>
            <p:ph type="body" idx="18"/>
          </p:nvPr>
        </p:nvSpPr>
        <p:spPr>
          <a:xfrm>
            <a:off x="1125126" y="5668583"/>
            <a:ext cx="13716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6" name="Google Shape;126;g28fa4b45176_0_289"/>
          <p:cNvSpPr>
            <a:spLocks noGrp="1"/>
          </p:cNvSpPr>
          <p:nvPr>
            <p:ph type="pic" idx="19"/>
          </p:nvPr>
        </p:nvSpPr>
        <p:spPr>
          <a:xfrm>
            <a:off x="3169703" y="4287711"/>
            <a:ext cx="800100" cy="800100"/>
          </a:xfrm>
          <a:prstGeom prst="rect">
            <a:avLst/>
          </a:prstGeom>
          <a:solidFill>
            <a:schemeClr val="lt1"/>
          </a:solidFill>
          <a:ln>
            <a:noFill/>
          </a:ln>
        </p:spPr>
      </p:sp>
      <p:sp>
        <p:nvSpPr>
          <p:cNvPr id="127" name="Google Shape;127;g28fa4b45176_0_289"/>
          <p:cNvSpPr txBox="1">
            <a:spLocks noGrp="1"/>
          </p:cNvSpPr>
          <p:nvPr>
            <p:ph type="body" idx="20"/>
          </p:nvPr>
        </p:nvSpPr>
        <p:spPr>
          <a:xfrm>
            <a:off x="2886946" y="5513214"/>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8" name="Google Shape;128;g28fa4b45176_0_289"/>
          <p:cNvSpPr txBox="1">
            <a:spLocks noGrp="1"/>
          </p:cNvSpPr>
          <p:nvPr>
            <p:ph type="body" idx="21"/>
          </p:nvPr>
        </p:nvSpPr>
        <p:spPr>
          <a:xfrm>
            <a:off x="2886946" y="5668583"/>
            <a:ext cx="13716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9" name="Google Shape;129;g28fa4b45176_0_289"/>
          <p:cNvSpPr>
            <a:spLocks noGrp="1"/>
          </p:cNvSpPr>
          <p:nvPr>
            <p:ph type="pic" idx="22"/>
          </p:nvPr>
        </p:nvSpPr>
        <p:spPr>
          <a:xfrm>
            <a:off x="4991688" y="4287711"/>
            <a:ext cx="800100" cy="800100"/>
          </a:xfrm>
          <a:prstGeom prst="rect">
            <a:avLst/>
          </a:prstGeom>
          <a:solidFill>
            <a:schemeClr val="lt1"/>
          </a:solidFill>
          <a:ln>
            <a:noFill/>
          </a:ln>
        </p:spPr>
      </p:sp>
      <p:sp>
        <p:nvSpPr>
          <p:cNvPr id="130" name="Google Shape;130;g28fa4b45176_0_289"/>
          <p:cNvSpPr txBox="1">
            <a:spLocks noGrp="1"/>
          </p:cNvSpPr>
          <p:nvPr>
            <p:ph type="body" idx="23"/>
          </p:nvPr>
        </p:nvSpPr>
        <p:spPr>
          <a:xfrm>
            <a:off x="4754945" y="5513214"/>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31" name="Google Shape;131;g28fa4b45176_0_289"/>
          <p:cNvSpPr txBox="1">
            <a:spLocks noGrp="1"/>
          </p:cNvSpPr>
          <p:nvPr>
            <p:ph type="body" idx="24"/>
          </p:nvPr>
        </p:nvSpPr>
        <p:spPr>
          <a:xfrm>
            <a:off x="4754945" y="5668583"/>
            <a:ext cx="13602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32" name="Google Shape;132;g28fa4b45176_0_289"/>
          <p:cNvSpPr>
            <a:spLocks noGrp="1"/>
          </p:cNvSpPr>
          <p:nvPr>
            <p:ph type="pic" idx="25"/>
          </p:nvPr>
        </p:nvSpPr>
        <p:spPr>
          <a:xfrm>
            <a:off x="6852611" y="4287711"/>
            <a:ext cx="800100" cy="800100"/>
          </a:xfrm>
          <a:prstGeom prst="rect">
            <a:avLst/>
          </a:prstGeom>
          <a:solidFill>
            <a:schemeClr val="lt1"/>
          </a:solidFill>
          <a:ln>
            <a:noFill/>
          </a:ln>
        </p:spPr>
      </p:sp>
      <p:sp>
        <p:nvSpPr>
          <p:cNvPr id="133" name="Google Shape;133;g28fa4b45176_0_289"/>
          <p:cNvSpPr txBox="1">
            <a:spLocks noGrp="1"/>
          </p:cNvSpPr>
          <p:nvPr>
            <p:ph type="body" idx="26"/>
          </p:nvPr>
        </p:nvSpPr>
        <p:spPr>
          <a:xfrm>
            <a:off x="6569855" y="5513214"/>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34" name="Google Shape;134;g28fa4b45176_0_289"/>
          <p:cNvSpPr txBox="1">
            <a:spLocks noGrp="1"/>
          </p:cNvSpPr>
          <p:nvPr>
            <p:ph type="body" idx="27"/>
          </p:nvPr>
        </p:nvSpPr>
        <p:spPr>
          <a:xfrm>
            <a:off x="6558360" y="5668583"/>
            <a:ext cx="13830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35" name="Google Shape;135;g28fa4b45176_0_289"/>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g28fa4b45176_0_289"/>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137"/>
        <p:cNvGrpSpPr/>
        <p:nvPr/>
      </p:nvGrpSpPr>
      <p:grpSpPr>
        <a:xfrm>
          <a:off x="0" y="0"/>
          <a:ext cx="0" cy="0"/>
          <a:chOff x="0" y="0"/>
          <a:chExt cx="0" cy="0"/>
        </a:xfrm>
      </p:grpSpPr>
      <p:sp>
        <p:nvSpPr>
          <p:cNvPr id="138" name="Google Shape;138;g28fa4b45176_0_320"/>
          <p:cNvSpPr/>
          <p:nvPr/>
        </p:nvSpPr>
        <p:spPr>
          <a:xfrm>
            <a:off x="1585413" y="0"/>
            <a:ext cx="7558587" cy="6858000"/>
          </a:xfrm>
          <a:custGeom>
            <a:avLst/>
            <a:gdLst/>
            <a:ahLst/>
            <a:cxnLst/>
            <a:rect l="l" t="t" r="r" b="b"/>
            <a:pathLst>
              <a:path w="10078116" h="6858000" extrusionOk="0">
                <a:moveTo>
                  <a:pt x="3793236" y="6858000"/>
                </a:moveTo>
                <a:lnTo>
                  <a:pt x="0" y="0"/>
                </a:lnTo>
                <a:lnTo>
                  <a:pt x="10078116" y="0"/>
                </a:lnTo>
                <a:lnTo>
                  <a:pt x="10078116" y="685800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9" name="Google Shape;139;g28fa4b45176_0_320"/>
          <p:cNvSpPr txBox="1">
            <a:spLocks noGrp="1"/>
          </p:cNvSpPr>
          <p:nvPr>
            <p:ph type="body" idx="1"/>
          </p:nvPr>
        </p:nvSpPr>
        <p:spPr>
          <a:xfrm>
            <a:off x="124556" y="1716780"/>
            <a:ext cx="1606200" cy="51450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400"/>
              <a:buNone/>
              <a:defRPr sz="2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0" name="Google Shape;140;g28fa4b45176_0_320"/>
          <p:cNvSpPr txBox="1">
            <a:spLocks noGrp="1"/>
          </p:cNvSpPr>
          <p:nvPr>
            <p:ph type="body" idx="2"/>
          </p:nvPr>
        </p:nvSpPr>
        <p:spPr>
          <a:xfrm>
            <a:off x="549098" y="2793105"/>
            <a:ext cx="1606200" cy="51450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000"/>
              <a:buNone/>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1" name="Google Shape;141;g28fa4b45176_0_320"/>
          <p:cNvSpPr txBox="1">
            <a:spLocks noGrp="1"/>
          </p:cNvSpPr>
          <p:nvPr>
            <p:ph type="body" idx="3"/>
          </p:nvPr>
        </p:nvSpPr>
        <p:spPr>
          <a:xfrm>
            <a:off x="1003917" y="3869430"/>
            <a:ext cx="1606200" cy="51450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000"/>
              <a:buNone/>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28fa4b45176_0_320"/>
          <p:cNvSpPr txBox="1">
            <a:spLocks noGrp="1"/>
          </p:cNvSpPr>
          <p:nvPr>
            <p:ph type="body" idx="4"/>
          </p:nvPr>
        </p:nvSpPr>
        <p:spPr>
          <a:xfrm>
            <a:off x="1442067" y="4958819"/>
            <a:ext cx="1606200" cy="51450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000"/>
              <a:buNone/>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g28fa4b45176_0_320"/>
          <p:cNvSpPr txBox="1">
            <a:spLocks noGrp="1"/>
          </p:cNvSpPr>
          <p:nvPr>
            <p:ph type="body" idx="5"/>
          </p:nvPr>
        </p:nvSpPr>
        <p:spPr>
          <a:xfrm>
            <a:off x="3291355" y="1482898"/>
            <a:ext cx="3827100" cy="10107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g28fa4b45176_0_320"/>
          <p:cNvSpPr txBox="1">
            <a:spLocks noGrp="1"/>
          </p:cNvSpPr>
          <p:nvPr>
            <p:ph type="body" idx="6"/>
          </p:nvPr>
        </p:nvSpPr>
        <p:spPr>
          <a:xfrm>
            <a:off x="3739522" y="2604186"/>
            <a:ext cx="3827100" cy="10107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5" name="Google Shape;145;g28fa4b45176_0_320"/>
          <p:cNvSpPr txBox="1">
            <a:spLocks noGrp="1"/>
          </p:cNvSpPr>
          <p:nvPr>
            <p:ph type="body" idx="7"/>
          </p:nvPr>
        </p:nvSpPr>
        <p:spPr>
          <a:xfrm>
            <a:off x="4182704" y="3677018"/>
            <a:ext cx="3827100" cy="10107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g28fa4b45176_0_320"/>
          <p:cNvSpPr txBox="1">
            <a:spLocks noGrp="1"/>
          </p:cNvSpPr>
          <p:nvPr>
            <p:ph type="body" idx="8"/>
          </p:nvPr>
        </p:nvSpPr>
        <p:spPr>
          <a:xfrm>
            <a:off x="4631460" y="4785241"/>
            <a:ext cx="3827100" cy="10107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7" name="Google Shape;147;g28fa4b45176_0_320"/>
          <p:cNvSpPr txBox="1">
            <a:spLocks noGrp="1"/>
          </p:cNvSpPr>
          <p:nvPr>
            <p:ph type="ftr" idx="11"/>
          </p:nvPr>
        </p:nvSpPr>
        <p:spPr>
          <a:xfrm>
            <a:off x="5061857" y="6356350"/>
            <a:ext cx="28320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g28fa4b45176_0_320"/>
          <p:cNvSpPr txBox="1">
            <a:spLocks noGrp="1"/>
          </p:cNvSpPr>
          <p:nvPr>
            <p:ph type="sldNum" idx="12"/>
          </p:nvPr>
        </p:nvSpPr>
        <p:spPr>
          <a:xfrm>
            <a:off x="8108156" y="6356350"/>
            <a:ext cx="4071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49" name="Google Shape;149;g28fa4b45176_0_320"/>
          <p:cNvCxnSpPr/>
          <p:nvPr/>
        </p:nvCxnSpPr>
        <p:spPr>
          <a:xfrm>
            <a:off x="3265136" y="5259067"/>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150" name="Google Shape;150;g28fa4b45176_0_320"/>
          <p:cNvCxnSpPr/>
          <p:nvPr/>
        </p:nvCxnSpPr>
        <p:spPr>
          <a:xfrm>
            <a:off x="2819938" y="4157459"/>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151" name="Google Shape;151;g28fa4b45176_0_320"/>
          <p:cNvCxnSpPr/>
          <p:nvPr/>
        </p:nvCxnSpPr>
        <p:spPr>
          <a:xfrm>
            <a:off x="2380090" y="3081694"/>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152" name="Google Shape;152;g28fa4b45176_0_320"/>
          <p:cNvCxnSpPr/>
          <p:nvPr/>
        </p:nvCxnSpPr>
        <p:spPr>
          <a:xfrm>
            <a:off x="1939697" y="2005091"/>
            <a:ext cx="1134900" cy="0"/>
          </a:xfrm>
          <a:prstGeom prst="straightConnector1">
            <a:avLst/>
          </a:prstGeom>
          <a:noFill/>
          <a:ln w="9525" cap="flat" cmpd="sng">
            <a:solidFill>
              <a:schemeClr val="dk1"/>
            </a:solidFill>
            <a:prstDash val="solid"/>
            <a:miter lim="800000"/>
            <a:headEnd type="none" w="sm" len="sm"/>
            <a:tailEnd type="none" w="sm" len="sm"/>
          </a:ln>
        </p:spPr>
      </p:cxnSp>
      <p:pic>
        <p:nvPicPr>
          <p:cNvPr id="153" name="Google Shape;153;g28fa4b45176_0_320"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
        <p:nvSpPr>
          <p:cNvPr id="154" name="Google Shape;154;g28fa4b45176_0_320"/>
          <p:cNvSpPr txBox="1"/>
          <p:nvPr/>
        </p:nvSpPr>
        <p:spPr>
          <a:xfrm>
            <a:off x="547282" y="574358"/>
            <a:ext cx="4504200" cy="6531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3200"/>
              <a:buFont typeface="Calibri"/>
              <a:buNone/>
            </a:pPr>
            <a:r>
              <a:rPr lang="en-US" sz="3200" b="0" i="0" u="none" strike="noStrike" cap="none">
                <a:solidFill>
                  <a:schemeClr val="dk1"/>
                </a:solidFill>
                <a:latin typeface="Calibri"/>
                <a:ea typeface="Calibri"/>
                <a:cs typeface="Calibri"/>
                <a:sym typeface="Calibri"/>
              </a:rPr>
              <a:t>Agenda</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chemeClr val="accent1"/>
        </a:solidFill>
        <a:effectLst/>
      </p:bgPr>
    </p:bg>
    <p:spTree>
      <p:nvGrpSpPr>
        <p:cNvPr id="1" name="Shape 155"/>
        <p:cNvGrpSpPr/>
        <p:nvPr/>
      </p:nvGrpSpPr>
      <p:grpSpPr>
        <a:xfrm>
          <a:off x="0" y="0"/>
          <a:ext cx="0" cy="0"/>
          <a:chOff x="0" y="0"/>
          <a:chExt cx="0" cy="0"/>
        </a:xfrm>
      </p:grpSpPr>
      <p:sp>
        <p:nvSpPr>
          <p:cNvPr id="156" name="Google Shape;156;g28fa4b45176_0_338"/>
          <p:cNvSpPr txBox="1">
            <a:spLocks noGrp="1"/>
          </p:cNvSpPr>
          <p:nvPr>
            <p:ph type="title"/>
          </p:nvPr>
        </p:nvSpPr>
        <p:spPr>
          <a:xfrm>
            <a:off x="932328" y="443369"/>
            <a:ext cx="7583100" cy="10515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g28fa4b45176_0_338"/>
          <p:cNvSpPr txBox="1">
            <a:spLocks noGrp="1"/>
          </p:cNvSpPr>
          <p:nvPr>
            <p:ph type="body" idx="1"/>
          </p:nvPr>
        </p:nvSpPr>
        <p:spPr>
          <a:xfrm>
            <a:off x="932327" y="1932770"/>
            <a:ext cx="2161800" cy="823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8" name="Google Shape;158;g28fa4b45176_0_338"/>
          <p:cNvSpPr txBox="1">
            <a:spLocks noGrp="1"/>
          </p:cNvSpPr>
          <p:nvPr>
            <p:ph type="body" idx="2"/>
          </p:nvPr>
        </p:nvSpPr>
        <p:spPr>
          <a:xfrm>
            <a:off x="932328" y="3056709"/>
            <a:ext cx="2161800" cy="2775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9" name="Google Shape;159;g28fa4b45176_0_338"/>
          <p:cNvSpPr txBox="1">
            <a:spLocks noGrp="1"/>
          </p:cNvSpPr>
          <p:nvPr>
            <p:ph type="body" idx="3"/>
          </p:nvPr>
        </p:nvSpPr>
        <p:spPr>
          <a:xfrm>
            <a:off x="3485748" y="1953443"/>
            <a:ext cx="2172600" cy="823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60" name="Google Shape;160;g28fa4b45176_0_338"/>
          <p:cNvSpPr txBox="1">
            <a:spLocks noGrp="1"/>
          </p:cNvSpPr>
          <p:nvPr>
            <p:ph type="body" idx="4"/>
          </p:nvPr>
        </p:nvSpPr>
        <p:spPr>
          <a:xfrm>
            <a:off x="3485749" y="3056709"/>
            <a:ext cx="2172600" cy="2775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g28fa4b45176_0_338"/>
          <p:cNvSpPr txBox="1">
            <a:spLocks noGrp="1"/>
          </p:cNvSpPr>
          <p:nvPr>
            <p:ph type="body" idx="5"/>
          </p:nvPr>
        </p:nvSpPr>
        <p:spPr>
          <a:xfrm>
            <a:off x="6049815" y="1958896"/>
            <a:ext cx="2161800" cy="823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62" name="Google Shape;162;g28fa4b45176_0_338"/>
          <p:cNvSpPr txBox="1">
            <a:spLocks noGrp="1"/>
          </p:cNvSpPr>
          <p:nvPr>
            <p:ph type="body" idx="6"/>
          </p:nvPr>
        </p:nvSpPr>
        <p:spPr>
          <a:xfrm>
            <a:off x="6049816" y="3056709"/>
            <a:ext cx="2161800" cy="2775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3" name="Google Shape;163;g28fa4b45176_0_338"/>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g28fa4b45176_0_338"/>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65" name="Google Shape;165;g28fa4b45176_0_338"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ummary">
  <p:cSld name="Summary">
    <p:spTree>
      <p:nvGrpSpPr>
        <p:cNvPr id="1" name="Shape 166"/>
        <p:cNvGrpSpPr/>
        <p:nvPr/>
      </p:nvGrpSpPr>
      <p:grpSpPr>
        <a:xfrm>
          <a:off x="0" y="0"/>
          <a:ext cx="0" cy="0"/>
          <a:chOff x="0" y="0"/>
          <a:chExt cx="0" cy="0"/>
        </a:xfrm>
      </p:grpSpPr>
      <p:sp>
        <p:nvSpPr>
          <p:cNvPr id="167" name="Google Shape;167;g28fa4b45176_0_349"/>
          <p:cNvSpPr txBox="1">
            <a:spLocks noGrp="1"/>
          </p:cNvSpPr>
          <p:nvPr>
            <p:ph type="title"/>
          </p:nvPr>
        </p:nvSpPr>
        <p:spPr>
          <a:xfrm>
            <a:off x="2890157" y="1671639"/>
            <a:ext cx="5051400" cy="12048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g28fa4b45176_0_349"/>
          <p:cNvSpPr txBox="1">
            <a:spLocks noGrp="1"/>
          </p:cNvSpPr>
          <p:nvPr>
            <p:ph type="body" idx="1"/>
          </p:nvPr>
        </p:nvSpPr>
        <p:spPr>
          <a:xfrm>
            <a:off x="2890157" y="3660774"/>
            <a:ext cx="5051400" cy="15255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69" name="Google Shape;169;g28fa4b45176_0_349"/>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g28fa4b45176_0_349"/>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71" name="Google Shape;171;g28fa4b45176_0_349" descr="BITS Pilani logo"/>
          <p:cNvPicPr preferRelativeResize="0"/>
          <p:nvPr/>
        </p:nvPicPr>
        <p:blipFill rotWithShape="1">
          <a:blip r:embed="rId2">
            <a:alphaModFix/>
          </a:blip>
          <a:srcRect/>
          <a:stretch/>
        </p:blipFill>
        <p:spPr>
          <a:xfrm>
            <a:off x="6627529" y="192510"/>
            <a:ext cx="2504055" cy="649430"/>
          </a:xfrm>
          <a:prstGeom prst="rect">
            <a:avLst/>
          </a:prstGeom>
          <a:noFill/>
          <a:ln>
            <a:noFill/>
          </a:ln>
        </p:spPr>
      </p:pic>
    </p:spTree>
  </p:cSld>
  <p:clrMapOvr>
    <a:masterClrMapping/>
  </p:clrMapOvr>
  <p:extLst>
    <p:ext uri="{DCECCB84-F9BA-43D5-87BE-67443E8EF086}">
      <p15:sldGuideLst xmlns:p15="http://schemas.microsoft.com/office/powerpoint/2012/main">
        <p15:guide id="1" pos="225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losing">
  <p:cSld name="Closing">
    <p:bg>
      <p:bgPr>
        <a:solidFill>
          <a:schemeClr val="dk1"/>
        </a:solidFill>
        <a:effectLst/>
      </p:bgPr>
    </p:bg>
    <p:spTree>
      <p:nvGrpSpPr>
        <p:cNvPr id="1" name="Shape 172"/>
        <p:cNvGrpSpPr/>
        <p:nvPr/>
      </p:nvGrpSpPr>
      <p:grpSpPr>
        <a:xfrm>
          <a:off x="0" y="0"/>
          <a:ext cx="0" cy="0"/>
          <a:chOff x="0" y="0"/>
          <a:chExt cx="0" cy="0"/>
        </a:xfrm>
      </p:grpSpPr>
      <p:sp>
        <p:nvSpPr>
          <p:cNvPr id="173" name="Google Shape;173;g28fa4b45176_0_355"/>
          <p:cNvSpPr txBox="1">
            <a:spLocks noGrp="1"/>
          </p:cNvSpPr>
          <p:nvPr>
            <p:ph type="ctrTitle"/>
          </p:nvPr>
        </p:nvSpPr>
        <p:spPr>
          <a:xfrm>
            <a:off x="3200400" y="1615736"/>
            <a:ext cx="3134700" cy="1524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4" name="Google Shape;174;g28fa4b45176_0_355"/>
          <p:cNvSpPr txBox="1">
            <a:spLocks noGrp="1"/>
          </p:cNvSpPr>
          <p:nvPr>
            <p:ph type="subTitle" idx="1"/>
          </p:nvPr>
        </p:nvSpPr>
        <p:spPr>
          <a:xfrm>
            <a:off x="3200400" y="3238103"/>
            <a:ext cx="3134700" cy="1371900"/>
          </a:xfrm>
          <a:prstGeom prst="rect">
            <a:avLst/>
          </a:prstGeom>
          <a:noFill/>
          <a:ln>
            <a:noFill/>
          </a:ln>
        </p:spPr>
        <p:txBody>
          <a:bodyPr spcFirstLastPara="1" wrap="square" lIns="91425" tIns="45700" rIns="91425" bIns="45700" anchor="t" anchorCtr="0">
            <a:normAutofit/>
          </a:bodyPr>
          <a:lstStyle>
            <a:lvl1pPr lvl="0" algn="l">
              <a:lnSpc>
                <a:spcPct val="150000"/>
              </a:lnSpc>
              <a:spcBef>
                <a:spcPts val="1000"/>
              </a:spcBef>
              <a:spcAft>
                <a:spcPts val="0"/>
              </a:spcAft>
              <a:buClr>
                <a:schemeClr val="lt1"/>
              </a:buClr>
              <a:buSzPts val="1400"/>
              <a:buNone/>
              <a:defRPr sz="1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75" name="Google Shape;175;g28fa4b45176_0_355"/>
          <p:cNvPicPr preferRelativeResize="0"/>
          <p:nvPr/>
        </p:nvPicPr>
        <p:blipFill rotWithShape="1">
          <a:blip r:embed="rId2">
            <a:alphaModFix/>
          </a:blip>
          <a:srcRect/>
          <a:stretch/>
        </p:blipFill>
        <p:spPr>
          <a:xfrm>
            <a:off x="0" y="0"/>
            <a:ext cx="2382704" cy="5143500"/>
          </a:xfrm>
          <a:prstGeom prst="rect">
            <a:avLst/>
          </a:prstGeom>
          <a:noFill/>
          <a:ln>
            <a:noFill/>
          </a:ln>
        </p:spPr>
      </p:pic>
      <p:sp>
        <p:nvSpPr>
          <p:cNvPr id="176" name="Google Shape;176;g28fa4b45176_0_355"/>
          <p:cNvSpPr txBox="1">
            <a:spLocks noGrp="1"/>
          </p:cNvSpPr>
          <p:nvPr>
            <p:ph type="ftr" idx="11"/>
          </p:nvPr>
        </p:nvSpPr>
        <p:spPr>
          <a:xfrm>
            <a:off x="4859791" y="6356350"/>
            <a:ext cx="1996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g28fa4b45176_0_355"/>
          <p:cNvSpPr txBox="1">
            <a:spLocks noGrp="1"/>
          </p:cNvSpPr>
          <p:nvPr>
            <p:ph type="sldNum" idx="12"/>
          </p:nvPr>
        </p:nvSpPr>
        <p:spPr>
          <a:xfrm>
            <a:off x="7184571" y="6356350"/>
            <a:ext cx="1330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5"/>
        <p:cNvGrpSpPr/>
        <p:nvPr/>
      </p:nvGrpSpPr>
      <p:grpSpPr>
        <a:xfrm>
          <a:off x="0" y="0"/>
          <a:ext cx="0" cy="0"/>
          <a:chOff x="0" y="0"/>
          <a:chExt cx="0" cy="0"/>
        </a:xfrm>
      </p:grpSpPr>
      <p:sp>
        <p:nvSpPr>
          <p:cNvPr id="186" name="Google Shape;186;p107"/>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7" name="Google Shape;187;p107"/>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400"/>
              <a:buNone/>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8" name="Google Shape;188;p10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9" name="Google Shape;189;p10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10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191" name="Google Shape;191;p107"/>
          <p:cNvSpPr txBox="1"/>
          <p:nvPr/>
        </p:nvSpPr>
        <p:spPr>
          <a:xfrm>
            <a:off x="6019800" y="7620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chemeClr val="dk1"/>
                </a:solidFill>
              </a:rPr>
              <a:t>CV 12: Semantic Segmentation and CV Metrics</a:t>
            </a:r>
            <a:endParaRPr sz="800">
              <a:solidFill>
                <a:schemeClr val="dk1"/>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2"/>
        <p:cNvGrpSpPr/>
        <p:nvPr/>
      </p:nvGrpSpPr>
      <p:grpSpPr>
        <a:xfrm>
          <a:off x="0" y="0"/>
          <a:ext cx="0" cy="0"/>
          <a:chOff x="0" y="0"/>
          <a:chExt cx="0" cy="0"/>
        </a:xfrm>
      </p:grpSpPr>
      <p:sp>
        <p:nvSpPr>
          <p:cNvPr id="193" name="Google Shape;193;p108"/>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10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5" name="Google Shape;195;p10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10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197" name="Google Shape;197;p108"/>
          <p:cNvSpPr txBox="1"/>
          <p:nvPr/>
        </p:nvSpPr>
        <p:spPr>
          <a:xfrm>
            <a:off x="6537800" y="78850"/>
            <a:ext cx="2449200" cy="25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rgbClr val="000000"/>
                </a:solidFill>
              </a:rPr>
              <a:t>CV 1</a:t>
            </a:r>
            <a:r>
              <a:rPr lang="en-US" sz="800"/>
              <a:t>2</a:t>
            </a:r>
            <a:r>
              <a:rPr lang="en-US" sz="800">
                <a:solidFill>
                  <a:srgbClr val="000000"/>
                </a:solidFill>
              </a:rPr>
              <a:t>: </a:t>
            </a:r>
            <a:r>
              <a:rPr lang="en-US" sz="800"/>
              <a:t>Semantic</a:t>
            </a:r>
            <a:r>
              <a:rPr lang="en-US" sz="800">
                <a:solidFill>
                  <a:srgbClr val="000000"/>
                </a:solidFill>
              </a:rPr>
              <a:t> Segmentation and </a:t>
            </a:r>
            <a:r>
              <a:rPr lang="en-US" sz="800"/>
              <a:t>CV Metrics</a:t>
            </a:r>
            <a:endParaRPr sz="800">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198"/>
        <p:cNvGrpSpPr/>
        <p:nvPr/>
      </p:nvGrpSpPr>
      <p:grpSpPr>
        <a:xfrm>
          <a:off x="0" y="0"/>
          <a:ext cx="0" cy="0"/>
          <a:chOff x="0" y="0"/>
          <a:chExt cx="0" cy="0"/>
        </a:xfrm>
      </p:grpSpPr>
      <p:sp>
        <p:nvSpPr>
          <p:cNvPr id="199" name="Google Shape;199;p109"/>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0" name="Google Shape;200;p109"/>
          <p:cNvSpPr txBox="1">
            <a:spLocks noGrp="1"/>
          </p:cNvSpPr>
          <p:nvPr>
            <p:ph type="body" idx="1"/>
          </p:nvPr>
        </p:nvSpPr>
        <p:spPr>
          <a:xfrm>
            <a:off x="685800" y="914400"/>
            <a:ext cx="3810000" cy="5257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400"/>
              <a:buNone/>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1" name="Google Shape;201;p109"/>
          <p:cNvSpPr txBox="1">
            <a:spLocks noGrp="1"/>
          </p:cNvSpPr>
          <p:nvPr>
            <p:ph type="body" idx="2"/>
          </p:nvPr>
        </p:nvSpPr>
        <p:spPr>
          <a:xfrm>
            <a:off x="4648200" y="914400"/>
            <a:ext cx="3810000" cy="5257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400"/>
              <a:buNone/>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2" name="Google Shape;202;p10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10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4" name="Google Shape;204;p10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5"/>
        <p:cNvGrpSpPr/>
        <p:nvPr/>
      </p:nvGrpSpPr>
      <p:grpSpPr>
        <a:xfrm>
          <a:off x="0" y="0"/>
          <a:ext cx="0" cy="0"/>
          <a:chOff x="0" y="0"/>
          <a:chExt cx="0" cy="0"/>
        </a:xfrm>
      </p:grpSpPr>
      <p:sp>
        <p:nvSpPr>
          <p:cNvPr id="206" name="Google Shape;206;p110"/>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7" name="Google Shape;207;p11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100000"/>
              </a:lnSpc>
              <a:spcBef>
                <a:spcPts val="480"/>
              </a:spcBef>
              <a:spcAft>
                <a:spcPts val="0"/>
              </a:spcAft>
              <a:buClr>
                <a:schemeClr val="dk1"/>
              </a:buClr>
              <a:buSzPts val="2400"/>
              <a:buFont typeface="Arial"/>
              <a:buNone/>
              <a:defRPr sz="2400"/>
            </a:lvl1pPr>
            <a:lvl2pPr lvl="1" algn="ctr">
              <a:lnSpc>
                <a:spcPct val="100000"/>
              </a:lnSpc>
              <a:spcBef>
                <a:spcPts val="400"/>
              </a:spcBef>
              <a:spcAft>
                <a:spcPts val="0"/>
              </a:spcAft>
              <a:buClr>
                <a:schemeClr val="dk1"/>
              </a:buClr>
              <a:buSzPts val="2000"/>
              <a:buFont typeface="Arial"/>
              <a:buNone/>
              <a:defRPr sz="2000"/>
            </a:lvl2pPr>
            <a:lvl3pPr lvl="2" algn="ctr">
              <a:lnSpc>
                <a:spcPct val="100000"/>
              </a:lnSpc>
              <a:spcBef>
                <a:spcPts val="360"/>
              </a:spcBef>
              <a:spcAft>
                <a:spcPts val="0"/>
              </a:spcAft>
              <a:buClr>
                <a:schemeClr val="dk1"/>
              </a:buClr>
              <a:buSzPts val="1800"/>
              <a:buFont typeface="Arial"/>
              <a:buNone/>
              <a:defRPr sz="1800"/>
            </a:lvl3pPr>
            <a:lvl4pPr lvl="3" algn="ctr">
              <a:lnSpc>
                <a:spcPct val="100000"/>
              </a:lnSpc>
              <a:spcBef>
                <a:spcPts val="320"/>
              </a:spcBef>
              <a:spcAft>
                <a:spcPts val="0"/>
              </a:spcAft>
              <a:buClr>
                <a:schemeClr val="dk1"/>
              </a:buClr>
              <a:buSzPts val="1600"/>
              <a:buFont typeface="Arial"/>
              <a:buNone/>
              <a:defRPr sz="1600"/>
            </a:lvl4pPr>
            <a:lvl5pPr lvl="4" algn="ctr">
              <a:lnSpc>
                <a:spcPct val="100000"/>
              </a:lnSpc>
              <a:spcBef>
                <a:spcPts val="320"/>
              </a:spcBef>
              <a:spcAft>
                <a:spcPts val="0"/>
              </a:spcAft>
              <a:buClr>
                <a:schemeClr val="dk1"/>
              </a:buClr>
              <a:buSzPts val="1600"/>
              <a:buFont typeface="Arial"/>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8" name="Google Shape;208;p110"/>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9" name="Google Shape;209;p110"/>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0" name="Google Shape;210;p110"/>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1"/>
        <p:cNvGrpSpPr/>
        <p:nvPr/>
      </p:nvGrpSpPr>
      <p:grpSpPr>
        <a:xfrm>
          <a:off x="0" y="0"/>
          <a:ext cx="0" cy="0"/>
          <a:chOff x="0" y="0"/>
          <a:chExt cx="0" cy="0"/>
        </a:xfrm>
      </p:grpSpPr>
      <p:sp>
        <p:nvSpPr>
          <p:cNvPr id="212" name="Google Shape;212;p111"/>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3" name="Google Shape;213;p111"/>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480"/>
              </a:spcBef>
              <a:spcAft>
                <a:spcPts val="0"/>
              </a:spcAft>
              <a:buClr>
                <a:schemeClr val="dk1"/>
              </a:buClr>
              <a:buSzPts val="2400"/>
              <a:buFont typeface="Arial"/>
              <a:buNone/>
              <a:defRPr sz="2400"/>
            </a:lvl1pPr>
            <a:lvl2pPr marL="914400" lvl="1" indent="-228600" algn="l">
              <a:lnSpc>
                <a:spcPct val="100000"/>
              </a:lnSpc>
              <a:spcBef>
                <a:spcPts val="400"/>
              </a:spcBef>
              <a:spcAft>
                <a:spcPts val="0"/>
              </a:spcAft>
              <a:buClr>
                <a:schemeClr val="dk1"/>
              </a:buClr>
              <a:buSzPts val="2000"/>
              <a:buFont typeface="Arial"/>
              <a:buNone/>
              <a:defRPr sz="2000"/>
            </a:lvl2pPr>
            <a:lvl3pPr marL="1371600" lvl="2" indent="-228600" algn="l">
              <a:lnSpc>
                <a:spcPct val="100000"/>
              </a:lnSpc>
              <a:spcBef>
                <a:spcPts val="360"/>
              </a:spcBef>
              <a:spcAft>
                <a:spcPts val="0"/>
              </a:spcAft>
              <a:buClr>
                <a:schemeClr val="dk1"/>
              </a:buClr>
              <a:buSzPts val="1800"/>
              <a:buFont typeface="Arial"/>
              <a:buNone/>
              <a:defRPr sz="1800"/>
            </a:lvl3pPr>
            <a:lvl4pPr marL="1828800" lvl="3" indent="-228600" algn="l">
              <a:lnSpc>
                <a:spcPct val="100000"/>
              </a:lnSpc>
              <a:spcBef>
                <a:spcPts val="320"/>
              </a:spcBef>
              <a:spcAft>
                <a:spcPts val="0"/>
              </a:spcAft>
              <a:buClr>
                <a:schemeClr val="dk1"/>
              </a:buClr>
              <a:buSzPts val="1600"/>
              <a:buFont typeface="Arial"/>
              <a:buNone/>
              <a:defRPr sz="1600"/>
            </a:lvl4pPr>
            <a:lvl5pPr marL="2286000" lvl="4" indent="-228600" algn="l">
              <a:lnSpc>
                <a:spcPct val="100000"/>
              </a:lnSpc>
              <a:spcBef>
                <a:spcPts val="320"/>
              </a:spcBef>
              <a:spcAft>
                <a:spcPts val="0"/>
              </a:spcAft>
              <a:buClr>
                <a:schemeClr val="dk1"/>
              </a:buClr>
              <a:buSzPts val="1600"/>
              <a:buFont typeface="Arial"/>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214" name="Google Shape;214;p11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5" name="Google Shape;215;p11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11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7"/>
        <p:cNvGrpSpPr/>
        <p:nvPr/>
      </p:nvGrpSpPr>
      <p:grpSpPr>
        <a:xfrm>
          <a:off x="0" y="0"/>
          <a:ext cx="0" cy="0"/>
          <a:chOff x="0" y="0"/>
          <a:chExt cx="0" cy="0"/>
        </a:xfrm>
      </p:grpSpPr>
      <p:sp>
        <p:nvSpPr>
          <p:cNvPr id="218" name="Google Shape;218;p112"/>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9" name="Google Shape;219;p112"/>
          <p:cNvSpPr txBox="1">
            <a:spLocks noGrp="1"/>
          </p:cNvSpPr>
          <p:nvPr>
            <p:ph type="body" idx="1"/>
          </p:nvPr>
        </p:nvSpPr>
        <p:spPr>
          <a:xfrm>
            <a:off x="685800" y="914400"/>
            <a:ext cx="3810000" cy="5257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400"/>
              <a:buNone/>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0" name="Google Shape;220;p112"/>
          <p:cNvSpPr txBox="1">
            <a:spLocks noGrp="1"/>
          </p:cNvSpPr>
          <p:nvPr>
            <p:ph type="body" idx="2"/>
          </p:nvPr>
        </p:nvSpPr>
        <p:spPr>
          <a:xfrm>
            <a:off x="4648200" y="914400"/>
            <a:ext cx="3810000" cy="5257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400"/>
              <a:buNone/>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1" name="Google Shape;221;p11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2" name="Google Shape;222;p11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3" name="Google Shape;223;p11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24"/>
        <p:cNvGrpSpPr/>
        <p:nvPr/>
      </p:nvGrpSpPr>
      <p:grpSpPr>
        <a:xfrm>
          <a:off x="0" y="0"/>
          <a:ext cx="0" cy="0"/>
          <a:chOff x="0" y="0"/>
          <a:chExt cx="0" cy="0"/>
        </a:xfrm>
      </p:grpSpPr>
      <p:sp>
        <p:nvSpPr>
          <p:cNvPr id="225" name="Google Shape;225;p113"/>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6" name="Google Shape;226;p113"/>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Arial"/>
              <a:buNone/>
              <a:defRPr sz="2400" b="1"/>
            </a:lvl1pPr>
            <a:lvl2pPr marL="914400" lvl="1" indent="-228600" algn="l">
              <a:lnSpc>
                <a:spcPct val="100000"/>
              </a:lnSpc>
              <a:spcBef>
                <a:spcPts val="400"/>
              </a:spcBef>
              <a:spcAft>
                <a:spcPts val="0"/>
              </a:spcAft>
              <a:buClr>
                <a:schemeClr val="dk1"/>
              </a:buClr>
              <a:buSzPts val="2000"/>
              <a:buFont typeface="Arial"/>
              <a:buNone/>
              <a:defRPr sz="2000" b="1"/>
            </a:lvl2pPr>
            <a:lvl3pPr marL="1371600" lvl="2" indent="-228600" algn="l">
              <a:lnSpc>
                <a:spcPct val="100000"/>
              </a:lnSpc>
              <a:spcBef>
                <a:spcPts val="360"/>
              </a:spcBef>
              <a:spcAft>
                <a:spcPts val="0"/>
              </a:spcAft>
              <a:buClr>
                <a:schemeClr val="dk1"/>
              </a:buClr>
              <a:buSzPts val="1800"/>
              <a:buFont typeface="Arial"/>
              <a:buNone/>
              <a:defRPr sz="1800" b="1"/>
            </a:lvl3pPr>
            <a:lvl4pPr marL="1828800" lvl="3" indent="-228600" algn="l">
              <a:lnSpc>
                <a:spcPct val="100000"/>
              </a:lnSpc>
              <a:spcBef>
                <a:spcPts val="320"/>
              </a:spcBef>
              <a:spcAft>
                <a:spcPts val="0"/>
              </a:spcAft>
              <a:buClr>
                <a:schemeClr val="dk1"/>
              </a:buClr>
              <a:buSzPts val="1600"/>
              <a:buFont typeface="Arial"/>
              <a:buNone/>
              <a:defRPr sz="1600" b="1"/>
            </a:lvl4pPr>
            <a:lvl5pPr marL="2286000" lvl="4" indent="-228600" algn="l">
              <a:lnSpc>
                <a:spcPct val="100000"/>
              </a:lnSpc>
              <a:spcBef>
                <a:spcPts val="320"/>
              </a:spcBef>
              <a:spcAft>
                <a:spcPts val="0"/>
              </a:spcAft>
              <a:buClr>
                <a:schemeClr val="dk1"/>
              </a:buClr>
              <a:buSzPts val="1600"/>
              <a:buFont typeface="Arial"/>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27" name="Google Shape;227;p113"/>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400"/>
              <a:buNone/>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8" name="Google Shape;228;p113"/>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Arial"/>
              <a:buNone/>
              <a:defRPr sz="2400" b="1"/>
            </a:lvl1pPr>
            <a:lvl2pPr marL="914400" lvl="1" indent="-228600" algn="l">
              <a:lnSpc>
                <a:spcPct val="100000"/>
              </a:lnSpc>
              <a:spcBef>
                <a:spcPts val="400"/>
              </a:spcBef>
              <a:spcAft>
                <a:spcPts val="0"/>
              </a:spcAft>
              <a:buClr>
                <a:schemeClr val="dk1"/>
              </a:buClr>
              <a:buSzPts val="2000"/>
              <a:buFont typeface="Arial"/>
              <a:buNone/>
              <a:defRPr sz="2000" b="1"/>
            </a:lvl2pPr>
            <a:lvl3pPr marL="1371600" lvl="2" indent="-228600" algn="l">
              <a:lnSpc>
                <a:spcPct val="100000"/>
              </a:lnSpc>
              <a:spcBef>
                <a:spcPts val="360"/>
              </a:spcBef>
              <a:spcAft>
                <a:spcPts val="0"/>
              </a:spcAft>
              <a:buClr>
                <a:schemeClr val="dk1"/>
              </a:buClr>
              <a:buSzPts val="1800"/>
              <a:buFont typeface="Arial"/>
              <a:buNone/>
              <a:defRPr sz="1800" b="1"/>
            </a:lvl3pPr>
            <a:lvl4pPr marL="1828800" lvl="3" indent="-228600" algn="l">
              <a:lnSpc>
                <a:spcPct val="100000"/>
              </a:lnSpc>
              <a:spcBef>
                <a:spcPts val="320"/>
              </a:spcBef>
              <a:spcAft>
                <a:spcPts val="0"/>
              </a:spcAft>
              <a:buClr>
                <a:schemeClr val="dk1"/>
              </a:buClr>
              <a:buSzPts val="1600"/>
              <a:buFont typeface="Arial"/>
              <a:buNone/>
              <a:defRPr sz="1600" b="1"/>
            </a:lvl4pPr>
            <a:lvl5pPr marL="2286000" lvl="4" indent="-228600" algn="l">
              <a:lnSpc>
                <a:spcPct val="100000"/>
              </a:lnSpc>
              <a:spcBef>
                <a:spcPts val="320"/>
              </a:spcBef>
              <a:spcAft>
                <a:spcPts val="0"/>
              </a:spcAft>
              <a:buClr>
                <a:schemeClr val="dk1"/>
              </a:buClr>
              <a:buSzPts val="1600"/>
              <a:buFont typeface="Arial"/>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29" name="Google Shape;229;p113"/>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400"/>
              <a:buNone/>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0" name="Google Shape;230;p11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1" name="Google Shape;231;p11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2" name="Google Shape;232;p11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3"/>
        <p:cNvGrpSpPr/>
        <p:nvPr/>
      </p:nvGrpSpPr>
      <p:grpSpPr>
        <a:xfrm>
          <a:off x="0" y="0"/>
          <a:ext cx="0" cy="0"/>
          <a:chOff x="0" y="0"/>
          <a:chExt cx="0" cy="0"/>
        </a:xfrm>
      </p:grpSpPr>
      <p:sp>
        <p:nvSpPr>
          <p:cNvPr id="234" name="Google Shape;234;p11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5" name="Google Shape;235;p11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11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37"/>
        <p:cNvGrpSpPr/>
        <p:nvPr/>
      </p:nvGrpSpPr>
      <p:grpSpPr>
        <a:xfrm>
          <a:off x="0" y="0"/>
          <a:ext cx="0" cy="0"/>
          <a:chOff x="0" y="0"/>
          <a:chExt cx="0" cy="0"/>
        </a:xfrm>
      </p:grpSpPr>
      <p:sp>
        <p:nvSpPr>
          <p:cNvPr id="238" name="Google Shape;238;p115"/>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9" name="Google Shape;239;p115"/>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640"/>
              </a:spcBef>
              <a:spcAft>
                <a:spcPts val="0"/>
              </a:spcAft>
              <a:buSzPts val="1400"/>
              <a:buNone/>
              <a:defRPr sz="3200"/>
            </a:lvl1pPr>
            <a:lvl2pPr marL="914400" lvl="1" indent="-406400" algn="l">
              <a:lnSpc>
                <a:spcPct val="100000"/>
              </a:lnSpc>
              <a:spcBef>
                <a:spcPts val="560"/>
              </a:spcBef>
              <a:spcAft>
                <a:spcPts val="0"/>
              </a:spcAft>
              <a:buClr>
                <a:schemeClr val="dk1"/>
              </a:buClr>
              <a:buSzPts val="2800"/>
              <a:buFont typeface="Arial"/>
              <a:buChar char="•"/>
              <a:defRPr sz="2800"/>
            </a:lvl2pPr>
            <a:lvl3pPr marL="1371600" lvl="2" indent="-381000" algn="l">
              <a:lnSpc>
                <a:spcPct val="100000"/>
              </a:lnSpc>
              <a:spcBef>
                <a:spcPts val="480"/>
              </a:spcBef>
              <a:spcAft>
                <a:spcPts val="0"/>
              </a:spcAft>
              <a:buClr>
                <a:schemeClr val="dk1"/>
              </a:buClr>
              <a:buSzPts val="2400"/>
              <a:buFont typeface="Arial"/>
              <a:buChar char="–"/>
              <a:defRPr sz="2400"/>
            </a:lvl3pPr>
            <a:lvl4pPr marL="1828800" lvl="3" indent="-355600" algn="l">
              <a:lnSpc>
                <a:spcPct val="100000"/>
              </a:lnSpc>
              <a:spcBef>
                <a:spcPts val="400"/>
              </a:spcBef>
              <a:spcAft>
                <a:spcPts val="0"/>
              </a:spcAft>
              <a:buClr>
                <a:schemeClr val="dk1"/>
              </a:buClr>
              <a:buSzPts val="2000"/>
              <a:buFont typeface="Arial"/>
              <a:buChar char="»"/>
              <a:defRPr sz="2000"/>
            </a:lvl4pPr>
            <a:lvl5pPr marL="2286000" lvl="4" indent="-355600" algn="l">
              <a:lnSpc>
                <a:spcPct val="100000"/>
              </a:lnSpc>
              <a:spcBef>
                <a:spcPts val="400"/>
              </a:spcBef>
              <a:spcAft>
                <a:spcPts val="0"/>
              </a:spcAft>
              <a:buClr>
                <a:schemeClr val="dk1"/>
              </a:buClr>
              <a:buSzPts val="2000"/>
              <a:buFont typeface="Arial"/>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40" name="Google Shape;240;p115"/>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Font typeface="Arial"/>
              <a:buNone/>
              <a:defRPr sz="1600"/>
            </a:lvl1pPr>
            <a:lvl2pPr marL="914400" lvl="1" indent="-228600" algn="l">
              <a:lnSpc>
                <a:spcPct val="100000"/>
              </a:lnSpc>
              <a:spcBef>
                <a:spcPts val="280"/>
              </a:spcBef>
              <a:spcAft>
                <a:spcPts val="0"/>
              </a:spcAft>
              <a:buClr>
                <a:schemeClr val="dk1"/>
              </a:buClr>
              <a:buSzPts val="1400"/>
              <a:buFont typeface="Arial"/>
              <a:buNone/>
              <a:defRPr sz="1400"/>
            </a:lvl2pPr>
            <a:lvl3pPr marL="1371600" lvl="2" indent="-228600" algn="l">
              <a:lnSpc>
                <a:spcPct val="100000"/>
              </a:lnSpc>
              <a:spcBef>
                <a:spcPts val="240"/>
              </a:spcBef>
              <a:spcAft>
                <a:spcPts val="0"/>
              </a:spcAft>
              <a:buClr>
                <a:schemeClr val="dk1"/>
              </a:buClr>
              <a:buSzPts val="1200"/>
              <a:buFont typeface="Arial"/>
              <a:buNone/>
              <a:defRPr sz="1200"/>
            </a:lvl3pPr>
            <a:lvl4pPr marL="1828800" lvl="3" indent="-228600" algn="l">
              <a:lnSpc>
                <a:spcPct val="100000"/>
              </a:lnSpc>
              <a:spcBef>
                <a:spcPts val="200"/>
              </a:spcBef>
              <a:spcAft>
                <a:spcPts val="0"/>
              </a:spcAft>
              <a:buClr>
                <a:schemeClr val="dk1"/>
              </a:buClr>
              <a:buSzPts val="1000"/>
              <a:buFont typeface="Arial"/>
              <a:buNone/>
              <a:defRPr sz="1000"/>
            </a:lvl4pPr>
            <a:lvl5pPr marL="2286000" lvl="4" indent="-228600" algn="l">
              <a:lnSpc>
                <a:spcPct val="100000"/>
              </a:lnSpc>
              <a:spcBef>
                <a:spcPts val="200"/>
              </a:spcBef>
              <a:spcAft>
                <a:spcPts val="0"/>
              </a:spcAft>
              <a:buClr>
                <a:schemeClr val="dk1"/>
              </a:buClr>
              <a:buSzPts val="1000"/>
              <a:buFont typeface="Arial"/>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41" name="Google Shape;241;p11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2" name="Google Shape;242;p11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3" name="Google Shape;243;p11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44"/>
        <p:cNvGrpSpPr/>
        <p:nvPr/>
      </p:nvGrpSpPr>
      <p:grpSpPr>
        <a:xfrm>
          <a:off x="0" y="0"/>
          <a:ext cx="0" cy="0"/>
          <a:chOff x="0" y="0"/>
          <a:chExt cx="0" cy="0"/>
        </a:xfrm>
      </p:grpSpPr>
      <p:sp>
        <p:nvSpPr>
          <p:cNvPr id="245" name="Google Shape;245;p116"/>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6" name="Google Shape;246;p116"/>
          <p:cNvSpPr>
            <a:spLocks noGrp="1"/>
          </p:cNvSpPr>
          <p:nvPr>
            <p:ph type="pic" idx="2"/>
          </p:nvPr>
        </p:nvSpPr>
        <p:spPr>
          <a:xfrm>
            <a:off x="3887788" y="987425"/>
            <a:ext cx="4629150" cy="4873625"/>
          </a:xfrm>
          <a:prstGeom prst="rect">
            <a:avLst/>
          </a:prstGeom>
          <a:noFill/>
          <a:ln>
            <a:noFill/>
          </a:ln>
        </p:spPr>
      </p:sp>
      <p:sp>
        <p:nvSpPr>
          <p:cNvPr id="247" name="Google Shape;247;p116"/>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Font typeface="Arial"/>
              <a:buNone/>
              <a:defRPr sz="1600"/>
            </a:lvl1pPr>
            <a:lvl2pPr marL="914400" lvl="1" indent="-228600" algn="l">
              <a:lnSpc>
                <a:spcPct val="100000"/>
              </a:lnSpc>
              <a:spcBef>
                <a:spcPts val="280"/>
              </a:spcBef>
              <a:spcAft>
                <a:spcPts val="0"/>
              </a:spcAft>
              <a:buClr>
                <a:schemeClr val="dk1"/>
              </a:buClr>
              <a:buSzPts val="1400"/>
              <a:buFont typeface="Arial"/>
              <a:buNone/>
              <a:defRPr sz="1400"/>
            </a:lvl2pPr>
            <a:lvl3pPr marL="1371600" lvl="2" indent="-228600" algn="l">
              <a:lnSpc>
                <a:spcPct val="100000"/>
              </a:lnSpc>
              <a:spcBef>
                <a:spcPts val="240"/>
              </a:spcBef>
              <a:spcAft>
                <a:spcPts val="0"/>
              </a:spcAft>
              <a:buClr>
                <a:schemeClr val="dk1"/>
              </a:buClr>
              <a:buSzPts val="1200"/>
              <a:buFont typeface="Arial"/>
              <a:buNone/>
              <a:defRPr sz="1200"/>
            </a:lvl3pPr>
            <a:lvl4pPr marL="1828800" lvl="3" indent="-228600" algn="l">
              <a:lnSpc>
                <a:spcPct val="100000"/>
              </a:lnSpc>
              <a:spcBef>
                <a:spcPts val="200"/>
              </a:spcBef>
              <a:spcAft>
                <a:spcPts val="0"/>
              </a:spcAft>
              <a:buClr>
                <a:schemeClr val="dk1"/>
              </a:buClr>
              <a:buSzPts val="1000"/>
              <a:buFont typeface="Arial"/>
              <a:buNone/>
              <a:defRPr sz="1000"/>
            </a:lvl4pPr>
            <a:lvl5pPr marL="2286000" lvl="4" indent="-228600" algn="l">
              <a:lnSpc>
                <a:spcPct val="100000"/>
              </a:lnSpc>
              <a:spcBef>
                <a:spcPts val="200"/>
              </a:spcBef>
              <a:spcAft>
                <a:spcPts val="0"/>
              </a:spcAft>
              <a:buClr>
                <a:schemeClr val="dk1"/>
              </a:buClr>
              <a:buSzPts val="1000"/>
              <a:buFont typeface="Arial"/>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48" name="Google Shape;248;p11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9" name="Google Shape;249;p11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11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51"/>
        <p:cNvGrpSpPr/>
        <p:nvPr/>
      </p:nvGrpSpPr>
      <p:grpSpPr>
        <a:xfrm>
          <a:off x="0" y="0"/>
          <a:ext cx="0" cy="0"/>
          <a:chOff x="0" y="0"/>
          <a:chExt cx="0" cy="0"/>
        </a:xfrm>
      </p:grpSpPr>
      <p:sp>
        <p:nvSpPr>
          <p:cNvPr id="252" name="Google Shape;252;p117"/>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3" name="Google Shape;253;p117"/>
          <p:cNvSpPr txBox="1">
            <a:spLocks noGrp="1"/>
          </p:cNvSpPr>
          <p:nvPr>
            <p:ph type="body" idx="1"/>
          </p:nvPr>
        </p:nvSpPr>
        <p:spPr>
          <a:xfrm rot="5400000">
            <a:off x="1943100" y="-342900"/>
            <a:ext cx="5257800" cy="77724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400"/>
              <a:buNone/>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4" name="Google Shape;254;p11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5" name="Google Shape;255;p11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6" name="Google Shape;256;p11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57"/>
        <p:cNvGrpSpPr/>
        <p:nvPr/>
      </p:nvGrpSpPr>
      <p:grpSpPr>
        <a:xfrm>
          <a:off x="0" y="0"/>
          <a:ext cx="0" cy="0"/>
          <a:chOff x="0" y="0"/>
          <a:chExt cx="0" cy="0"/>
        </a:xfrm>
      </p:grpSpPr>
      <p:sp>
        <p:nvSpPr>
          <p:cNvPr id="258" name="Google Shape;258;p118"/>
          <p:cNvSpPr txBox="1">
            <a:spLocks noGrp="1"/>
          </p:cNvSpPr>
          <p:nvPr>
            <p:ph type="title"/>
          </p:nvPr>
        </p:nvSpPr>
        <p:spPr>
          <a:xfrm rot="5400000">
            <a:off x="4438650" y="2152650"/>
            <a:ext cx="6096000" cy="1943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9" name="Google Shape;259;p118"/>
          <p:cNvSpPr txBox="1">
            <a:spLocks noGrp="1"/>
          </p:cNvSpPr>
          <p:nvPr>
            <p:ph type="body" idx="1"/>
          </p:nvPr>
        </p:nvSpPr>
        <p:spPr>
          <a:xfrm rot="5400000">
            <a:off x="476250" y="285750"/>
            <a:ext cx="6096000" cy="56769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400"/>
              <a:buNone/>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0" name="Google Shape;260;p11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1" name="Google Shape;261;p11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2" name="Google Shape;262;p11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68"/>
        <p:cNvGrpSpPr/>
        <p:nvPr/>
      </p:nvGrpSpPr>
      <p:grpSpPr>
        <a:xfrm>
          <a:off x="0" y="0"/>
          <a:ext cx="0" cy="0"/>
          <a:chOff x="0" y="0"/>
          <a:chExt cx="0" cy="0"/>
        </a:xfrm>
      </p:grpSpPr>
      <p:pic>
        <p:nvPicPr>
          <p:cNvPr id="269" name="Google Shape;269;g28fa4b45176_0_565"/>
          <p:cNvPicPr preferRelativeResize="0"/>
          <p:nvPr/>
        </p:nvPicPr>
        <p:blipFill rotWithShape="1">
          <a:blip r:embed="rId2">
            <a:alphaModFix/>
          </a:blip>
          <a:srcRect/>
          <a:stretch/>
        </p:blipFill>
        <p:spPr>
          <a:xfrm>
            <a:off x="0" y="0"/>
            <a:ext cx="4186242" cy="5143500"/>
          </a:xfrm>
          <a:prstGeom prst="rect">
            <a:avLst/>
          </a:prstGeom>
          <a:noFill/>
          <a:ln>
            <a:noFill/>
          </a:ln>
        </p:spPr>
      </p:pic>
      <p:sp>
        <p:nvSpPr>
          <p:cNvPr id="270" name="Google Shape;270;g28fa4b45176_0_565"/>
          <p:cNvSpPr txBox="1">
            <a:spLocks noGrp="1"/>
          </p:cNvSpPr>
          <p:nvPr>
            <p:ph type="title"/>
          </p:nvPr>
        </p:nvSpPr>
        <p:spPr>
          <a:xfrm>
            <a:off x="3493293" y="2809875"/>
            <a:ext cx="5022000" cy="19098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1" name="Google Shape;271;g28fa4b45176_0_565"/>
          <p:cNvSpPr txBox="1">
            <a:spLocks noGrp="1"/>
          </p:cNvSpPr>
          <p:nvPr>
            <p:ph type="subTitle" idx="1"/>
          </p:nvPr>
        </p:nvSpPr>
        <p:spPr>
          <a:xfrm>
            <a:off x="3493294" y="5028803"/>
            <a:ext cx="5022000" cy="3651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1000"/>
              </a:spcBef>
              <a:spcAft>
                <a:spcPts val="0"/>
              </a:spcAft>
              <a:buClr>
                <a:srgbClr val="757070"/>
              </a:buClr>
              <a:buSzPts val="1600"/>
              <a:buNone/>
              <a:defRPr sz="1600">
                <a:solidFill>
                  <a:srgbClr val="75707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2" name="Google Shape;272;g28fa4b45176_0_565"/>
          <p:cNvSpPr txBox="1">
            <a:spLocks noGrp="1"/>
          </p:cNvSpPr>
          <p:nvPr>
            <p:ph type="ftr" idx="11"/>
          </p:nvPr>
        </p:nvSpPr>
        <p:spPr>
          <a:xfrm>
            <a:off x="5057774" y="6356350"/>
            <a:ext cx="19074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3" name="Google Shape;273;g28fa4b45176_0_565"/>
          <p:cNvSpPr txBox="1">
            <a:spLocks noGrp="1"/>
          </p:cNvSpPr>
          <p:nvPr>
            <p:ph type="sldNum" idx="12"/>
          </p:nvPr>
        </p:nvSpPr>
        <p:spPr>
          <a:xfrm>
            <a:off x="7243763" y="6356350"/>
            <a:ext cx="1271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74" name="Google Shape;274;g28fa4b45176_0_565" descr="BITS Pilani logo"/>
          <p:cNvPicPr preferRelativeResize="0"/>
          <p:nvPr/>
        </p:nvPicPr>
        <p:blipFill rotWithShape="1">
          <a:blip r:embed="rId3">
            <a:alphaModFix/>
          </a:blip>
          <a:srcRect/>
          <a:stretch/>
        </p:blipFill>
        <p:spPr>
          <a:xfrm>
            <a:off x="6627529" y="192510"/>
            <a:ext cx="2504055" cy="64943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75"/>
        <p:cNvGrpSpPr/>
        <p:nvPr/>
      </p:nvGrpSpPr>
      <p:grpSpPr>
        <a:xfrm>
          <a:off x="0" y="0"/>
          <a:ext cx="0" cy="0"/>
          <a:chOff x="0" y="0"/>
          <a:chExt cx="0" cy="0"/>
        </a:xfrm>
      </p:grpSpPr>
      <p:pic>
        <p:nvPicPr>
          <p:cNvPr id="276" name="Google Shape;276;g28fa4b45176_0_541" descr="BITS Pilani logo"/>
          <p:cNvPicPr preferRelativeResize="0"/>
          <p:nvPr/>
        </p:nvPicPr>
        <p:blipFill rotWithShape="1">
          <a:blip r:embed="rId2">
            <a:alphaModFix/>
          </a:blip>
          <a:srcRect/>
          <a:stretch/>
        </p:blipFill>
        <p:spPr>
          <a:xfrm>
            <a:off x="6617084" y="262802"/>
            <a:ext cx="2504055" cy="649430"/>
          </a:xfrm>
          <a:prstGeom prst="rect">
            <a:avLst/>
          </a:prstGeom>
          <a:noFill/>
          <a:ln>
            <a:noFill/>
          </a:ln>
        </p:spPr>
      </p:pic>
      <p:sp>
        <p:nvSpPr>
          <p:cNvPr id="277" name="Google Shape;277;g28fa4b45176_0_541"/>
          <p:cNvSpPr txBox="1"/>
          <p:nvPr/>
        </p:nvSpPr>
        <p:spPr>
          <a:xfrm>
            <a:off x="2783149" y="5716225"/>
            <a:ext cx="5908200" cy="8658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l" rtl="0">
              <a:lnSpc>
                <a:spcPct val="90000"/>
              </a:lnSpc>
              <a:spcBef>
                <a:spcPts val="0"/>
              </a:spcBef>
              <a:spcAft>
                <a:spcPts val="0"/>
              </a:spcAft>
              <a:buClr>
                <a:schemeClr val="dk1"/>
              </a:buClr>
              <a:buSzPct val="108106"/>
              <a:buFont typeface="Arial"/>
              <a:buNone/>
            </a:pPr>
            <a:endParaRPr sz="1600" b="1" i="1" u="none" strike="noStrike" cap="none">
              <a:solidFill>
                <a:srgbClr val="7030A0"/>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ct val="108106"/>
              <a:buFont typeface="Arial"/>
              <a:buNone/>
            </a:pPr>
            <a:endParaRPr sz="1600" b="1" i="1" u="none" strike="noStrike" cap="none">
              <a:solidFill>
                <a:srgbClr val="7030A0"/>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ct val="108106"/>
              <a:buFont typeface="Arial"/>
              <a:buNone/>
            </a:pPr>
            <a:endParaRPr sz="1600" b="1" i="1" u="none" strike="noStrike" cap="none">
              <a:solidFill>
                <a:srgbClr val="7030A0"/>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ct val="108106"/>
              <a:buFont typeface="Arial"/>
              <a:buNone/>
            </a:pPr>
            <a:r>
              <a:rPr lang="en-US" sz="1600" b="1" i="1" u="none" strike="noStrike" cap="none">
                <a:solidFill>
                  <a:srgbClr val="7030A0"/>
                </a:solidFill>
                <a:latin typeface="Calibri"/>
                <a:ea typeface="Calibri"/>
                <a:cs typeface="Calibri"/>
                <a:sym typeface="Calibri"/>
              </a:rPr>
              <a:t>	S. P. Vimal</a:t>
            </a:r>
            <a:r>
              <a:rPr lang="en-US" sz="1600" b="1" i="1" u="none" strike="noStrike" cap="none">
                <a:solidFill>
                  <a:schemeClr val="dk1"/>
                </a:solidFill>
                <a:latin typeface="Calibri"/>
                <a:ea typeface="Calibri"/>
                <a:cs typeface="Calibri"/>
                <a:sym typeface="Calibri"/>
              </a:rPr>
              <a:t> | </a:t>
            </a:r>
            <a:r>
              <a:rPr lang="en-US" sz="1600" b="1" i="1" u="none" strike="noStrike" cap="none">
                <a:solidFill>
                  <a:srgbClr val="833C0B"/>
                </a:solidFill>
                <a:latin typeface="Calibri"/>
                <a:ea typeface="Calibri"/>
                <a:cs typeface="Calibri"/>
                <a:sym typeface="Calibri"/>
              </a:rPr>
              <a:t>CSIS Department</a:t>
            </a:r>
            <a:r>
              <a:rPr lang="en-US" sz="1600" b="1" i="1" u="none" strike="noStrike" cap="none">
                <a:solidFill>
                  <a:srgbClr val="2E75B5"/>
                </a:solidFill>
                <a:latin typeface="Calibri"/>
                <a:ea typeface="Calibri"/>
                <a:cs typeface="Calibri"/>
                <a:sym typeface="Calibri"/>
              </a:rPr>
              <a:t> </a:t>
            </a:r>
            <a:r>
              <a:rPr lang="en-US" sz="1600" b="1" i="1" u="none" strike="noStrike" cap="none">
                <a:solidFill>
                  <a:schemeClr val="dk1"/>
                </a:solidFill>
                <a:latin typeface="Calibri"/>
                <a:ea typeface="Calibri"/>
                <a:cs typeface="Calibri"/>
                <a:sym typeface="Calibri"/>
              </a:rPr>
              <a:t>| </a:t>
            </a:r>
            <a:r>
              <a:rPr lang="en-US" sz="1600" b="1" i="1" u="none" strike="noStrike" cap="none">
                <a:solidFill>
                  <a:srgbClr val="833C0B"/>
                </a:solidFill>
                <a:latin typeface="Calibri"/>
                <a:ea typeface="Calibri"/>
                <a:cs typeface="Calibri"/>
                <a:sym typeface="Calibri"/>
              </a:rPr>
              <a:t>WILP</a:t>
            </a:r>
            <a:r>
              <a:rPr lang="en-US" sz="1600" b="1" i="1" u="none" strike="noStrike" cap="none">
                <a:solidFill>
                  <a:schemeClr val="dk1"/>
                </a:solidFill>
                <a:latin typeface="Calibri"/>
                <a:ea typeface="Calibri"/>
                <a:cs typeface="Calibri"/>
                <a:sym typeface="Calibri"/>
              </a:rPr>
              <a:t> | </a:t>
            </a:r>
            <a:r>
              <a:rPr lang="en-US" sz="1600" b="1" i="1" u="none" strike="noStrike" cap="none">
                <a:solidFill>
                  <a:srgbClr val="833C0B"/>
                </a:solidFill>
                <a:latin typeface="Calibri"/>
                <a:ea typeface="Calibri"/>
                <a:cs typeface="Calibri"/>
                <a:sym typeface="Calibri"/>
              </a:rPr>
              <a:t>BITS – Pilani </a:t>
            </a:r>
            <a:r>
              <a:rPr lang="en-US" sz="1600" b="1" i="1" u="none" strike="noStrike" cap="none">
                <a:solidFill>
                  <a:schemeClr val="dk1"/>
                </a:solidFill>
                <a:latin typeface="Calibri"/>
                <a:ea typeface="Calibri"/>
                <a:cs typeface="Calibri"/>
                <a:sym typeface="Calibri"/>
              </a:rPr>
              <a:t>(</a:t>
            </a:r>
            <a:r>
              <a:rPr lang="en-US" sz="1600" b="1" i="1" u="sng" strike="noStrike" cap="none">
                <a:solidFill>
                  <a:schemeClr val="hlink"/>
                </a:solidFill>
                <a:latin typeface="Calibri"/>
                <a:ea typeface="Calibri"/>
                <a:cs typeface="Calibri"/>
                <a:sym typeface="Calibri"/>
                <a:hlinkClick r:id="rId3"/>
              </a:rPr>
              <a:t>vimalsp@wilp.bits-pilani.ac.in</a:t>
            </a:r>
            <a:r>
              <a:rPr lang="en-US" sz="1600" b="1" i="1"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pic>
        <p:nvPicPr>
          <p:cNvPr id="278" name="Google Shape;278;g28fa4b45176_0_541"/>
          <p:cNvPicPr preferRelativeResize="0"/>
          <p:nvPr/>
        </p:nvPicPr>
        <p:blipFill rotWithShape="1">
          <a:blip r:embed="rId4">
            <a:alphaModFix/>
          </a:blip>
          <a:srcRect/>
          <a:stretch/>
        </p:blipFill>
        <p:spPr>
          <a:xfrm>
            <a:off x="0" y="0"/>
            <a:ext cx="4186242" cy="5143500"/>
          </a:xfrm>
          <a:prstGeom prst="rect">
            <a:avLst/>
          </a:prstGeom>
          <a:noFill/>
          <a:ln>
            <a:noFill/>
          </a:ln>
        </p:spPr>
      </p:pic>
      <p:sp>
        <p:nvSpPr>
          <p:cNvPr id="279" name="Google Shape;279;g28fa4b45176_0_541"/>
          <p:cNvSpPr txBox="1">
            <a:spLocks noGrp="1"/>
          </p:cNvSpPr>
          <p:nvPr>
            <p:ph type="ctrTitle"/>
          </p:nvPr>
        </p:nvSpPr>
        <p:spPr>
          <a:xfrm>
            <a:off x="1400993" y="3226527"/>
            <a:ext cx="7117500" cy="12735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600"/>
              <a:buFont typeface="Calibri"/>
              <a:buNone/>
              <a:defRPr sz="3600" cap="none">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0" name="Google Shape;280;g28fa4b45176_0_541"/>
          <p:cNvSpPr txBox="1"/>
          <p:nvPr/>
        </p:nvSpPr>
        <p:spPr>
          <a:xfrm>
            <a:off x="48394" y="1053900"/>
            <a:ext cx="3147000" cy="909600"/>
          </a:xfrm>
          <a:prstGeom prst="rect">
            <a:avLst/>
          </a:prstGeom>
          <a:noFill/>
          <a:ln>
            <a:noFill/>
          </a:ln>
        </p:spPr>
        <p:txBody>
          <a:bodyPr spcFirstLastPara="1" wrap="square" lIns="91425" tIns="45700" rIns="91425" bIns="45700" anchor="t" anchorCtr="0">
            <a:normAutofit lnSpcReduction="10000"/>
          </a:bodyPr>
          <a:lstStyle/>
          <a:p>
            <a:pPr marL="0" marR="0" lvl="0" indent="0" algn="r" rtl="0">
              <a:lnSpc>
                <a:spcPct val="90000"/>
              </a:lnSpc>
              <a:spcBef>
                <a:spcPts val="0"/>
              </a:spcBef>
              <a:spcAft>
                <a:spcPts val="0"/>
              </a:spcAft>
              <a:buClr>
                <a:schemeClr val="dk1"/>
              </a:buClr>
              <a:buSzPts val="1600"/>
              <a:buFont typeface="Arial"/>
              <a:buNone/>
            </a:pPr>
            <a:r>
              <a:rPr lang="en-US" sz="2600" b="0" i="0" u="none" strike="noStrike" cap="none">
                <a:solidFill>
                  <a:schemeClr val="dk1"/>
                </a:solidFill>
                <a:latin typeface="Calibri"/>
                <a:ea typeface="Calibri"/>
                <a:cs typeface="Calibri"/>
                <a:sym typeface="Calibri"/>
              </a:rPr>
              <a:t>Computer Vision</a:t>
            </a:r>
            <a:endParaRPr sz="2600" b="0" i="0" u="none" strike="noStrike" cap="none">
              <a:solidFill>
                <a:schemeClr val="dk1"/>
              </a:solidFill>
              <a:latin typeface="Calibri"/>
              <a:ea typeface="Calibri"/>
              <a:cs typeface="Calibri"/>
              <a:sym typeface="Calibri"/>
            </a:endParaRPr>
          </a:p>
          <a:p>
            <a:pPr marL="0" marR="0" lvl="0" indent="0" algn="r" rtl="0">
              <a:lnSpc>
                <a:spcPct val="90000"/>
              </a:lnSpc>
              <a:spcBef>
                <a:spcPts val="0"/>
              </a:spcBef>
              <a:spcAft>
                <a:spcPts val="0"/>
              </a:spcAft>
              <a:buClr>
                <a:schemeClr val="dk1"/>
              </a:buClr>
              <a:buSzPts val="1600"/>
              <a:buFont typeface="Arial"/>
              <a:buNone/>
            </a:pPr>
            <a:r>
              <a:rPr lang="en-US" sz="1700" b="0" i="0" u="none" strike="noStrike" cap="none">
                <a:solidFill>
                  <a:schemeClr val="dk1"/>
                </a:solidFill>
                <a:latin typeface="Calibri"/>
                <a:ea typeface="Calibri"/>
                <a:cs typeface="Calibri"/>
                <a:sym typeface="Calibri"/>
              </a:rPr>
              <a:t>2023-24 First Semester, M.Tech (AIML)   </a:t>
            </a:r>
            <a:endParaRPr sz="15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281"/>
        <p:cNvGrpSpPr/>
        <p:nvPr/>
      </p:nvGrpSpPr>
      <p:grpSpPr>
        <a:xfrm>
          <a:off x="0" y="0"/>
          <a:ext cx="0" cy="0"/>
          <a:chOff x="0" y="0"/>
          <a:chExt cx="0" cy="0"/>
        </a:xfrm>
      </p:grpSpPr>
      <p:pic>
        <p:nvPicPr>
          <p:cNvPr id="282" name="Google Shape;282;g28fa4b45176_0_547" descr="BITS Pilani logo"/>
          <p:cNvPicPr preferRelativeResize="0"/>
          <p:nvPr/>
        </p:nvPicPr>
        <p:blipFill rotWithShape="1">
          <a:blip r:embed="rId2">
            <a:alphaModFix/>
          </a:blip>
          <a:srcRect/>
          <a:stretch/>
        </p:blipFill>
        <p:spPr>
          <a:xfrm>
            <a:off x="288131" y="288928"/>
            <a:ext cx="2504055" cy="649430"/>
          </a:xfrm>
          <a:prstGeom prst="rect">
            <a:avLst/>
          </a:prstGeom>
          <a:noFill/>
          <a:ln>
            <a:noFill/>
          </a:ln>
        </p:spPr>
      </p:pic>
      <p:sp>
        <p:nvSpPr>
          <p:cNvPr id="283" name="Google Shape;283;g28fa4b45176_0_547"/>
          <p:cNvSpPr txBox="1">
            <a:spLocks noGrp="1"/>
          </p:cNvSpPr>
          <p:nvPr>
            <p:ph type="title"/>
          </p:nvPr>
        </p:nvSpPr>
        <p:spPr>
          <a:xfrm>
            <a:off x="351337" y="1671639"/>
            <a:ext cx="4504200" cy="6531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4" name="Google Shape;284;g28fa4b45176_0_547"/>
          <p:cNvSpPr txBox="1">
            <a:spLocks noGrp="1"/>
          </p:cNvSpPr>
          <p:nvPr>
            <p:ph type="body" idx="1"/>
          </p:nvPr>
        </p:nvSpPr>
        <p:spPr>
          <a:xfrm>
            <a:off x="1021556" y="2586447"/>
            <a:ext cx="4504200" cy="33048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5" name="Google Shape;285;g28fa4b45176_0_547"/>
          <p:cNvSpPr txBox="1">
            <a:spLocks noGrp="1"/>
          </p:cNvSpPr>
          <p:nvPr>
            <p:ph type="ftr" idx="11"/>
          </p:nvPr>
        </p:nvSpPr>
        <p:spPr>
          <a:xfrm>
            <a:off x="1847850" y="6356350"/>
            <a:ext cx="2609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6" name="Google Shape;286;g28fa4b45176_0_547"/>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mart Art">
  <p:cSld name="Smart Art">
    <p:bg>
      <p:bgPr>
        <a:solidFill>
          <a:schemeClr val="lt1"/>
        </a:solidFill>
        <a:effectLst/>
      </p:bgPr>
    </p:bg>
    <p:spTree>
      <p:nvGrpSpPr>
        <p:cNvPr id="1" name="Shape 287"/>
        <p:cNvGrpSpPr/>
        <p:nvPr/>
      </p:nvGrpSpPr>
      <p:grpSpPr>
        <a:xfrm>
          <a:off x="0" y="0"/>
          <a:ext cx="0" cy="0"/>
          <a:chOff x="0" y="0"/>
          <a:chExt cx="0" cy="0"/>
        </a:xfrm>
      </p:grpSpPr>
      <p:sp>
        <p:nvSpPr>
          <p:cNvPr id="288" name="Google Shape;288;g28fa4b45176_0_553"/>
          <p:cNvSpPr txBox="1">
            <a:spLocks noGrp="1"/>
          </p:cNvSpPr>
          <p:nvPr>
            <p:ph type="title"/>
          </p:nvPr>
        </p:nvSpPr>
        <p:spPr>
          <a:xfrm>
            <a:off x="628650" y="365126"/>
            <a:ext cx="7650000" cy="10278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9" name="Google Shape;289;g28fa4b45176_0_55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g28fa4b45176_0_55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91" name="Google Shape;291;g28fa4b45176_0_553"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
        <p:nvSpPr>
          <p:cNvPr id="292" name="Google Shape;292;g28fa4b45176_0_553"/>
          <p:cNvSpPr txBox="1">
            <a:spLocks noGrp="1"/>
          </p:cNvSpPr>
          <p:nvPr>
            <p:ph type="body" idx="1"/>
          </p:nvPr>
        </p:nvSpPr>
        <p:spPr>
          <a:xfrm>
            <a:off x="628650" y="1632858"/>
            <a:ext cx="7886700" cy="44415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hart">
  <p:cSld name="Chart">
    <p:bg>
      <p:bgPr>
        <a:solidFill>
          <a:schemeClr val="accent1"/>
        </a:solidFill>
        <a:effectLst/>
      </p:bgPr>
    </p:bg>
    <p:spTree>
      <p:nvGrpSpPr>
        <p:cNvPr id="1" name="Shape 293"/>
        <p:cNvGrpSpPr/>
        <p:nvPr/>
      </p:nvGrpSpPr>
      <p:grpSpPr>
        <a:xfrm>
          <a:off x="0" y="0"/>
          <a:ext cx="0" cy="0"/>
          <a:chOff x="0" y="0"/>
          <a:chExt cx="0" cy="0"/>
        </a:xfrm>
      </p:grpSpPr>
      <p:sp>
        <p:nvSpPr>
          <p:cNvPr id="294" name="Google Shape;294;g28fa4b45176_0_559"/>
          <p:cNvSpPr txBox="1">
            <a:spLocks noGrp="1"/>
          </p:cNvSpPr>
          <p:nvPr>
            <p:ph type="title"/>
          </p:nvPr>
        </p:nvSpPr>
        <p:spPr>
          <a:xfrm>
            <a:off x="628650" y="365125"/>
            <a:ext cx="7886700" cy="12468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5" name="Google Shape;295;g28fa4b45176_0_559"/>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6" name="Google Shape;296;g28fa4b45176_0_559"/>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97" name="Google Shape;297;g28fa4b45176_0_559"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
        <p:nvSpPr>
          <p:cNvPr id="298" name="Google Shape;298;g28fa4b45176_0_559"/>
          <p:cNvSpPr txBox="1">
            <a:spLocks noGrp="1"/>
          </p:cNvSpPr>
          <p:nvPr>
            <p:ph type="body" idx="1"/>
          </p:nvPr>
        </p:nvSpPr>
        <p:spPr>
          <a:xfrm>
            <a:off x="628650" y="1894114"/>
            <a:ext cx="7886700" cy="41802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ree Content">
  <p:cSld name="Three Content">
    <p:bg>
      <p:bgPr>
        <a:solidFill>
          <a:schemeClr val="lt1"/>
        </a:solidFill>
        <a:effectLst/>
      </p:bgPr>
    </p:bg>
    <p:spTree>
      <p:nvGrpSpPr>
        <p:cNvPr id="1" name="Shape 299"/>
        <p:cNvGrpSpPr/>
        <p:nvPr/>
      </p:nvGrpSpPr>
      <p:grpSpPr>
        <a:xfrm>
          <a:off x="0" y="0"/>
          <a:ext cx="0" cy="0"/>
          <a:chOff x="0" y="0"/>
          <a:chExt cx="0" cy="0"/>
        </a:xfrm>
      </p:grpSpPr>
      <p:sp>
        <p:nvSpPr>
          <p:cNvPr id="300" name="Google Shape;300;g28fa4b45176_0_572"/>
          <p:cNvSpPr txBox="1">
            <a:spLocks noGrp="1"/>
          </p:cNvSpPr>
          <p:nvPr>
            <p:ph type="title"/>
          </p:nvPr>
        </p:nvSpPr>
        <p:spPr>
          <a:xfrm>
            <a:off x="932328" y="443369"/>
            <a:ext cx="7583100" cy="10515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1" name="Google Shape;301;g28fa4b45176_0_572"/>
          <p:cNvSpPr txBox="1">
            <a:spLocks noGrp="1"/>
          </p:cNvSpPr>
          <p:nvPr>
            <p:ph type="body" idx="1"/>
          </p:nvPr>
        </p:nvSpPr>
        <p:spPr>
          <a:xfrm>
            <a:off x="932327" y="1932770"/>
            <a:ext cx="2161800" cy="823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2" name="Google Shape;302;g28fa4b45176_0_572"/>
          <p:cNvSpPr txBox="1">
            <a:spLocks noGrp="1"/>
          </p:cNvSpPr>
          <p:nvPr>
            <p:ph type="body" idx="2"/>
          </p:nvPr>
        </p:nvSpPr>
        <p:spPr>
          <a:xfrm>
            <a:off x="932328" y="3056709"/>
            <a:ext cx="2161800" cy="2775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3" name="Google Shape;303;g28fa4b45176_0_572"/>
          <p:cNvSpPr txBox="1">
            <a:spLocks noGrp="1"/>
          </p:cNvSpPr>
          <p:nvPr>
            <p:ph type="body" idx="3"/>
          </p:nvPr>
        </p:nvSpPr>
        <p:spPr>
          <a:xfrm>
            <a:off x="3485748" y="1953443"/>
            <a:ext cx="2172600" cy="823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4" name="Google Shape;304;g28fa4b45176_0_572"/>
          <p:cNvSpPr txBox="1">
            <a:spLocks noGrp="1"/>
          </p:cNvSpPr>
          <p:nvPr>
            <p:ph type="body" idx="4"/>
          </p:nvPr>
        </p:nvSpPr>
        <p:spPr>
          <a:xfrm>
            <a:off x="3485749" y="3056709"/>
            <a:ext cx="2172600" cy="2775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5" name="Google Shape;305;g28fa4b45176_0_572"/>
          <p:cNvSpPr txBox="1">
            <a:spLocks noGrp="1"/>
          </p:cNvSpPr>
          <p:nvPr>
            <p:ph type="body" idx="5"/>
          </p:nvPr>
        </p:nvSpPr>
        <p:spPr>
          <a:xfrm>
            <a:off x="6049815" y="1958896"/>
            <a:ext cx="2161800" cy="823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6" name="Google Shape;306;g28fa4b45176_0_572"/>
          <p:cNvSpPr txBox="1">
            <a:spLocks noGrp="1"/>
          </p:cNvSpPr>
          <p:nvPr>
            <p:ph type="body" idx="6"/>
          </p:nvPr>
        </p:nvSpPr>
        <p:spPr>
          <a:xfrm>
            <a:off x="6049816" y="3056709"/>
            <a:ext cx="2161800" cy="2775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7" name="Google Shape;307;g28fa4b45176_0_572"/>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8" name="Google Shape;308;g28fa4b45176_0_572"/>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09" name="Google Shape;309;g28fa4b45176_0_572"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310"/>
        <p:cNvGrpSpPr/>
        <p:nvPr/>
      </p:nvGrpSpPr>
      <p:grpSpPr>
        <a:xfrm>
          <a:off x="0" y="0"/>
          <a:ext cx="0" cy="0"/>
          <a:chOff x="0" y="0"/>
          <a:chExt cx="0" cy="0"/>
        </a:xfrm>
      </p:grpSpPr>
      <p:sp>
        <p:nvSpPr>
          <p:cNvPr id="311" name="Google Shape;311;g28fa4b45176_0_583"/>
          <p:cNvSpPr txBox="1">
            <a:spLocks noGrp="1"/>
          </p:cNvSpPr>
          <p:nvPr>
            <p:ph type="title"/>
          </p:nvPr>
        </p:nvSpPr>
        <p:spPr>
          <a:xfrm>
            <a:off x="628650" y="365125"/>
            <a:ext cx="7886700" cy="1246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000"/>
              <a:buFont typeface="Calibri"/>
              <a:buNone/>
              <a:defRPr sz="4000" b="1"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2" name="Google Shape;312;g28fa4b45176_0_58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3" name="Google Shape;313;g28fa4b45176_0_58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14" name="Google Shape;314;g28fa4b45176_0_583"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
        <p:nvSpPr>
          <p:cNvPr id="315" name="Google Shape;315;g28fa4b45176_0_583"/>
          <p:cNvSpPr txBox="1">
            <a:spLocks noGrp="1"/>
          </p:cNvSpPr>
          <p:nvPr>
            <p:ph type="body" idx="1"/>
          </p:nvPr>
        </p:nvSpPr>
        <p:spPr>
          <a:xfrm>
            <a:off x="628650" y="1894114"/>
            <a:ext cx="7886700" cy="41802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Agenda" type="obj">
  <p:cSld name="OBJECT">
    <p:bg>
      <p:bgPr>
        <a:solidFill>
          <a:schemeClr val="dk1"/>
        </a:solidFill>
        <a:effectLst/>
      </p:bgPr>
    </p:bg>
    <p:spTree>
      <p:nvGrpSpPr>
        <p:cNvPr id="1" name="Shape 316"/>
        <p:cNvGrpSpPr/>
        <p:nvPr/>
      </p:nvGrpSpPr>
      <p:grpSpPr>
        <a:xfrm>
          <a:off x="0" y="0"/>
          <a:ext cx="0" cy="0"/>
          <a:chOff x="0" y="0"/>
          <a:chExt cx="0" cy="0"/>
        </a:xfrm>
      </p:grpSpPr>
      <p:pic>
        <p:nvPicPr>
          <p:cNvPr id="317" name="Google Shape;317;g28fa4b45176_0_589"/>
          <p:cNvPicPr preferRelativeResize="0"/>
          <p:nvPr/>
        </p:nvPicPr>
        <p:blipFill rotWithShape="1">
          <a:blip r:embed="rId2">
            <a:alphaModFix/>
          </a:blip>
          <a:srcRect t="18298" r="28340" b="23070"/>
          <a:stretch/>
        </p:blipFill>
        <p:spPr>
          <a:xfrm>
            <a:off x="4116611" y="0"/>
            <a:ext cx="5027390" cy="6858000"/>
          </a:xfrm>
          <a:prstGeom prst="rect">
            <a:avLst/>
          </a:prstGeom>
          <a:noFill/>
          <a:ln>
            <a:noFill/>
          </a:ln>
        </p:spPr>
      </p:pic>
      <p:sp>
        <p:nvSpPr>
          <p:cNvPr id="318" name="Google Shape;318;g28fa4b45176_0_589"/>
          <p:cNvSpPr txBox="1">
            <a:spLocks noGrp="1"/>
          </p:cNvSpPr>
          <p:nvPr>
            <p:ph type="title"/>
          </p:nvPr>
        </p:nvSpPr>
        <p:spPr>
          <a:xfrm>
            <a:off x="1000125" y="1020445"/>
            <a:ext cx="2171700" cy="1325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9" name="Google Shape;319;g28fa4b45176_0_589"/>
          <p:cNvSpPr txBox="1">
            <a:spLocks noGrp="1"/>
          </p:cNvSpPr>
          <p:nvPr>
            <p:ph type="body" idx="1"/>
          </p:nvPr>
        </p:nvSpPr>
        <p:spPr>
          <a:xfrm>
            <a:off x="1000125" y="2924175"/>
            <a:ext cx="2171700" cy="2519400"/>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chemeClr val="lt1"/>
              </a:buClr>
              <a:buSzPts val="1400"/>
              <a:buNone/>
              <a:defRPr sz="1400">
                <a:solidFill>
                  <a:schemeClr val="lt1"/>
                </a:solidFill>
              </a:defRPr>
            </a:lvl1pPr>
            <a:lvl2pPr marL="914400" lvl="1" indent="-228600" algn="l">
              <a:lnSpc>
                <a:spcPct val="150000"/>
              </a:lnSpc>
              <a:spcBef>
                <a:spcPts val="500"/>
              </a:spcBef>
              <a:spcAft>
                <a:spcPts val="0"/>
              </a:spcAft>
              <a:buClr>
                <a:schemeClr val="lt1"/>
              </a:buClr>
              <a:buSzPts val="1400"/>
              <a:buNone/>
              <a:defRPr sz="1400">
                <a:solidFill>
                  <a:schemeClr val="lt1"/>
                </a:solidFill>
              </a:defRPr>
            </a:lvl2pPr>
            <a:lvl3pPr marL="1371600" lvl="2" indent="-228600" algn="l">
              <a:lnSpc>
                <a:spcPct val="150000"/>
              </a:lnSpc>
              <a:spcBef>
                <a:spcPts val="500"/>
              </a:spcBef>
              <a:spcAft>
                <a:spcPts val="0"/>
              </a:spcAft>
              <a:buClr>
                <a:schemeClr val="lt1"/>
              </a:buClr>
              <a:buSzPts val="1400"/>
              <a:buNone/>
              <a:defRPr sz="1400">
                <a:solidFill>
                  <a:schemeClr val="lt1"/>
                </a:solidFill>
              </a:defRPr>
            </a:lvl3pPr>
            <a:lvl4pPr marL="1828800" lvl="3" indent="-228600" algn="l">
              <a:lnSpc>
                <a:spcPct val="150000"/>
              </a:lnSpc>
              <a:spcBef>
                <a:spcPts val="500"/>
              </a:spcBef>
              <a:spcAft>
                <a:spcPts val="0"/>
              </a:spcAft>
              <a:buClr>
                <a:schemeClr val="lt1"/>
              </a:buClr>
              <a:buSzPts val="1400"/>
              <a:buNone/>
              <a:defRPr sz="1400">
                <a:solidFill>
                  <a:schemeClr val="lt1"/>
                </a:solidFill>
              </a:defRPr>
            </a:lvl4pPr>
            <a:lvl5pPr marL="2286000" lvl="4" indent="-228600" algn="l">
              <a:lnSpc>
                <a:spcPct val="150000"/>
              </a:lnSpc>
              <a:spcBef>
                <a:spcPts val="500"/>
              </a:spcBef>
              <a:spcAft>
                <a:spcPts val="0"/>
              </a:spcAft>
              <a:buClr>
                <a:schemeClr val="lt1"/>
              </a:buClr>
              <a:buSzPts val="1400"/>
              <a:buNone/>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0" name="Google Shape;320;g28fa4b45176_0_589"/>
          <p:cNvSpPr txBox="1">
            <a:spLocks noGrp="1"/>
          </p:cNvSpPr>
          <p:nvPr>
            <p:ph type="ftr" idx="11"/>
          </p:nvPr>
        </p:nvSpPr>
        <p:spPr>
          <a:xfrm>
            <a:off x="2002414" y="6356349"/>
            <a:ext cx="1862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1" name="Google Shape;321;g28fa4b45176_0_589"/>
          <p:cNvSpPr txBox="1">
            <a:spLocks noGrp="1"/>
          </p:cNvSpPr>
          <p:nvPr>
            <p:ph type="sldNum" idx="12"/>
          </p:nvPr>
        </p:nvSpPr>
        <p:spPr>
          <a:xfrm>
            <a:off x="4152229" y="6356350"/>
            <a:ext cx="740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_Introduction" type="secHead">
  <p:cSld name="SECTION_HEADER">
    <p:spTree>
      <p:nvGrpSpPr>
        <p:cNvPr id="1" name="Shape 322"/>
        <p:cNvGrpSpPr/>
        <p:nvPr/>
      </p:nvGrpSpPr>
      <p:grpSpPr>
        <a:xfrm>
          <a:off x="0" y="0"/>
          <a:ext cx="0" cy="0"/>
          <a:chOff x="0" y="0"/>
          <a:chExt cx="0" cy="0"/>
        </a:xfrm>
      </p:grpSpPr>
      <p:sp>
        <p:nvSpPr>
          <p:cNvPr id="323" name="Google Shape;323;g28fa4b45176_0_595"/>
          <p:cNvSpPr txBox="1">
            <a:spLocks noGrp="1"/>
          </p:cNvSpPr>
          <p:nvPr>
            <p:ph type="title"/>
          </p:nvPr>
        </p:nvSpPr>
        <p:spPr>
          <a:xfrm>
            <a:off x="351337" y="1671639"/>
            <a:ext cx="4504200" cy="6531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4" name="Google Shape;324;g28fa4b45176_0_595"/>
          <p:cNvSpPr txBox="1">
            <a:spLocks noGrp="1"/>
          </p:cNvSpPr>
          <p:nvPr>
            <p:ph type="body" idx="1"/>
          </p:nvPr>
        </p:nvSpPr>
        <p:spPr>
          <a:xfrm>
            <a:off x="1021556" y="2586447"/>
            <a:ext cx="4504200" cy="33048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5" name="Google Shape;325;g28fa4b45176_0_595"/>
          <p:cNvSpPr txBox="1">
            <a:spLocks noGrp="1"/>
          </p:cNvSpPr>
          <p:nvPr>
            <p:ph type="ftr" idx="11"/>
          </p:nvPr>
        </p:nvSpPr>
        <p:spPr>
          <a:xfrm>
            <a:off x="1847850" y="6356350"/>
            <a:ext cx="2609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6" name="Google Shape;326;g28fa4b45176_0_595"/>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27" name="Google Shape;327;g28fa4b45176_0_595" descr="BITS Pilani logo"/>
          <p:cNvPicPr preferRelativeResize="0"/>
          <p:nvPr/>
        </p:nvPicPr>
        <p:blipFill rotWithShape="1">
          <a:blip r:embed="rId2">
            <a:alphaModFix/>
          </a:blip>
          <a:srcRect/>
          <a:stretch/>
        </p:blipFill>
        <p:spPr>
          <a:xfrm>
            <a:off x="288131" y="288928"/>
            <a:ext cx="2504055" cy="649430"/>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Break" type="title">
  <p:cSld name="TITLE">
    <p:bg>
      <p:bgPr>
        <a:solidFill>
          <a:schemeClr val="dk1"/>
        </a:solidFill>
        <a:effectLst/>
      </p:bgPr>
    </p:bg>
    <p:spTree>
      <p:nvGrpSpPr>
        <p:cNvPr id="1" name="Shape 328"/>
        <p:cNvGrpSpPr/>
        <p:nvPr/>
      </p:nvGrpSpPr>
      <p:grpSpPr>
        <a:xfrm>
          <a:off x="0" y="0"/>
          <a:ext cx="0" cy="0"/>
          <a:chOff x="0" y="0"/>
          <a:chExt cx="0" cy="0"/>
        </a:xfrm>
      </p:grpSpPr>
      <p:sp>
        <p:nvSpPr>
          <p:cNvPr id="329" name="Google Shape;329;g28fa4b45176_0_601"/>
          <p:cNvSpPr txBox="1">
            <a:spLocks noGrp="1"/>
          </p:cNvSpPr>
          <p:nvPr>
            <p:ph type="ctrTitle"/>
          </p:nvPr>
        </p:nvSpPr>
        <p:spPr>
          <a:xfrm>
            <a:off x="5243513" y="2148840"/>
            <a:ext cx="3134700" cy="17154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0" name="Google Shape;330;g28fa4b45176_0_601"/>
          <p:cNvSpPr txBox="1">
            <a:spLocks noGrp="1"/>
          </p:cNvSpPr>
          <p:nvPr>
            <p:ph type="subTitle" idx="1"/>
          </p:nvPr>
        </p:nvSpPr>
        <p:spPr>
          <a:xfrm>
            <a:off x="5243513" y="3962003"/>
            <a:ext cx="3134700" cy="3651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331" name="Google Shape;331;g28fa4b45176_0_601"/>
          <p:cNvPicPr preferRelativeResize="0"/>
          <p:nvPr/>
        </p:nvPicPr>
        <p:blipFill rotWithShape="1">
          <a:blip r:embed="rId2">
            <a:alphaModFix/>
          </a:blip>
          <a:srcRect/>
          <a:stretch/>
        </p:blipFill>
        <p:spPr>
          <a:xfrm>
            <a:off x="0" y="828675"/>
            <a:ext cx="4407694" cy="3900488"/>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eam Slide 4 People">
  <p:cSld name="Team Slide 4 People">
    <p:bg>
      <p:bgPr>
        <a:solidFill>
          <a:schemeClr val="lt1"/>
        </a:solidFill>
        <a:effectLst/>
      </p:bgPr>
    </p:bg>
    <p:spTree>
      <p:nvGrpSpPr>
        <p:cNvPr id="1" name="Shape 332"/>
        <p:cNvGrpSpPr/>
        <p:nvPr/>
      </p:nvGrpSpPr>
      <p:grpSpPr>
        <a:xfrm>
          <a:off x="0" y="0"/>
          <a:ext cx="0" cy="0"/>
          <a:chOff x="0" y="0"/>
          <a:chExt cx="0" cy="0"/>
        </a:xfrm>
      </p:grpSpPr>
      <p:sp>
        <p:nvSpPr>
          <p:cNvPr id="333" name="Google Shape;333;g28fa4b45176_0_605"/>
          <p:cNvSpPr txBox="1">
            <a:spLocks noGrp="1"/>
          </p:cNvSpPr>
          <p:nvPr>
            <p:ph type="title"/>
          </p:nvPr>
        </p:nvSpPr>
        <p:spPr>
          <a:xfrm>
            <a:off x="921425" y="373362"/>
            <a:ext cx="7847100" cy="12987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4" name="Google Shape;334;g28fa4b45176_0_605"/>
          <p:cNvSpPr>
            <a:spLocks noGrp="1"/>
          </p:cNvSpPr>
          <p:nvPr>
            <p:ph type="pic" idx="2"/>
          </p:nvPr>
        </p:nvSpPr>
        <p:spPr>
          <a:xfrm>
            <a:off x="1115386" y="2886074"/>
            <a:ext cx="1384200" cy="1384200"/>
          </a:xfrm>
          <a:prstGeom prst="rect">
            <a:avLst/>
          </a:prstGeom>
          <a:solidFill>
            <a:srgbClr val="F2F2F2"/>
          </a:solidFill>
          <a:ln>
            <a:noFill/>
          </a:ln>
        </p:spPr>
      </p:sp>
      <p:sp>
        <p:nvSpPr>
          <p:cNvPr id="335" name="Google Shape;335;g28fa4b45176_0_605"/>
          <p:cNvSpPr txBox="1">
            <a:spLocks noGrp="1"/>
          </p:cNvSpPr>
          <p:nvPr>
            <p:ph type="body" idx="1"/>
          </p:nvPr>
        </p:nvSpPr>
        <p:spPr>
          <a:xfrm>
            <a:off x="921426" y="5084524"/>
            <a:ext cx="17385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6" name="Google Shape;336;g28fa4b45176_0_605"/>
          <p:cNvSpPr txBox="1">
            <a:spLocks noGrp="1"/>
          </p:cNvSpPr>
          <p:nvPr>
            <p:ph type="body" idx="3"/>
          </p:nvPr>
        </p:nvSpPr>
        <p:spPr>
          <a:xfrm>
            <a:off x="1115386" y="5464114"/>
            <a:ext cx="13842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7" name="Google Shape;337;g28fa4b45176_0_605"/>
          <p:cNvSpPr>
            <a:spLocks noGrp="1"/>
          </p:cNvSpPr>
          <p:nvPr>
            <p:ph type="pic" idx="4"/>
          </p:nvPr>
        </p:nvSpPr>
        <p:spPr>
          <a:xfrm>
            <a:off x="2877685" y="2886074"/>
            <a:ext cx="1384200" cy="1384200"/>
          </a:xfrm>
          <a:prstGeom prst="rect">
            <a:avLst/>
          </a:prstGeom>
          <a:solidFill>
            <a:srgbClr val="F2F2F2"/>
          </a:solidFill>
          <a:ln>
            <a:noFill/>
          </a:ln>
        </p:spPr>
      </p:sp>
      <p:sp>
        <p:nvSpPr>
          <p:cNvPr id="338" name="Google Shape;338;g28fa4b45176_0_605"/>
          <p:cNvSpPr txBox="1">
            <a:spLocks noGrp="1"/>
          </p:cNvSpPr>
          <p:nvPr>
            <p:ph type="body" idx="5"/>
          </p:nvPr>
        </p:nvSpPr>
        <p:spPr>
          <a:xfrm>
            <a:off x="2683725" y="5084524"/>
            <a:ext cx="17481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9" name="Google Shape;339;g28fa4b45176_0_605"/>
          <p:cNvSpPr txBox="1">
            <a:spLocks noGrp="1"/>
          </p:cNvSpPr>
          <p:nvPr>
            <p:ph type="body" idx="6"/>
          </p:nvPr>
        </p:nvSpPr>
        <p:spPr>
          <a:xfrm>
            <a:off x="2877685" y="5478796"/>
            <a:ext cx="13920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40" name="Google Shape;340;g28fa4b45176_0_605"/>
          <p:cNvSpPr>
            <a:spLocks noGrp="1"/>
          </p:cNvSpPr>
          <p:nvPr>
            <p:ph type="pic" idx="7"/>
          </p:nvPr>
        </p:nvSpPr>
        <p:spPr>
          <a:xfrm>
            <a:off x="4745684" y="2886074"/>
            <a:ext cx="1384200" cy="1384200"/>
          </a:xfrm>
          <a:prstGeom prst="rect">
            <a:avLst/>
          </a:prstGeom>
          <a:solidFill>
            <a:srgbClr val="F2F2F2"/>
          </a:solidFill>
          <a:ln>
            <a:noFill/>
          </a:ln>
        </p:spPr>
      </p:sp>
      <p:sp>
        <p:nvSpPr>
          <p:cNvPr id="341" name="Google Shape;341;g28fa4b45176_0_605"/>
          <p:cNvSpPr txBox="1">
            <a:spLocks noGrp="1"/>
          </p:cNvSpPr>
          <p:nvPr>
            <p:ph type="body" idx="8"/>
          </p:nvPr>
        </p:nvSpPr>
        <p:spPr>
          <a:xfrm>
            <a:off x="4551723" y="5084524"/>
            <a:ext cx="17385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42" name="Google Shape;342;g28fa4b45176_0_605"/>
          <p:cNvSpPr txBox="1">
            <a:spLocks noGrp="1"/>
          </p:cNvSpPr>
          <p:nvPr>
            <p:ph type="body" idx="9"/>
          </p:nvPr>
        </p:nvSpPr>
        <p:spPr>
          <a:xfrm>
            <a:off x="4745683" y="5478796"/>
            <a:ext cx="13842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43" name="Google Shape;343;g28fa4b45176_0_605"/>
          <p:cNvSpPr>
            <a:spLocks noGrp="1"/>
          </p:cNvSpPr>
          <p:nvPr>
            <p:ph type="pic" idx="13"/>
          </p:nvPr>
        </p:nvSpPr>
        <p:spPr>
          <a:xfrm>
            <a:off x="6560594" y="2886074"/>
            <a:ext cx="1384200" cy="1384200"/>
          </a:xfrm>
          <a:prstGeom prst="rect">
            <a:avLst/>
          </a:prstGeom>
          <a:solidFill>
            <a:srgbClr val="F2F2F2"/>
          </a:solidFill>
          <a:ln>
            <a:noFill/>
          </a:ln>
        </p:spPr>
      </p:sp>
      <p:sp>
        <p:nvSpPr>
          <p:cNvPr id="344" name="Google Shape;344;g28fa4b45176_0_605"/>
          <p:cNvSpPr txBox="1">
            <a:spLocks noGrp="1"/>
          </p:cNvSpPr>
          <p:nvPr>
            <p:ph type="body" idx="14"/>
          </p:nvPr>
        </p:nvSpPr>
        <p:spPr>
          <a:xfrm>
            <a:off x="6366634" y="5084524"/>
            <a:ext cx="17385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45" name="Google Shape;345;g28fa4b45176_0_605"/>
          <p:cNvSpPr txBox="1">
            <a:spLocks noGrp="1"/>
          </p:cNvSpPr>
          <p:nvPr>
            <p:ph type="body" idx="15"/>
          </p:nvPr>
        </p:nvSpPr>
        <p:spPr>
          <a:xfrm>
            <a:off x="6560594" y="5464114"/>
            <a:ext cx="13842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46" name="Google Shape;346;g28fa4b45176_0_605"/>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7" name="Google Shape;347;g28fa4b45176_0_605"/>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48" name="Google Shape;348;g28fa4b45176_0_605"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eam Slide 8 People">
  <p:cSld name="Team Slide 8 People">
    <p:bg>
      <p:bgPr>
        <a:solidFill>
          <a:schemeClr val="dk1"/>
        </a:solidFill>
        <a:effectLst/>
      </p:bgPr>
    </p:bg>
    <p:spTree>
      <p:nvGrpSpPr>
        <p:cNvPr id="1" name="Shape 349"/>
        <p:cNvGrpSpPr/>
        <p:nvPr/>
      </p:nvGrpSpPr>
      <p:grpSpPr>
        <a:xfrm>
          <a:off x="0" y="0"/>
          <a:ext cx="0" cy="0"/>
          <a:chOff x="0" y="0"/>
          <a:chExt cx="0" cy="0"/>
        </a:xfrm>
      </p:grpSpPr>
      <p:grpSp>
        <p:nvGrpSpPr>
          <p:cNvPr id="350" name="Google Shape;350;g28fa4b45176_0_622"/>
          <p:cNvGrpSpPr/>
          <p:nvPr/>
        </p:nvGrpSpPr>
        <p:grpSpPr>
          <a:xfrm>
            <a:off x="0" y="473953"/>
            <a:ext cx="9144000" cy="4216002"/>
            <a:chOff x="0" y="473953"/>
            <a:chExt cx="12192000" cy="5621336"/>
          </a:xfrm>
        </p:grpSpPr>
        <p:pic>
          <p:nvPicPr>
            <p:cNvPr id="351" name="Google Shape;351;g28fa4b45176_0_622"/>
            <p:cNvPicPr preferRelativeResize="0"/>
            <p:nvPr/>
          </p:nvPicPr>
          <p:blipFill rotWithShape="1">
            <a:blip r:embed="rId2">
              <a:alphaModFix/>
            </a:blip>
            <a:srcRect/>
            <a:stretch/>
          </p:blipFill>
          <p:spPr>
            <a:xfrm>
              <a:off x="0" y="473953"/>
              <a:ext cx="2057400" cy="1647825"/>
            </a:xfrm>
            <a:prstGeom prst="rect">
              <a:avLst/>
            </a:prstGeom>
            <a:noFill/>
            <a:ln>
              <a:noFill/>
            </a:ln>
          </p:spPr>
        </p:pic>
        <p:pic>
          <p:nvPicPr>
            <p:cNvPr id="352" name="Google Shape;352;g28fa4b45176_0_622"/>
            <p:cNvPicPr preferRelativeResize="0"/>
            <p:nvPr/>
          </p:nvPicPr>
          <p:blipFill rotWithShape="1">
            <a:blip r:embed="rId3">
              <a:alphaModFix/>
            </a:blip>
            <a:srcRect/>
            <a:stretch/>
          </p:blipFill>
          <p:spPr>
            <a:xfrm>
              <a:off x="11049000" y="5180889"/>
              <a:ext cx="1143000" cy="914400"/>
            </a:xfrm>
            <a:prstGeom prst="rect">
              <a:avLst/>
            </a:prstGeom>
            <a:noFill/>
            <a:ln>
              <a:noFill/>
            </a:ln>
          </p:spPr>
        </p:pic>
      </p:grpSp>
      <p:sp>
        <p:nvSpPr>
          <p:cNvPr id="353" name="Google Shape;353;g28fa4b45176_0_622"/>
          <p:cNvSpPr txBox="1">
            <a:spLocks noGrp="1"/>
          </p:cNvSpPr>
          <p:nvPr>
            <p:ph type="title"/>
          </p:nvPr>
        </p:nvSpPr>
        <p:spPr>
          <a:xfrm>
            <a:off x="1413867" y="892177"/>
            <a:ext cx="6316200" cy="13257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2800"/>
              <a:buFont typeface="Calibri"/>
              <a:buNone/>
              <a:defRPr sz="28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4" name="Google Shape;354;g28fa4b45176_0_622"/>
          <p:cNvSpPr>
            <a:spLocks noGrp="1"/>
          </p:cNvSpPr>
          <p:nvPr>
            <p:ph type="pic" idx="2"/>
          </p:nvPr>
        </p:nvSpPr>
        <p:spPr>
          <a:xfrm>
            <a:off x="1407882" y="2428875"/>
            <a:ext cx="800100" cy="800100"/>
          </a:xfrm>
          <a:prstGeom prst="rect">
            <a:avLst/>
          </a:prstGeom>
          <a:solidFill>
            <a:schemeClr val="lt1"/>
          </a:solidFill>
          <a:ln>
            <a:noFill/>
          </a:ln>
        </p:spPr>
      </p:sp>
      <p:sp>
        <p:nvSpPr>
          <p:cNvPr id="355" name="Google Shape;355;g28fa4b45176_0_622"/>
          <p:cNvSpPr txBox="1">
            <a:spLocks noGrp="1"/>
          </p:cNvSpPr>
          <p:nvPr>
            <p:ph type="body" idx="1"/>
          </p:nvPr>
        </p:nvSpPr>
        <p:spPr>
          <a:xfrm>
            <a:off x="1125126" y="3654378"/>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56" name="Google Shape;356;g28fa4b45176_0_622"/>
          <p:cNvSpPr txBox="1">
            <a:spLocks noGrp="1"/>
          </p:cNvSpPr>
          <p:nvPr>
            <p:ph type="body" idx="3"/>
          </p:nvPr>
        </p:nvSpPr>
        <p:spPr>
          <a:xfrm>
            <a:off x="1125126" y="3809747"/>
            <a:ext cx="13716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57" name="Google Shape;357;g28fa4b45176_0_622"/>
          <p:cNvSpPr>
            <a:spLocks noGrp="1"/>
          </p:cNvSpPr>
          <p:nvPr>
            <p:ph type="pic" idx="4"/>
          </p:nvPr>
        </p:nvSpPr>
        <p:spPr>
          <a:xfrm>
            <a:off x="3169703" y="2428875"/>
            <a:ext cx="800100" cy="800100"/>
          </a:xfrm>
          <a:prstGeom prst="rect">
            <a:avLst/>
          </a:prstGeom>
          <a:solidFill>
            <a:schemeClr val="lt1"/>
          </a:solidFill>
          <a:ln>
            <a:noFill/>
          </a:ln>
        </p:spPr>
      </p:sp>
      <p:sp>
        <p:nvSpPr>
          <p:cNvPr id="358" name="Google Shape;358;g28fa4b45176_0_622"/>
          <p:cNvSpPr txBox="1">
            <a:spLocks noGrp="1"/>
          </p:cNvSpPr>
          <p:nvPr>
            <p:ph type="body" idx="5"/>
          </p:nvPr>
        </p:nvSpPr>
        <p:spPr>
          <a:xfrm>
            <a:off x="2886946" y="3654378"/>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59" name="Google Shape;359;g28fa4b45176_0_622"/>
          <p:cNvSpPr txBox="1">
            <a:spLocks noGrp="1"/>
          </p:cNvSpPr>
          <p:nvPr>
            <p:ph type="body" idx="6"/>
          </p:nvPr>
        </p:nvSpPr>
        <p:spPr>
          <a:xfrm>
            <a:off x="2886946" y="3809747"/>
            <a:ext cx="13716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60" name="Google Shape;360;g28fa4b45176_0_622"/>
          <p:cNvSpPr>
            <a:spLocks noGrp="1"/>
          </p:cNvSpPr>
          <p:nvPr>
            <p:ph type="pic" idx="7"/>
          </p:nvPr>
        </p:nvSpPr>
        <p:spPr>
          <a:xfrm>
            <a:off x="4991688" y="2428875"/>
            <a:ext cx="800100" cy="800100"/>
          </a:xfrm>
          <a:prstGeom prst="rect">
            <a:avLst/>
          </a:prstGeom>
          <a:solidFill>
            <a:schemeClr val="lt1"/>
          </a:solidFill>
          <a:ln>
            <a:noFill/>
          </a:ln>
        </p:spPr>
      </p:sp>
      <p:sp>
        <p:nvSpPr>
          <p:cNvPr id="361" name="Google Shape;361;g28fa4b45176_0_622"/>
          <p:cNvSpPr txBox="1">
            <a:spLocks noGrp="1"/>
          </p:cNvSpPr>
          <p:nvPr>
            <p:ph type="body" idx="8"/>
          </p:nvPr>
        </p:nvSpPr>
        <p:spPr>
          <a:xfrm>
            <a:off x="4648766" y="3654378"/>
            <a:ext cx="15789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62" name="Google Shape;362;g28fa4b45176_0_622"/>
          <p:cNvSpPr txBox="1">
            <a:spLocks noGrp="1"/>
          </p:cNvSpPr>
          <p:nvPr>
            <p:ph type="body" idx="9"/>
          </p:nvPr>
        </p:nvSpPr>
        <p:spPr>
          <a:xfrm>
            <a:off x="4571999" y="3809747"/>
            <a:ext cx="17250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63" name="Google Shape;363;g28fa4b45176_0_622"/>
          <p:cNvSpPr>
            <a:spLocks noGrp="1"/>
          </p:cNvSpPr>
          <p:nvPr>
            <p:ph type="pic" idx="13"/>
          </p:nvPr>
        </p:nvSpPr>
        <p:spPr>
          <a:xfrm>
            <a:off x="6852611" y="2428875"/>
            <a:ext cx="800100" cy="800100"/>
          </a:xfrm>
          <a:prstGeom prst="rect">
            <a:avLst/>
          </a:prstGeom>
          <a:solidFill>
            <a:schemeClr val="lt1"/>
          </a:solidFill>
          <a:ln>
            <a:noFill/>
          </a:ln>
        </p:spPr>
      </p:sp>
      <p:sp>
        <p:nvSpPr>
          <p:cNvPr id="364" name="Google Shape;364;g28fa4b45176_0_622"/>
          <p:cNvSpPr txBox="1">
            <a:spLocks noGrp="1"/>
          </p:cNvSpPr>
          <p:nvPr>
            <p:ph type="body" idx="14"/>
          </p:nvPr>
        </p:nvSpPr>
        <p:spPr>
          <a:xfrm>
            <a:off x="6569855" y="3654378"/>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65" name="Google Shape;365;g28fa4b45176_0_622"/>
          <p:cNvSpPr txBox="1">
            <a:spLocks noGrp="1"/>
          </p:cNvSpPr>
          <p:nvPr>
            <p:ph type="body" idx="15"/>
          </p:nvPr>
        </p:nvSpPr>
        <p:spPr>
          <a:xfrm>
            <a:off x="6558360" y="3809747"/>
            <a:ext cx="13830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66" name="Google Shape;366;g28fa4b45176_0_622"/>
          <p:cNvSpPr>
            <a:spLocks noGrp="1"/>
          </p:cNvSpPr>
          <p:nvPr>
            <p:ph type="pic" idx="16"/>
          </p:nvPr>
        </p:nvSpPr>
        <p:spPr>
          <a:xfrm>
            <a:off x="1407882" y="4287711"/>
            <a:ext cx="800100" cy="800100"/>
          </a:xfrm>
          <a:prstGeom prst="rect">
            <a:avLst/>
          </a:prstGeom>
          <a:solidFill>
            <a:schemeClr val="lt1"/>
          </a:solidFill>
          <a:ln>
            <a:noFill/>
          </a:ln>
        </p:spPr>
      </p:sp>
      <p:sp>
        <p:nvSpPr>
          <p:cNvPr id="367" name="Google Shape;367;g28fa4b45176_0_622"/>
          <p:cNvSpPr txBox="1">
            <a:spLocks noGrp="1"/>
          </p:cNvSpPr>
          <p:nvPr>
            <p:ph type="body" idx="17"/>
          </p:nvPr>
        </p:nvSpPr>
        <p:spPr>
          <a:xfrm>
            <a:off x="1125126" y="5513214"/>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68" name="Google Shape;368;g28fa4b45176_0_622"/>
          <p:cNvSpPr txBox="1">
            <a:spLocks noGrp="1"/>
          </p:cNvSpPr>
          <p:nvPr>
            <p:ph type="body" idx="18"/>
          </p:nvPr>
        </p:nvSpPr>
        <p:spPr>
          <a:xfrm>
            <a:off x="1125126" y="5668583"/>
            <a:ext cx="13716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69" name="Google Shape;369;g28fa4b45176_0_622"/>
          <p:cNvSpPr>
            <a:spLocks noGrp="1"/>
          </p:cNvSpPr>
          <p:nvPr>
            <p:ph type="pic" idx="19"/>
          </p:nvPr>
        </p:nvSpPr>
        <p:spPr>
          <a:xfrm>
            <a:off x="3169703" y="4287711"/>
            <a:ext cx="800100" cy="800100"/>
          </a:xfrm>
          <a:prstGeom prst="rect">
            <a:avLst/>
          </a:prstGeom>
          <a:solidFill>
            <a:schemeClr val="lt1"/>
          </a:solidFill>
          <a:ln>
            <a:noFill/>
          </a:ln>
        </p:spPr>
      </p:sp>
      <p:sp>
        <p:nvSpPr>
          <p:cNvPr id="370" name="Google Shape;370;g28fa4b45176_0_622"/>
          <p:cNvSpPr txBox="1">
            <a:spLocks noGrp="1"/>
          </p:cNvSpPr>
          <p:nvPr>
            <p:ph type="body" idx="20"/>
          </p:nvPr>
        </p:nvSpPr>
        <p:spPr>
          <a:xfrm>
            <a:off x="2886946" y="5513214"/>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71" name="Google Shape;371;g28fa4b45176_0_622"/>
          <p:cNvSpPr txBox="1">
            <a:spLocks noGrp="1"/>
          </p:cNvSpPr>
          <p:nvPr>
            <p:ph type="body" idx="21"/>
          </p:nvPr>
        </p:nvSpPr>
        <p:spPr>
          <a:xfrm>
            <a:off x="2886946" y="5668583"/>
            <a:ext cx="13716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72" name="Google Shape;372;g28fa4b45176_0_622"/>
          <p:cNvSpPr>
            <a:spLocks noGrp="1"/>
          </p:cNvSpPr>
          <p:nvPr>
            <p:ph type="pic" idx="22"/>
          </p:nvPr>
        </p:nvSpPr>
        <p:spPr>
          <a:xfrm>
            <a:off x="4991688" y="4287711"/>
            <a:ext cx="800100" cy="800100"/>
          </a:xfrm>
          <a:prstGeom prst="rect">
            <a:avLst/>
          </a:prstGeom>
          <a:solidFill>
            <a:schemeClr val="lt1"/>
          </a:solidFill>
          <a:ln>
            <a:noFill/>
          </a:ln>
        </p:spPr>
      </p:sp>
      <p:sp>
        <p:nvSpPr>
          <p:cNvPr id="373" name="Google Shape;373;g28fa4b45176_0_622"/>
          <p:cNvSpPr txBox="1">
            <a:spLocks noGrp="1"/>
          </p:cNvSpPr>
          <p:nvPr>
            <p:ph type="body" idx="23"/>
          </p:nvPr>
        </p:nvSpPr>
        <p:spPr>
          <a:xfrm>
            <a:off x="4754945" y="5513214"/>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74" name="Google Shape;374;g28fa4b45176_0_622"/>
          <p:cNvSpPr txBox="1">
            <a:spLocks noGrp="1"/>
          </p:cNvSpPr>
          <p:nvPr>
            <p:ph type="body" idx="24"/>
          </p:nvPr>
        </p:nvSpPr>
        <p:spPr>
          <a:xfrm>
            <a:off x="4754945" y="5668583"/>
            <a:ext cx="13602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75" name="Google Shape;375;g28fa4b45176_0_622"/>
          <p:cNvSpPr>
            <a:spLocks noGrp="1"/>
          </p:cNvSpPr>
          <p:nvPr>
            <p:ph type="pic" idx="25"/>
          </p:nvPr>
        </p:nvSpPr>
        <p:spPr>
          <a:xfrm>
            <a:off x="6852611" y="4287711"/>
            <a:ext cx="800100" cy="800100"/>
          </a:xfrm>
          <a:prstGeom prst="rect">
            <a:avLst/>
          </a:prstGeom>
          <a:solidFill>
            <a:schemeClr val="lt1"/>
          </a:solidFill>
          <a:ln>
            <a:noFill/>
          </a:ln>
        </p:spPr>
      </p:sp>
      <p:sp>
        <p:nvSpPr>
          <p:cNvPr id="376" name="Google Shape;376;g28fa4b45176_0_622"/>
          <p:cNvSpPr txBox="1">
            <a:spLocks noGrp="1"/>
          </p:cNvSpPr>
          <p:nvPr>
            <p:ph type="body" idx="26"/>
          </p:nvPr>
        </p:nvSpPr>
        <p:spPr>
          <a:xfrm>
            <a:off x="6569855" y="5513214"/>
            <a:ext cx="1371600" cy="3432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77" name="Google Shape;377;g28fa4b45176_0_622"/>
          <p:cNvSpPr txBox="1">
            <a:spLocks noGrp="1"/>
          </p:cNvSpPr>
          <p:nvPr>
            <p:ph type="body" idx="27"/>
          </p:nvPr>
        </p:nvSpPr>
        <p:spPr>
          <a:xfrm>
            <a:off x="6558360" y="5668583"/>
            <a:ext cx="1383000" cy="343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78" name="Google Shape;378;g28fa4b45176_0_622"/>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9" name="Google Shape;379;g28fa4b45176_0_622"/>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380"/>
        <p:cNvGrpSpPr/>
        <p:nvPr/>
      </p:nvGrpSpPr>
      <p:grpSpPr>
        <a:xfrm>
          <a:off x="0" y="0"/>
          <a:ext cx="0" cy="0"/>
          <a:chOff x="0" y="0"/>
          <a:chExt cx="0" cy="0"/>
        </a:xfrm>
      </p:grpSpPr>
      <p:sp>
        <p:nvSpPr>
          <p:cNvPr id="381" name="Google Shape;381;g28fa4b45176_0_653"/>
          <p:cNvSpPr/>
          <p:nvPr/>
        </p:nvSpPr>
        <p:spPr>
          <a:xfrm>
            <a:off x="1585413" y="0"/>
            <a:ext cx="7558587" cy="6858000"/>
          </a:xfrm>
          <a:custGeom>
            <a:avLst/>
            <a:gdLst/>
            <a:ahLst/>
            <a:cxnLst/>
            <a:rect l="l" t="t" r="r" b="b"/>
            <a:pathLst>
              <a:path w="10078116" h="6858000" extrusionOk="0">
                <a:moveTo>
                  <a:pt x="3793236" y="6858000"/>
                </a:moveTo>
                <a:lnTo>
                  <a:pt x="0" y="0"/>
                </a:lnTo>
                <a:lnTo>
                  <a:pt x="10078116" y="0"/>
                </a:lnTo>
                <a:lnTo>
                  <a:pt x="10078116" y="685800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2" name="Google Shape;382;g28fa4b45176_0_653"/>
          <p:cNvSpPr txBox="1">
            <a:spLocks noGrp="1"/>
          </p:cNvSpPr>
          <p:nvPr>
            <p:ph type="body" idx="1"/>
          </p:nvPr>
        </p:nvSpPr>
        <p:spPr>
          <a:xfrm>
            <a:off x="124556" y="1716780"/>
            <a:ext cx="1606200" cy="51450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400"/>
              <a:buNone/>
              <a:defRPr sz="2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3" name="Google Shape;383;g28fa4b45176_0_653"/>
          <p:cNvSpPr txBox="1">
            <a:spLocks noGrp="1"/>
          </p:cNvSpPr>
          <p:nvPr>
            <p:ph type="body" idx="2"/>
          </p:nvPr>
        </p:nvSpPr>
        <p:spPr>
          <a:xfrm>
            <a:off x="549098" y="2793105"/>
            <a:ext cx="1606200" cy="51450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000"/>
              <a:buNone/>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4" name="Google Shape;384;g28fa4b45176_0_653"/>
          <p:cNvSpPr txBox="1">
            <a:spLocks noGrp="1"/>
          </p:cNvSpPr>
          <p:nvPr>
            <p:ph type="body" idx="3"/>
          </p:nvPr>
        </p:nvSpPr>
        <p:spPr>
          <a:xfrm>
            <a:off x="1003917" y="3869430"/>
            <a:ext cx="1606200" cy="51450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000"/>
              <a:buNone/>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5" name="Google Shape;385;g28fa4b45176_0_653"/>
          <p:cNvSpPr txBox="1">
            <a:spLocks noGrp="1"/>
          </p:cNvSpPr>
          <p:nvPr>
            <p:ph type="body" idx="4"/>
          </p:nvPr>
        </p:nvSpPr>
        <p:spPr>
          <a:xfrm>
            <a:off x="1442067" y="4958819"/>
            <a:ext cx="1606200" cy="51450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000"/>
              <a:buNone/>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6" name="Google Shape;386;g28fa4b45176_0_653"/>
          <p:cNvSpPr txBox="1">
            <a:spLocks noGrp="1"/>
          </p:cNvSpPr>
          <p:nvPr>
            <p:ph type="body" idx="5"/>
          </p:nvPr>
        </p:nvSpPr>
        <p:spPr>
          <a:xfrm>
            <a:off x="3291355" y="1482898"/>
            <a:ext cx="3827100" cy="10107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7" name="Google Shape;387;g28fa4b45176_0_653"/>
          <p:cNvSpPr txBox="1">
            <a:spLocks noGrp="1"/>
          </p:cNvSpPr>
          <p:nvPr>
            <p:ph type="body" idx="6"/>
          </p:nvPr>
        </p:nvSpPr>
        <p:spPr>
          <a:xfrm>
            <a:off x="3739522" y="2604186"/>
            <a:ext cx="3827100" cy="10107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8" name="Google Shape;388;g28fa4b45176_0_653"/>
          <p:cNvSpPr txBox="1">
            <a:spLocks noGrp="1"/>
          </p:cNvSpPr>
          <p:nvPr>
            <p:ph type="body" idx="7"/>
          </p:nvPr>
        </p:nvSpPr>
        <p:spPr>
          <a:xfrm>
            <a:off x="4182704" y="3677018"/>
            <a:ext cx="3827100" cy="10107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9" name="Google Shape;389;g28fa4b45176_0_653"/>
          <p:cNvSpPr txBox="1">
            <a:spLocks noGrp="1"/>
          </p:cNvSpPr>
          <p:nvPr>
            <p:ph type="body" idx="8"/>
          </p:nvPr>
        </p:nvSpPr>
        <p:spPr>
          <a:xfrm>
            <a:off x="4631460" y="4785241"/>
            <a:ext cx="3827100" cy="10107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0" name="Google Shape;390;g28fa4b45176_0_653"/>
          <p:cNvSpPr txBox="1">
            <a:spLocks noGrp="1"/>
          </p:cNvSpPr>
          <p:nvPr>
            <p:ph type="ftr" idx="11"/>
          </p:nvPr>
        </p:nvSpPr>
        <p:spPr>
          <a:xfrm>
            <a:off x="5061857" y="6356350"/>
            <a:ext cx="28320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1" name="Google Shape;391;g28fa4b45176_0_653"/>
          <p:cNvSpPr txBox="1">
            <a:spLocks noGrp="1"/>
          </p:cNvSpPr>
          <p:nvPr>
            <p:ph type="sldNum" idx="12"/>
          </p:nvPr>
        </p:nvSpPr>
        <p:spPr>
          <a:xfrm>
            <a:off x="8108156" y="6356350"/>
            <a:ext cx="4071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392" name="Google Shape;392;g28fa4b45176_0_653"/>
          <p:cNvCxnSpPr/>
          <p:nvPr/>
        </p:nvCxnSpPr>
        <p:spPr>
          <a:xfrm>
            <a:off x="3265136" y="5259067"/>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393" name="Google Shape;393;g28fa4b45176_0_653"/>
          <p:cNvCxnSpPr/>
          <p:nvPr/>
        </p:nvCxnSpPr>
        <p:spPr>
          <a:xfrm>
            <a:off x="2819938" y="4157459"/>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394" name="Google Shape;394;g28fa4b45176_0_653"/>
          <p:cNvCxnSpPr/>
          <p:nvPr/>
        </p:nvCxnSpPr>
        <p:spPr>
          <a:xfrm>
            <a:off x="2380090" y="3081694"/>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395" name="Google Shape;395;g28fa4b45176_0_653"/>
          <p:cNvCxnSpPr/>
          <p:nvPr/>
        </p:nvCxnSpPr>
        <p:spPr>
          <a:xfrm>
            <a:off x="1939697" y="2005091"/>
            <a:ext cx="1134900" cy="0"/>
          </a:xfrm>
          <a:prstGeom prst="straightConnector1">
            <a:avLst/>
          </a:prstGeom>
          <a:noFill/>
          <a:ln w="9525" cap="flat" cmpd="sng">
            <a:solidFill>
              <a:schemeClr val="dk1"/>
            </a:solidFill>
            <a:prstDash val="solid"/>
            <a:miter lim="800000"/>
            <a:headEnd type="none" w="sm" len="sm"/>
            <a:tailEnd type="none" w="sm" len="sm"/>
          </a:ln>
        </p:spPr>
      </p:cxnSp>
      <p:pic>
        <p:nvPicPr>
          <p:cNvPr id="396" name="Google Shape;396;g28fa4b45176_0_653"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
        <p:nvSpPr>
          <p:cNvPr id="397" name="Google Shape;397;g28fa4b45176_0_653"/>
          <p:cNvSpPr txBox="1"/>
          <p:nvPr/>
        </p:nvSpPr>
        <p:spPr>
          <a:xfrm>
            <a:off x="547282" y="574358"/>
            <a:ext cx="4504200" cy="6531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3200"/>
              <a:buFont typeface="Calibri"/>
              <a:buNone/>
            </a:pPr>
            <a:r>
              <a:rPr lang="en-US" sz="3200" b="0" i="0" u="none" strike="noStrike" cap="none">
                <a:solidFill>
                  <a:schemeClr val="dk1"/>
                </a:solidFill>
                <a:latin typeface="Calibri"/>
                <a:ea typeface="Calibri"/>
                <a:cs typeface="Calibri"/>
                <a:sym typeface="Calibri"/>
              </a:rPr>
              <a:t>Agenda</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chemeClr val="accent1"/>
        </a:solidFill>
        <a:effectLst/>
      </p:bgPr>
    </p:bg>
    <p:spTree>
      <p:nvGrpSpPr>
        <p:cNvPr id="1" name="Shape 398"/>
        <p:cNvGrpSpPr/>
        <p:nvPr/>
      </p:nvGrpSpPr>
      <p:grpSpPr>
        <a:xfrm>
          <a:off x="0" y="0"/>
          <a:ext cx="0" cy="0"/>
          <a:chOff x="0" y="0"/>
          <a:chExt cx="0" cy="0"/>
        </a:xfrm>
      </p:grpSpPr>
      <p:sp>
        <p:nvSpPr>
          <p:cNvPr id="399" name="Google Shape;399;g28fa4b45176_0_671"/>
          <p:cNvSpPr txBox="1">
            <a:spLocks noGrp="1"/>
          </p:cNvSpPr>
          <p:nvPr>
            <p:ph type="title"/>
          </p:nvPr>
        </p:nvSpPr>
        <p:spPr>
          <a:xfrm>
            <a:off x="932328" y="443369"/>
            <a:ext cx="7583100" cy="10515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0" name="Google Shape;400;g28fa4b45176_0_671"/>
          <p:cNvSpPr txBox="1">
            <a:spLocks noGrp="1"/>
          </p:cNvSpPr>
          <p:nvPr>
            <p:ph type="body" idx="1"/>
          </p:nvPr>
        </p:nvSpPr>
        <p:spPr>
          <a:xfrm>
            <a:off x="932327" y="1932770"/>
            <a:ext cx="2161800" cy="823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01" name="Google Shape;401;g28fa4b45176_0_671"/>
          <p:cNvSpPr txBox="1">
            <a:spLocks noGrp="1"/>
          </p:cNvSpPr>
          <p:nvPr>
            <p:ph type="body" idx="2"/>
          </p:nvPr>
        </p:nvSpPr>
        <p:spPr>
          <a:xfrm>
            <a:off x="932328" y="3056709"/>
            <a:ext cx="2161800" cy="2775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2" name="Google Shape;402;g28fa4b45176_0_671"/>
          <p:cNvSpPr txBox="1">
            <a:spLocks noGrp="1"/>
          </p:cNvSpPr>
          <p:nvPr>
            <p:ph type="body" idx="3"/>
          </p:nvPr>
        </p:nvSpPr>
        <p:spPr>
          <a:xfrm>
            <a:off x="3485748" y="1953443"/>
            <a:ext cx="2172600" cy="823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03" name="Google Shape;403;g28fa4b45176_0_671"/>
          <p:cNvSpPr txBox="1">
            <a:spLocks noGrp="1"/>
          </p:cNvSpPr>
          <p:nvPr>
            <p:ph type="body" idx="4"/>
          </p:nvPr>
        </p:nvSpPr>
        <p:spPr>
          <a:xfrm>
            <a:off x="3485749" y="3056709"/>
            <a:ext cx="2172600" cy="2775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4" name="Google Shape;404;g28fa4b45176_0_671"/>
          <p:cNvSpPr txBox="1">
            <a:spLocks noGrp="1"/>
          </p:cNvSpPr>
          <p:nvPr>
            <p:ph type="body" idx="5"/>
          </p:nvPr>
        </p:nvSpPr>
        <p:spPr>
          <a:xfrm>
            <a:off x="6049815" y="1958896"/>
            <a:ext cx="2161800" cy="823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05" name="Google Shape;405;g28fa4b45176_0_671"/>
          <p:cNvSpPr txBox="1">
            <a:spLocks noGrp="1"/>
          </p:cNvSpPr>
          <p:nvPr>
            <p:ph type="body" idx="6"/>
          </p:nvPr>
        </p:nvSpPr>
        <p:spPr>
          <a:xfrm>
            <a:off x="6049816" y="3056709"/>
            <a:ext cx="2161800" cy="2775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6" name="Google Shape;406;g28fa4b45176_0_671"/>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7" name="Google Shape;407;g28fa4b45176_0_671"/>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408" name="Google Shape;408;g28fa4b45176_0_671"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ummary">
  <p:cSld name="Summary">
    <p:spTree>
      <p:nvGrpSpPr>
        <p:cNvPr id="1" name="Shape 409"/>
        <p:cNvGrpSpPr/>
        <p:nvPr/>
      </p:nvGrpSpPr>
      <p:grpSpPr>
        <a:xfrm>
          <a:off x="0" y="0"/>
          <a:ext cx="0" cy="0"/>
          <a:chOff x="0" y="0"/>
          <a:chExt cx="0" cy="0"/>
        </a:xfrm>
      </p:grpSpPr>
      <p:sp>
        <p:nvSpPr>
          <p:cNvPr id="410" name="Google Shape;410;g28fa4b45176_0_682"/>
          <p:cNvSpPr txBox="1">
            <a:spLocks noGrp="1"/>
          </p:cNvSpPr>
          <p:nvPr>
            <p:ph type="title"/>
          </p:nvPr>
        </p:nvSpPr>
        <p:spPr>
          <a:xfrm>
            <a:off x="2890157" y="1671639"/>
            <a:ext cx="5051400" cy="12048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1" name="Google Shape;411;g28fa4b45176_0_682"/>
          <p:cNvSpPr txBox="1">
            <a:spLocks noGrp="1"/>
          </p:cNvSpPr>
          <p:nvPr>
            <p:ph type="body" idx="1"/>
          </p:nvPr>
        </p:nvSpPr>
        <p:spPr>
          <a:xfrm>
            <a:off x="2890157" y="3660774"/>
            <a:ext cx="5051400" cy="15255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12" name="Google Shape;412;g28fa4b45176_0_682"/>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3" name="Google Shape;413;g28fa4b45176_0_682"/>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414" name="Google Shape;414;g28fa4b45176_0_682" descr="BITS Pilani logo"/>
          <p:cNvPicPr preferRelativeResize="0"/>
          <p:nvPr/>
        </p:nvPicPr>
        <p:blipFill rotWithShape="1">
          <a:blip r:embed="rId2">
            <a:alphaModFix/>
          </a:blip>
          <a:srcRect/>
          <a:stretch/>
        </p:blipFill>
        <p:spPr>
          <a:xfrm>
            <a:off x="6627529" y="192510"/>
            <a:ext cx="2504055" cy="649430"/>
          </a:xfrm>
          <a:prstGeom prst="rect">
            <a:avLst/>
          </a:prstGeom>
          <a:noFill/>
          <a:ln>
            <a:noFill/>
          </a:ln>
        </p:spPr>
      </p:pic>
    </p:spTree>
  </p:cSld>
  <p:clrMapOvr>
    <a:masterClrMapping/>
  </p:clrMapOvr>
  <p:extLst>
    <p:ext uri="{DCECCB84-F9BA-43D5-87BE-67443E8EF086}">
      <p15:sldGuideLst xmlns:p15="http://schemas.microsoft.com/office/powerpoint/2012/main">
        <p15:guide id="1" pos="225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losing">
  <p:cSld name="Closing">
    <p:bg>
      <p:bgPr>
        <a:solidFill>
          <a:schemeClr val="dk1"/>
        </a:solidFill>
        <a:effectLst/>
      </p:bgPr>
    </p:bg>
    <p:spTree>
      <p:nvGrpSpPr>
        <p:cNvPr id="1" name="Shape 415"/>
        <p:cNvGrpSpPr/>
        <p:nvPr/>
      </p:nvGrpSpPr>
      <p:grpSpPr>
        <a:xfrm>
          <a:off x="0" y="0"/>
          <a:ext cx="0" cy="0"/>
          <a:chOff x="0" y="0"/>
          <a:chExt cx="0" cy="0"/>
        </a:xfrm>
      </p:grpSpPr>
      <p:sp>
        <p:nvSpPr>
          <p:cNvPr id="416" name="Google Shape;416;g28fa4b45176_0_688"/>
          <p:cNvSpPr txBox="1">
            <a:spLocks noGrp="1"/>
          </p:cNvSpPr>
          <p:nvPr>
            <p:ph type="ctrTitle"/>
          </p:nvPr>
        </p:nvSpPr>
        <p:spPr>
          <a:xfrm>
            <a:off x="3200400" y="1615736"/>
            <a:ext cx="3134700" cy="1524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7" name="Google Shape;417;g28fa4b45176_0_688"/>
          <p:cNvSpPr txBox="1">
            <a:spLocks noGrp="1"/>
          </p:cNvSpPr>
          <p:nvPr>
            <p:ph type="subTitle" idx="1"/>
          </p:nvPr>
        </p:nvSpPr>
        <p:spPr>
          <a:xfrm>
            <a:off x="3200400" y="3238103"/>
            <a:ext cx="3134700" cy="1371900"/>
          </a:xfrm>
          <a:prstGeom prst="rect">
            <a:avLst/>
          </a:prstGeom>
          <a:noFill/>
          <a:ln>
            <a:noFill/>
          </a:ln>
        </p:spPr>
        <p:txBody>
          <a:bodyPr spcFirstLastPara="1" wrap="square" lIns="91425" tIns="45700" rIns="91425" bIns="45700" anchor="t" anchorCtr="0">
            <a:normAutofit/>
          </a:bodyPr>
          <a:lstStyle>
            <a:lvl1pPr lvl="0" algn="l">
              <a:lnSpc>
                <a:spcPct val="150000"/>
              </a:lnSpc>
              <a:spcBef>
                <a:spcPts val="1000"/>
              </a:spcBef>
              <a:spcAft>
                <a:spcPts val="0"/>
              </a:spcAft>
              <a:buClr>
                <a:schemeClr val="lt1"/>
              </a:buClr>
              <a:buSzPts val="1400"/>
              <a:buNone/>
              <a:defRPr sz="1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18" name="Google Shape;418;g28fa4b45176_0_688"/>
          <p:cNvPicPr preferRelativeResize="0"/>
          <p:nvPr/>
        </p:nvPicPr>
        <p:blipFill rotWithShape="1">
          <a:blip r:embed="rId2">
            <a:alphaModFix/>
          </a:blip>
          <a:srcRect/>
          <a:stretch/>
        </p:blipFill>
        <p:spPr>
          <a:xfrm>
            <a:off x="0" y="0"/>
            <a:ext cx="2382704" cy="5143500"/>
          </a:xfrm>
          <a:prstGeom prst="rect">
            <a:avLst/>
          </a:prstGeom>
          <a:noFill/>
          <a:ln>
            <a:noFill/>
          </a:ln>
        </p:spPr>
      </p:pic>
      <p:sp>
        <p:nvSpPr>
          <p:cNvPr id="419" name="Google Shape;419;g28fa4b45176_0_688"/>
          <p:cNvSpPr txBox="1">
            <a:spLocks noGrp="1"/>
          </p:cNvSpPr>
          <p:nvPr>
            <p:ph type="ftr" idx="11"/>
          </p:nvPr>
        </p:nvSpPr>
        <p:spPr>
          <a:xfrm>
            <a:off x="4859791" y="6356350"/>
            <a:ext cx="1996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0" name="Google Shape;420;g28fa4b45176_0_688"/>
          <p:cNvSpPr txBox="1">
            <a:spLocks noGrp="1"/>
          </p:cNvSpPr>
          <p:nvPr>
            <p:ph type="sldNum" idx="12"/>
          </p:nvPr>
        </p:nvSpPr>
        <p:spPr>
          <a:xfrm>
            <a:off x="7184571" y="6356350"/>
            <a:ext cx="1330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theme" Target="../theme/theme3.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28fa4b45176_0_192"/>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g28fa4b45176_0_192"/>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g28fa4b45176_0_192"/>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g28fa4b45176_0_192"/>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8"/>
        <p:cNvGrpSpPr/>
        <p:nvPr/>
      </p:nvGrpSpPr>
      <p:grpSpPr>
        <a:xfrm>
          <a:off x="0" y="0"/>
          <a:ext cx="0" cy="0"/>
          <a:chOff x="0" y="0"/>
          <a:chExt cx="0" cy="0"/>
        </a:xfrm>
      </p:grpSpPr>
      <p:sp>
        <p:nvSpPr>
          <p:cNvPr id="179" name="Google Shape;179;p106"/>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400"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4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4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4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4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4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4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4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400" b="0" i="0" u="none" strike="noStrike" cap="none">
                <a:solidFill>
                  <a:schemeClr val="dk2"/>
                </a:solidFill>
                <a:latin typeface="Arial"/>
                <a:ea typeface="Arial"/>
                <a:cs typeface="Arial"/>
                <a:sym typeface="Arial"/>
              </a:defRPr>
            </a:lvl9pPr>
          </a:lstStyle>
          <a:p>
            <a:endParaRPr/>
          </a:p>
        </p:txBody>
      </p:sp>
      <p:sp>
        <p:nvSpPr>
          <p:cNvPr id="180" name="Google Shape;180;p106"/>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8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81" name="Google Shape;181;p10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82" name="Google Shape;182;p10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83" name="Google Shape;183;p10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cxnSp>
        <p:nvCxnSpPr>
          <p:cNvPr id="184" name="Google Shape;184;p106"/>
          <p:cNvCxnSpPr/>
          <p:nvPr/>
        </p:nvCxnSpPr>
        <p:spPr>
          <a:xfrm>
            <a:off x="685800" y="838200"/>
            <a:ext cx="7772400" cy="0"/>
          </a:xfrm>
          <a:prstGeom prst="straightConnector1">
            <a:avLst/>
          </a:prstGeom>
          <a:noFill/>
          <a:ln w="38100" cap="flat" cmpd="sng">
            <a:solidFill>
              <a:schemeClr val="dk1"/>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3"/>
        <p:cNvGrpSpPr/>
        <p:nvPr/>
      </p:nvGrpSpPr>
      <p:grpSpPr>
        <a:xfrm>
          <a:off x="0" y="0"/>
          <a:ext cx="0" cy="0"/>
          <a:chOff x="0" y="0"/>
          <a:chExt cx="0" cy="0"/>
        </a:xfrm>
      </p:grpSpPr>
      <p:sp>
        <p:nvSpPr>
          <p:cNvPr id="264" name="Google Shape;264;g28fa4b45176_0_536"/>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5" name="Google Shape;265;g28fa4b45176_0_536"/>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6" name="Google Shape;266;g28fa4b45176_0_536"/>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67" name="Google Shape;267;g28fa4b45176_0_536"/>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linkedin.com/in/goelaakash123/"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4.xml"/><Relationship Id="rId1" Type="http://schemas.openxmlformats.org/officeDocument/2006/relationships/slideLayout" Target="../slideLayouts/slideLayout20.xml"/><Relationship Id="rId4" Type="http://schemas.openxmlformats.org/officeDocument/2006/relationships/image" Target="../media/image10.jpg"/></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5.xml"/><Relationship Id="rId1" Type="http://schemas.openxmlformats.org/officeDocument/2006/relationships/slideLayout" Target="../slideLayouts/slideLayout20.xml"/><Relationship Id="rId4" Type="http://schemas.openxmlformats.org/officeDocument/2006/relationships/image" Target="../media/image10.jpg"/></Relationships>
</file>

<file path=ppt/slides/_rels/slide2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8.xml"/><Relationship Id="rId1" Type="http://schemas.openxmlformats.org/officeDocument/2006/relationships/slideLayout" Target="../slideLayouts/slideLayout20.xml"/><Relationship Id="rId4" Type="http://schemas.openxmlformats.org/officeDocument/2006/relationships/image" Target="../media/image22.jpg"/></Relationships>
</file>

<file path=ppt/slides/_rels/slide30.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0.xml"/><Relationship Id="rId6" Type="http://schemas.openxmlformats.org/officeDocument/2006/relationships/image" Target="../media/image23.png"/><Relationship Id="rId5" Type="http://schemas.openxmlformats.org/officeDocument/2006/relationships/image" Target="../media/image22.jpg"/><Relationship Id="rId4" Type="http://schemas.openxmlformats.org/officeDocument/2006/relationships/image" Target="../media/image9.jp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0.xml"/><Relationship Id="rId6" Type="http://schemas.openxmlformats.org/officeDocument/2006/relationships/image" Target="../media/image9.jpg"/><Relationship Id="rId5" Type="http://schemas.openxmlformats.org/officeDocument/2006/relationships/image" Target="../media/image26.png"/><Relationship Id="rId4" Type="http://schemas.openxmlformats.org/officeDocument/2006/relationships/image" Target="../media/image22.jp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hyperlink" Target="mailto:horak@feec.vutbr.cz" TargetMode="External"/><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19.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9.xml"/><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19.xml"/><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19.xml"/><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8.xml"/><Relationship Id="rId1" Type="http://schemas.openxmlformats.org/officeDocument/2006/relationships/slideLayout" Target="../slideLayouts/slideLayout19.xml"/><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0.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1.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D0C69-C9ED-17AF-8127-828113E1227F}"/>
              </a:ext>
            </a:extLst>
          </p:cNvPr>
          <p:cNvSpPr>
            <a:spLocks noGrp="1"/>
          </p:cNvSpPr>
          <p:nvPr>
            <p:ph type="title"/>
          </p:nvPr>
        </p:nvSpPr>
        <p:spPr/>
        <p:txBody>
          <a:bodyPr>
            <a:normAutofit/>
          </a:bodyPr>
          <a:lstStyle/>
          <a:p>
            <a:r>
              <a:rPr lang="en-US" sz="1575" dirty="0"/>
              <a:t>Aakash Goel</a:t>
            </a:r>
            <a:br>
              <a:rPr lang="en-US" sz="1575" dirty="0"/>
            </a:br>
            <a:r>
              <a:rPr lang="en-US" sz="1575" dirty="0">
                <a:hlinkClick r:id="rId2"/>
              </a:rPr>
              <a:t>https://www.linkedin.com/in/goelaakash123/</a:t>
            </a:r>
            <a:endParaRPr lang="en-US" dirty="0"/>
          </a:p>
        </p:txBody>
      </p:sp>
      <p:sp>
        <p:nvSpPr>
          <p:cNvPr id="3" name="Subtitle 2">
            <a:extLst>
              <a:ext uri="{FF2B5EF4-FFF2-40B4-BE49-F238E27FC236}">
                <a16:creationId xmlns:a16="http://schemas.microsoft.com/office/drawing/2014/main" id="{C84DECD3-7272-A66B-D05A-F5C716C54AE3}"/>
              </a:ext>
            </a:extLst>
          </p:cNvPr>
          <p:cNvSpPr>
            <a:spLocks noGrp="1"/>
          </p:cNvSpPr>
          <p:nvPr>
            <p:ph type="subTitle" idx="1"/>
          </p:nvPr>
        </p:nvSpPr>
        <p:spPr>
          <a:xfrm>
            <a:off x="3699909" y="4956816"/>
            <a:ext cx="3766542" cy="387464"/>
          </a:xfrm>
        </p:spPr>
        <p:txBody>
          <a:bodyPr>
            <a:noAutofit/>
          </a:bodyPr>
          <a:lstStyle/>
          <a:p>
            <a:r>
              <a:rPr lang="en-US" sz="675" dirty="0"/>
              <a:t>Acknowledgement: </a:t>
            </a:r>
            <a:r>
              <a:rPr lang="en-US" sz="675" dirty="0">
                <a:solidFill>
                  <a:srgbClr val="FF0000"/>
                </a:solidFill>
                <a:latin typeface="Arial"/>
                <a:ea typeface="Arial"/>
                <a:cs typeface="Arial"/>
                <a:sym typeface="Arial"/>
              </a:rPr>
              <a:t>Slide Materials adopted from  - Intro to Computer Vision (Cornell Tech); Noah Snavely, </a:t>
            </a:r>
            <a:r>
              <a:rPr lang="en-US" sz="675" dirty="0">
                <a:solidFill>
                  <a:srgbClr val="FF0000"/>
                </a:solidFill>
              </a:rPr>
              <a:t>prepared by the lead instructor Prof S P Vimal , modified (added some content) by Aakash Goel</a:t>
            </a:r>
          </a:p>
        </p:txBody>
      </p:sp>
      <p:sp>
        <p:nvSpPr>
          <p:cNvPr id="4" name="Slide Number Placeholder 3">
            <a:extLst>
              <a:ext uri="{FF2B5EF4-FFF2-40B4-BE49-F238E27FC236}">
                <a16:creationId xmlns:a16="http://schemas.microsoft.com/office/drawing/2014/main" id="{CF5FF7BA-7C01-3743-F6C5-F75895750147}"/>
              </a:ext>
            </a:extLst>
          </p:cNvPr>
          <p:cNvSpPr>
            <a:spLocks noGrp="1"/>
          </p:cNvSpPr>
          <p:nvPr>
            <p:ph type="sldNum" idx="12"/>
          </p:nvPr>
        </p:nvSpPr>
        <p:spPr/>
        <p:txBody>
          <a:bodyPr/>
          <a:lstStyle/>
          <a:p>
            <a:fld id="{00000000-1234-1234-1234-123412341234}" type="slidenum">
              <a:rPr lang="en-US" smtClean="0"/>
              <a:pPr/>
              <a:t>1</a:t>
            </a:fld>
            <a:endParaRPr lang="en-US"/>
          </a:p>
        </p:txBody>
      </p:sp>
      <p:sp>
        <p:nvSpPr>
          <p:cNvPr id="6" name="TextBox 5">
            <a:extLst>
              <a:ext uri="{FF2B5EF4-FFF2-40B4-BE49-F238E27FC236}">
                <a16:creationId xmlns:a16="http://schemas.microsoft.com/office/drawing/2014/main" id="{FAB6B0C6-F660-E59C-6C87-5A6540BC8E38}"/>
              </a:ext>
            </a:extLst>
          </p:cNvPr>
          <p:cNvSpPr txBox="1"/>
          <p:nvPr/>
        </p:nvSpPr>
        <p:spPr>
          <a:xfrm>
            <a:off x="1580493" y="2573174"/>
            <a:ext cx="3429000" cy="336695"/>
          </a:xfrm>
          <a:prstGeom prst="rect">
            <a:avLst/>
          </a:prstGeom>
          <a:noFill/>
        </p:spPr>
        <p:txBody>
          <a:bodyPr wrap="square">
            <a:spAutoFit/>
          </a:bodyPr>
          <a:lstStyle/>
          <a:p>
            <a:pPr>
              <a:buClr>
                <a:schemeClr val="dk1"/>
              </a:buClr>
              <a:buSzPts val="3600"/>
            </a:pPr>
            <a:r>
              <a:rPr lang="en-US" sz="788" b="1" u="sng" dirty="0"/>
              <a:t>Session 12: </a:t>
            </a:r>
          </a:p>
          <a:p>
            <a:pPr>
              <a:buClr>
                <a:schemeClr val="dk1"/>
              </a:buClr>
              <a:buSzPts val="3600"/>
            </a:pPr>
            <a:r>
              <a:rPr lang="en-US" sz="800" dirty="0"/>
              <a:t>Semantic Segmentation and CV Metrics</a:t>
            </a:r>
            <a:endParaRPr lang="en-US" sz="788" b="1" dirty="0"/>
          </a:p>
        </p:txBody>
      </p:sp>
    </p:spTree>
    <p:extLst>
      <p:ext uri="{BB962C8B-B14F-4D97-AF65-F5344CB8AC3E}">
        <p14:creationId xmlns:p14="http://schemas.microsoft.com/office/powerpoint/2010/main" val="599536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55"/>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Convolutional Neural Network (CNN)</a:t>
            </a:r>
            <a:endParaRPr/>
          </a:p>
        </p:txBody>
      </p:sp>
      <p:grpSp>
        <p:nvGrpSpPr>
          <p:cNvPr id="435" name="Google Shape;435;p55"/>
          <p:cNvGrpSpPr/>
          <p:nvPr/>
        </p:nvGrpSpPr>
        <p:grpSpPr>
          <a:xfrm>
            <a:off x="1782763" y="1711325"/>
            <a:ext cx="4995862" cy="1933575"/>
            <a:chOff x="1258350" y="2072081"/>
            <a:chExt cx="6045667" cy="2340528"/>
          </a:xfrm>
        </p:grpSpPr>
        <p:sp>
          <p:nvSpPr>
            <p:cNvPr id="436" name="Google Shape;436;p55"/>
            <p:cNvSpPr/>
            <p:nvPr/>
          </p:nvSpPr>
          <p:spPr>
            <a:xfrm>
              <a:off x="1258350" y="2072081"/>
              <a:ext cx="814542" cy="2340528"/>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437" name="Google Shape;437;p55"/>
            <p:cNvSpPr/>
            <p:nvPr/>
          </p:nvSpPr>
          <p:spPr>
            <a:xfrm>
              <a:off x="3002699" y="2072081"/>
              <a:ext cx="812620" cy="2340528"/>
            </a:xfrm>
            <a:prstGeom prst="cube">
              <a:avLst>
                <a:gd name="adj" fmla="val 6726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cxnSp>
          <p:nvCxnSpPr>
            <p:cNvPr id="438" name="Google Shape;438;p55"/>
            <p:cNvCxnSpPr/>
            <p:nvPr/>
          </p:nvCxnSpPr>
          <p:spPr>
            <a:xfrm>
              <a:off x="2266921" y="3242346"/>
              <a:ext cx="541747" cy="0"/>
            </a:xfrm>
            <a:prstGeom prst="straightConnector1">
              <a:avLst/>
            </a:prstGeom>
            <a:noFill/>
            <a:ln w="76200" cap="flat" cmpd="sng">
              <a:solidFill>
                <a:schemeClr val="dk1"/>
              </a:solidFill>
              <a:prstDash val="solid"/>
              <a:miter lim="800000"/>
              <a:headEnd type="none" w="sm" len="sm"/>
              <a:tailEnd type="triangle" w="med" len="med"/>
            </a:ln>
          </p:spPr>
        </p:cxnSp>
        <p:sp>
          <p:nvSpPr>
            <p:cNvPr id="439" name="Google Shape;439;p55"/>
            <p:cNvSpPr/>
            <p:nvPr/>
          </p:nvSpPr>
          <p:spPr>
            <a:xfrm>
              <a:off x="4747048" y="2072081"/>
              <a:ext cx="812620" cy="2340528"/>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cxnSp>
          <p:nvCxnSpPr>
            <p:cNvPr id="440" name="Google Shape;440;p55"/>
            <p:cNvCxnSpPr/>
            <p:nvPr/>
          </p:nvCxnSpPr>
          <p:spPr>
            <a:xfrm>
              <a:off x="4009350" y="3242346"/>
              <a:ext cx="543668" cy="0"/>
            </a:xfrm>
            <a:prstGeom prst="straightConnector1">
              <a:avLst/>
            </a:prstGeom>
            <a:noFill/>
            <a:ln w="76200" cap="flat" cmpd="sng">
              <a:solidFill>
                <a:schemeClr val="dk1"/>
              </a:solidFill>
              <a:prstDash val="solid"/>
              <a:miter lim="800000"/>
              <a:headEnd type="none" w="sm" len="sm"/>
              <a:tailEnd type="triangle" w="med" len="med"/>
            </a:ln>
          </p:spPr>
        </p:cxnSp>
        <p:cxnSp>
          <p:nvCxnSpPr>
            <p:cNvPr id="441" name="Google Shape;441;p55"/>
            <p:cNvCxnSpPr/>
            <p:nvPr/>
          </p:nvCxnSpPr>
          <p:spPr>
            <a:xfrm>
              <a:off x="5753699" y="3242346"/>
              <a:ext cx="541747" cy="0"/>
            </a:xfrm>
            <a:prstGeom prst="straightConnector1">
              <a:avLst/>
            </a:prstGeom>
            <a:noFill/>
            <a:ln w="76200" cap="flat" cmpd="sng">
              <a:solidFill>
                <a:schemeClr val="dk1"/>
              </a:solidFill>
              <a:prstDash val="solid"/>
              <a:miter lim="800000"/>
              <a:headEnd type="none" w="sm" len="sm"/>
              <a:tailEnd type="triangle" w="med" len="med"/>
            </a:ln>
          </p:spPr>
        </p:cxnSp>
        <p:sp>
          <p:nvSpPr>
            <p:cNvPr id="442" name="Google Shape;442;p55"/>
            <p:cNvSpPr/>
            <p:nvPr/>
          </p:nvSpPr>
          <p:spPr>
            <a:xfrm>
              <a:off x="6489475" y="2072081"/>
              <a:ext cx="814542" cy="2340528"/>
            </a:xfrm>
            <a:prstGeom prst="cube">
              <a:avLst>
                <a:gd name="adj" fmla="val 67261"/>
              </a:avLst>
            </a:prstGeom>
            <a:solidFill>
              <a:schemeClr val="accent6"/>
            </a:solidFill>
            <a:ln w="12700" cap="flat" cmpd="sng">
              <a:solidFill>
                <a:srgbClr val="1616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443" name="Google Shape;443;p55"/>
          <p:cNvGrpSpPr/>
          <p:nvPr/>
        </p:nvGrpSpPr>
        <p:grpSpPr>
          <a:xfrm>
            <a:off x="890588" y="4122738"/>
            <a:ext cx="7483475" cy="2049462"/>
            <a:chOff x="890011" y="4555097"/>
            <a:chExt cx="7484116" cy="2048901"/>
          </a:xfrm>
        </p:grpSpPr>
        <p:sp>
          <p:nvSpPr>
            <p:cNvPr id="444" name="Google Shape;444;p55"/>
            <p:cNvSpPr/>
            <p:nvPr/>
          </p:nvSpPr>
          <p:spPr>
            <a:xfrm>
              <a:off x="890011" y="5815227"/>
              <a:ext cx="373094" cy="777662"/>
            </a:xfrm>
            <a:prstGeom prst="rect">
              <a:avLst/>
            </a:prstGeom>
            <a:solidFill>
              <a:schemeClr val="accent1"/>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445" name="Google Shape;445;p55"/>
            <p:cNvSpPr/>
            <p:nvPr/>
          </p:nvSpPr>
          <p:spPr>
            <a:xfrm>
              <a:off x="1845768" y="5815227"/>
              <a:ext cx="476291" cy="777662"/>
            </a:xfrm>
            <a:prstGeom prst="rect">
              <a:avLst/>
            </a:prstGeom>
            <a:solidFill>
              <a:schemeClr val="lt1"/>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sp>
          <p:nvSpPr>
            <p:cNvPr id="446" name="Google Shape;446;p55"/>
            <p:cNvSpPr/>
            <p:nvPr/>
          </p:nvSpPr>
          <p:spPr>
            <a:xfrm>
              <a:off x="2866617" y="5815227"/>
              <a:ext cx="757303" cy="777662"/>
            </a:xfrm>
            <a:prstGeom prst="rect">
              <a:avLst/>
            </a:prstGeom>
            <a:solidFill>
              <a:schemeClr val="lt1"/>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f</a:t>
              </a:r>
              <a:r>
                <a:rPr lang="en-US" sz="2800" b="1" i="0" u="none" strike="noStrike" cap="none">
                  <a:solidFill>
                    <a:schemeClr val="dk1"/>
                  </a:solidFill>
                  <a:latin typeface="Times New Roman"/>
                  <a:ea typeface="Times New Roman"/>
                  <a:cs typeface="Times New Roman"/>
                  <a:sym typeface="Times New Roman"/>
                </a:rPr>
                <a:t>(n)</a:t>
              </a:r>
              <a:endParaRPr sz="1400" b="0" i="0" u="none" strike="noStrike" cap="none">
                <a:solidFill>
                  <a:srgbClr val="000000"/>
                </a:solidFill>
                <a:latin typeface="Arial"/>
                <a:ea typeface="Arial"/>
                <a:cs typeface="Arial"/>
                <a:sym typeface="Arial"/>
              </a:endParaRPr>
            </a:p>
          </p:txBody>
        </p:sp>
        <p:cxnSp>
          <p:nvCxnSpPr>
            <p:cNvPr id="447" name="Google Shape;447;p55"/>
            <p:cNvCxnSpPr/>
            <p:nvPr/>
          </p:nvCxnSpPr>
          <p:spPr>
            <a:xfrm>
              <a:off x="2380801" y="5894580"/>
              <a:ext cx="490580" cy="0"/>
            </a:xfrm>
            <a:prstGeom prst="straightConnector1">
              <a:avLst/>
            </a:prstGeom>
            <a:noFill/>
            <a:ln w="76200" cap="flat" cmpd="sng">
              <a:solidFill>
                <a:schemeClr val="accent1"/>
              </a:solidFill>
              <a:prstDash val="solid"/>
              <a:miter lim="800000"/>
              <a:headEnd type="none" w="sm" len="sm"/>
              <a:tailEnd type="triangle" w="med" len="med"/>
            </a:ln>
          </p:spPr>
        </p:cxnSp>
        <p:cxnSp>
          <p:nvCxnSpPr>
            <p:cNvPr id="448" name="Google Shape;448;p55"/>
            <p:cNvCxnSpPr/>
            <p:nvPr/>
          </p:nvCxnSpPr>
          <p:spPr>
            <a:xfrm rot="10800000">
              <a:off x="2293481" y="6483381"/>
              <a:ext cx="536621" cy="0"/>
            </a:xfrm>
            <a:prstGeom prst="straightConnector1">
              <a:avLst/>
            </a:prstGeom>
            <a:noFill/>
            <a:ln w="76200" cap="flat" cmpd="sng">
              <a:solidFill>
                <a:schemeClr val="accent2"/>
              </a:solidFill>
              <a:prstDash val="solid"/>
              <a:miter lim="800000"/>
              <a:headEnd type="none" w="sm" len="sm"/>
              <a:tailEnd type="triangle" w="med" len="med"/>
            </a:ln>
          </p:spPr>
        </p:cxnSp>
        <p:cxnSp>
          <p:nvCxnSpPr>
            <p:cNvPr id="449" name="Google Shape;449;p55"/>
            <p:cNvCxnSpPr/>
            <p:nvPr/>
          </p:nvCxnSpPr>
          <p:spPr>
            <a:xfrm>
              <a:off x="1307559" y="5894580"/>
              <a:ext cx="538209" cy="0"/>
            </a:xfrm>
            <a:prstGeom prst="straightConnector1">
              <a:avLst/>
            </a:prstGeom>
            <a:noFill/>
            <a:ln w="76200" cap="flat" cmpd="sng">
              <a:solidFill>
                <a:schemeClr val="accent1"/>
              </a:solidFill>
              <a:prstDash val="solid"/>
              <a:miter lim="800000"/>
              <a:headEnd type="none" w="sm" len="sm"/>
              <a:tailEnd type="triangle" w="med" len="med"/>
            </a:ln>
          </p:spPr>
        </p:cxnSp>
        <p:cxnSp>
          <p:nvCxnSpPr>
            <p:cNvPr id="450" name="Google Shape;450;p55"/>
            <p:cNvCxnSpPr/>
            <p:nvPr/>
          </p:nvCxnSpPr>
          <p:spPr>
            <a:xfrm rot="10800000">
              <a:off x="1247229" y="6483381"/>
              <a:ext cx="538209" cy="0"/>
            </a:xfrm>
            <a:prstGeom prst="straightConnector1">
              <a:avLst/>
            </a:prstGeom>
            <a:noFill/>
            <a:ln w="76200" cap="flat" cmpd="sng">
              <a:solidFill>
                <a:schemeClr val="accent2"/>
              </a:solidFill>
              <a:prstDash val="solid"/>
              <a:miter lim="800000"/>
              <a:headEnd type="none" w="sm" len="sm"/>
              <a:tailEnd type="triangle" w="med" len="med"/>
            </a:ln>
          </p:spPr>
        </p:cxnSp>
        <p:sp>
          <p:nvSpPr>
            <p:cNvPr id="451" name="Google Shape;451;p55"/>
            <p:cNvSpPr/>
            <p:nvPr/>
          </p:nvSpPr>
          <p:spPr>
            <a:xfrm>
              <a:off x="1166260" y="4555097"/>
              <a:ext cx="506455" cy="777662"/>
            </a:xfrm>
            <a:prstGeom prst="rect">
              <a:avLst/>
            </a:prstGeom>
            <a:solidFill>
              <a:schemeClr val="accent4"/>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W</a:t>
              </a:r>
              <a:r>
                <a:rPr lang="en-US" sz="2400" b="1" i="0" u="none" strike="noStrike" cap="none" baseline="-25000">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452" name="Google Shape;452;p55"/>
            <p:cNvSpPr/>
            <p:nvPr/>
          </p:nvSpPr>
          <p:spPr>
            <a:xfrm>
              <a:off x="2160120" y="4555097"/>
              <a:ext cx="506455" cy="777662"/>
            </a:xfrm>
            <a:prstGeom prst="rect">
              <a:avLst/>
            </a:prstGeom>
            <a:solidFill>
              <a:schemeClr val="accent4"/>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b</a:t>
              </a:r>
              <a:r>
                <a:rPr lang="en-US" sz="2400" b="1" i="0" u="none" strike="noStrike" cap="none" baseline="-25000">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cxnSp>
          <p:nvCxnSpPr>
            <p:cNvPr id="453" name="Google Shape;453;p55"/>
            <p:cNvCxnSpPr>
              <a:endCxn id="445" idx="0"/>
            </p:cNvCxnSpPr>
            <p:nvPr/>
          </p:nvCxnSpPr>
          <p:spPr>
            <a:xfrm>
              <a:off x="1669613" y="5335827"/>
              <a:ext cx="414300" cy="479400"/>
            </a:xfrm>
            <a:prstGeom prst="straightConnector1">
              <a:avLst/>
            </a:prstGeom>
            <a:noFill/>
            <a:ln w="76200" cap="flat" cmpd="sng">
              <a:solidFill>
                <a:schemeClr val="accent1"/>
              </a:solidFill>
              <a:prstDash val="solid"/>
              <a:miter lim="800000"/>
              <a:headEnd type="none" w="sm" len="sm"/>
              <a:tailEnd type="triangle" w="med" len="med"/>
            </a:ln>
          </p:spPr>
        </p:cxnSp>
        <p:cxnSp>
          <p:nvCxnSpPr>
            <p:cNvPr id="454" name="Google Shape;454;p55"/>
            <p:cNvCxnSpPr>
              <a:stCxn id="452" idx="2"/>
              <a:endCxn id="445" idx="0"/>
            </p:cNvCxnSpPr>
            <p:nvPr/>
          </p:nvCxnSpPr>
          <p:spPr>
            <a:xfrm flipH="1">
              <a:off x="2083948" y="5332759"/>
              <a:ext cx="329400" cy="482400"/>
            </a:xfrm>
            <a:prstGeom prst="straightConnector1">
              <a:avLst/>
            </a:prstGeom>
            <a:noFill/>
            <a:ln w="76200" cap="flat" cmpd="sng">
              <a:solidFill>
                <a:schemeClr val="accent1"/>
              </a:solidFill>
              <a:prstDash val="solid"/>
              <a:miter lim="800000"/>
              <a:headEnd type="none" w="sm" len="sm"/>
              <a:tailEnd type="triangle" w="med" len="med"/>
            </a:ln>
          </p:spPr>
        </p:cxnSp>
        <p:cxnSp>
          <p:nvCxnSpPr>
            <p:cNvPr id="455" name="Google Shape;455;p55"/>
            <p:cNvCxnSpPr/>
            <p:nvPr/>
          </p:nvCxnSpPr>
          <p:spPr>
            <a:xfrm rot="10800000" flipH="1">
              <a:off x="2288718" y="5312127"/>
              <a:ext cx="336579" cy="495164"/>
            </a:xfrm>
            <a:prstGeom prst="straightConnector1">
              <a:avLst/>
            </a:prstGeom>
            <a:noFill/>
            <a:ln w="76200" cap="flat" cmpd="sng">
              <a:solidFill>
                <a:schemeClr val="accent2"/>
              </a:solidFill>
              <a:prstDash val="solid"/>
              <a:miter lim="800000"/>
              <a:headEnd type="none" w="sm" len="sm"/>
              <a:tailEnd type="triangle" w="med" len="med"/>
            </a:ln>
          </p:spPr>
        </p:cxnSp>
        <p:cxnSp>
          <p:nvCxnSpPr>
            <p:cNvPr id="456" name="Google Shape;456;p55"/>
            <p:cNvCxnSpPr>
              <a:endCxn id="451" idx="2"/>
            </p:cNvCxnSpPr>
            <p:nvPr/>
          </p:nvCxnSpPr>
          <p:spPr>
            <a:xfrm rot="10800000">
              <a:off x="1419488" y="5332759"/>
              <a:ext cx="452400" cy="498300"/>
            </a:xfrm>
            <a:prstGeom prst="straightConnector1">
              <a:avLst/>
            </a:prstGeom>
            <a:noFill/>
            <a:ln w="76200" cap="flat" cmpd="sng">
              <a:solidFill>
                <a:schemeClr val="accent2"/>
              </a:solidFill>
              <a:prstDash val="solid"/>
              <a:miter lim="800000"/>
              <a:headEnd type="none" w="sm" len="sm"/>
              <a:tailEnd type="triangle" w="med" len="med"/>
            </a:ln>
          </p:spPr>
        </p:cxnSp>
        <p:sp>
          <p:nvSpPr>
            <p:cNvPr id="457" name="Google Shape;457;p55"/>
            <p:cNvSpPr/>
            <p:nvPr/>
          </p:nvSpPr>
          <p:spPr>
            <a:xfrm>
              <a:off x="4212933" y="5815227"/>
              <a:ext cx="476291" cy="777662"/>
            </a:xfrm>
            <a:prstGeom prst="rect">
              <a:avLst/>
            </a:prstGeom>
            <a:solidFill>
              <a:schemeClr val="lt1"/>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sp>
          <p:nvSpPr>
            <p:cNvPr id="458" name="Google Shape;458;p55"/>
            <p:cNvSpPr/>
            <p:nvPr/>
          </p:nvSpPr>
          <p:spPr>
            <a:xfrm>
              <a:off x="5233783" y="5815227"/>
              <a:ext cx="755715" cy="777662"/>
            </a:xfrm>
            <a:prstGeom prst="rect">
              <a:avLst/>
            </a:prstGeom>
            <a:solidFill>
              <a:schemeClr val="lt1"/>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f</a:t>
              </a:r>
              <a:r>
                <a:rPr lang="en-US" sz="2800" b="1" i="0" u="none" strike="noStrike" cap="none">
                  <a:solidFill>
                    <a:schemeClr val="dk1"/>
                  </a:solidFill>
                  <a:latin typeface="Times New Roman"/>
                  <a:ea typeface="Times New Roman"/>
                  <a:cs typeface="Times New Roman"/>
                  <a:sym typeface="Times New Roman"/>
                </a:rPr>
                <a:t>(n)</a:t>
              </a:r>
              <a:endParaRPr sz="1400" b="0" i="0" u="none" strike="noStrike" cap="none">
                <a:solidFill>
                  <a:srgbClr val="000000"/>
                </a:solidFill>
                <a:latin typeface="Arial"/>
                <a:ea typeface="Arial"/>
                <a:cs typeface="Arial"/>
                <a:sym typeface="Arial"/>
              </a:endParaRPr>
            </a:p>
          </p:txBody>
        </p:sp>
        <p:cxnSp>
          <p:nvCxnSpPr>
            <p:cNvPr id="459" name="Google Shape;459;p55"/>
            <p:cNvCxnSpPr/>
            <p:nvPr/>
          </p:nvCxnSpPr>
          <p:spPr>
            <a:xfrm>
              <a:off x="4747966" y="5894580"/>
              <a:ext cx="488992" cy="0"/>
            </a:xfrm>
            <a:prstGeom prst="straightConnector1">
              <a:avLst/>
            </a:prstGeom>
            <a:noFill/>
            <a:ln w="76200" cap="flat" cmpd="sng">
              <a:solidFill>
                <a:schemeClr val="accent1"/>
              </a:solidFill>
              <a:prstDash val="solid"/>
              <a:miter lim="800000"/>
              <a:headEnd type="none" w="sm" len="sm"/>
              <a:tailEnd type="triangle" w="med" len="med"/>
            </a:ln>
          </p:spPr>
        </p:cxnSp>
        <p:cxnSp>
          <p:nvCxnSpPr>
            <p:cNvPr id="460" name="Google Shape;460;p55"/>
            <p:cNvCxnSpPr/>
            <p:nvPr/>
          </p:nvCxnSpPr>
          <p:spPr>
            <a:xfrm rot="10800000">
              <a:off x="4659059" y="6483381"/>
              <a:ext cx="538208" cy="0"/>
            </a:xfrm>
            <a:prstGeom prst="straightConnector1">
              <a:avLst/>
            </a:prstGeom>
            <a:noFill/>
            <a:ln w="76200" cap="flat" cmpd="sng">
              <a:solidFill>
                <a:schemeClr val="accent2"/>
              </a:solidFill>
              <a:prstDash val="solid"/>
              <a:miter lim="800000"/>
              <a:headEnd type="none" w="sm" len="sm"/>
              <a:tailEnd type="triangle" w="med" len="med"/>
            </a:ln>
          </p:spPr>
        </p:cxnSp>
        <p:cxnSp>
          <p:nvCxnSpPr>
            <p:cNvPr id="461" name="Google Shape;461;p55"/>
            <p:cNvCxnSpPr/>
            <p:nvPr/>
          </p:nvCxnSpPr>
          <p:spPr>
            <a:xfrm>
              <a:off x="3674725" y="5894580"/>
              <a:ext cx="538208" cy="0"/>
            </a:xfrm>
            <a:prstGeom prst="straightConnector1">
              <a:avLst/>
            </a:prstGeom>
            <a:noFill/>
            <a:ln w="76200" cap="flat" cmpd="sng">
              <a:solidFill>
                <a:schemeClr val="accent1"/>
              </a:solidFill>
              <a:prstDash val="solid"/>
              <a:miter lim="800000"/>
              <a:headEnd type="none" w="sm" len="sm"/>
              <a:tailEnd type="triangle" w="med" len="med"/>
            </a:ln>
          </p:spPr>
        </p:cxnSp>
        <p:cxnSp>
          <p:nvCxnSpPr>
            <p:cNvPr id="462" name="Google Shape;462;p55"/>
            <p:cNvCxnSpPr/>
            <p:nvPr/>
          </p:nvCxnSpPr>
          <p:spPr>
            <a:xfrm rot="10800000">
              <a:off x="3614394" y="6483381"/>
              <a:ext cx="538208" cy="0"/>
            </a:xfrm>
            <a:prstGeom prst="straightConnector1">
              <a:avLst/>
            </a:prstGeom>
            <a:noFill/>
            <a:ln w="76200" cap="flat" cmpd="sng">
              <a:solidFill>
                <a:schemeClr val="accent2"/>
              </a:solidFill>
              <a:prstDash val="solid"/>
              <a:miter lim="800000"/>
              <a:headEnd type="none" w="sm" len="sm"/>
              <a:tailEnd type="triangle" w="med" len="med"/>
            </a:ln>
          </p:spPr>
        </p:cxnSp>
        <p:sp>
          <p:nvSpPr>
            <p:cNvPr id="463" name="Google Shape;463;p55"/>
            <p:cNvSpPr/>
            <p:nvPr/>
          </p:nvSpPr>
          <p:spPr>
            <a:xfrm>
              <a:off x="3533424" y="4555097"/>
              <a:ext cx="506456" cy="777662"/>
            </a:xfrm>
            <a:prstGeom prst="rect">
              <a:avLst/>
            </a:prstGeom>
            <a:solidFill>
              <a:schemeClr val="accent2"/>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W</a:t>
              </a:r>
              <a:r>
                <a:rPr lang="en-US" sz="2400" b="1" i="0" u="none" strike="noStrike" cap="none" baseline="-25000">
                  <a:solidFill>
                    <a:schemeClr val="dk1"/>
                  </a:solidFill>
                  <a:latin typeface="Times New Roman"/>
                  <a:ea typeface="Times New Roman"/>
                  <a:cs typeface="Times New Roman"/>
                  <a:sym typeface="Times New Roman"/>
                </a:rPr>
                <a:t>2</a:t>
              </a:r>
              <a:endParaRPr sz="2400" b="1" i="0" u="none" strike="noStrike" cap="none">
                <a:solidFill>
                  <a:schemeClr val="dk1"/>
                </a:solidFill>
                <a:latin typeface="Times New Roman"/>
                <a:ea typeface="Times New Roman"/>
                <a:cs typeface="Times New Roman"/>
                <a:sym typeface="Times New Roman"/>
              </a:endParaRPr>
            </a:p>
          </p:txBody>
        </p:sp>
        <p:sp>
          <p:nvSpPr>
            <p:cNvPr id="464" name="Google Shape;464;p55"/>
            <p:cNvSpPr/>
            <p:nvPr/>
          </p:nvSpPr>
          <p:spPr>
            <a:xfrm>
              <a:off x="4527285" y="4555097"/>
              <a:ext cx="506456" cy="777662"/>
            </a:xfrm>
            <a:prstGeom prst="rect">
              <a:avLst/>
            </a:prstGeom>
            <a:solidFill>
              <a:schemeClr val="accent2"/>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b</a:t>
              </a:r>
              <a:r>
                <a:rPr lang="en-US" sz="2400" b="1" i="0" u="none" strike="noStrike" cap="none" baseline="-25000">
                  <a:solidFill>
                    <a:schemeClr val="dk1"/>
                  </a:solidFill>
                  <a:latin typeface="Times New Roman"/>
                  <a:ea typeface="Times New Roman"/>
                  <a:cs typeface="Times New Roman"/>
                  <a:sym typeface="Times New Roman"/>
                </a:rPr>
                <a:t>2</a:t>
              </a:r>
              <a:endParaRPr sz="2400" b="1" i="0" u="none" strike="noStrike" cap="none">
                <a:solidFill>
                  <a:schemeClr val="dk1"/>
                </a:solidFill>
                <a:latin typeface="Times New Roman"/>
                <a:ea typeface="Times New Roman"/>
                <a:cs typeface="Times New Roman"/>
                <a:sym typeface="Times New Roman"/>
              </a:endParaRPr>
            </a:p>
          </p:txBody>
        </p:sp>
        <p:cxnSp>
          <p:nvCxnSpPr>
            <p:cNvPr id="465" name="Google Shape;465;p55"/>
            <p:cNvCxnSpPr>
              <a:endCxn id="457" idx="0"/>
            </p:cNvCxnSpPr>
            <p:nvPr/>
          </p:nvCxnSpPr>
          <p:spPr>
            <a:xfrm>
              <a:off x="4036779" y="5335827"/>
              <a:ext cx="414300" cy="479400"/>
            </a:xfrm>
            <a:prstGeom prst="straightConnector1">
              <a:avLst/>
            </a:prstGeom>
            <a:noFill/>
            <a:ln w="76200" cap="flat" cmpd="sng">
              <a:solidFill>
                <a:schemeClr val="accent1"/>
              </a:solidFill>
              <a:prstDash val="solid"/>
              <a:miter lim="800000"/>
              <a:headEnd type="none" w="sm" len="sm"/>
              <a:tailEnd type="triangle" w="med" len="med"/>
            </a:ln>
          </p:spPr>
        </p:cxnSp>
        <p:cxnSp>
          <p:nvCxnSpPr>
            <p:cNvPr id="466" name="Google Shape;466;p55"/>
            <p:cNvCxnSpPr>
              <a:stCxn id="464" idx="2"/>
              <a:endCxn id="457" idx="0"/>
            </p:cNvCxnSpPr>
            <p:nvPr/>
          </p:nvCxnSpPr>
          <p:spPr>
            <a:xfrm flipH="1">
              <a:off x="4451113" y="5332759"/>
              <a:ext cx="329400" cy="482400"/>
            </a:xfrm>
            <a:prstGeom prst="straightConnector1">
              <a:avLst/>
            </a:prstGeom>
            <a:noFill/>
            <a:ln w="76200" cap="flat" cmpd="sng">
              <a:solidFill>
                <a:schemeClr val="accent1"/>
              </a:solidFill>
              <a:prstDash val="solid"/>
              <a:miter lim="800000"/>
              <a:headEnd type="none" w="sm" len="sm"/>
              <a:tailEnd type="triangle" w="med" len="med"/>
            </a:ln>
          </p:spPr>
        </p:cxnSp>
        <p:cxnSp>
          <p:nvCxnSpPr>
            <p:cNvPr id="467" name="Google Shape;467;p55"/>
            <p:cNvCxnSpPr/>
            <p:nvPr/>
          </p:nvCxnSpPr>
          <p:spPr>
            <a:xfrm rot="10800000" flipH="1">
              <a:off x="4655884" y="5312127"/>
              <a:ext cx="336579" cy="495164"/>
            </a:xfrm>
            <a:prstGeom prst="straightConnector1">
              <a:avLst/>
            </a:prstGeom>
            <a:noFill/>
            <a:ln w="76200" cap="flat" cmpd="sng">
              <a:solidFill>
                <a:schemeClr val="accent2"/>
              </a:solidFill>
              <a:prstDash val="solid"/>
              <a:miter lim="800000"/>
              <a:headEnd type="none" w="sm" len="sm"/>
              <a:tailEnd type="triangle" w="med" len="med"/>
            </a:ln>
          </p:spPr>
        </p:cxnSp>
        <p:cxnSp>
          <p:nvCxnSpPr>
            <p:cNvPr id="468" name="Google Shape;468;p55"/>
            <p:cNvCxnSpPr>
              <a:endCxn id="463" idx="2"/>
            </p:cNvCxnSpPr>
            <p:nvPr/>
          </p:nvCxnSpPr>
          <p:spPr>
            <a:xfrm rot="10800000">
              <a:off x="3786652" y="5332759"/>
              <a:ext cx="452400" cy="498300"/>
            </a:xfrm>
            <a:prstGeom prst="straightConnector1">
              <a:avLst/>
            </a:prstGeom>
            <a:noFill/>
            <a:ln w="76200" cap="flat" cmpd="sng">
              <a:solidFill>
                <a:schemeClr val="accent2"/>
              </a:solidFill>
              <a:prstDash val="solid"/>
              <a:miter lim="800000"/>
              <a:headEnd type="none" w="sm" len="sm"/>
              <a:tailEnd type="triangle" w="med" len="med"/>
            </a:ln>
          </p:spPr>
        </p:cxnSp>
        <p:sp>
          <p:nvSpPr>
            <p:cNvPr id="469" name="Google Shape;469;p55"/>
            <p:cNvSpPr/>
            <p:nvPr/>
          </p:nvSpPr>
          <p:spPr>
            <a:xfrm>
              <a:off x="6597562" y="5826336"/>
              <a:ext cx="476291" cy="777662"/>
            </a:xfrm>
            <a:prstGeom prst="rect">
              <a:avLst/>
            </a:prstGeom>
            <a:solidFill>
              <a:schemeClr val="lt1"/>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sp>
          <p:nvSpPr>
            <p:cNvPr id="470" name="Google Shape;470;p55"/>
            <p:cNvSpPr/>
            <p:nvPr/>
          </p:nvSpPr>
          <p:spPr>
            <a:xfrm>
              <a:off x="7616824" y="5826336"/>
              <a:ext cx="757303" cy="777662"/>
            </a:xfrm>
            <a:prstGeom prst="rect">
              <a:avLst/>
            </a:prstGeom>
            <a:solidFill>
              <a:schemeClr val="lt1"/>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f</a:t>
              </a:r>
              <a:r>
                <a:rPr lang="en-US" sz="2800" b="1" i="0" u="none" strike="noStrike" cap="none">
                  <a:solidFill>
                    <a:schemeClr val="dk1"/>
                  </a:solidFill>
                  <a:latin typeface="Times New Roman"/>
                  <a:ea typeface="Times New Roman"/>
                  <a:cs typeface="Times New Roman"/>
                  <a:sym typeface="Times New Roman"/>
                </a:rPr>
                <a:t>(n)</a:t>
              </a:r>
              <a:endParaRPr sz="1400" b="0" i="0" u="none" strike="noStrike" cap="none">
                <a:solidFill>
                  <a:srgbClr val="000000"/>
                </a:solidFill>
                <a:latin typeface="Arial"/>
                <a:ea typeface="Arial"/>
                <a:cs typeface="Arial"/>
                <a:sym typeface="Arial"/>
              </a:endParaRPr>
            </a:p>
          </p:txBody>
        </p:sp>
        <p:cxnSp>
          <p:nvCxnSpPr>
            <p:cNvPr id="471" name="Google Shape;471;p55"/>
            <p:cNvCxnSpPr/>
            <p:nvPr/>
          </p:nvCxnSpPr>
          <p:spPr>
            <a:xfrm>
              <a:off x="7132596" y="5907277"/>
              <a:ext cx="488992" cy="0"/>
            </a:xfrm>
            <a:prstGeom prst="straightConnector1">
              <a:avLst/>
            </a:prstGeom>
            <a:noFill/>
            <a:ln w="76200" cap="flat" cmpd="sng">
              <a:solidFill>
                <a:schemeClr val="accent1"/>
              </a:solidFill>
              <a:prstDash val="solid"/>
              <a:miter lim="800000"/>
              <a:headEnd type="none" w="sm" len="sm"/>
              <a:tailEnd type="triangle" w="med" len="med"/>
            </a:ln>
          </p:spPr>
        </p:cxnSp>
        <p:cxnSp>
          <p:nvCxnSpPr>
            <p:cNvPr id="472" name="Google Shape;472;p55"/>
            <p:cNvCxnSpPr/>
            <p:nvPr/>
          </p:nvCxnSpPr>
          <p:spPr>
            <a:xfrm rot="10800000">
              <a:off x="7043688" y="6496078"/>
              <a:ext cx="538208" cy="0"/>
            </a:xfrm>
            <a:prstGeom prst="straightConnector1">
              <a:avLst/>
            </a:prstGeom>
            <a:noFill/>
            <a:ln w="76200" cap="flat" cmpd="sng">
              <a:solidFill>
                <a:schemeClr val="accent2"/>
              </a:solidFill>
              <a:prstDash val="solid"/>
              <a:miter lim="800000"/>
              <a:headEnd type="none" w="sm" len="sm"/>
              <a:tailEnd type="triangle" w="med" len="med"/>
            </a:ln>
          </p:spPr>
        </p:cxnSp>
        <p:cxnSp>
          <p:nvCxnSpPr>
            <p:cNvPr id="473" name="Google Shape;473;p55"/>
            <p:cNvCxnSpPr/>
            <p:nvPr/>
          </p:nvCxnSpPr>
          <p:spPr>
            <a:xfrm>
              <a:off x="6059354" y="5907277"/>
              <a:ext cx="538208" cy="0"/>
            </a:xfrm>
            <a:prstGeom prst="straightConnector1">
              <a:avLst/>
            </a:prstGeom>
            <a:noFill/>
            <a:ln w="76200" cap="flat" cmpd="sng">
              <a:solidFill>
                <a:schemeClr val="accent1"/>
              </a:solidFill>
              <a:prstDash val="solid"/>
              <a:miter lim="800000"/>
              <a:headEnd type="none" w="sm" len="sm"/>
              <a:tailEnd type="triangle" w="med" len="med"/>
            </a:ln>
          </p:spPr>
        </p:cxnSp>
        <p:cxnSp>
          <p:nvCxnSpPr>
            <p:cNvPr id="474" name="Google Shape;474;p55"/>
            <p:cNvCxnSpPr/>
            <p:nvPr/>
          </p:nvCxnSpPr>
          <p:spPr>
            <a:xfrm rot="10800000">
              <a:off x="5997435" y="6496078"/>
              <a:ext cx="538209" cy="0"/>
            </a:xfrm>
            <a:prstGeom prst="straightConnector1">
              <a:avLst/>
            </a:prstGeom>
            <a:noFill/>
            <a:ln w="76200" cap="flat" cmpd="sng">
              <a:solidFill>
                <a:schemeClr val="accent2"/>
              </a:solidFill>
              <a:prstDash val="solid"/>
              <a:miter lim="800000"/>
              <a:headEnd type="none" w="sm" len="sm"/>
              <a:tailEnd type="triangle" w="med" len="med"/>
            </a:ln>
          </p:spPr>
        </p:cxnSp>
        <p:sp>
          <p:nvSpPr>
            <p:cNvPr id="475" name="Google Shape;475;p55"/>
            <p:cNvSpPr/>
            <p:nvPr/>
          </p:nvSpPr>
          <p:spPr>
            <a:xfrm>
              <a:off x="5916467" y="4566206"/>
              <a:ext cx="508044" cy="777662"/>
            </a:xfrm>
            <a:prstGeom prst="rect">
              <a:avLst/>
            </a:prstGeom>
            <a:solidFill>
              <a:schemeClr val="accent6"/>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W</a:t>
              </a:r>
              <a:r>
                <a:rPr lang="en-US" sz="2400" b="1" i="0" u="none" strike="noStrike" cap="none" baseline="-25000">
                  <a:solidFill>
                    <a:schemeClr val="dk1"/>
                  </a:solidFill>
                  <a:latin typeface="Times New Roman"/>
                  <a:ea typeface="Times New Roman"/>
                  <a:cs typeface="Times New Roman"/>
                  <a:sym typeface="Times New Roman"/>
                </a:rPr>
                <a:t>3</a:t>
              </a:r>
              <a:endParaRPr sz="2400" b="1" i="0" u="none" strike="noStrike" cap="none">
                <a:solidFill>
                  <a:schemeClr val="dk1"/>
                </a:solidFill>
                <a:latin typeface="Times New Roman"/>
                <a:ea typeface="Times New Roman"/>
                <a:cs typeface="Times New Roman"/>
                <a:sym typeface="Times New Roman"/>
              </a:endParaRPr>
            </a:p>
          </p:txBody>
        </p:sp>
        <p:sp>
          <p:nvSpPr>
            <p:cNvPr id="476" name="Google Shape;476;p55"/>
            <p:cNvSpPr/>
            <p:nvPr/>
          </p:nvSpPr>
          <p:spPr>
            <a:xfrm>
              <a:off x="6910327" y="4566206"/>
              <a:ext cx="506455" cy="777662"/>
            </a:xfrm>
            <a:prstGeom prst="rect">
              <a:avLst/>
            </a:prstGeom>
            <a:solidFill>
              <a:schemeClr val="accent6"/>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b</a:t>
              </a:r>
              <a:r>
                <a:rPr lang="en-US" sz="2400" b="1" i="0" u="none" strike="noStrike" cap="none" baseline="-25000">
                  <a:solidFill>
                    <a:schemeClr val="dk1"/>
                  </a:solidFill>
                  <a:latin typeface="Times New Roman"/>
                  <a:ea typeface="Times New Roman"/>
                  <a:cs typeface="Times New Roman"/>
                  <a:sym typeface="Times New Roman"/>
                </a:rPr>
                <a:t>3</a:t>
              </a:r>
              <a:endParaRPr sz="2400" b="1" i="0" u="none" strike="noStrike" cap="none">
                <a:solidFill>
                  <a:schemeClr val="dk1"/>
                </a:solidFill>
                <a:latin typeface="Times New Roman"/>
                <a:ea typeface="Times New Roman"/>
                <a:cs typeface="Times New Roman"/>
                <a:sym typeface="Times New Roman"/>
              </a:endParaRPr>
            </a:p>
          </p:txBody>
        </p:sp>
        <p:cxnSp>
          <p:nvCxnSpPr>
            <p:cNvPr id="477" name="Google Shape;477;p55"/>
            <p:cNvCxnSpPr>
              <a:endCxn id="469" idx="0"/>
            </p:cNvCxnSpPr>
            <p:nvPr/>
          </p:nvCxnSpPr>
          <p:spPr>
            <a:xfrm>
              <a:off x="6421408" y="5348736"/>
              <a:ext cx="414300" cy="477600"/>
            </a:xfrm>
            <a:prstGeom prst="straightConnector1">
              <a:avLst/>
            </a:prstGeom>
            <a:noFill/>
            <a:ln w="76200" cap="flat" cmpd="sng">
              <a:solidFill>
                <a:schemeClr val="accent1"/>
              </a:solidFill>
              <a:prstDash val="solid"/>
              <a:miter lim="800000"/>
              <a:headEnd type="none" w="sm" len="sm"/>
              <a:tailEnd type="triangle" w="med" len="med"/>
            </a:ln>
          </p:spPr>
        </p:cxnSp>
        <p:cxnSp>
          <p:nvCxnSpPr>
            <p:cNvPr id="478" name="Google Shape;478;p55"/>
            <p:cNvCxnSpPr>
              <a:stCxn id="476" idx="2"/>
              <a:endCxn id="469" idx="0"/>
            </p:cNvCxnSpPr>
            <p:nvPr/>
          </p:nvCxnSpPr>
          <p:spPr>
            <a:xfrm flipH="1">
              <a:off x="6835655" y="5343868"/>
              <a:ext cx="327900" cy="482400"/>
            </a:xfrm>
            <a:prstGeom prst="straightConnector1">
              <a:avLst/>
            </a:prstGeom>
            <a:noFill/>
            <a:ln w="76200" cap="flat" cmpd="sng">
              <a:solidFill>
                <a:schemeClr val="accent1"/>
              </a:solidFill>
              <a:prstDash val="solid"/>
              <a:miter lim="800000"/>
              <a:headEnd type="none" w="sm" len="sm"/>
              <a:tailEnd type="triangle" w="med" len="med"/>
            </a:ln>
          </p:spPr>
        </p:cxnSp>
        <p:cxnSp>
          <p:nvCxnSpPr>
            <p:cNvPr id="479" name="Google Shape;479;p55"/>
            <p:cNvCxnSpPr/>
            <p:nvPr/>
          </p:nvCxnSpPr>
          <p:spPr>
            <a:xfrm rot="10800000" flipH="1">
              <a:off x="7040513" y="5323237"/>
              <a:ext cx="336579" cy="496751"/>
            </a:xfrm>
            <a:prstGeom prst="straightConnector1">
              <a:avLst/>
            </a:prstGeom>
            <a:noFill/>
            <a:ln w="76200" cap="flat" cmpd="sng">
              <a:solidFill>
                <a:schemeClr val="accent2"/>
              </a:solidFill>
              <a:prstDash val="solid"/>
              <a:miter lim="800000"/>
              <a:headEnd type="none" w="sm" len="sm"/>
              <a:tailEnd type="triangle" w="med" len="med"/>
            </a:ln>
          </p:spPr>
        </p:cxnSp>
        <p:cxnSp>
          <p:nvCxnSpPr>
            <p:cNvPr id="480" name="Google Shape;480;p55"/>
            <p:cNvCxnSpPr>
              <a:endCxn id="475" idx="2"/>
            </p:cNvCxnSpPr>
            <p:nvPr/>
          </p:nvCxnSpPr>
          <p:spPr>
            <a:xfrm rot="10800000">
              <a:off x="6170489" y="5343868"/>
              <a:ext cx="450900" cy="498300"/>
            </a:xfrm>
            <a:prstGeom prst="straightConnector1">
              <a:avLst/>
            </a:prstGeom>
            <a:noFill/>
            <a:ln w="76200" cap="flat" cmpd="sng">
              <a:solidFill>
                <a:schemeClr val="accent2"/>
              </a:solidFill>
              <a:prstDash val="solid"/>
              <a:miter lim="800000"/>
              <a:headEnd type="none" w="sm" len="sm"/>
              <a:tailEnd type="triangle" w="med" len="med"/>
            </a:ln>
          </p:spPr>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56"/>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CNN</a:t>
            </a:r>
            <a:endParaRPr/>
          </a:p>
        </p:txBody>
      </p:sp>
      <p:cxnSp>
        <p:nvCxnSpPr>
          <p:cNvPr id="486" name="Google Shape;486;p56"/>
          <p:cNvCxnSpPr/>
          <p:nvPr/>
        </p:nvCxnSpPr>
        <p:spPr>
          <a:xfrm>
            <a:off x="2632075" y="2749550"/>
            <a:ext cx="449263" cy="0"/>
          </a:xfrm>
          <a:prstGeom prst="straightConnector1">
            <a:avLst/>
          </a:prstGeom>
          <a:noFill/>
          <a:ln w="76200" cap="flat" cmpd="sng">
            <a:solidFill>
              <a:schemeClr val="dk1"/>
            </a:solidFill>
            <a:prstDash val="solid"/>
            <a:miter lim="800000"/>
            <a:headEnd type="none" w="sm" len="sm"/>
            <a:tailEnd type="triangle" w="med" len="med"/>
          </a:ln>
        </p:spPr>
      </p:cxnSp>
      <p:grpSp>
        <p:nvGrpSpPr>
          <p:cNvPr id="487" name="Google Shape;487;p56"/>
          <p:cNvGrpSpPr/>
          <p:nvPr/>
        </p:nvGrpSpPr>
        <p:grpSpPr>
          <a:xfrm>
            <a:off x="1073150" y="1265238"/>
            <a:ext cx="1416050" cy="2530475"/>
            <a:chOff x="628650" y="1701926"/>
            <a:chExt cx="1415600" cy="2530334"/>
          </a:xfrm>
        </p:grpSpPr>
        <p:sp>
          <p:nvSpPr>
            <p:cNvPr id="488" name="Google Shape;488;p56"/>
            <p:cNvSpPr/>
            <p:nvPr/>
          </p:nvSpPr>
          <p:spPr>
            <a:xfrm>
              <a:off x="1220600" y="2297205"/>
              <a:ext cx="672886" cy="1935055"/>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489" name="Google Shape;489;p56"/>
            <p:cNvSpPr txBox="1"/>
            <p:nvPr/>
          </p:nvSpPr>
          <p:spPr>
            <a:xfrm>
              <a:off x="628650" y="3105709"/>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490" name="Google Shape;490;p56"/>
            <p:cNvSpPr txBox="1"/>
            <p:nvPr/>
          </p:nvSpPr>
          <p:spPr>
            <a:xfrm>
              <a:off x="872193" y="1940286"/>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491" name="Google Shape;491;p56"/>
            <p:cNvSpPr txBox="1"/>
            <p:nvPr/>
          </p:nvSpPr>
          <p:spPr>
            <a:xfrm>
              <a:off x="1557164" y="1701926"/>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grpSp>
      <p:grpSp>
        <p:nvGrpSpPr>
          <p:cNvPr id="492" name="Google Shape;492;p56"/>
          <p:cNvGrpSpPr/>
          <p:nvPr/>
        </p:nvGrpSpPr>
        <p:grpSpPr>
          <a:xfrm>
            <a:off x="5946775" y="1946275"/>
            <a:ext cx="1938338" cy="1169988"/>
            <a:chOff x="5502653" y="2390192"/>
            <a:chExt cx="1938381" cy="1169550"/>
          </a:xfrm>
        </p:grpSpPr>
        <p:sp>
          <p:nvSpPr>
            <p:cNvPr id="493" name="Google Shape;493;p56"/>
            <p:cNvSpPr/>
            <p:nvPr/>
          </p:nvSpPr>
          <p:spPr>
            <a:xfrm>
              <a:off x="5990027" y="2951957"/>
              <a:ext cx="1451007" cy="477659"/>
            </a:xfrm>
            <a:prstGeom prst="cube">
              <a:avLst>
                <a:gd name="adj" fmla="val 25410"/>
              </a:avLst>
            </a:prstGeom>
            <a:solidFill>
              <a:schemeClr val="l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494" name="Google Shape;494;p56"/>
            <p:cNvSpPr txBox="1"/>
            <p:nvPr/>
          </p:nvSpPr>
          <p:spPr>
            <a:xfrm>
              <a:off x="5502653" y="2974967"/>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495" name="Google Shape;495;p56"/>
            <p:cNvSpPr txBox="1"/>
            <p:nvPr/>
          </p:nvSpPr>
          <p:spPr>
            <a:xfrm>
              <a:off x="5563037" y="2520934"/>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496" name="Google Shape;496;p56"/>
            <p:cNvSpPr txBox="1"/>
            <p:nvPr/>
          </p:nvSpPr>
          <p:spPr>
            <a:xfrm>
              <a:off x="6512698" y="2390192"/>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p:txBody>
        </p:sp>
      </p:grpSp>
      <p:sp>
        <p:nvSpPr>
          <p:cNvPr id="497" name="Google Shape;497;p56"/>
          <p:cNvSpPr/>
          <p:nvPr/>
        </p:nvSpPr>
        <p:spPr>
          <a:xfrm>
            <a:off x="3371850" y="2441575"/>
            <a:ext cx="1831975" cy="615950"/>
          </a:xfrm>
          <a:prstGeom prst="rect">
            <a:avLst/>
          </a:prstGeom>
          <a:solidFill>
            <a:srgbClr val="A5A5A5"/>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Times New Roman"/>
                <a:ea typeface="Times New Roman"/>
                <a:cs typeface="Times New Roman"/>
                <a:sym typeface="Times New Roman"/>
              </a:rPr>
              <a:t>CNN</a:t>
            </a:r>
            <a:endParaRPr sz="1400" b="0" i="0" u="none" strike="noStrike" cap="none">
              <a:solidFill>
                <a:srgbClr val="000000"/>
              </a:solidFill>
              <a:latin typeface="Arial"/>
              <a:ea typeface="Arial"/>
              <a:cs typeface="Arial"/>
              <a:sym typeface="Arial"/>
            </a:endParaRPr>
          </a:p>
        </p:txBody>
      </p:sp>
      <p:cxnSp>
        <p:nvCxnSpPr>
          <p:cNvPr id="498" name="Google Shape;498;p56"/>
          <p:cNvCxnSpPr/>
          <p:nvPr/>
        </p:nvCxnSpPr>
        <p:spPr>
          <a:xfrm>
            <a:off x="5384800" y="2749550"/>
            <a:ext cx="449263" cy="0"/>
          </a:xfrm>
          <a:prstGeom prst="straightConnector1">
            <a:avLst/>
          </a:prstGeom>
          <a:noFill/>
          <a:ln w="76200" cap="flat" cmpd="sng">
            <a:solidFill>
              <a:schemeClr val="dk1"/>
            </a:solidFill>
            <a:prstDash val="solid"/>
            <a:miter lim="800000"/>
            <a:headEnd type="none" w="sm" len="sm"/>
            <a:tailEnd type="triangle" w="med" len="med"/>
          </a:ln>
        </p:spPr>
      </p:cxnSp>
      <p:cxnSp>
        <p:nvCxnSpPr>
          <p:cNvPr id="499" name="Google Shape;499;p56"/>
          <p:cNvCxnSpPr/>
          <p:nvPr/>
        </p:nvCxnSpPr>
        <p:spPr>
          <a:xfrm rot="10800000">
            <a:off x="4252913" y="3254375"/>
            <a:ext cx="0" cy="738188"/>
          </a:xfrm>
          <a:prstGeom prst="straightConnector1">
            <a:avLst/>
          </a:prstGeom>
          <a:noFill/>
          <a:ln w="76200" cap="flat" cmpd="sng">
            <a:solidFill>
              <a:schemeClr val="dk1"/>
            </a:solidFill>
            <a:prstDash val="solid"/>
            <a:miter lim="800000"/>
            <a:headEnd type="none" w="sm" len="sm"/>
            <a:tailEnd type="triangle" w="med" len="med"/>
          </a:ln>
        </p:spPr>
      </p:cxnSp>
      <p:sp>
        <p:nvSpPr>
          <p:cNvPr id="500" name="Google Shape;500;p56"/>
          <p:cNvSpPr txBox="1"/>
          <p:nvPr/>
        </p:nvSpPr>
        <p:spPr>
          <a:xfrm>
            <a:off x="-6350" y="4113213"/>
            <a:ext cx="8518525" cy="206216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Function of the image that is parameterized by the convolutional filter weights and biases. We design the form of the function and fit the parameters to data.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57"/>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Now</a:t>
            </a:r>
            <a:endParaRPr/>
          </a:p>
        </p:txBody>
      </p:sp>
      <p:cxnSp>
        <p:nvCxnSpPr>
          <p:cNvPr id="506" name="Google Shape;506;p57"/>
          <p:cNvCxnSpPr/>
          <p:nvPr/>
        </p:nvCxnSpPr>
        <p:spPr>
          <a:xfrm>
            <a:off x="2632075" y="2749550"/>
            <a:ext cx="449263" cy="0"/>
          </a:xfrm>
          <a:prstGeom prst="straightConnector1">
            <a:avLst/>
          </a:prstGeom>
          <a:noFill/>
          <a:ln w="76200" cap="flat" cmpd="sng">
            <a:solidFill>
              <a:schemeClr val="dk1"/>
            </a:solidFill>
            <a:prstDash val="solid"/>
            <a:miter lim="800000"/>
            <a:headEnd type="none" w="sm" len="sm"/>
            <a:tailEnd type="triangle" w="med" len="med"/>
          </a:ln>
        </p:spPr>
      </p:cxnSp>
      <p:grpSp>
        <p:nvGrpSpPr>
          <p:cNvPr id="507" name="Google Shape;507;p57"/>
          <p:cNvGrpSpPr/>
          <p:nvPr/>
        </p:nvGrpSpPr>
        <p:grpSpPr>
          <a:xfrm>
            <a:off x="1073150" y="1265238"/>
            <a:ext cx="1416050" cy="2530475"/>
            <a:chOff x="628650" y="1701926"/>
            <a:chExt cx="1415600" cy="2530334"/>
          </a:xfrm>
        </p:grpSpPr>
        <p:sp>
          <p:nvSpPr>
            <p:cNvPr id="508" name="Google Shape;508;p57"/>
            <p:cNvSpPr/>
            <p:nvPr/>
          </p:nvSpPr>
          <p:spPr>
            <a:xfrm>
              <a:off x="1220600" y="2297205"/>
              <a:ext cx="672886" cy="1935055"/>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509" name="Google Shape;509;p57"/>
            <p:cNvSpPr txBox="1"/>
            <p:nvPr/>
          </p:nvSpPr>
          <p:spPr>
            <a:xfrm>
              <a:off x="628650" y="3105709"/>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510" name="Google Shape;510;p57"/>
            <p:cNvSpPr txBox="1"/>
            <p:nvPr/>
          </p:nvSpPr>
          <p:spPr>
            <a:xfrm>
              <a:off x="872193" y="1940286"/>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511" name="Google Shape;511;p57"/>
            <p:cNvSpPr txBox="1"/>
            <p:nvPr/>
          </p:nvSpPr>
          <p:spPr>
            <a:xfrm>
              <a:off x="1557164" y="1701926"/>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grpSp>
      <p:sp>
        <p:nvSpPr>
          <p:cNvPr id="512" name="Google Shape;512;p57"/>
          <p:cNvSpPr/>
          <p:nvPr/>
        </p:nvSpPr>
        <p:spPr>
          <a:xfrm>
            <a:off x="3371850" y="2441575"/>
            <a:ext cx="1831975" cy="615950"/>
          </a:xfrm>
          <a:prstGeom prst="rect">
            <a:avLst/>
          </a:prstGeom>
          <a:solidFill>
            <a:srgbClr val="A5A5A5"/>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Times New Roman"/>
                <a:ea typeface="Times New Roman"/>
                <a:cs typeface="Times New Roman"/>
                <a:sym typeface="Times New Roman"/>
              </a:rPr>
              <a:t>CNN</a:t>
            </a:r>
            <a:endParaRPr sz="1400" b="0" i="0" u="none" strike="noStrike" cap="none">
              <a:solidFill>
                <a:srgbClr val="000000"/>
              </a:solidFill>
              <a:latin typeface="Arial"/>
              <a:ea typeface="Arial"/>
              <a:cs typeface="Arial"/>
              <a:sym typeface="Arial"/>
            </a:endParaRPr>
          </a:p>
        </p:txBody>
      </p:sp>
      <p:cxnSp>
        <p:nvCxnSpPr>
          <p:cNvPr id="513" name="Google Shape;513;p57"/>
          <p:cNvCxnSpPr/>
          <p:nvPr/>
        </p:nvCxnSpPr>
        <p:spPr>
          <a:xfrm>
            <a:off x="5384800" y="2749550"/>
            <a:ext cx="449263" cy="0"/>
          </a:xfrm>
          <a:prstGeom prst="straightConnector1">
            <a:avLst/>
          </a:prstGeom>
          <a:noFill/>
          <a:ln w="76200" cap="flat" cmpd="sng">
            <a:solidFill>
              <a:schemeClr val="dk1"/>
            </a:solidFill>
            <a:prstDash val="solid"/>
            <a:miter lim="800000"/>
            <a:headEnd type="none" w="sm" len="sm"/>
            <a:tailEnd type="triangle" w="med" len="med"/>
          </a:ln>
        </p:spPr>
      </p:cxnSp>
      <p:grpSp>
        <p:nvGrpSpPr>
          <p:cNvPr id="514" name="Google Shape;514;p57"/>
          <p:cNvGrpSpPr/>
          <p:nvPr/>
        </p:nvGrpSpPr>
        <p:grpSpPr>
          <a:xfrm>
            <a:off x="5834063" y="1268413"/>
            <a:ext cx="1416050" cy="2530475"/>
            <a:chOff x="628650" y="1701926"/>
            <a:chExt cx="1415600" cy="2530334"/>
          </a:xfrm>
        </p:grpSpPr>
        <p:sp>
          <p:nvSpPr>
            <p:cNvPr id="515" name="Google Shape;515;p57"/>
            <p:cNvSpPr/>
            <p:nvPr/>
          </p:nvSpPr>
          <p:spPr>
            <a:xfrm>
              <a:off x="1220599" y="2297205"/>
              <a:ext cx="672886" cy="1935055"/>
            </a:xfrm>
            <a:prstGeom prst="cube">
              <a:avLst>
                <a:gd name="adj" fmla="val 67261"/>
              </a:avLst>
            </a:prstGeom>
            <a:solidFill>
              <a:schemeClr val="l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516" name="Google Shape;516;p57"/>
            <p:cNvSpPr txBox="1"/>
            <p:nvPr/>
          </p:nvSpPr>
          <p:spPr>
            <a:xfrm>
              <a:off x="628650" y="3105709"/>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517" name="Google Shape;517;p57"/>
            <p:cNvSpPr txBox="1"/>
            <p:nvPr/>
          </p:nvSpPr>
          <p:spPr>
            <a:xfrm>
              <a:off x="872193" y="1940286"/>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518" name="Google Shape;518;p57"/>
            <p:cNvSpPr txBox="1"/>
            <p:nvPr/>
          </p:nvSpPr>
          <p:spPr>
            <a:xfrm>
              <a:off x="1557164" y="1701926"/>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p:txBody>
        </p:sp>
      </p:grpSp>
      <p:sp>
        <p:nvSpPr>
          <p:cNvPr id="519" name="Google Shape;519;p57"/>
          <p:cNvSpPr txBox="1"/>
          <p:nvPr/>
        </p:nvSpPr>
        <p:spPr>
          <a:xfrm>
            <a:off x="234950" y="3852863"/>
            <a:ext cx="8674100" cy="22463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sng" strike="noStrike" cap="none">
                <a:solidFill>
                  <a:schemeClr val="dk1"/>
                </a:solidFill>
                <a:latin typeface="Times New Roman"/>
                <a:ea typeface="Times New Roman"/>
                <a:cs typeface="Times New Roman"/>
                <a:sym typeface="Times New Roman"/>
              </a:rPr>
              <a:t>Convert HxW image into a F-dimensional vector</a:t>
            </a:r>
            <a:endParaRPr sz="2800" b="1" i="0" u="sng"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endParaRPr sz="2800" b="1" i="0" u="sng"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Which pixels in this image are a cat?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How far is each pixel away from the camera?</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Which pixels of this image are fake?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cxnSp>
        <p:nvCxnSpPr>
          <p:cNvPr id="524" name="Google Shape;524;p58"/>
          <p:cNvCxnSpPr/>
          <p:nvPr/>
        </p:nvCxnSpPr>
        <p:spPr>
          <a:xfrm>
            <a:off x="2632075" y="2749550"/>
            <a:ext cx="449263" cy="0"/>
          </a:xfrm>
          <a:prstGeom prst="straightConnector1">
            <a:avLst/>
          </a:prstGeom>
          <a:noFill/>
          <a:ln w="76200" cap="flat" cmpd="sng">
            <a:solidFill>
              <a:schemeClr val="dk1"/>
            </a:solidFill>
            <a:prstDash val="solid"/>
            <a:miter lim="800000"/>
            <a:headEnd type="none" w="sm" len="sm"/>
            <a:tailEnd type="triangle" w="med" len="med"/>
          </a:ln>
        </p:spPr>
      </p:cxnSp>
      <p:grpSp>
        <p:nvGrpSpPr>
          <p:cNvPr id="525" name="Google Shape;525;p58"/>
          <p:cNvGrpSpPr/>
          <p:nvPr/>
        </p:nvGrpSpPr>
        <p:grpSpPr>
          <a:xfrm>
            <a:off x="1073150" y="1265238"/>
            <a:ext cx="1416050" cy="2530475"/>
            <a:chOff x="628650" y="1701926"/>
            <a:chExt cx="1415600" cy="2530334"/>
          </a:xfrm>
        </p:grpSpPr>
        <p:sp>
          <p:nvSpPr>
            <p:cNvPr id="526" name="Google Shape;526;p58"/>
            <p:cNvSpPr/>
            <p:nvPr/>
          </p:nvSpPr>
          <p:spPr>
            <a:xfrm>
              <a:off x="1220600" y="2297205"/>
              <a:ext cx="672886" cy="1935055"/>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527" name="Google Shape;527;p58"/>
            <p:cNvSpPr txBox="1"/>
            <p:nvPr/>
          </p:nvSpPr>
          <p:spPr>
            <a:xfrm>
              <a:off x="628650" y="3105709"/>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528" name="Google Shape;528;p58"/>
            <p:cNvSpPr txBox="1"/>
            <p:nvPr/>
          </p:nvSpPr>
          <p:spPr>
            <a:xfrm>
              <a:off x="872193" y="1940286"/>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529" name="Google Shape;529;p58"/>
            <p:cNvSpPr txBox="1"/>
            <p:nvPr/>
          </p:nvSpPr>
          <p:spPr>
            <a:xfrm>
              <a:off x="1557164" y="1701926"/>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grpSp>
      <p:sp>
        <p:nvSpPr>
          <p:cNvPr id="530" name="Google Shape;530;p58"/>
          <p:cNvSpPr/>
          <p:nvPr/>
        </p:nvSpPr>
        <p:spPr>
          <a:xfrm>
            <a:off x="3371850" y="2441575"/>
            <a:ext cx="1831975" cy="615950"/>
          </a:xfrm>
          <a:prstGeom prst="rect">
            <a:avLst/>
          </a:prstGeom>
          <a:solidFill>
            <a:srgbClr val="A5A5A5"/>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Times New Roman"/>
                <a:ea typeface="Times New Roman"/>
                <a:cs typeface="Times New Roman"/>
                <a:sym typeface="Times New Roman"/>
              </a:rPr>
              <a:t>CNN</a:t>
            </a:r>
            <a:endParaRPr sz="1400" b="0" i="0" u="none" strike="noStrike" cap="none">
              <a:solidFill>
                <a:srgbClr val="000000"/>
              </a:solidFill>
              <a:latin typeface="Arial"/>
              <a:ea typeface="Arial"/>
              <a:cs typeface="Arial"/>
              <a:sym typeface="Arial"/>
            </a:endParaRPr>
          </a:p>
        </p:txBody>
      </p:sp>
      <p:sp>
        <p:nvSpPr>
          <p:cNvPr id="531" name="Google Shape;531;p58"/>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Semantic Segmentation</a:t>
            </a:r>
            <a:endParaRPr/>
          </a:p>
        </p:txBody>
      </p:sp>
      <p:grpSp>
        <p:nvGrpSpPr>
          <p:cNvPr id="532" name="Google Shape;532;p58"/>
          <p:cNvGrpSpPr/>
          <p:nvPr/>
        </p:nvGrpSpPr>
        <p:grpSpPr>
          <a:xfrm>
            <a:off x="5834063" y="1268413"/>
            <a:ext cx="1416050" cy="2530475"/>
            <a:chOff x="628650" y="1701926"/>
            <a:chExt cx="1415600" cy="2530334"/>
          </a:xfrm>
        </p:grpSpPr>
        <p:sp>
          <p:nvSpPr>
            <p:cNvPr id="533" name="Google Shape;533;p58"/>
            <p:cNvSpPr/>
            <p:nvPr/>
          </p:nvSpPr>
          <p:spPr>
            <a:xfrm>
              <a:off x="1220599" y="2297205"/>
              <a:ext cx="672886" cy="1935055"/>
            </a:xfrm>
            <a:prstGeom prst="cube">
              <a:avLst>
                <a:gd name="adj" fmla="val 67261"/>
              </a:avLst>
            </a:prstGeom>
            <a:solidFill>
              <a:schemeClr val="l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534" name="Google Shape;534;p58"/>
            <p:cNvSpPr txBox="1"/>
            <p:nvPr/>
          </p:nvSpPr>
          <p:spPr>
            <a:xfrm>
              <a:off x="628650" y="3105709"/>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535" name="Google Shape;535;p58"/>
            <p:cNvSpPr txBox="1"/>
            <p:nvPr/>
          </p:nvSpPr>
          <p:spPr>
            <a:xfrm>
              <a:off x="872193" y="1940286"/>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536" name="Google Shape;536;p58"/>
            <p:cNvSpPr txBox="1"/>
            <p:nvPr/>
          </p:nvSpPr>
          <p:spPr>
            <a:xfrm>
              <a:off x="1557164" y="1701926"/>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p:txBody>
        </p:sp>
      </p:grpSp>
      <p:sp>
        <p:nvSpPr>
          <p:cNvPr id="537" name="Google Shape;537;p58"/>
          <p:cNvSpPr txBox="1"/>
          <p:nvPr/>
        </p:nvSpPr>
        <p:spPr>
          <a:xfrm>
            <a:off x="234950" y="3852863"/>
            <a:ext cx="8674100" cy="22463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sng" strike="noStrike" cap="none">
                <a:solidFill>
                  <a:schemeClr val="dk1"/>
                </a:solidFill>
                <a:latin typeface="Times New Roman"/>
                <a:ea typeface="Times New Roman"/>
                <a:cs typeface="Times New Roman"/>
                <a:sym typeface="Times New Roman"/>
              </a:rPr>
              <a:t>Today’s Running Example</a:t>
            </a:r>
            <a:endParaRPr sz="2800" b="1" i="0" u="sng"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endParaRPr sz="2800" b="1" i="0" u="sng" strike="noStrike" cap="none">
              <a:solidFill>
                <a:schemeClr val="dk1"/>
              </a:solidFill>
              <a:latin typeface="Times New Roman"/>
              <a:ea typeface="Times New Roman"/>
              <a:cs typeface="Times New Roman"/>
              <a:sym typeface="Times New Roman"/>
            </a:endParaRPr>
          </a:p>
          <a:p>
            <a:pPr marL="457200" marR="0" lvl="0" indent="-457200" algn="ctr"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Times New Roman"/>
                <a:ea typeface="Times New Roman"/>
                <a:cs typeface="Times New Roman"/>
                <a:sym typeface="Times New Roman"/>
              </a:rPr>
              <a:t>Predict F-dimensional vector representing probability of each of F classes at every pixel</a:t>
            </a:r>
            <a:endParaRPr sz="1400" b="0" i="0" u="none" strike="noStrike" cap="none">
              <a:solidFill>
                <a:srgbClr val="000000"/>
              </a:solidFill>
              <a:latin typeface="Arial"/>
              <a:ea typeface="Arial"/>
              <a:cs typeface="Arial"/>
              <a:sym typeface="Arial"/>
            </a:endParaRPr>
          </a:p>
          <a:p>
            <a:pPr marL="457200" marR="0" lvl="0" indent="-457200" algn="ctr"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Times New Roman"/>
                <a:ea typeface="Times New Roman"/>
                <a:cs typeface="Times New Roman"/>
                <a:sym typeface="Times New Roman"/>
              </a:rPr>
              <a:t>Loss computed/backprop’d at </a:t>
            </a:r>
            <a:r>
              <a:rPr lang="en-US" sz="2800" b="0" i="1" u="none" strike="noStrike" cap="none">
                <a:solidFill>
                  <a:schemeClr val="dk1"/>
                </a:solidFill>
                <a:latin typeface="Times New Roman"/>
                <a:ea typeface="Times New Roman"/>
                <a:cs typeface="Times New Roman"/>
                <a:sym typeface="Times New Roman"/>
              </a:rPr>
              <a:t>every</a:t>
            </a:r>
            <a:r>
              <a:rPr lang="en-US" sz="2800" b="0" i="0" u="none" strike="noStrike" cap="none">
                <a:solidFill>
                  <a:schemeClr val="dk1"/>
                </a:solidFill>
                <a:latin typeface="Times New Roman"/>
                <a:ea typeface="Times New Roman"/>
                <a:cs typeface="Times New Roman"/>
                <a:sym typeface="Times New Roman"/>
              </a:rPr>
              <a:t> pixel.</a:t>
            </a:r>
            <a:endParaRPr sz="1400" b="0" i="0" u="none" strike="noStrike" cap="none">
              <a:solidFill>
                <a:srgbClr val="000000"/>
              </a:solidFill>
              <a:latin typeface="Arial"/>
              <a:ea typeface="Arial"/>
              <a:cs typeface="Arial"/>
              <a:sym typeface="Arial"/>
            </a:endParaRPr>
          </a:p>
        </p:txBody>
      </p:sp>
      <p:cxnSp>
        <p:nvCxnSpPr>
          <p:cNvPr id="538" name="Google Shape;538;p58"/>
          <p:cNvCxnSpPr/>
          <p:nvPr/>
        </p:nvCxnSpPr>
        <p:spPr>
          <a:xfrm>
            <a:off x="5384800" y="2749550"/>
            <a:ext cx="449263" cy="0"/>
          </a:xfrm>
          <a:prstGeom prst="straightConnector1">
            <a:avLst/>
          </a:prstGeom>
          <a:noFill/>
          <a:ln w="76200" cap="flat" cmpd="sng">
            <a:solidFill>
              <a:schemeClr val="dk1"/>
            </a:solidFill>
            <a:prstDash val="solid"/>
            <a:miter lim="800000"/>
            <a:headEnd type="none" w="sm" len="sm"/>
            <a:tailEnd type="triangl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59"/>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Semantic Segmentation</a:t>
            </a:r>
            <a:endParaRPr/>
          </a:p>
        </p:txBody>
      </p:sp>
      <p:grpSp>
        <p:nvGrpSpPr>
          <p:cNvPr id="544" name="Google Shape;544;p59"/>
          <p:cNvGrpSpPr/>
          <p:nvPr/>
        </p:nvGrpSpPr>
        <p:grpSpPr>
          <a:xfrm>
            <a:off x="168275" y="2784475"/>
            <a:ext cx="8807450" cy="3494088"/>
            <a:chOff x="168108" y="1992108"/>
            <a:chExt cx="8807785" cy="3495020"/>
          </a:xfrm>
        </p:grpSpPr>
        <p:grpSp>
          <p:nvGrpSpPr>
            <p:cNvPr id="545" name="Google Shape;545;p59"/>
            <p:cNvGrpSpPr/>
            <p:nvPr/>
          </p:nvGrpSpPr>
          <p:grpSpPr>
            <a:xfrm>
              <a:off x="168108" y="2515328"/>
              <a:ext cx="8807785" cy="2971800"/>
              <a:chOff x="92708" y="2297215"/>
              <a:chExt cx="8807785" cy="2971800"/>
            </a:xfrm>
          </p:grpSpPr>
          <p:pic>
            <p:nvPicPr>
              <p:cNvPr id="546" name="Google Shape;546;p59"/>
              <p:cNvPicPr preferRelativeResize="0"/>
              <p:nvPr/>
            </p:nvPicPr>
            <p:blipFill rotWithShape="1">
              <a:blip r:embed="rId3">
                <a:alphaModFix/>
              </a:blip>
              <a:srcRect/>
              <a:stretch/>
            </p:blipFill>
            <p:spPr>
              <a:xfrm>
                <a:off x="6915330" y="2297215"/>
                <a:ext cx="1985163" cy="2971800"/>
              </a:xfrm>
              <a:prstGeom prst="rect">
                <a:avLst/>
              </a:prstGeom>
              <a:noFill/>
              <a:ln>
                <a:noFill/>
              </a:ln>
            </p:spPr>
          </p:pic>
          <p:pic>
            <p:nvPicPr>
              <p:cNvPr id="547" name="Google Shape;547;p59" descr="http://www.robots.ox.ac.uk/~szheng/crf-rnn-res-voc12-val/2007_000129.jpg"/>
              <p:cNvPicPr preferRelativeResize="0"/>
              <p:nvPr/>
            </p:nvPicPr>
            <p:blipFill rotWithShape="1">
              <a:blip r:embed="rId4">
                <a:alphaModFix/>
              </a:blip>
              <a:srcRect r="66698"/>
              <a:stretch/>
            </p:blipFill>
            <p:spPr>
              <a:xfrm>
                <a:off x="4931813" y="2297215"/>
                <a:ext cx="1983517" cy="2971800"/>
              </a:xfrm>
              <a:prstGeom prst="rect">
                <a:avLst/>
              </a:prstGeom>
              <a:noFill/>
              <a:ln>
                <a:noFill/>
              </a:ln>
            </p:spPr>
          </p:pic>
          <p:pic>
            <p:nvPicPr>
              <p:cNvPr id="548" name="Google Shape;548;p59"/>
              <p:cNvPicPr preferRelativeResize="0"/>
              <p:nvPr/>
            </p:nvPicPr>
            <p:blipFill rotWithShape="1">
              <a:blip r:embed="rId5">
                <a:alphaModFix/>
              </a:blip>
              <a:srcRect/>
              <a:stretch/>
            </p:blipFill>
            <p:spPr>
              <a:xfrm>
                <a:off x="92708" y="2297215"/>
                <a:ext cx="2282686" cy="2971800"/>
              </a:xfrm>
              <a:prstGeom prst="rect">
                <a:avLst/>
              </a:prstGeom>
              <a:noFill/>
              <a:ln>
                <a:noFill/>
              </a:ln>
            </p:spPr>
          </p:pic>
          <p:pic>
            <p:nvPicPr>
              <p:cNvPr id="549" name="Google Shape;549;p59"/>
              <p:cNvPicPr preferRelativeResize="0"/>
              <p:nvPr/>
            </p:nvPicPr>
            <p:blipFill rotWithShape="1">
              <a:blip r:embed="rId6">
                <a:alphaModFix/>
              </a:blip>
              <a:srcRect/>
              <a:stretch/>
            </p:blipFill>
            <p:spPr>
              <a:xfrm>
                <a:off x="2375394" y="2297215"/>
                <a:ext cx="2282687" cy="2971800"/>
              </a:xfrm>
              <a:prstGeom prst="rect">
                <a:avLst/>
              </a:prstGeom>
              <a:noFill/>
              <a:ln>
                <a:noFill/>
              </a:ln>
            </p:spPr>
          </p:pic>
        </p:grpSp>
        <p:sp>
          <p:nvSpPr>
            <p:cNvPr id="550" name="Google Shape;550;p59"/>
            <p:cNvSpPr txBox="1"/>
            <p:nvPr/>
          </p:nvSpPr>
          <p:spPr>
            <a:xfrm>
              <a:off x="168108" y="1992108"/>
              <a:ext cx="2282686"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Input</a:t>
              </a:r>
              <a:endParaRPr sz="1400" b="0" i="0" u="none" strike="noStrike" cap="none">
                <a:solidFill>
                  <a:srgbClr val="000000"/>
                </a:solidFill>
                <a:latin typeface="Arial"/>
                <a:ea typeface="Arial"/>
                <a:cs typeface="Arial"/>
                <a:sym typeface="Arial"/>
              </a:endParaRPr>
            </a:p>
          </p:txBody>
        </p:sp>
        <p:sp>
          <p:nvSpPr>
            <p:cNvPr id="551" name="Google Shape;551;p59"/>
            <p:cNvSpPr txBox="1"/>
            <p:nvPr/>
          </p:nvSpPr>
          <p:spPr>
            <a:xfrm>
              <a:off x="2450795" y="1992108"/>
              <a:ext cx="2282686"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Label</a:t>
              </a:r>
              <a:endParaRPr sz="1400" b="0" i="0" u="none" strike="noStrike" cap="none">
                <a:solidFill>
                  <a:srgbClr val="000000"/>
                </a:solidFill>
                <a:latin typeface="Arial"/>
                <a:ea typeface="Arial"/>
                <a:cs typeface="Arial"/>
                <a:sym typeface="Arial"/>
              </a:endParaRPr>
            </a:p>
          </p:txBody>
        </p:sp>
        <p:sp>
          <p:nvSpPr>
            <p:cNvPr id="552" name="Google Shape;552;p59"/>
            <p:cNvSpPr txBox="1"/>
            <p:nvPr/>
          </p:nvSpPr>
          <p:spPr>
            <a:xfrm>
              <a:off x="5005566" y="1992108"/>
              <a:ext cx="1985164"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Input</a:t>
              </a:r>
              <a:endParaRPr sz="1400" b="0" i="0" u="none" strike="noStrike" cap="none">
                <a:solidFill>
                  <a:srgbClr val="000000"/>
                </a:solidFill>
                <a:latin typeface="Arial"/>
                <a:ea typeface="Arial"/>
                <a:cs typeface="Arial"/>
                <a:sym typeface="Arial"/>
              </a:endParaRPr>
            </a:p>
          </p:txBody>
        </p:sp>
        <p:sp>
          <p:nvSpPr>
            <p:cNvPr id="553" name="Google Shape;553;p59"/>
            <p:cNvSpPr txBox="1"/>
            <p:nvPr/>
          </p:nvSpPr>
          <p:spPr>
            <a:xfrm>
              <a:off x="6990730" y="1992108"/>
              <a:ext cx="1983517"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Label</a:t>
              </a:r>
              <a:endParaRPr sz="1400" b="0" i="0" u="none" strike="noStrike" cap="none">
                <a:solidFill>
                  <a:srgbClr val="000000"/>
                </a:solidFill>
                <a:latin typeface="Arial"/>
                <a:ea typeface="Arial"/>
                <a:cs typeface="Arial"/>
                <a:sym typeface="Arial"/>
              </a:endParaRPr>
            </a:p>
          </p:txBody>
        </p:sp>
      </p:grpSp>
      <p:sp>
        <p:nvSpPr>
          <p:cNvPr id="554" name="Google Shape;554;p59"/>
          <p:cNvSpPr txBox="1"/>
          <p:nvPr/>
        </p:nvSpPr>
        <p:spPr>
          <a:xfrm>
            <a:off x="234950" y="1398588"/>
            <a:ext cx="8674100" cy="1385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Each pixel has label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Usually visualized by colors.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Note: don’t distinguish between object </a:t>
            </a:r>
            <a:r>
              <a:rPr lang="en-US" sz="2800" b="0" i="1" u="none" strike="noStrike" cap="none">
                <a:solidFill>
                  <a:schemeClr val="dk1"/>
                </a:solidFill>
                <a:latin typeface="Times New Roman"/>
                <a:ea typeface="Times New Roman"/>
                <a:cs typeface="Times New Roman"/>
                <a:sym typeface="Times New Roman"/>
              </a:rPr>
              <a:t>instances</a:t>
            </a:r>
            <a:endParaRPr sz="1400" b="0" i="0" u="none" strike="noStrike" cap="none">
              <a:solidFill>
                <a:srgbClr val="000000"/>
              </a:solidFill>
              <a:latin typeface="Arial"/>
              <a:ea typeface="Arial"/>
              <a:cs typeface="Arial"/>
              <a:sym typeface="Arial"/>
            </a:endParaRPr>
          </a:p>
        </p:txBody>
      </p:sp>
      <p:sp>
        <p:nvSpPr>
          <p:cNvPr id="555" name="Google Shape;555;p59"/>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Image Credit: Everingham et al. Pascal VOC 2012.</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60"/>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Semantic Segmentation</a:t>
            </a:r>
            <a:endParaRPr/>
          </a:p>
        </p:txBody>
      </p:sp>
      <p:grpSp>
        <p:nvGrpSpPr>
          <p:cNvPr id="561" name="Google Shape;561;p60"/>
          <p:cNvGrpSpPr/>
          <p:nvPr/>
        </p:nvGrpSpPr>
        <p:grpSpPr>
          <a:xfrm>
            <a:off x="168275" y="2784475"/>
            <a:ext cx="8807450" cy="3494088"/>
            <a:chOff x="168108" y="1992108"/>
            <a:chExt cx="8807785" cy="3495020"/>
          </a:xfrm>
        </p:grpSpPr>
        <p:grpSp>
          <p:nvGrpSpPr>
            <p:cNvPr id="562" name="Google Shape;562;p60"/>
            <p:cNvGrpSpPr/>
            <p:nvPr/>
          </p:nvGrpSpPr>
          <p:grpSpPr>
            <a:xfrm>
              <a:off x="168108" y="2515328"/>
              <a:ext cx="8807785" cy="2971800"/>
              <a:chOff x="92708" y="2297215"/>
              <a:chExt cx="8807785" cy="2971800"/>
            </a:xfrm>
          </p:grpSpPr>
          <p:pic>
            <p:nvPicPr>
              <p:cNvPr id="563" name="Google Shape;563;p60"/>
              <p:cNvPicPr preferRelativeResize="0"/>
              <p:nvPr/>
            </p:nvPicPr>
            <p:blipFill rotWithShape="1">
              <a:blip r:embed="rId3">
                <a:alphaModFix/>
              </a:blip>
              <a:srcRect/>
              <a:stretch/>
            </p:blipFill>
            <p:spPr>
              <a:xfrm>
                <a:off x="6915330" y="2297215"/>
                <a:ext cx="1985163" cy="2971800"/>
              </a:xfrm>
              <a:prstGeom prst="rect">
                <a:avLst/>
              </a:prstGeom>
              <a:noFill/>
              <a:ln>
                <a:noFill/>
              </a:ln>
            </p:spPr>
          </p:pic>
          <p:pic>
            <p:nvPicPr>
              <p:cNvPr id="564" name="Google Shape;564;p60" descr="http://www.robots.ox.ac.uk/~szheng/crf-rnn-res-voc12-val/2007_000129.jpg"/>
              <p:cNvPicPr preferRelativeResize="0"/>
              <p:nvPr/>
            </p:nvPicPr>
            <p:blipFill rotWithShape="1">
              <a:blip r:embed="rId4">
                <a:alphaModFix/>
              </a:blip>
              <a:srcRect r="66698"/>
              <a:stretch/>
            </p:blipFill>
            <p:spPr>
              <a:xfrm>
                <a:off x="4931813" y="2297215"/>
                <a:ext cx="1983517" cy="2971800"/>
              </a:xfrm>
              <a:prstGeom prst="rect">
                <a:avLst/>
              </a:prstGeom>
              <a:noFill/>
              <a:ln>
                <a:noFill/>
              </a:ln>
            </p:spPr>
          </p:pic>
          <p:pic>
            <p:nvPicPr>
              <p:cNvPr id="565" name="Google Shape;565;p60"/>
              <p:cNvPicPr preferRelativeResize="0"/>
              <p:nvPr/>
            </p:nvPicPr>
            <p:blipFill rotWithShape="1">
              <a:blip r:embed="rId5">
                <a:alphaModFix/>
              </a:blip>
              <a:srcRect/>
              <a:stretch/>
            </p:blipFill>
            <p:spPr>
              <a:xfrm>
                <a:off x="92708" y="2297215"/>
                <a:ext cx="2282686" cy="2971800"/>
              </a:xfrm>
              <a:prstGeom prst="rect">
                <a:avLst/>
              </a:prstGeom>
              <a:noFill/>
              <a:ln>
                <a:noFill/>
              </a:ln>
            </p:spPr>
          </p:pic>
          <p:pic>
            <p:nvPicPr>
              <p:cNvPr id="566" name="Google Shape;566;p60"/>
              <p:cNvPicPr preferRelativeResize="0"/>
              <p:nvPr/>
            </p:nvPicPr>
            <p:blipFill rotWithShape="1">
              <a:blip r:embed="rId6">
                <a:alphaModFix/>
              </a:blip>
              <a:srcRect/>
              <a:stretch/>
            </p:blipFill>
            <p:spPr>
              <a:xfrm>
                <a:off x="2375394" y="2297215"/>
                <a:ext cx="2282687" cy="2971800"/>
              </a:xfrm>
              <a:prstGeom prst="rect">
                <a:avLst/>
              </a:prstGeom>
              <a:noFill/>
              <a:ln>
                <a:noFill/>
              </a:ln>
            </p:spPr>
          </p:pic>
        </p:grpSp>
        <p:sp>
          <p:nvSpPr>
            <p:cNvPr id="567" name="Google Shape;567;p60"/>
            <p:cNvSpPr txBox="1"/>
            <p:nvPr/>
          </p:nvSpPr>
          <p:spPr>
            <a:xfrm>
              <a:off x="168108" y="1992108"/>
              <a:ext cx="2282686"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Input</a:t>
              </a:r>
              <a:endParaRPr sz="1400" b="0" i="0" u="none" strike="noStrike" cap="none">
                <a:solidFill>
                  <a:srgbClr val="000000"/>
                </a:solidFill>
                <a:latin typeface="Arial"/>
                <a:ea typeface="Arial"/>
                <a:cs typeface="Arial"/>
                <a:sym typeface="Arial"/>
              </a:endParaRPr>
            </a:p>
          </p:txBody>
        </p:sp>
        <p:sp>
          <p:nvSpPr>
            <p:cNvPr id="568" name="Google Shape;568;p60"/>
            <p:cNvSpPr txBox="1"/>
            <p:nvPr/>
          </p:nvSpPr>
          <p:spPr>
            <a:xfrm>
              <a:off x="2450795" y="1992108"/>
              <a:ext cx="2282686"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Label</a:t>
              </a:r>
              <a:endParaRPr sz="1400" b="0" i="0" u="none" strike="noStrike" cap="none">
                <a:solidFill>
                  <a:srgbClr val="000000"/>
                </a:solidFill>
                <a:latin typeface="Arial"/>
                <a:ea typeface="Arial"/>
                <a:cs typeface="Arial"/>
                <a:sym typeface="Arial"/>
              </a:endParaRPr>
            </a:p>
          </p:txBody>
        </p:sp>
        <p:sp>
          <p:nvSpPr>
            <p:cNvPr id="569" name="Google Shape;569;p60"/>
            <p:cNvSpPr txBox="1"/>
            <p:nvPr/>
          </p:nvSpPr>
          <p:spPr>
            <a:xfrm>
              <a:off x="5005566" y="1992108"/>
              <a:ext cx="1985164"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Input</a:t>
              </a:r>
              <a:endParaRPr sz="1400" b="0" i="0" u="none" strike="noStrike" cap="none">
                <a:solidFill>
                  <a:srgbClr val="000000"/>
                </a:solidFill>
                <a:latin typeface="Arial"/>
                <a:ea typeface="Arial"/>
                <a:cs typeface="Arial"/>
                <a:sym typeface="Arial"/>
              </a:endParaRPr>
            </a:p>
          </p:txBody>
        </p:sp>
        <p:sp>
          <p:nvSpPr>
            <p:cNvPr id="570" name="Google Shape;570;p60"/>
            <p:cNvSpPr txBox="1"/>
            <p:nvPr/>
          </p:nvSpPr>
          <p:spPr>
            <a:xfrm>
              <a:off x="6990730" y="1992108"/>
              <a:ext cx="1983517"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Label</a:t>
              </a:r>
              <a:endParaRPr sz="1400" b="0" i="0" u="none" strike="noStrike" cap="none">
                <a:solidFill>
                  <a:srgbClr val="000000"/>
                </a:solidFill>
                <a:latin typeface="Arial"/>
                <a:ea typeface="Arial"/>
                <a:cs typeface="Arial"/>
                <a:sym typeface="Arial"/>
              </a:endParaRPr>
            </a:p>
          </p:txBody>
        </p:sp>
      </p:grpSp>
      <p:sp>
        <p:nvSpPr>
          <p:cNvPr id="571" name="Google Shape;571;p60"/>
          <p:cNvSpPr txBox="1"/>
          <p:nvPr/>
        </p:nvSpPr>
        <p:spPr>
          <a:xfrm>
            <a:off x="234950" y="1398588"/>
            <a:ext cx="8674100" cy="1385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“Semantic”: a usually meaningless word and an indication that someone is trying to trick you.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Meant to indicate here that we’re </a:t>
            </a:r>
            <a:r>
              <a:rPr lang="en-US" sz="2800" b="1" i="0" u="none" strike="noStrike" cap="none">
                <a:solidFill>
                  <a:schemeClr val="dk1"/>
                </a:solidFill>
                <a:latin typeface="Times New Roman"/>
                <a:ea typeface="Times New Roman"/>
                <a:cs typeface="Times New Roman"/>
                <a:sym typeface="Times New Roman"/>
              </a:rPr>
              <a:t>naming</a:t>
            </a:r>
            <a:r>
              <a:rPr lang="en-US" sz="2800" b="0" i="0" u="none" strike="noStrike" cap="none">
                <a:solidFill>
                  <a:schemeClr val="dk1"/>
                </a:solidFill>
                <a:latin typeface="Times New Roman"/>
                <a:ea typeface="Times New Roman"/>
                <a:cs typeface="Times New Roman"/>
                <a:sym typeface="Times New Roman"/>
              </a:rPr>
              <a:t> things.</a:t>
            </a:r>
            <a:endParaRPr sz="2800" b="0" i="1" u="none" strike="noStrike" cap="none">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6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Semantic Segmentation</a:t>
            </a:r>
            <a:endParaRPr/>
          </a:p>
        </p:txBody>
      </p:sp>
      <p:pic>
        <p:nvPicPr>
          <p:cNvPr id="577" name="Google Shape;577;p61" descr="http://www.robots.ox.ac.uk/~szheng/crf-rnn-res-voc12-val/2007_000129.jpg"/>
          <p:cNvPicPr preferRelativeResize="0"/>
          <p:nvPr/>
        </p:nvPicPr>
        <p:blipFill rotWithShape="1">
          <a:blip r:embed="rId3">
            <a:alphaModFix/>
          </a:blip>
          <a:srcRect r="66698"/>
          <a:stretch/>
        </p:blipFill>
        <p:spPr>
          <a:xfrm>
            <a:off x="647700" y="1955800"/>
            <a:ext cx="1119188" cy="1676400"/>
          </a:xfrm>
          <a:prstGeom prst="rect">
            <a:avLst/>
          </a:prstGeom>
          <a:noFill/>
          <a:ln>
            <a:noFill/>
          </a:ln>
        </p:spPr>
      </p:pic>
      <p:pic>
        <p:nvPicPr>
          <p:cNvPr id="578" name="Google Shape;578;p61"/>
          <p:cNvPicPr preferRelativeResize="0"/>
          <p:nvPr/>
        </p:nvPicPr>
        <p:blipFill rotWithShape="1">
          <a:blip r:embed="rId4">
            <a:alphaModFix/>
          </a:blip>
          <a:srcRect/>
          <a:stretch/>
        </p:blipFill>
        <p:spPr>
          <a:xfrm>
            <a:off x="647700" y="3805238"/>
            <a:ext cx="1120775" cy="1676400"/>
          </a:xfrm>
          <a:prstGeom prst="rect">
            <a:avLst/>
          </a:prstGeom>
          <a:noFill/>
          <a:ln>
            <a:noFill/>
          </a:ln>
        </p:spPr>
      </p:pic>
      <p:sp>
        <p:nvSpPr>
          <p:cNvPr id="579" name="Google Shape;579;p61"/>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Image Credit: Everingham et al. Pascal VOC 2012.</a:t>
            </a:r>
            <a:endParaRPr sz="1400" b="0" i="0" u="none" strike="noStrike" cap="none">
              <a:solidFill>
                <a:srgbClr val="000000"/>
              </a:solidFill>
              <a:latin typeface="Arial"/>
              <a:ea typeface="Arial"/>
              <a:cs typeface="Arial"/>
              <a:sym typeface="Arial"/>
            </a:endParaRPr>
          </a:p>
        </p:txBody>
      </p:sp>
      <p:grpSp>
        <p:nvGrpSpPr>
          <p:cNvPr id="580" name="Google Shape;580;p61"/>
          <p:cNvGrpSpPr/>
          <p:nvPr/>
        </p:nvGrpSpPr>
        <p:grpSpPr>
          <a:xfrm>
            <a:off x="1766888" y="1541463"/>
            <a:ext cx="1169987" cy="2090737"/>
            <a:chOff x="628650" y="1701926"/>
            <a:chExt cx="1415600" cy="2530334"/>
          </a:xfrm>
        </p:grpSpPr>
        <p:sp>
          <p:nvSpPr>
            <p:cNvPr id="581" name="Google Shape;581;p61"/>
            <p:cNvSpPr/>
            <p:nvPr/>
          </p:nvSpPr>
          <p:spPr>
            <a:xfrm>
              <a:off x="1220244" y="2297525"/>
              <a:ext cx="672266" cy="1934735"/>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582" name="Google Shape;582;p61"/>
            <p:cNvSpPr txBox="1"/>
            <p:nvPr/>
          </p:nvSpPr>
          <p:spPr>
            <a:xfrm>
              <a:off x="628650" y="3105709"/>
              <a:ext cx="487086" cy="55861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583" name="Google Shape;583;p61"/>
            <p:cNvSpPr txBox="1"/>
            <p:nvPr/>
          </p:nvSpPr>
          <p:spPr>
            <a:xfrm>
              <a:off x="872193" y="1940286"/>
              <a:ext cx="487086" cy="55861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584" name="Google Shape;584;p61"/>
            <p:cNvSpPr txBox="1"/>
            <p:nvPr/>
          </p:nvSpPr>
          <p:spPr>
            <a:xfrm>
              <a:off x="1557164" y="1701926"/>
              <a:ext cx="487086" cy="55861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p:txBody>
        </p:sp>
      </p:grpSp>
      <p:sp>
        <p:nvSpPr>
          <p:cNvPr id="585" name="Google Shape;585;p61"/>
          <p:cNvSpPr/>
          <p:nvPr/>
        </p:nvSpPr>
        <p:spPr>
          <a:xfrm>
            <a:off x="3355975" y="2551113"/>
            <a:ext cx="939800" cy="508000"/>
          </a:xfrm>
          <a:prstGeom prst="rect">
            <a:avLst/>
          </a:prstGeom>
          <a:solidFill>
            <a:srgbClr val="A5A5A5"/>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CNN</a:t>
            </a:r>
            <a:endParaRPr sz="1400" b="0" i="0" u="none" strike="noStrike" cap="none">
              <a:solidFill>
                <a:srgbClr val="000000"/>
              </a:solidFill>
              <a:latin typeface="Arial"/>
              <a:ea typeface="Arial"/>
              <a:cs typeface="Arial"/>
              <a:sym typeface="Arial"/>
            </a:endParaRPr>
          </a:p>
        </p:txBody>
      </p:sp>
      <p:sp>
        <p:nvSpPr>
          <p:cNvPr id="586" name="Google Shape;586;p61"/>
          <p:cNvSpPr/>
          <p:nvPr/>
        </p:nvSpPr>
        <p:spPr>
          <a:xfrm>
            <a:off x="5570538" y="2036763"/>
            <a:ext cx="555625" cy="1598612"/>
          </a:xfrm>
          <a:prstGeom prst="cube">
            <a:avLst>
              <a:gd name="adj" fmla="val 67261"/>
            </a:avLst>
          </a:prstGeom>
          <a:solidFill>
            <a:schemeClr val="l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587" name="Google Shape;587;p61"/>
          <p:cNvSpPr txBox="1"/>
          <p:nvPr/>
        </p:nvSpPr>
        <p:spPr>
          <a:xfrm>
            <a:off x="5081588" y="2705100"/>
            <a:ext cx="401637" cy="4619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588" name="Google Shape;588;p61"/>
          <p:cNvSpPr txBox="1"/>
          <p:nvPr/>
        </p:nvSpPr>
        <p:spPr>
          <a:xfrm>
            <a:off x="5283200" y="1741488"/>
            <a:ext cx="401638" cy="46196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589" name="Google Shape;589;p61"/>
          <p:cNvSpPr txBox="1"/>
          <p:nvPr/>
        </p:nvSpPr>
        <p:spPr>
          <a:xfrm>
            <a:off x="5848350" y="1544638"/>
            <a:ext cx="403225" cy="46196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p:txBody>
      </p:sp>
      <p:cxnSp>
        <p:nvCxnSpPr>
          <p:cNvPr id="590" name="Google Shape;590;p61"/>
          <p:cNvCxnSpPr/>
          <p:nvPr/>
        </p:nvCxnSpPr>
        <p:spPr>
          <a:xfrm>
            <a:off x="4549775" y="2805113"/>
            <a:ext cx="369888" cy="0"/>
          </a:xfrm>
          <a:prstGeom prst="straightConnector1">
            <a:avLst/>
          </a:prstGeom>
          <a:noFill/>
          <a:ln w="76200" cap="flat" cmpd="sng">
            <a:solidFill>
              <a:schemeClr val="dk1"/>
            </a:solidFill>
            <a:prstDash val="solid"/>
            <a:miter lim="800000"/>
            <a:headEnd type="none" w="sm" len="sm"/>
            <a:tailEnd type="triangle" w="med" len="med"/>
          </a:ln>
        </p:spPr>
      </p:cxnSp>
      <p:cxnSp>
        <p:nvCxnSpPr>
          <p:cNvPr id="591" name="Google Shape;591;p61"/>
          <p:cNvCxnSpPr/>
          <p:nvPr/>
        </p:nvCxnSpPr>
        <p:spPr>
          <a:xfrm>
            <a:off x="2724150" y="2805113"/>
            <a:ext cx="369888" cy="0"/>
          </a:xfrm>
          <a:prstGeom prst="straightConnector1">
            <a:avLst/>
          </a:prstGeom>
          <a:noFill/>
          <a:ln w="76200" cap="flat" cmpd="sng">
            <a:solidFill>
              <a:schemeClr val="dk1"/>
            </a:solidFill>
            <a:prstDash val="solid"/>
            <a:miter lim="800000"/>
            <a:headEnd type="none" w="sm" len="sm"/>
            <a:tailEnd type="triangle" w="med" len="med"/>
          </a:ln>
        </p:spPr>
      </p:cxnSp>
      <p:sp>
        <p:nvSpPr>
          <p:cNvPr id="592" name="Google Shape;592;p61"/>
          <p:cNvSpPr txBox="1"/>
          <p:nvPr/>
        </p:nvSpPr>
        <p:spPr>
          <a:xfrm>
            <a:off x="5081224" y="5027337"/>
            <a:ext cx="3860544" cy="968278"/>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
        <p:nvSpPr>
          <p:cNvPr id="593" name="Google Shape;593;p61"/>
          <p:cNvSpPr txBox="1"/>
          <p:nvPr/>
        </p:nvSpPr>
        <p:spPr>
          <a:xfrm>
            <a:off x="2255838" y="4819650"/>
            <a:ext cx="3509962" cy="1384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F-way classification loss function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at every pixel:</a:t>
            </a:r>
            <a:endParaRPr sz="1400" b="0" i="0" u="none" strike="noStrike" cap="none">
              <a:solidFill>
                <a:srgbClr val="000000"/>
              </a:solidFill>
              <a:latin typeface="Arial"/>
              <a:ea typeface="Arial"/>
              <a:cs typeface="Arial"/>
              <a:sym typeface="Arial"/>
            </a:endParaRPr>
          </a:p>
        </p:txBody>
      </p:sp>
      <p:sp>
        <p:nvSpPr>
          <p:cNvPr id="594" name="Google Shape;594;p61"/>
          <p:cNvSpPr/>
          <p:nvPr/>
        </p:nvSpPr>
        <p:spPr>
          <a:xfrm>
            <a:off x="6565900" y="2035175"/>
            <a:ext cx="555625" cy="1598613"/>
          </a:xfrm>
          <a:prstGeom prst="cube">
            <a:avLst>
              <a:gd name="adj" fmla="val 67261"/>
            </a:avLst>
          </a:prstGeom>
          <a:solidFill>
            <a:srgbClr val="3F3F3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cxnSp>
        <p:nvCxnSpPr>
          <p:cNvPr id="595" name="Google Shape;595;p61"/>
          <p:cNvCxnSpPr>
            <a:stCxn id="578" idx="3"/>
            <a:endCxn id="594" idx="3"/>
          </p:cNvCxnSpPr>
          <p:nvPr/>
        </p:nvCxnSpPr>
        <p:spPr>
          <a:xfrm rot="10800000" flipH="1">
            <a:off x="1768475" y="3633938"/>
            <a:ext cx="4888500" cy="1009500"/>
          </a:xfrm>
          <a:prstGeom prst="curvedConnector2">
            <a:avLst/>
          </a:prstGeom>
          <a:noFill/>
          <a:ln w="57150" cap="flat" cmpd="sng">
            <a:solidFill>
              <a:schemeClr val="dk1"/>
            </a:solidFill>
            <a:prstDash val="solid"/>
            <a:miter lim="800000"/>
            <a:headEnd type="none" w="sm" len="sm"/>
            <a:tailEnd type="triangle" w="med" len="med"/>
          </a:ln>
        </p:spPr>
      </p:cxnSp>
      <p:sp>
        <p:nvSpPr>
          <p:cNvPr id="596" name="Google Shape;596;p61"/>
          <p:cNvSpPr txBox="1"/>
          <p:nvPr/>
        </p:nvSpPr>
        <p:spPr>
          <a:xfrm>
            <a:off x="6208713" y="2698750"/>
            <a:ext cx="403225" cy="4603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597" name="Google Shape;597;p61"/>
          <p:cNvSpPr txBox="1"/>
          <p:nvPr/>
        </p:nvSpPr>
        <p:spPr>
          <a:xfrm>
            <a:off x="6413500" y="1733550"/>
            <a:ext cx="403225" cy="4603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598" name="Google Shape;598;p61"/>
          <p:cNvSpPr txBox="1"/>
          <p:nvPr/>
        </p:nvSpPr>
        <p:spPr>
          <a:xfrm>
            <a:off x="6843713" y="1544638"/>
            <a:ext cx="401637" cy="46196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62"/>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Encoder-Decoder</a:t>
            </a:r>
            <a:endParaRPr/>
          </a:p>
        </p:txBody>
      </p:sp>
      <p:sp>
        <p:nvSpPr>
          <p:cNvPr id="604" name="Google Shape;604;p62"/>
          <p:cNvSpPr txBox="1"/>
          <p:nvPr/>
        </p:nvSpPr>
        <p:spPr>
          <a:xfrm>
            <a:off x="450850" y="1585913"/>
            <a:ext cx="8242300" cy="10763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Key idea: First </a:t>
            </a:r>
            <a:r>
              <a:rPr lang="en-US" sz="3200" b="1" i="0" u="none" strike="noStrike" cap="none">
                <a:solidFill>
                  <a:schemeClr val="dk1"/>
                </a:solidFill>
                <a:latin typeface="Times New Roman"/>
                <a:ea typeface="Times New Roman"/>
                <a:cs typeface="Times New Roman"/>
                <a:sym typeface="Times New Roman"/>
              </a:rPr>
              <a:t>downsample</a:t>
            </a:r>
            <a:r>
              <a:rPr lang="en-US" sz="3200" b="0" i="0" u="none" strike="noStrike" cap="none">
                <a:solidFill>
                  <a:schemeClr val="dk1"/>
                </a:solidFill>
                <a:latin typeface="Times New Roman"/>
                <a:ea typeface="Times New Roman"/>
                <a:cs typeface="Times New Roman"/>
                <a:sym typeface="Times New Roman"/>
              </a:rPr>
              <a:t> towards middle of network. Then </a:t>
            </a:r>
            <a:r>
              <a:rPr lang="en-US" sz="3200" b="1" i="0" u="none" strike="noStrike" cap="none">
                <a:solidFill>
                  <a:schemeClr val="dk1"/>
                </a:solidFill>
                <a:latin typeface="Times New Roman"/>
                <a:ea typeface="Times New Roman"/>
                <a:cs typeface="Times New Roman"/>
                <a:sym typeface="Times New Roman"/>
              </a:rPr>
              <a:t>upsample</a:t>
            </a:r>
            <a:r>
              <a:rPr lang="en-US" sz="3200" b="0" i="0" u="none" strike="noStrike" cap="none">
                <a:solidFill>
                  <a:schemeClr val="dk1"/>
                </a:solidFill>
                <a:latin typeface="Times New Roman"/>
                <a:ea typeface="Times New Roman"/>
                <a:cs typeface="Times New Roman"/>
                <a:sym typeface="Times New Roman"/>
              </a:rPr>
              <a:t> from middle.</a:t>
            </a:r>
            <a:endParaRPr sz="3200" b="1" i="0" u="none" strike="noStrike" cap="none">
              <a:solidFill>
                <a:schemeClr val="dk1"/>
              </a:solidFill>
              <a:latin typeface="Times New Roman"/>
              <a:ea typeface="Times New Roman"/>
              <a:cs typeface="Times New Roman"/>
              <a:sym typeface="Times New Roman"/>
            </a:endParaRPr>
          </a:p>
        </p:txBody>
      </p:sp>
      <p:grpSp>
        <p:nvGrpSpPr>
          <p:cNvPr id="605" name="Google Shape;605;p62"/>
          <p:cNvGrpSpPr/>
          <p:nvPr/>
        </p:nvGrpSpPr>
        <p:grpSpPr>
          <a:xfrm>
            <a:off x="1743075" y="3873500"/>
            <a:ext cx="5794375" cy="2530475"/>
            <a:chOff x="1282274" y="3680699"/>
            <a:chExt cx="5793570" cy="2530334"/>
          </a:xfrm>
        </p:grpSpPr>
        <p:sp>
          <p:nvSpPr>
            <p:cNvPr id="606" name="Google Shape;606;p62"/>
            <p:cNvSpPr/>
            <p:nvPr/>
          </p:nvSpPr>
          <p:spPr>
            <a:xfrm>
              <a:off x="1782268" y="4275979"/>
              <a:ext cx="671419" cy="1935054"/>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07" name="Google Shape;607;p62"/>
            <p:cNvSpPr txBox="1"/>
            <p:nvPr/>
          </p:nvSpPr>
          <p:spPr>
            <a:xfrm>
              <a:off x="1282274" y="5084482"/>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608" name="Google Shape;608;p62"/>
            <p:cNvSpPr txBox="1"/>
            <p:nvPr/>
          </p:nvSpPr>
          <p:spPr>
            <a:xfrm>
              <a:off x="1433107" y="3919059"/>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609" name="Google Shape;609;p62"/>
            <p:cNvSpPr txBox="1"/>
            <p:nvPr/>
          </p:nvSpPr>
          <p:spPr>
            <a:xfrm>
              <a:off x="2118078" y="3680699"/>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grpSp>
          <p:nvGrpSpPr>
            <p:cNvPr id="610" name="Google Shape;610;p62"/>
            <p:cNvGrpSpPr/>
            <p:nvPr/>
          </p:nvGrpSpPr>
          <p:grpSpPr>
            <a:xfrm>
              <a:off x="2466384" y="4275979"/>
              <a:ext cx="1909498" cy="1935054"/>
              <a:chOff x="1704480" y="3331407"/>
              <a:chExt cx="1909498" cy="1935054"/>
            </a:xfrm>
          </p:grpSpPr>
          <p:sp>
            <p:nvSpPr>
              <p:cNvPr id="611" name="Google Shape;611;p62"/>
              <p:cNvSpPr/>
              <p:nvPr/>
            </p:nvSpPr>
            <p:spPr>
              <a:xfrm>
                <a:off x="1704480" y="3331407"/>
                <a:ext cx="673007" cy="1935054"/>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12" name="Google Shape;612;p62"/>
              <p:cNvSpPr/>
              <p:nvPr/>
            </p:nvSpPr>
            <p:spPr>
              <a:xfrm>
                <a:off x="2225108" y="3483799"/>
                <a:ext cx="555548" cy="1598523"/>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13" name="Google Shape;613;p62"/>
              <p:cNvSpPr/>
              <p:nvPr/>
            </p:nvSpPr>
            <p:spPr>
              <a:xfrm>
                <a:off x="2667959" y="3682224"/>
                <a:ext cx="458723" cy="1201671"/>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14" name="Google Shape;614;p62"/>
              <p:cNvSpPr/>
              <p:nvPr/>
            </p:nvSpPr>
            <p:spPr>
              <a:xfrm>
                <a:off x="3037795" y="3831441"/>
                <a:ext cx="379360" cy="903238"/>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15" name="Google Shape;615;p62"/>
              <p:cNvSpPr/>
              <p:nvPr/>
            </p:nvSpPr>
            <p:spPr>
              <a:xfrm>
                <a:off x="3299697" y="3974308"/>
                <a:ext cx="314281" cy="617504"/>
              </a:xfrm>
              <a:prstGeom prst="cube">
                <a:avLst>
                  <a:gd name="adj" fmla="val 4052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616" name="Google Shape;616;p62"/>
            <p:cNvSpPr/>
            <p:nvPr/>
          </p:nvSpPr>
          <p:spPr>
            <a:xfrm>
              <a:off x="4352072" y="4777601"/>
              <a:ext cx="380947" cy="901650"/>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17" name="Google Shape;617;p62"/>
            <p:cNvSpPr/>
            <p:nvPr/>
          </p:nvSpPr>
          <p:spPr>
            <a:xfrm>
              <a:off x="4642545" y="4628384"/>
              <a:ext cx="460311" cy="1200083"/>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18" name="Google Shape;618;p62"/>
            <p:cNvSpPr/>
            <p:nvPr/>
          </p:nvSpPr>
          <p:spPr>
            <a:xfrm>
              <a:off x="4990159" y="4428370"/>
              <a:ext cx="555548" cy="1598523"/>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19" name="Google Shape;619;p62"/>
            <p:cNvSpPr/>
            <p:nvPr/>
          </p:nvSpPr>
          <p:spPr>
            <a:xfrm>
              <a:off x="5393328" y="4275979"/>
              <a:ext cx="671420" cy="1935054"/>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20" name="Google Shape;620;p62"/>
            <p:cNvSpPr/>
            <p:nvPr/>
          </p:nvSpPr>
          <p:spPr>
            <a:xfrm>
              <a:off x="5915543" y="4275979"/>
              <a:ext cx="673006" cy="1935054"/>
            </a:xfrm>
            <a:prstGeom prst="cube">
              <a:avLst>
                <a:gd name="adj" fmla="val 67261"/>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21" name="Google Shape;621;p62"/>
            <p:cNvSpPr txBox="1"/>
            <p:nvPr/>
          </p:nvSpPr>
          <p:spPr>
            <a:xfrm>
              <a:off x="6588758" y="5084482"/>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622" name="Google Shape;622;p62"/>
            <p:cNvSpPr txBox="1"/>
            <p:nvPr/>
          </p:nvSpPr>
          <p:spPr>
            <a:xfrm>
              <a:off x="5906598" y="3919059"/>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623" name="Google Shape;623;p62"/>
            <p:cNvSpPr txBox="1"/>
            <p:nvPr/>
          </p:nvSpPr>
          <p:spPr>
            <a:xfrm>
              <a:off x="6252505" y="3680699"/>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p:txBody>
        </p:sp>
      </p:grpSp>
      <p:sp>
        <p:nvSpPr>
          <p:cNvPr id="624" name="Google Shape;624;p62"/>
          <p:cNvSpPr txBox="1"/>
          <p:nvPr/>
        </p:nvSpPr>
        <p:spPr>
          <a:xfrm>
            <a:off x="450850" y="2579688"/>
            <a:ext cx="82423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Times New Roman"/>
                <a:ea typeface="Times New Roman"/>
                <a:cs typeface="Times New Roman"/>
                <a:sym typeface="Times New Roman"/>
              </a:rPr>
              <a:t>How do we downsample?</a:t>
            </a:r>
            <a:endParaRPr sz="1400" b="0" i="0" u="none" strike="noStrike" cap="none">
              <a:solidFill>
                <a:srgbClr val="000000"/>
              </a:solidFill>
              <a:latin typeface="Arial"/>
              <a:ea typeface="Arial"/>
              <a:cs typeface="Arial"/>
              <a:sym typeface="Arial"/>
            </a:endParaRPr>
          </a:p>
        </p:txBody>
      </p:sp>
      <p:sp>
        <p:nvSpPr>
          <p:cNvPr id="625" name="Google Shape;625;p62"/>
          <p:cNvSpPr txBox="1"/>
          <p:nvPr/>
        </p:nvSpPr>
        <p:spPr>
          <a:xfrm>
            <a:off x="450850" y="3103563"/>
            <a:ext cx="8242300" cy="5857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Convolutions, pooling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63"/>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Where Do We Get Parameters?</a:t>
            </a:r>
            <a:endParaRPr/>
          </a:p>
        </p:txBody>
      </p:sp>
      <p:sp>
        <p:nvSpPr>
          <p:cNvPr id="631" name="Google Shape;631;p63"/>
          <p:cNvSpPr/>
          <p:nvPr/>
        </p:nvSpPr>
        <p:spPr>
          <a:xfrm>
            <a:off x="392113" y="3182938"/>
            <a:ext cx="681037" cy="2816225"/>
          </a:xfrm>
          <a:prstGeom prst="cube">
            <a:avLst>
              <a:gd name="adj" fmla="val 81584"/>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32" name="Google Shape;632;p63"/>
          <p:cNvSpPr/>
          <p:nvPr/>
        </p:nvSpPr>
        <p:spPr>
          <a:xfrm>
            <a:off x="1044575" y="3629025"/>
            <a:ext cx="463550" cy="1924050"/>
          </a:xfrm>
          <a:prstGeom prst="cube">
            <a:avLst>
              <a:gd name="adj" fmla="val 81584"/>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33" name="Google Shape;633;p63"/>
          <p:cNvSpPr/>
          <p:nvPr/>
        </p:nvSpPr>
        <p:spPr>
          <a:xfrm>
            <a:off x="1481138" y="3868738"/>
            <a:ext cx="474662" cy="1444625"/>
          </a:xfrm>
          <a:prstGeom prst="cube">
            <a:avLst>
              <a:gd name="adj" fmla="val 6213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34" name="Google Shape;634;p63"/>
          <p:cNvSpPr/>
          <p:nvPr/>
        </p:nvSpPr>
        <p:spPr>
          <a:xfrm>
            <a:off x="1927225" y="4137025"/>
            <a:ext cx="360363" cy="896938"/>
          </a:xfrm>
          <a:prstGeom prst="cube">
            <a:avLst>
              <a:gd name="adj" fmla="val 5838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35" name="Google Shape;635;p63"/>
          <p:cNvSpPr/>
          <p:nvPr/>
        </p:nvSpPr>
        <p:spPr>
          <a:xfrm>
            <a:off x="2260600" y="4137025"/>
            <a:ext cx="360363" cy="896938"/>
          </a:xfrm>
          <a:prstGeom prst="cube">
            <a:avLst>
              <a:gd name="adj" fmla="val 5838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36" name="Google Shape;636;p63"/>
          <p:cNvSpPr/>
          <p:nvPr/>
        </p:nvSpPr>
        <p:spPr>
          <a:xfrm>
            <a:off x="2593975" y="4141788"/>
            <a:ext cx="360363" cy="896937"/>
          </a:xfrm>
          <a:prstGeom prst="cube">
            <a:avLst>
              <a:gd name="adj" fmla="val 5838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37" name="Google Shape;637;p63"/>
          <p:cNvSpPr/>
          <p:nvPr/>
        </p:nvSpPr>
        <p:spPr>
          <a:xfrm>
            <a:off x="2868613" y="4446588"/>
            <a:ext cx="346075" cy="288925"/>
          </a:xfrm>
          <a:prstGeom prst="cube">
            <a:avLst>
              <a:gd name="adj" fmla="val 29275"/>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38" name="Google Shape;638;p63"/>
          <p:cNvSpPr/>
          <p:nvPr/>
        </p:nvSpPr>
        <p:spPr>
          <a:xfrm>
            <a:off x="3227388" y="4440238"/>
            <a:ext cx="346075" cy="290512"/>
          </a:xfrm>
          <a:prstGeom prst="cube">
            <a:avLst>
              <a:gd name="adj" fmla="val 29275"/>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39" name="Google Shape;639;p63"/>
          <p:cNvSpPr/>
          <p:nvPr/>
        </p:nvSpPr>
        <p:spPr>
          <a:xfrm>
            <a:off x="3594100" y="4446588"/>
            <a:ext cx="446088" cy="284162"/>
          </a:xfrm>
          <a:prstGeom prst="cube">
            <a:avLst>
              <a:gd name="adj" fmla="val 29275"/>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40" name="Google Shape;640;p63"/>
          <p:cNvSpPr txBox="1"/>
          <p:nvPr/>
        </p:nvSpPr>
        <p:spPr>
          <a:xfrm>
            <a:off x="327025" y="1482725"/>
            <a:ext cx="3713163" cy="9540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Convnet that maps images to vectors</a:t>
            </a:r>
            <a:endParaRPr sz="1400" b="0" i="0" u="none" strike="noStrike" cap="none">
              <a:solidFill>
                <a:srgbClr val="000000"/>
              </a:solidFill>
              <a:latin typeface="Arial"/>
              <a:ea typeface="Arial"/>
              <a:cs typeface="Arial"/>
              <a:sym typeface="Arial"/>
            </a:endParaRPr>
          </a:p>
        </p:txBody>
      </p:sp>
      <p:sp>
        <p:nvSpPr>
          <p:cNvPr id="641" name="Google Shape;641;p63"/>
          <p:cNvSpPr/>
          <p:nvPr/>
        </p:nvSpPr>
        <p:spPr>
          <a:xfrm>
            <a:off x="2516188" y="3748088"/>
            <a:ext cx="1619250" cy="1444625"/>
          </a:xfrm>
          <a:prstGeom prst="rect">
            <a:avLst/>
          </a:prstGeom>
          <a:noFill/>
          <a:ln w="762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42" name="Google Shape;642;p63"/>
          <p:cNvSpPr txBox="1"/>
          <p:nvPr/>
        </p:nvSpPr>
        <p:spPr>
          <a:xfrm>
            <a:off x="4572000" y="4379913"/>
            <a:ext cx="3943350" cy="18161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Recall that we can rewrite any vector-vector operations via 1x1 convolutions</a:t>
            </a:r>
            <a:endParaRPr sz="1400" b="0" i="0" u="none" strike="noStrike" cap="none">
              <a:solidFill>
                <a:srgbClr val="000000"/>
              </a:solidFill>
              <a:latin typeface="Arial"/>
              <a:ea typeface="Arial"/>
              <a:cs typeface="Arial"/>
              <a:sym typeface="Arial"/>
            </a:endParaRPr>
          </a:p>
        </p:txBody>
      </p:sp>
      <p:sp>
        <p:nvSpPr>
          <p:cNvPr id="643" name="Google Shape;643;p63"/>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Long et al. </a:t>
            </a:r>
            <a:r>
              <a:rPr lang="en-US" sz="1200" b="0" i="1" u="none" strike="noStrike" cap="none">
                <a:solidFill>
                  <a:schemeClr val="dk1"/>
                </a:solidFill>
                <a:latin typeface="Times New Roman"/>
                <a:ea typeface="Times New Roman"/>
                <a:cs typeface="Times New Roman"/>
                <a:sym typeface="Times New Roman"/>
              </a:rPr>
              <a:t>Fully Convolutional Networks For Semantic Segmentation</a:t>
            </a:r>
            <a:r>
              <a:rPr lang="en-US" sz="1200" b="0" i="0" u="none" strike="noStrike" cap="none">
                <a:solidFill>
                  <a:schemeClr val="dk1"/>
                </a:solidFill>
                <a:latin typeface="Times New Roman"/>
                <a:ea typeface="Times New Roman"/>
                <a:cs typeface="Times New Roman"/>
                <a:sym typeface="Times New Roman"/>
              </a:rPr>
              <a:t>. CVPR 2014</a:t>
            </a:r>
            <a:endParaRPr sz="1400" b="0" i="0" u="none" strike="noStrike" cap="none">
              <a:solidFill>
                <a:srgbClr val="000000"/>
              </a:solidFill>
              <a:latin typeface="Arial"/>
              <a:ea typeface="Arial"/>
              <a:cs typeface="Arial"/>
              <a:sym typeface="Arial"/>
            </a:endParaRPr>
          </a:p>
        </p:txBody>
      </p:sp>
      <p:grpSp>
        <p:nvGrpSpPr>
          <p:cNvPr id="644" name="Google Shape;644;p63"/>
          <p:cNvGrpSpPr/>
          <p:nvPr/>
        </p:nvGrpSpPr>
        <p:grpSpPr>
          <a:xfrm>
            <a:off x="327025" y="2628900"/>
            <a:ext cx="1093788" cy="990600"/>
            <a:chOff x="327171" y="2628858"/>
            <a:chExt cx="1093553" cy="990267"/>
          </a:xfrm>
        </p:grpSpPr>
        <p:cxnSp>
          <p:nvCxnSpPr>
            <p:cNvPr id="645" name="Google Shape;645;p63"/>
            <p:cNvCxnSpPr/>
            <p:nvPr/>
          </p:nvCxnSpPr>
          <p:spPr>
            <a:xfrm rot="10800000" flipH="1">
              <a:off x="327171" y="3047817"/>
              <a:ext cx="569791" cy="571308"/>
            </a:xfrm>
            <a:prstGeom prst="straightConnector1">
              <a:avLst/>
            </a:prstGeom>
            <a:noFill/>
            <a:ln w="57150" cap="flat" cmpd="sng">
              <a:solidFill>
                <a:schemeClr val="dk1"/>
              </a:solidFill>
              <a:prstDash val="solid"/>
              <a:miter lim="800000"/>
              <a:headEnd type="triangle" w="med" len="med"/>
              <a:tailEnd type="triangle" w="med" len="med"/>
            </a:ln>
          </p:spPr>
        </p:cxnSp>
        <p:sp>
          <p:nvSpPr>
            <p:cNvPr id="646" name="Google Shape;646;p63"/>
            <p:cNvSpPr txBox="1"/>
            <p:nvPr/>
          </p:nvSpPr>
          <p:spPr>
            <a:xfrm>
              <a:off x="418243" y="2628858"/>
              <a:ext cx="100248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224</a:t>
              </a:r>
              <a:endParaRPr sz="1400" b="0" i="0" u="none" strike="noStrike" cap="none">
                <a:solidFill>
                  <a:srgbClr val="000000"/>
                </a:solidFill>
                <a:latin typeface="Arial"/>
                <a:ea typeface="Arial"/>
                <a:cs typeface="Arial"/>
                <a:sym typeface="Arial"/>
              </a:endParaRPr>
            </a:p>
          </p:txBody>
        </p:sp>
      </p:grpSp>
      <p:sp>
        <p:nvSpPr>
          <p:cNvPr id="647" name="Google Shape;647;p63"/>
          <p:cNvSpPr txBox="1"/>
          <p:nvPr/>
        </p:nvSpPr>
        <p:spPr>
          <a:xfrm>
            <a:off x="2962275" y="3875088"/>
            <a:ext cx="1101725"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1x1</a:t>
            </a:r>
            <a:endParaRPr sz="1400" b="0" i="0" u="none" strike="noStrike" cap="none">
              <a:solidFill>
                <a:srgbClr val="000000"/>
              </a:solidFill>
              <a:latin typeface="Arial"/>
              <a:ea typeface="Arial"/>
              <a:cs typeface="Arial"/>
              <a:sym typeface="Arial"/>
            </a:endParaRPr>
          </a:p>
        </p:txBody>
      </p:sp>
      <p:grpSp>
        <p:nvGrpSpPr>
          <p:cNvPr id="648" name="Google Shape;648;p63"/>
          <p:cNvGrpSpPr/>
          <p:nvPr/>
        </p:nvGrpSpPr>
        <p:grpSpPr>
          <a:xfrm>
            <a:off x="5103813" y="3462338"/>
            <a:ext cx="2879725" cy="738187"/>
            <a:chOff x="5219491" y="3461755"/>
            <a:chExt cx="2880126" cy="738664"/>
          </a:xfrm>
        </p:grpSpPr>
        <p:sp>
          <p:nvSpPr>
            <p:cNvPr id="649" name="Google Shape;649;p63"/>
            <p:cNvSpPr/>
            <p:nvPr/>
          </p:nvSpPr>
          <p:spPr>
            <a:xfrm>
              <a:off x="5219491" y="3619019"/>
              <a:ext cx="506483" cy="424137"/>
            </a:xfrm>
            <a:prstGeom prst="cube">
              <a:avLst>
                <a:gd name="adj" fmla="val 29275"/>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50" name="Google Shape;650;p63"/>
            <p:cNvSpPr/>
            <p:nvPr/>
          </p:nvSpPr>
          <p:spPr>
            <a:xfrm>
              <a:off x="6295966" y="3619019"/>
              <a:ext cx="506483" cy="424137"/>
            </a:xfrm>
            <a:prstGeom prst="cube">
              <a:avLst>
                <a:gd name="adj" fmla="val 29275"/>
              </a:avLst>
            </a:prstGeom>
            <a:solidFill>
              <a:schemeClr val="accent3"/>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51" name="Google Shape;651;p63"/>
            <p:cNvSpPr txBox="1"/>
            <p:nvPr/>
          </p:nvSpPr>
          <p:spPr>
            <a:xfrm>
              <a:off x="5777207" y="3461755"/>
              <a:ext cx="468077" cy="738664"/>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
          <p:nvSpPr>
            <p:cNvPr id="652" name="Google Shape;652;p63"/>
            <p:cNvSpPr txBox="1"/>
            <p:nvPr/>
          </p:nvSpPr>
          <p:spPr>
            <a:xfrm>
              <a:off x="6854211" y="3461755"/>
              <a:ext cx="687689" cy="738664"/>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
          <p:nvSpPr>
            <p:cNvPr id="653" name="Google Shape;653;p63"/>
            <p:cNvSpPr/>
            <p:nvPr/>
          </p:nvSpPr>
          <p:spPr>
            <a:xfrm>
              <a:off x="7593133" y="3660320"/>
              <a:ext cx="506484" cy="424137"/>
            </a:xfrm>
            <a:prstGeom prst="cube">
              <a:avLst>
                <a:gd name="adj" fmla="val 29275"/>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64"/>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Where Do We Get Parameters?</a:t>
            </a:r>
            <a:endParaRPr/>
          </a:p>
        </p:txBody>
      </p:sp>
      <p:sp>
        <p:nvSpPr>
          <p:cNvPr id="659" name="Google Shape;659;p64"/>
          <p:cNvSpPr txBox="1"/>
          <p:nvPr/>
        </p:nvSpPr>
        <p:spPr>
          <a:xfrm>
            <a:off x="327025" y="1482725"/>
            <a:ext cx="3713163" cy="9540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Convnet that maps images to vectors</a:t>
            </a:r>
            <a:endParaRPr sz="1400" b="0" i="0" u="none" strike="noStrike" cap="none">
              <a:solidFill>
                <a:srgbClr val="000000"/>
              </a:solidFill>
              <a:latin typeface="Arial"/>
              <a:ea typeface="Arial"/>
              <a:cs typeface="Arial"/>
              <a:sym typeface="Arial"/>
            </a:endParaRPr>
          </a:p>
        </p:txBody>
      </p:sp>
      <p:grpSp>
        <p:nvGrpSpPr>
          <p:cNvPr id="660" name="Google Shape;660;p64"/>
          <p:cNvGrpSpPr/>
          <p:nvPr/>
        </p:nvGrpSpPr>
        <p:grpSpPr>
          <a:xfrm>
            <a:off x="327025" y="2628900"/>
            <a:ext cx="3713163" cy="3370263"/>
            <a:chOff x="327171" y="2628858"/>
            <a:chExt cx="3712759" cy="3369866"/>
          </a:xfrm>
        </p:grpSpPr>
        <p:sp>
          <p:nvSpPr>
            <p:cNvPr id="661" name="Google Shape;661;p64"/>
            <p:cNvSpPr/>
            <p:nvPr/>
          </p:nvSpPr>
          <p:spPr>
            <a:xfrm>
              <a:off x="392252" y="3182831"/>
              <a:ext cx="680963" cy="2815893"/>
            </a:xfrm>
            <a:prstGeom prst="cube">
              <a:avLst>
                <a:gd name="adj" fmla="val 81584"/>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62" name="Google Shape;662;p64"/>
            <p:cNvSpPr/>
            <p:nvPr/>
          </p:nvSpPr>
          <p:spPr>
            <a:xfrm>
              <a:off x="1044643" y="3628865"/>
              <a:ext cx="463500" cy="1923823"/>
            </a:xfrm>
            <a:prstGeom prst="cube">
              <a:avLst>
                <a:gd name="adj" fmla="val 81584"/>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63" name="Google Shape;663;p64"/>
            <p:cNvSpPr/>
            <p:nvPr/>
          </p:nvSpPr>
          <p:spPr>
            <a:xfrm>
              <a:off x="1481158" y="3868550"/>
              <a:ext cx="474610" cy="1444455"/>
            </a:xfrm>
            <a:prstGeom prst="cube">
              <a:avLst>
                <a:gd name="adj" fmla="val 6213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64" name="Google Shape;664;p64"/>
            <p:cNvSpPr/>
            <p:nvPr/>
          </p:nvSpPr>
          <p:spPr>
            <a:xfrm>
              <a:off x="1927197" y="4136805"/>
              <a:ext cx="361911" cy="896832"/>
            </a:xfrm>
            <a:prstGeom prst="cube">
              <a:avLst>
                <a:gd name="adj" fmla="val 5838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65" name="Google Shape;665;p64"/>
            <p:cNvSpPr/>
            <p:nvPr/>
          </p:nvSpPr>
          <p:spPr>
            <a:xfrm>
              <a:off x="2260536" y="4136805"/>
              <a:ext cx="361911" cy="896832"/>
            </a:xfrm>
            <a:prstGeom prst="cube">
              <a:avLst>
                <a:gd name="adj" fmla="val 5838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66" name="Google Shape;666;p64"/>
            <p:cNvSpPr/>
            <p:nvPr/>
          </p:nvSpPr>
          <p:spPr>
            <a:xfrm>
              <a:off x="2593874" y="4141568"/>
              <a:ext cx="361911" cy="898419"/>
            </a:xfrm>
            <a:prstGeom prst="cube">
              <a:avLst>
                <a:gd name="adj" fmla="val 5838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67" name="Google Shape;667;p64"/>
            <p:cNvSpPr/>
            <p:nvPr/>
          </p:nvSpPr>
          <p:spPr>
            <a:xfrm>
              <a:off x="2868482" y="4446332"/>
              <a:ext cx="346037" cy="288891"/>
            </a:xfrm>
            <a:prstGeom prst="cube">
              <a:avLst>
                <a:gd name="adj" fmla="val 29275"/>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68" name="Google Shape;668;p64"/>
            <p:cNvSpPr/>
            <p:nvPr/>
          </p:nvSpPr>
          <p:spPr>
            <a:xfrm>
              <a:off x="3227218" y="4441569"/>
              <a:ext cx="346037" cy="288891"/>
            </a:xfrm>
            <a:prstGeom prst="cube">
              <a:avLst>
                <a:gd name="adj" fmla="val 29275"/>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69" name="Google Shape;669;p64"/>
            <p:cNvSpPr/>
            <p:nvPr/>
          </p:nvSpPr>
          <p:spPr>
            <a:xfrm>
              <a:off x="3593891" y="4446332"/>
              <a:ext cx="446039" cy="284129"/>
            </a:xfrm>
            <a:prstGeom prst="cube">
              <a:avLst>
                <a:gd name="adj" fmla="val 29275"/>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670" name="Google Shape;670;p64"/>
            <p:cNvGrpSpPr/>
            <p:nvPr/>
          </p:nvGrpSpPr>
          <p:grpSpPr>
            <a:xfrm>
              <a:off x="327171" y="2628858"/>
              <a:ext cx="1093553" cy="990482"/>
              <a:chOff x="327171" y="2628858"/>
              <a:chExt cx="1093553" cy="990482"/>
            </a:xfrm>
          </p:grpSpPr>
          <p:cxnSp>
            <p:nvCxnSpPr>
              <p:cNvPr id="671" name="Google Shape;671;p64"/>
              <p:cNvCxnSpPr/>
              <p:nvPr/>
            </p:nvCxnSpPr>
            <p:spPr>
              <a:xfrm rot="10800000" flipH="1">
                <a:off x="327171" y="3047908"/>
                <a:ext cx="569851" cy="571432"/>
              </a:xfrm>
              <a:prstGeom prst="straightConnector1">
                <a:avLst/>
              </a:prstGeom>
              <a:noFill/>
              <a:ln w="57150" cap="flat" cmpd="sng">
                <a:solidFill>
                  <a:schemeClr val="dk1"/>
                </a:solidFill>
                <a:prstDash val="solid"/>
                <a:miter lim="800000"/>
                <a:headEnd type="triangle" w="med" len="med"/>
                <a:tailEnd type="triangle" w="med" len="med"/>
              </a:ln>
            </p:spPr>
          </p:cxnSp>
          <p:sp>
            <p:nvSpPr>
              <p:cNvPr id="672" name="Google Shape;672;p64"/>
              <p:cNvSpPr txBox="1"/>
              <p:nvPr/>
            </p:nvSpPr>
            <p:spPr>
              <a:xfrm>
                <a:off x="418243" y="2628858"/>
                <a:ext cx="100248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224</a:t>
                </a:r>
                <a:endParaRPr sz="1400" b="0" i="0" u="none" strike="noStrike" cap="none">
                  <a:solidFill>
                    <a:srgbClr val="000000"/>
                  </a:solidFill>
                  <a:latin typeface="Arial"/>
                  <a:ea typeface="Arial"/>
                  <a:cs typeface="Arial"/>
                  <a:sym typeface="Arial"/>
                </a:endParaRPr>
              </a:p>
            </p:txBody>
          </p:sp>
        </p:grpSp>
      </p:grpSp>
      <p:grpSp>
        <p:nvGrpSpPr>
          <p:cNvPr id="673" name="Google Shape;673;p64"/>
          <p:cNvGrpSpPr/>
          <p:nvPr/>
        </p:nvGrpSpPr>
        <p:grpSpPr>
          <a:xfrm>
            <a:off x="4406900" y="2628900"/>
            <a:ext cx="3713163" cy="3370263"/>
            <a:chOff x="327171" y="2628858"/>
            <a:chExt cx="3712759" cy="3369866"/>
          </a:xfrm>
        </p:grpSpPr>
        <p:sp>
          <p:nvSpPr>
            <p:cNvPr id="674" name="Google Shape;674;p64"/>
            <p:cNvSpPr/>
            <p:nvPr/>
          </p:nvSpPr>
          <p:spPr>
            <a:xfrm>
              <a:off x="392252" y="3182831"/>
              <a:ext cx="680963" cy="2815893"/>
            </a:xfrm>
            <a:prstGeom prst="cube">
              <a:avLst>
                <a:gd name="adj" fmla="val 81584"/>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75" name="Google Shape;675;p64"/>
            <p:cNvSpPr/>
            <p:nvPr/>
          </p:nvSpPr>
          <p:spPr>
            <a:xfrm>
              <a:off x="1044643" y="3628865"/>
              <a:ext cx="463500" cy="1923823"/>
            </a:xfrm>
            <a:prstGeom prst="cube">
              <a:avLst>
                <a:gd name="adj" fmla="val 81584"/>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76" name="Google Shape;676;p64"/>
            <p:cNvSpPr/>
            <p:nvPr/>
          </p:nvSpPr>
          <p:spPr>
            <a:xfrm>
              <a:off x="1481158" y="3868550"/>
              <a:ext cx="474610" cy="1444455"/>
            </a:xfrm>
            <a:prstGeom prst="cube">
              <a:avLst>
                <a:gd name="adj" fmla="val 6213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77" name="Google Shape;677;p64"/>
            <p:cNvSpPr/>
            <p:nvPr/>
          </p:nvSpPr>
          <p:spPr>
            <a:xfrm>
              <a:off x="1927197" y="4136805"/>
              <a:ext cx="361911" cy="896832"/>
            </a:xfrm>
            <a:prstGeom prst="cube">
              <a:avLst>
                <a:gd name="adj" fmla="val 5838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78" name="Google Shape;678;p64"/>
            <p:cNvSpPr/>
            <p:nvPr/>
          </p:nvSpPr>
          <p:spPr>
            <a:xfrm>
              <a:off x="2260536" y="4136805"/>
              <a:ext cx="361911" cy="896832"/>
            </a:xfrm>
            <a:prstGeom prst="cube">
              <a:avLst>
                <a:gd name="adj" fmla="val 5838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79" name="Google Shape;679;p64"/>
            <p:cNvSpPr/>
            <p:nvPr/>
          </p:nvSpPr>
          <p:spPr>
            <a:xfrm>
              <a:off x="2593874" y="4141568"/>
              <a:ext cx="361911" cy="898419"/>
            </a:xfrm>
            <a:prstGeom prst="cube">
              <a:avLst>
                <a:gd name="adj" fmla="val 5838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80" name="Google Shape;680;p64"/>
            <p:cNvSpPr/>
            <p:nvPr/>
          </p:nvSpPr>
          <p:spPr>
            <a:xfrm>
              <a:off x="2868482" y="4446332"/>
              <a:ext cx="346037" cy="288891"/>
            </a:xfrm>
            <a:prstGeom prst="cube">
              <a:avLst>
                <a:gd name="adj" fmla="val 29275"/>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81" name="Google Shape;681;p64"/>
            <p:cNvSpPr/>
            <p:nvPr/>
          </p:nvSpPr>
          <p:spPr>
            <a:xfrm>
              <a:off x="3227218" y="4441569"/>
              <a:ext cx="346037" cy="288891"/>
            </a:xfrm>
            <a:prstGeom prst="cube">
              <a:avLst>
                <a:gd name="adj" fmla="val 29275"/>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82" name="Google Shape;682;p64"/>
            <p:cNvSpPr/>
            <p:nvPr/>
          </p:nvSpPr>
          <p:spPr>
            <a:xfrm>
              <a:off x="3593891" y="4446332"/>
              <a:ext cx="446039" cy="284129"/>
            </a:xfrm>
            <a:prstGeom prst="cube">
              <a:avLst>
                <a:gd name="adj" fmla="val 29275"/>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683" name="Google Shape;683;p64"/>
            <p:cNvGrpSpPr/>
            <p:nvPr/>
          </p:nvGrpSpPr>
          <p:grpSpPr>
            <a:xfrm>
              <a:off x="327171" y="2628858"/>
              <a:ext cx="1093553" cy="990482"/>
              <a:chOff x="327171" y="2628858"/>
              <a:chExt cx="1093553" cy="990482"/>
            </a:xfrm>
          </p:grpSpPr>
          <p:cxnSp>
            <p:nvCxnSpPr>
              <p:cNvPr id="684" name="Google Shape;684;p64"/>
              <p:cNvCxnSpPr/>
              <p:nvPr/>
            </p:nvCxnSpPr>
            <p:spPr>
              <a:xfrm rot="10800000" flipH="1">
                <a:off x="327171" y="3047908"/>
                <a:ext cx="569851" cy="571432"/>
              </a:xfrm>
              <a:prstGeom prst="straightConnector1">
                <a:avLst/>
              </a:prstGeom>
              <a:noFill/>
              <a:ln w="57150" cap="flat" cmpd="sng">
                <a:solidFill>
                  <a:schemeClr val="dk1"/>
                </a:solidFill>
                <a:prstDash val="solid"/>
                <a:miter lim="800000"/>
                <a:headEnd type="triangle" w="med" len="med"/>
                <a:tailEnd type="triangle" w="med" len="med"/>
              </a:ln>
            </p:spPr>
          </p:cxnSp>
          <p:sp>
            <p:nvSpPr>
              <p:cNvPr id="685" name="Google Shape;685;p64"/>
              <p:cNvSpPr txBox="1"/>
              <p:nvPr/>
            </p:nvSpPr>
            <p:spPr>
              <a:xfrm>
                <a:off x="418243" y="2628858"/>
                <a:ext cx="100248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224</a:t>
                </a:r>
                <a:endParaRPr sz="1400" b="0" i="0" u="none" strike="noStrike" cap="none">
                  <a:solidFill>
                    <a:srgbClr val="000000"/>
                  </a:solidFill>
                  <a:latin typeface="Arial"/>
                  <a:ea typeface="Arial"/>
                  <a:cs typeface="Arial"/>
                  <a:sym typeface="Arial"/>
                </a:endParaRPr>
              </a:p>
            </p:txBody>
          </p:sp>
        </p:grpSp>
      </p:grpSp>
      <p:sp>
        <p:nvSpPr>
          <p:cNvPr id="686" name="Google Shape;686;p64"/>
          <p:cNvSpPr txBox="1"/>
          <p:nvPr/>
        </p:nvSpPr>
        <p:spPr>
          <a:xfrm>
            <a:off x="4483100" y="1465263"/>
            <a:ext cx="3713163" cy="9540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Convnet that maps images to images</a:t>
            </a:r>
            <a:endParaRPr sz="1400" b="0" i="0" u="none" strike="noStrike" cap="none">
              <a:solidFill>
                <a:srgbClr val="000000"/>
              </a:solidFill>
              <a:latin typeface="Arial"/>
              <a:ea typeface="Arial"/>
              <a:cs typeface="Arial"/>
              <a:sym typeface="Arial"/>
            </a:endParaRPr>
          </a:p>
        </p:txBody>
      </p:sp>
      <p:sp>
        <p:nvSpPr>
          <p:cNvPr id="687" name="Google Shape;687;p64"/>
          <p:cNvSpPr txBox="1"/>
          <p:nvPr/>
        </p:nvSpPr>
        <p:spPr>
          <a:xfrm>
            <a:off x="2962275" y="3875088"/>
            <a:ext cx="1101725"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1x1</a:t>
            </a:r>
            <a:endParaRPr sz="1400" b="0" i="0" u="none" strike="noStrike" cap="none">
              <a:solidFill>
                <a:srgbClr val="000000"/>
              </a:solidFill>
              <a:latin typeface="Arial"/>
              <a:ea typeface="Arial"/>
              <a:cs typeface="Arial"/>
              <a:sym typeface="Arial"/>
            </a:endParaRPr>
          </a:p>
        </p:txBody>
      </p:sp>
      <p:sp>
        <p:nvSpPr>
          <p:cNvPr id="688" name="Google Shape;688;p64"/>
          <p:cNvSpPr txBox="1"/>
          <p:nvPr/>
        </p:nvSpPr>
        <p:spPr>
          <a:xfrm>
            <a:off x="6926263" y="3868738"/>
            <a:ext cx="1270000" cy="5222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1x1</a:t>
            </a:r>
            <a:endParaRPr sz="1400" b="0" i="0" u="none" strike="noStrike" cap="none">
              <a:solidFill>
                <a:srgbClr val="000000"/>
              </a:solidFill>
              <a:latin typeface="Arial"/>
              <a:ea typeface="Arial"/>
              <a:cs typeface="Arial"/>
              <a:sym typeface="Arial"/>
            </a:endParaRPr>
          </a:p>
        </p:txBody>
      </p:sp>
      <p:sp>
        <p:nvSpPr>
          <p:cNvPr id="689" name="Google Shape;689;p64"/>
          <p:cNvSpPr txBox="1"/>
          <p:nvPr/>
        </p:nvSpPr>
        <p:spPr>
          <a:xfrm>
            <a:off x="511175" y="5999163"/>
            <a:ext cx="812165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Times New Roman"/>
                <a:ea typeface="Times New Roman"/>
                <a:cs typeface="Times New Roman"/>
                <a:sym typeface="Times New Roman"/>
              </a:rPr>
              <a:t>What if we make the input bigger?</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65"/>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Where Do We Get Parameters?</a:t>
            </a:r>
            <a:endParaRPr/>
          </a:p>
        </p:txBody>
      </p:sp>
      <p:grpSp>
        <p:nvGrpSpPr>
          <p:cNvPr id="695" name="Google Shape;695;p65"/>
          <p:cNvGrpSpPr/>
          <p:nvPr/>
        </p:nvGrpSpPr>
        <p:grpSpPr>
          <a:xfrm>
            <a:off x="4406900" y="2628900"/>
            <a:ext cx="3713163" cy="3370263"/>
            <a:chOff x="327171" y="2628858"/>
            <a:chExt cx="3712759" cy="3369866"/>
          </a:xfrm>
        </p:grpSpPr>
        <p:sp>
          <p:nvSpPr>
            <p:cNvPr id="696" name="Google Shape;696;p65"/>
            <p:cNvSpPr/>
            <p:nvPr/>
          </p:nvSpPr>
          <p:spPr>
            <a:xfrm>
              <a:off x="392252" y="3182831"/>
              <a:ext cx="680963" cy="2815893"/>
            </a:xfrm>
            <a:prstGeom prst="cube">
              <a:avLst>
                <a:gd name="adj" fmla="val 81584"/>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97" name="Google Shape;697;p65"/>
            <p:cNvSpPr/>
            <p:nvPr/>
          </p:nvSpPr>
          <p:spPr>
            <a:xfrm>
              <a:off x="1044643" y="3628865"/>
              <a:ext cx="463500" cy="1923823"/>
            </a:xfrm>
            <a:prstGeom prst="cube">
              <a:avLst>
                <a:gd name="adj" fmla="val 81584"/>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98" name="Google Shape;698;p65"/>
            <p:cNvSpPr/>
            <p:nvPr/>
          </p:nvSpPr>
          <p:spPr>
            <a:xfrm>
              <a:off x="1481158" y="3868550"/>
              <a:ext cx="474610" cy="1444455"/>
            </a:xfrm>
            <a:prstGeom prst="cube">
              <a:avLst>
                <a:gd name="adj" fmla="val 6213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699" name="Google Shape;699;p65"/>
            <p:cNvSpPr/>
            <p:nvPr/>
          </p:nvSpPr>
          <p:spPr>
            <a:xfrm>
              <a:off x="1927197" y="4136805"/>
              <a:ext cx="361911" cy="896832"/>
            </a:xfrm>
            <a:prstGeom prst="cube">
              <a:avLst>
                <a:gd name="adj" fmla="val 5838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00" name="Google Shape;700;p65"/>
            <p:cNvSpPr/>
            <p:nvPr/>
          </p:nvSpPr>
          <p:spPr>
            <a:xfrm>
              <a:off x="2260536" y="4136805"/>
              <a:ext cx="361911" cy="896832"/>
            </a:xfrm>
            <a:prstGeom prst="cube">
              <a:avLst>
                <a:gd name="adj" fmla="val 5838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01" name="Google Shape;701;p65"/>
            <p:cNvSpPr/>
            <p:nvPr/>
          </p:nvSpPr>
          <p:spPr>
            <a:xfrm>
              <a:off x="2593874" y="4141568"/>
              <a:ext cx="361911" cy="898419"/>
            </a:xfrm>
            <a:prstGeom prst="cube">
              <a:avLst>
                <a:gd name="adj" fmla="val 5838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02" name="Google Shape;702;p65"/>
            <p:cNvSpPr/>
            <p:nvPr/>
          </p:nvSpPr>
          <p:spPr>
            <a:xfrm>
              <a:off x="2868482" y="4446332"/>
              <a:ext cx="346037" cy="288891"/>
            </a:xfrm>
            <a:prstGeom prst="cube">
              <a:avLst>
                <a:gd name="adj" fmla="val 29275"/>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03" name="Google Shape;703;p65"/>
            <p:cNvSpPr/>
            <p:nvPr/>
          </p:nvSpPr>
          <p:spPr>
            <a:xfrm>
              <a:off x="3227218" y="4441569"/>
              <a:ext cx="346037" cy="288891"/>
            </a:xfrm>
            <a:prstGeom prst="cube">
              <a:avLst>
                <a:gd name="adj" fmla="val 29275"/>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04" name="Google Shape;704;p65"/>
            <p:cNvSpPr/>
            <p:nvPr/>
          </p:nvSpPr>
          <p:spPr>
            <a:xfrm>
              <a:off x="3593891" y="4446332"/>
              <a:ext cx="446039" cy="284129"/>
            </a:xfrm>
            <a:prstGeom prst="cube">
              <a:avLst>
                <a:gd name="adj" fmla="val 29275"/>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705" name="Google Shape;705;p65"/>
            <p:cNvGrpSpPr/>
            <p:nvPr/>
          </p:nvGrpSpPr>
          <p:grpSpPr>
            <a:xfrm>
              <a:off x="327171" y="2628858"/>
              <a:ext cx="1093553" cy="990482"/>
              <a:chOff x="327171" y="2628858"/>
              <a:chExt cx="1093553" cy="990482"/>
            </a:xfrm>
          </p:grpSpPr>
          <p:cxnSp>
            <p:nvCxnSpPr>
              <p:cNvPr id="706" name="Google Shape;706;p65"/>
              <p:cNvCxnSpPr/>
              <p:nvPr/>
            </p:nvCxnSpPr>
            <p:spPr>
              <a:xfrm rot="10800000" flipH="1">
                <a:off x="327171" y="3047908"/>
                <a:ext cx="569851" cy="571432"/>
              </a:xfrm>
              <a:prstGeom prst="straightConnector1">
                <a:avLst/>
              </a:prstGeom>
              <a:noFill/>
              <a:ln w="57150" cap="flat" cmpd="sng">
                <a:solidFill>
                  <a:schemeClr val="dk1"/>
                </a:solidFill>
                <a:prstDash val="solid"/>
                <a:miter lim="800000"/>
                <a:headEnd type="triangle" w="med" len="med"/>
                <a:tailEnd type="triangle" w="med" len="med"/>
              </a:ln>
            </p:spPr>
          </p:cxnSp>
          <p:sp>
            <p:nvSpPr>
              <p:cNvPr id="707" name="Google Shape;707;p65"/>
              <p:cNvSpPr txBox="1"/>
              <p:nvPr/>
            </p:nvSpPr>
            <p:spPr>
              <a:xfrm>
                <a:off x="418243" y="2628858"/>
                <a:ext cx="100248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500</a:t>
                </a:r>
                <a:endParaRPr sz="1400" b="0" i="0" u="none" strike="noStrike" cap="none">
                  <a:solidFill>
                    <a:srgbClr val="000000"/>
                  </a:solidFill>
                  <a:latin typeface="Arial"/>
                  <a:ea typeface="Arial"/>
                  <a:cs typeface="Arial"/>
                  <a:sym typeface="Arial"/>
                </a:endParaRPr>
              </a:p>
            </p:txBody>
          </p:sp>
        </p:grpSp>
      </p:grpSp>
      <p:sp>
        <p:nvSpPr>
          <p:cNvPr id="708" name="Google Shape;708;p65"/>
          <p:cNvSpPr txBox="1"/>
          <p:nvPr/>
        </p:nvSpPr>
        <p:spPr>
          <a:xfrm>
            <a:off x="4483100" y="1465263"/>
            <a:ext cx="3713163" cy="9540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Convnet that maps images to images</a:t>
            </a:r>
            <a:endParaRPr sz="1400" b="0" i="0" u="none" strike="noStrike" cap="none">
              <a:solidFill>
                <a:srgbClr val="000000"/>
              </a:solidFill>
              <a:latin typeface="Arial"/>
              <a:ea typeface="Arial"/>
              <a:cs typeface="Arial"/>
              <a:sym typeface="Arial"/>
            </a:endParaRPr>
          </a:p>
        </p:txBody>
      </p:sp>
      <p:sp>
        <p:nvSpPr>
          <p:cNvPr id="709" name="Google Shape;709;p65"/>
          <p:cNvSpPr txBox="1"/>
          <p:nvPr/>
        </p:nvSpPr>
        <p:spPr>
          <a:xfrm>
            <a:off x="6926263" y="3868738"/>
            <a:ext cx="1270000" cy="5222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10x10</a:t>
            </a:r>
            <a:endParaRPr sz="1400" b="0" i="0" u="none" strike="noStrike" cap="none">
              <a:solidFill>
                <a:srgbClr val="000000"/>
              </a:solidFill>
              <a:latin typeface="Arial"/>
              <a:ea typeface="Arial"/>
              <a:cs typeface="Arial"/>
              <a:sym typeface="Arial"/>
            </a:endParaRPr>
          </a:p>
        </p:txBody>
      </p:sp>
      <p:sp>
        <p:nvSpPr>
          <p:cNvPr id="710" name="Google Shape;710;p65"/>
          <p:cNvSpPr txBox="1"/>
          <p:nvPr/>
        </p:nvSpPr>
        <p:spPr>
          <a:xfrm>
            <a:off x="327025" y="1482725"/>
            <a:ext cx="3713163" cy="9540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Convnet that maps images to vectors</a:t>
            </a:r>
            <a:endParaRPr sz="1400" b="0" i="0" u="none" strike="noStrike" cap="none">
              <a:solidFill>
                <a:srgbClr val="000000"/>
              </a:solidFill>
              <a:latin typeface="Arial"/>
              <a:ea typeface="Arial"/>
              <a:cs typeface="Arial"/>
              <a:sym typeface="Arial"/>
            </a:endParaRPr>
          </a:p>
        </p:txBody>
      </p:sp>
      <p:grpSp>
        <p:nvGrpSpPr>
          <p:cNvPr id="711" name="Google Shape;711;p65"/>
          <p:cNvGrpSpPr/>
          <p:nvPr/>
        </p:nvGrpSpPr>
        <p:grpSpPr>
          <a:xfrm>
            <a:off x="327025" y="2628900"/>
            <a:ext cx="3713163" cy="3370263"/>
            <a:chOff x="327171" y="2628858"/>
            <a:chExt cx="3712759" cy="3369866"/>
          </a:xfrm>
        </p:grpSpPr>
        <p:sp>
          <p:nvSpPr>
            <p:cNvPr id="712" name="Google Shape;712;p65"/>
            <p:cNvSpPr/>
            <p:nvPr/>
          </p:nvSpPr>
          <p:spPr>
            <a:xfrm>
              <a:off x="392252" y="3182831"/>
              <a:ext cx="680963" cy="2815893"/>
            </a:xfrm>
            <a:prstGeom prst="cube">
              <a:avLst>
                <a:gd name="adj" fmla="val 81584"/>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13" name="Google Shape;713;p65"/>
            <p:cNvSpPr/>
            <p:nvPr/>
          </p:nvSpPr>
          <p:spPr>
            <a:xfrm>
              <a:off x="1044643" y="3628865"/>
              <a:ext cx="463500" cy="1923823"/>
            </a:xfrm>
            <a:prstGeom prst="cube">
              <a:avLst>
                <a:gd name="adj" fmla="val 81584"/>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14" name="Google Shape;714;p65"/>
            <p:cNvSpPr/>
            <p:nvPr/>
          </p:nvSpPr>
          <p:spPr>
            <a:xfrm>
              <a:off x="1481158" y="3868550"/>
              <a:ext cx="474610" cy="1444455"/>
            </a:xfrm>
            <a:prstGeom prst="cube">
              <a:avLst>
                <a:gd name="adj" fmla="val 6213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15" name="Google Shape;715;p65"/>
            <p:cNvSpPr/>
            <p:nvPr/>
          </p:nvSpPr>
          <p:spPr>
            <a:xfrm>
              <a:off x="1927197" y="4136805"/>
              <a:ext cx="361911" cy="896832"/>
            </a:xfrm>
            <a:prstGeom prst="cube">
              <a:avLst>
                <a:gd name="adj" fmla="val 5838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16" name="Google Shape;716;p65"/>
            <p:cNvSpPr/>
            <p:nvPr/>
          </p:nvSpPr>
          <p:spPr>
            <a:xfrm>
              <a:off x="2260536" y="4136805"/>
              <a:ext cx="361911" cy="896832"/>
            </a:xfrm>
            <a:prstGeom prst="cube">
              <a:avLst>
                <a:gd name="adj" fmla="val 5838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17" name="Google Shape;717;p65"/>
            <p:cNvSpPr/>
            <p:nvPr/>
          </p:nvSpPr>
          <p:spPr>
            <a:xfrm>
              <a:off x="2593874" y="4141568"/>
              <a:ext cx="361911" cy="898419"/>
            </a:xfrm>
            <a:prstGeom prst="cube">
              <a:avLst>
                <a:gd name="adj" fmla="val 5838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18" name="Google Shape;718;p65"/>
            <p:cNvSpPr/>
            <p:nvPr/>
          </p:nvSpPr>
          <p:spPr>
            <a:xfrm>
              <a:off x="2868482" y="4446332"/>
              <a:ext cx="346037" cy="288891"/>
            </a:xfrm>
            <a:prstGeom prst="cube">
              <a:avLst>
                <a:gd name="adj" fmla="val 29275"/>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19" name="Google Shape;719;p65"/>
            <p:cNvSpPr/>
            <p:nvPr/>
          </p:nvSpPr>
          <p:spPr>
            <a:xfrm>
              <a:off x="3227218" y="4441569"/>
              <a:ext cx="346037" cy="288891"/>
            </a:xfrm>
            <a:prstGeom prst="cube">
              <a:avLst>
                <a:gd name="adj" fmla="val 29275"/>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20" name="Google Shape;720;p65"/>
            <p:cNvSpPr/>
            <p:nvPr/>
          </p:nvSpPr>
          <p:spPr>
            <a:xfrm>
              <a:off x="3593891" y="4446332"/>
              <a:ext cx="446039" cy="284129"/>
            </a:xfrm>
            <a:prstGeom prst="cube">
              <a:avLst>
                <a:gd name="adj" fmla="val 29275"/>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721" name="Google Shape;721;p65"/>
            <p:cNvGrpSpPr/>
            <p:nvPr/>
          </p:nvGrpSpPr>
          <p:grpSpPr>
            <a:xfrm>
              <a:off x="327171" y="2628858"/>
              <a:ext cx="1093553" cy="990482"/>
              <a:chOff x="327171" y="2628858"/>
              <a:chExt cx="1093553" cy="990482"/>
            </a:xfrm>
          </p:grpSpPr>
          <p:cxnSp>
            <p:nvCxnSpPr>
              <p:cNvPr id="722" name="Google Shape;722;p65"/>
              <p:cNvCxnSpPr/>
              <p:nvPr/>
            </p:nvCxnSpPr>
            <p:spPr>
              <a:xfrm rot="10800000" flipH="1">
                <a:off x="327171" y="3047908"/>
                <a:ext cx="569851" cy="571432"/>
              </a:xfrm>
              <a:prstGeom prst="straightConnector1">
                <a:avLst/>
              </a:prstGeom>
              <a:noFill/>
              <a:ln w="57150" cap="flat" cmpd="sng">
                <a:solidFill>
                  <a:schemeClr val="dk1"/>
                </a:solidFill>
                <a:prstDash val="solid"/>
                <a:miter lim="800000"/>
                <a:headEnd type="triangle" w="med" len="med"/>
                <a:tailEnd type="triangle" w="med" len="med"/>
              </a:ln>
            </p:spPr>
          </p:cxnSp>
          <p:sp>
            <p:nvSpPr>
              <p:cNvPr id="723" name="Google Shape;723;p65"/>
              <p:cNvSpPr txBox="1"/>
              <p:nvPr/>
            </p:nvSpPr>
            <p:spPr>
              <a:xfrm>
                <a:off x="418243" y="2628858"/>
                <a:ext cx="100248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224</a:t>
                </a:r>
                <a:endParaRPr sz="1400" b="0" i="0" u="none" strike="noStrike" cap="none">
                  <a:solidFill>
                    <a:srgbClr val="000000"/>
                  </a:solidFill>
                  <a:latin typeface="Arial"/>
                  <a:ea typeface="Arial"/>
                  <a:cs typeface="Arial"/>
                  <a:sym typeface="Arial"/>
                </a:endParaRPr>
              </a:p>
            </p:txBody>
          </p:sp>
        </p:grpSp>
      </p:grpSp>
      <p:sp>
        <p:nvSpPr>
          <p:cNvPr id="724" name="Google Shape;724;p65"/>
          <p:cNvSpPr txBox="1"/>
          <p:nvPr/>
        </p:nvSpPr>
        <p:spPr>
          <a:xfrm>
            <a:off x="2962275" y="3875088"/>
            <a:ext cx="1101725"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1x1</a:t>
            </a:r>
            <a:endParaRPr sz="1400" b="0" i="0" u="none" strike="noStrike" cap="none">
              <a:solidFill>
                <a:srgbClr val="000000"/>
              </a:solidFill>
              <a:latin typeface="Arial"/>
              <a:ea typeface="Arial"/>
              <a:cs typeface="Arial"/>
              <a:sym typeface="Arial"/>
            </a:endParaRPr>
          </a:p>
        </p:txBody>
      </p:sp>
      <p:sp>
        <p:nvSpPr>
          <p:cNvPr id="725" name="Google Shape;725;p65"/>
          <p:cNvSpPr txBox="1"/>
          <p:nvPr/>
        </p:nvSpPr>
        <p:spPr>
          <a:xfrm>
            <a:off x="104775" y="5999163"/>
            <a:ext cx="8934450" cy="5222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Since it’s convolution, can reuse an image network</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66"/>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How Do We Upsample?</a:t>
            </a:r>
            <a:endParaRPr/>
          </a:p>
        </p:txBody>
      </p:sp>
      <p:grpSp>
        <p:nvGrpSpPr>
          <p:cNvPr id="731" name="Google Shape;731;p66"/>
          <p:cNvGrpSpPr/>
          <p:nvPr/>
        </p:nvGrpSpPr>
        <p:grpSpPr>
          <a:xfrm>
            <a:off x="217488" y="2178050"/>
            <a:ext cx="3586162" cy="2713038"/>
            <a:chOff x="218115" y="1532648"/>
            <a:chExt cx="3585022" cy="2712533"/>
          </a:xfrm>
        </p:grpSpPr>
        <p:cxnSp>
          <p:nvCxnSpPr>
            <p:cNvPr id="732" name="Google Shape;732;p66"/>
            <p:cNvCxnSpPr/>
            <p:nvPr/>
          </p:nvCxnSpPr>
          <p:spPr>
            <a:xfrm>
              <a:off x="1668629" y="3473800"/>
              <a:ext cx="1218812" cy="0"/>
            </a:xfrm>
            <a:prstGeom prst="straightConnector1">
              <a:avLst/>
            </a:prstGeom>
            <a:noFill/>
            <a:ln w="76200" cap="flat" cmpd="sng">
              <a:solidFill>
                <a:schemeClr val="dk1"/>
              </a:solidFill>
              <a:prstDash val="solid"/>
              <a:miter lim="800000"/>
              <a:headEnd type="none" w="sm" len="sm"/>
              <a:tailEnd type="triangle" w="med" len="med"/>
            </a:ln>
          </p:spPr>
        </p:cxnSp>
        <p:grpSp>
          <p:nvGrpSpPr>
            <p:cNvPr id="733" name="Google Shape;733;p66"/>
            <p:cNvGrpSpPr/>
            <p:nvPr/>
          </p:nvGrpSpPr>
          <p:grpSpPr>
            <a:xfrm>
              <a:off x="218115" y="2207116"/>
              <a:ext cx="1398911" cy="2038065"/>
              <a:chOff x="1224793" y="1869881"/>
              <a:chExt cx="1398911" cy="2038065"/>
            </a:xfrm>
          </p:grpSpPr>
          <p:sp>
            <p:nvSpPr>
              <p:cNvPr id="734" name="Google Shape;734;p66"/>
              <p:cNvSpPr/>
              <p:nvPr/>
            </p:nvSpPr>
            <p:spPr>
              <a:xfrm>
                <a:off x="1962745" y="2454066"/>
                <a:ext cx="610994" cy="1453880"/>
              </a:xfrm>
              <a:prstGeom prst="cube">
                <a:avLst>
                  <a:gd name="adj" fmla="val 4052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35" name="Google Shape;735;p66"/>
              <p:cNvSpPr txBox="1"/>
              <p:nvPr/>
            </p:nvSpPr>
            <p:spPr>
              <a:xfrm>
                <a:off x="1224793" y="2888914"/>
                <a:ext cx="738231" cy="5847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736" name="Google Shape;736;p66"/>
              <p:cNvSpPr txBox="1"/>
              <p:nvPr/>
            </p:nvSpPr>
            <p:spPr>
              <a:xfrm>
                <a:off x="1310081" y="2162269"/>
                <a:ext cx="738231" cy="5847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737" name="Google Shape;737;p66"/>
              <p:cNvSpPr txBox="1"/>
              <p:nvPr/>
            </p:nvSpPr>
            <p:spPr>
              <a:xfrm>
                <a:off x="1885473" y="1869881"/>
                <a:ext cx="738231" cy="5847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grpSp>
        <p:grpSp>
          <p:nvGrpSpPr>
            <p:cNvPr id="738" name="Google Shape;738;p66"/>
            <p:cNvGrpSpPr/>
            <p:nvPr/>
          </p:nvGrpSpPr>
          <p:grpSpPr>
            <a:xfrm>
              <a:off x="2365695" y="1532648"/>
              <a:ext cx="1437442" cy="2712533"/>
              <a:chOff x="2899524" y="1532648"/>
              <a:chExt cx="1437442" cy="2712533"/>
            </a:xfrm>
          </p:grpSpPr>
          <p:sp>
            <p:nvSpPr>
              <p:cNvPr id="739" name="Google Shape;739;p66"/>
              <p:cNvSpPr/>
              <p:nvPr/>
            </p:nvSpPr>
            <p:spPr>
              <a:xfrm>
                <a:off x="3595840" y="2116739"/>
                <a:ext cx="739540" cy="2128442"/>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40" name="Google Shape;740;p66"/>
              <p:cNvSpPr txBox="1"/>
              <p:nvPr/>
            </p:nvSpPr>
            <p:spPr>
              <a:xfrm>
                <a:off x="3598735" y="1532648"/>
                <a:ext cx="738231" cy="5847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p:txBody>
          </p:sp>
          <p:sp>
            <p:nvSpPr>
              <p:cNvPr id="741" name="Google Shape;741;p66"/>
              <p:cNvSpPr txBox="1"/>
              <p:nvPr/>
            </p:nvSpPr>
            <p:spPr>
              <a:xfrm>
                <a:off x="2899524" y="2889053"/>
                <a:ext cx="738231" cy="5847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2H</a:t>
                </a:r>
                <a:endParaRPr sz="1400" b="0" i="0" u="none" strike="noStrike" cap="none">
                  <a:solidFill>
                    <a:srgbClr val="000000"/>
                  </a:solidFill>
                  <a:latin typeface="Arial"/>
                  <a:ea typeface="Arial"/>
                  <a:cs typeface="Arial"/>
                  <a:sym typeface="Arial"/>
                </a:endParaRPr>
              </a:p>
            </p:txBody>
          </p:sp>
          <p:sp>
            <p:nvSpPr>
              <p:cNvPr id="742" name="Google Shape;742;p66"/>
              <p:cNvSpPr txBox="1"/>
              <p:nvPr/>
            </p:nvSpPr>
            <p:spPr>
              <a:xfrm>
                <a:off x="2899524" y="1825035"/>
                <a:ext cx="1021788" cy="5847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2W</a:t>
                </a:r>
                <a:endParaRPr sz="1400" b="0" i="0" u="none" strike="noStrike" cap="none">
                  <a:solidFill>
                    <a:srgbClr val="000000"/>
                  </a:solidFill>
                  <a:latin typeface="Arial"/>
                  <a:ea typeface="Arial"/>
                  <a:cs typeface="Arial"/>
                  <a:sym typeface="Arial"/>
                </a:endParaRPr>
              </a:p>
            </p:txBody>
          </p:sp>
        </p:grpSp>
      </p:grpSp>
      <p:sp>
        <p:nvSpPr>
          <p:cNvPr id="743" name="Google Shape;743;p66"/>
          <p:cNvSpPr txBox="1"/>
          <p:nvPr/>
        </p:nvSpPr>
        <p:spPr>
          <a:xfrm>
            <a:off x="4211273" y="2644364"/>
            <a:ext cx="4629324" cy="2246769"/>
          </a:xfrm>
          <a:prstGeom prst="rect">
            <a:avLst/>
          </a:prstGeom>
          <a:blipFill rotWithShape="1">
            <a:blip r:embed="rId3">
              <a:alphaModFix/>
            </a:blip>
            <a:stretch>
              <a:fillRect l="-2764" t="-2986" r="-2896" b="-678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67"/>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Recall: Pooling</a:t>
            </a:r>
            <a:endParaRPr/>
          </a:p>
        </p:txBody>
      </p:sp>
      <p:grpSp>
        <p:nvGrpSpPr>
          <p:cNvPr id="749" name="Google Shape;749;p67"/>
          <p:cNvGrpSpPr/>
          <p:nvPr/>
        </p:nvGrpSpPr>
        <p:grpSpPr>
          <a:xfrm>
            <a:off x="184150" y="1882775"/>
            <a:ext cx="2784475" cy="1374775"/>
            <a:chOff x="611872" y="1883325"/>
            <a:chExt cx="2784306" cy="1373699"/>
          </a:xfrm>
        </p:grpSpPr>
        <p:grpSp>
          <p:nvGrpSpPr>
            <p:cNvPr id="750" name="Google Shape;750;p67"/>
            <p:cNvGrpSpPr/>
            <p:nvPr/>
          </p:nvGrpSpPr>
          <p:grpSpPr>
            <a:xfrm>
              <a:off x="611872" y="1902360"/>
              <a:ext cx="1292147" cy="1354664"/>
              <a:chOff x="611872" y="1902360"/>
              <a:chExt cx="1292147" cy="1354664"/>
            </a:xfrm>
          </p:grpSpPr>
          <p:sp>
            <p:nvSpPr>
              <p:cNvPr id="751" name="Google Shape;751;p67"/>
              <p:cNvSpPr/>
              <p:nvPr/>
            </p:nvSpPr>
            <p:spPr>
              <a:xfrm>
                <a:off x="772200" y="2416307"/>
                <a:ext cx="1131819" cy="670988"/>
              </a:xfrm>
              <a:prstGeom prst="cube">
                <a:avLst>
                  <a:gd name="adj" fmla="val 25000"/>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52" name="Google Shape;752;p67"/>
              <p:cNvSpPr/>
              <p:nvPr/>
            </p:nvSpPr>
            <p:spPr>
              <a:xfrm>
                <a:off x="611872" y="2586037"/>
                <a:ext cx="1131820" cy="670987"/>
              </a:xfrm>
              <a:prstGeom prst="cube">
                <a:avLst>
                  <a:gd name="adj" fmla="val 25000"/>
                </a:avLst>
              </a:prstGeom>
              <a:solidFill>
                <a:schemeClr val="accent3"/>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53" name="Google Shape;753;p67"/>
              <p:cNvSpPr/>
              <p:nvPr/>
            </p:nvSpPr>
            <p:spPr>
              <a:xfrm>
                <a:off x="772200" y="1902360"/>
                <a:ext cx="1131819" cy="670988"/>
              </a:xfrm>
              <a:prstGeom prst="cube">
                <a:avLst>
                  <a:gd name="adj" fmla="val 2500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54" name="Google Shape;754;p67"/>
              <p:cNvSpPr/>
              <p:nvPr/>
            </p:nvSpPr>
            <p:spPr>
              <a:xfrm>
                <a:off x="611872" y="2072090"/>
                <a:ext cx="1131820" cy="670987"/>
              </a:xfrm>
              <a:prstGeom prst="cube">
                <a:avLst>
                  <a:gd name="adj" fmla="val 25000"/>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755" name="Google Shape;755;p67"/>
            <p:cNvGrpSpPr/>
            <p:nvPr/>
          </p:nvGrpSpPr>
          <p:grpSpPr>
            <a:xfrm>
              <a:off x="1584951" y="1902360"/>
              <a:ext cx="798464" cy="1354664"/>
              <a:chOff x="1584951" y="1902360"/>
              <a:chExt cx="798464" cy="1354664"/>
            </a:xfrm>
          </p:grpSpPr>
          <p:sp>
            <p:nvSpPr>
              <p:cNvPr id="756" name="Google Shape;756;p67"/>
              <p:cNvSpPr/>
              <p:nvPr/>
            </p:nvSpPr>
            <p:spPr>
              <a:xfrm>
                <a:off x="1743691" y="2416307"/>
                <a:ext cx="639724" cy="670988"/>
              </a:xfrm>
              <a:prstGeom prst="cube">
                <a:avLst>
                  <a:gd name="adj" fmla="val 25000"/>
                </a:avLst>
              </a:prstGeom>
              <a:solidFill>
                <a:schemeClr val="accent4"/>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57" name="Google Shape;757;p67"/>
              <p:cNvSpPr/>
              <p:nvPr/>
            </p:nvSpPr>
            <p:spPr>
              <a:xfrm>
                <a:off x="1584951" y="2586037"/>
                <a:ext cx="639724" cy="670987"/>
              </a:xfrm>
              <a:prstGeom prst="cube">
                <a:avLst>
                  <a:gd name="adj" fmla="val 25000"/>
                </a:avLst>
              </a:prstGeom>
              <a:solidFill>
                <a:schemeClr val="accent3"/>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58" name="Google Shape;758;p67"/>
              <p:cNvSpPr/>
              <p:nvPr/>
            </p:nvSpPr>
            <p:spPr>
              <a:xfrm>
                <a:off x="1743691" y="1902360"/>
                <a:ext cx="639724" cy="670988"/>
              </a:xfrm>
              <a:prstGeom prst="cube">
                <a:avLst>
                  <a:gd name="adj" fmla="val 25000"/>
                </a:avLst>
              </a:prstGeom>
              <a:solidFill>
                <a:schemeClr val="accent2"/>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59" name="Google Shape;759;p67"/>
              <p:cNvSpPr/>
              <p:nvPr/>
            </p:nvSpPr>
            <p:spPr>
              <a:xfrm>
                <a:off x="1584951" y="2072090"/>
                <a:ext cx="639724" cy="670987"/>
              </a:xfrm>
              <a:prstGeom prst="cube">
                <a:avLst>
                  <a:gd name="adj" fmla="val 25000"/>
                </a:avLst>
              </a:prstGeom>
              <a:solidFill>
                <a:schemeClr val="accent1"/>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760" name="Google Shape;760;p67"/>
            <p:cNvGrpSpPr/>
            <p:nvPr/>
          </p:nvGrpSpPr>
          <p:grpSpPr>
            <a:xfrm>
              <a:off x="2104031" y="1883325"/>
              <a:ext cx="1292147" cy="1354665"/>
              <a:chOff x="612154" y="1902203"/>
              <a:chExt cx="1292147" cy="1354665"/>
            </a:xfrm>
          </p:grpSpPr>
          <p:sp>
            <p:nvSpPr>
              <p:cNvPr id="761" name="Google Shape;761;p67"/>
              <p:cNvSpPr/>
              <p:nvPr/>
            </p:nvSpPr>
            <p:spPr>
              <a:xfrm>
                <a:off x="772482" y="2416151"/>
                <a:ext cx="1131819" cy="670988"/>
              </a:xfrm>
              <a:prstGeom prst="cube">
                <a:avLst>
                  <a:gd name="adj" fmla="val 25000"/>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62" name="Google Shape;762;p67"/>
              <p:cNvSpPr/>
              <p:nvPr/>
            </p:nvSpPr>
            <p:spPr>
              <a:xfrm>
                <a:off x="612154" y="2585881"/>
                <a:ext cx="1131820" cy="670987"/>
              </a:xfrm>
              <a:prstGeom prst="cube">
                <a:avLst>
                  <a:gd name="adj" fmla="val 25000"/>
                </a:avLst>
              </a:prstGeom>
              <a:solidFill>
                <a:schemeClr val="accent3"/>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63" name="Google Shape;763;p67"/>
              <p:cNvSpPr/>
              <p:nvPr/>
            </p:nvSpPr>
            <p:spPr>
              <a:xfrm>
                <a:off x="772482" y="1902203"/>
                <a:ext cx="1131819" cy="670988"/>
              </a:xfrm>
              <a:prstGeom prst="cube">
                <a:avLst>
                  <a:gd name="adj" fmla="val 2500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64" name="Google Shape;764;p67"/>
              <p:cNvSpPr/>
              <p:nvPr/>
            </p:nvSpPr>
            <p:spPr>
              <a:xfrm>
                <a:off x="612154" y="2071933"/>
                <a:ext cx="1131820" cy="670987"/>
              </a:xfrm>
              <a:prstGeom prst="cube">
                <a:avLst>
                  <a:gd name="adj" fmla="val 25000"/>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grpSp>
        <p:nvGrpSpPr>
          <p:cNvPr id="765" name="Google Shape;765;p67"/>
          <p:cNvGrpSpPr/>
          <p:nvPr/>
        </p:nvGrpSpPr>
        <p:grpSpPr>
          <a:xfrm>
            <a:off x="3773488" y="3203575"/>
            <a:ext cx="3011487" cy="2411413"/>
            <a:chOff x="3774053" y="3203576"/>
            <a:chExt cx="3010654" cy="2410973"/>
          </a:xfrm>
        </p:grpSpPr>
        <p:grpSp>
          <p:nvGrpSpPr>
            <p:cNvPr id="766" name="Google Shape;766;p67"/>
            <p:cNvGrpSpPr/>
            <p:nvPr/>
          </p:nvGrpSpPr>
          <p:grpSpPr>
            <a:xfrm>
              <a:off x="5537852" y="4381862"/>
              <a:ext cx="1246855" cy="1232687"/>
              <a:chOff x="575357" y="3581400"/>
              <a:chExt cx="1030459" cy="1018750"/>
            </a:xfrm>
          </p:grpSpPr>
          <p:sp>
            <p:nvSpPr>
              <p:cNvPr id="767" name="Google Shape;767;p67"/>
              <p:cNvSpPr/>
              <p:nvPr/>
            </p:nvSpPr>
            <p:spPr>
              <a:xfrm>
                <a:off x="575358" y="3581401"/>
                <a:ext cx="515229" cy="515229"/>
              </a:xfrm>
              <a:prstGeom prst="rect">
                <a:avLst/>
              </a:prstGeom>
              <a:solidFill>
                <a:schemeClr val="accent1"/>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6</a:t>
                </a:r>
                <a:endParaRPr sz="1400" b="0" i="0" u="none" strike="noStrike" cap="none">
                  <a:solidFill>
                    <a:srgbClr val="000000"/>
                  </a:solidFill>
                  <a:latin typeface="Arial"/>
                  <a:ea typeface="Arial"/>
                  <a:cs typeface="Arial"/>
                  <a:sym typeface="Arial"/>
                </a:endParaRPr>
              </a:p>
            </p:txBody>
          </p:sp>
          <p:sp>
            <p:nvSpPr>
              <p:cNvPr id="768" name="Google Shape;768;p67"/>
              <p:cNvSpPr/>
              <p:nvPr/>
            </p:nvSpPr>
            <p:spPr>
              <a:xfrm>
                <a:off x="1090587" y="3581400"/>
                <a:ext cx="515229" cy="515229"/>
              </a:xfrm>
              <a:prstGeom prst="rect">
                <a:avLst/>
              </a:prstGeom>
              <a:solidFill>
                <a:schemeClr val="accent2"/>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8</a:t>
                </a:r>
                <a:endParaRPr sz="1400" b="0" i="0" u="none" strike="noStrike" cap="none">
                  <a:solidFill>
                    <a:srgbClr val="000000"/>
                  </a:solidFill>
                  <a:latin typeface="Arial"/>
                  <a:ea typeface="Arial"/>
                  <a:cs typeface="Arial"/>
                  <a:sym typeface="Arial"/>
                </a:endParaRPr>
              </a:p>
            </p:txBody>
          </p:sp>
          <p:sp>
            <p:nvSpPr>
              <p:cNvPr id="769" name="Google Shape;769;p67"/>
              <p:cNvSpPr/>
              <p:nvPr/>
            </p:nvSpPr>
            <p:spPr>
              <a:xfrm>
                <a:off x="575357" y="4084921"/>
                <a:ext cx="515229" cy="515229"/>
              </a:xfrm>
              <a:prstGeom prst="rect">
                <a:avLst/>
              </a:prstGeom>
              <a:solidFill>
                <a:schemeClr val="accent3"/>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p:txBody>
          </p:sp>
          <p:sp>
            <p:nvSpPr>
              <p:cNvPr id="770" name="Google Shape;770;p67"/>
              <p:cNvSpPr/>
              <p:nvPr/>
            </p:nvSpPr>
            <p:spPr>
              <a:xfrm>
                <a:off x="1090586" y="4084920"/>
                <a:ext cx="515229" cy="515229"/>
              </a:xfrm>
              <a:prstGeom prst="rect">
                <a:avLst/>
              </a:prstGeom>
              <a:solidFill>
                <a:schemeClr val="accent4"/>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4</a:t>
                </a:r>
                <a:endParaRPr sz="1400" b="0" i="0" u="none" strike="noStrike" cap="none">
                  <a:solidFill>
                    <a:srgbClr val="000000"/>
                  </a:solidFill>
                  <a:latin typeface="Arial"/>
                  <a:ea typeface="Arial"/>
                  <a:cs typeface="Arial"/>
                  <a:sym typeface="Arial"/>
                </a:endParaRPr>
              </a:p>
            </p:txBody>
          </p:sp>
        </p:grpSp>
        <p:cxnSp>
          <p:nvCxnSpPr>
            <p:cNvPr id="771" name="Google Shape;771;p67"/>
            <p:cNvCxnSpPr/>
            <p:nvPr/>
          </p:nvCxnSpPr>
          <p:spPr>
            <a:xfrm>
              <a:off x="3948630" y="4998711"/>
              <a:ext cx="1260126" cy="0"/>
            </a:xfrm>
            <a:prstGeom prst="straightConnector1">
              <a:avLst/>
            </a:prstGeom>
            <a:noFill/>
            <a:ln w="76200" cap="flat" cmpd="sng">
              <a:solidFill>
                <a:schemeClr val="dk1"/>
              </a:solidFill>
              <a:prstDash val="solid"/>
              <a:miter lim="800000"/>
              <a:headEnd type="none" w="sm" len="sm"/>
              <a:tailEnd type="triangle" w="med" len="med"/>
            </a:ln>
          </p:spPr>
        </p:cxnSp>
        <p:sp>
          <p:nvSpPr>
            <p:cNvPr id="772" name="Google Shape;772;p67"/>
            <p:cNvSpPr txBox="1"/>
            <p:nvPr/>
          </p:nvSpPr>
          <p:spPr>
            <a:xfrm>
              <a:off x="3774053" y="3203576"/>
              <a:ext cx="1677798" cy="138499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Max-pool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2x2 Filter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Stride 2</a:t>
              </a:r>
              <a:endParaRPr sz="1400" b="0" i="0" u="none" strike="noStrike" cap="none">
                <a:solidFill>
                  <a:srgbClr val="000000"/>
                </a:solidFill>
                <a:latin typeface="Arial"/>
                <a:ea typeface="Arial"/>
                <a:cs typeface="Arial"/>
                <a:sym typeface="Arial"/>
              </a:endParaRPr>
            </a:p>
          </p:txBody>
        </p:sp>
      </p:grpSp>
      <p:grpSp>
        <p:nvGrpSpPr>
          <p:cNvPr id="773" name="Google Shape;773;p67"/>
          <p:cNvGrpSpPr/>
          <p:nvPr/>
        </p:nvGrpSpPr>
        <p:grpSpPr>
          <a:xfrm>
            <a:off x="1327150" y="3363913"/>
            <a:ext cx="2293938" cy="2495550"/>
            <a:chOff x="1327045" y="3363985"/>
            <a:chExt cx="2293427" cy="2495278"/>
          </a:xfrm>
        </p:grpSpPr>
        <p:grpSp>
          <p:nvGrpSpPr>
            <p:cNvPr id="774" name="Google Shape;774;p67"/>
            <p:cNvGrpSpPr/>
            <p:nvPr/>
          </p:nvGrpSpPr>
          <p:grpSpPr>
            <a:xfrm>
              <a:off x="1917463" y="4178283"/>
              <a:ext cx="1703009" cy="1680980"/>
              <a:chOff x="629054" y="3202362"/>
              <a:chExt cx="3016986" cy="2977960"/>
            </a:xfrm>
          </p:grpSpPr>
          <p:sp>
            <p:nvSpPr>
              <p:cNvPr id="775" name="Google Shape;775;p67"/>
              <p:cNvSpPr/>
              <p:nvPr/>
            </p:nvSpPr>
            <p:spPr>
              <a:xfrm>
                <a:off x="629054" y="3202362"/>
                <a:ext cx="753543" cy="753629"/>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776" name="Google Shape;776;p67"/>
              <p:cNvSpPr/>
              <p:nvPr/>
            </p:nvSpPr>
            <p:spPr>
              <a:xfrm>
                <a:off x="1382597" y="3202362"/>
                <a:ext cx="756356" cy="753629"/>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777" name="Google Shape;777;p67"/>
              <p:cNvSpPr/>
              <p:nvPr/>
            </p:nvSpPr>
            <p:spPr>
              <a:xfrm>
                <a:off x="2138953" y="3202362"/>
                <a:ext cx="753543" cy="753629"/>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2</a:t>
                </a:r>
                <a:endParaRPr sz="1400" b="0" i="0" u="none" strike="noStrike" cap="none">
                  <a:solidFill>
                    <a:srgbClr val="000000"/>
                  </a:solidFill>
                  <a:latin typeface="Arial"/>
                  <a:ea typeface="Arial"/>
                  <a:cs typeface="Arial"/>
                  <a:sym typeface="Arial"/>
                </a:endParaRPr>
              </a:p>
            </p:txBody>
          </p:sp>
          <p:sp>
            <p:nvSpPr>
              <p:cNvPr id="778" name="Google Shape;778;p67"/>
              <p:cNvSpPr/>
              <p:nvPr/>
            </p:nvSpPr>
            <p:spPr>
              <a:xfrm>
                <a:off x="629054" y="3939119"/>
                <a:ext cx="753543" cy="756442"/>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5</a:t>
                </a:r>
                <a:endParaRPr sz="1400" b="0" i="0" u="none" strike="noStrike" cap="none">
                  <a:solidFill>
                    <a:srgbClr val="000000"/>
                  </a:solidFill>
                  <a:latin typeface="Arial"/>
                  <a:ea typeface="Arial"/>
                  <a:cs typeface="Arial"/>
                  <a:sym typeface="Arial"/>
                </a:endParaRPr>
              </a:p>
            </p:txBody>
          </p:sp>
          <p:sp>
            <p:nvSpPr>
              <p:cNvPr id="779" name="Google Shape;779;p67"/>
              <p:cNvSpPr/>
              <p:nvPr/>
            </p:nvSpPr>
            <p:spPr>
              <a:xfrm>
                <a:off x="1382597" y="3939119"/>
                <a:ext cx="756356" cy="756442"/>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6</a:t>
                </a:r>
                <a:endParaRPr sz="1400" b="0" i="0" u="none" strike="noStrike" cap="none">
                  <a:solidFill>
                    <a:srgbClr val="000000"/>
                  </a:solidFill>
                  <a:latin typeface="Arial"/>
                  <a:ea typeface="Arial"/>
                  <a:cs typeface="Arial"/>
                  <a:sym typeface="Arial"/>
                </a:endParaRPr>
              </a:p>
            </p:txBody>
          </p:sp>
          <p:sp>
            <p:nvSpPr>
              <p:cNvPr id="780" name="Google Shape;780;p67"/>
              <p:cNvSpPr/>
              <p:nvPr/>
            </p:nvSpPr>
            <p:spPr>
              <a:xfrm>
                <a:off x="2136141" y="3939119"/>
                <a:ext cx="756356" cy="756442"/>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7</a:t>
                </a:r>
                <a:endParaRPr sz="1400" b="0" i="0" u="none" strike="noStrike" cap="none">
                  <a:solidFill>
                    <a:srgbClr val="000000"/>
                  </a:solidFill>
                  <a:latin typeface="Arial"/>
                  <a:ea typeface="Arial"/>
                  <a:cs typeface="Arial"/>
                  <a:sym typeface="Arial"/>
                </a:endParaRPr>
              </a:p>
            </p:txBody>
          </p:sp>
          <p:sp>
            <p:nvSpPr>
              <p:cNvPr id="781" name="Google Shape;781;p67"/>
              <p:cNvSpPr/>
              <p:nvPr/>
            </p:nvSpPr>
            <p:spPr>
              <a:xfrm>
                <a:off x="629054" y="4670251"/>
                <a:ext cx="753543" cy="756442"/>
              </a:xfrm>
              <a:prstGeom prst="rect">
                <a:avLst/>
              </a:prstGeom>
              <a:solidFill>
                <a:schemeClr val="accent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p:txBody>
          </p:sp>
          <p:sp>
            <p:nvSpPr>
              <p:cNvPr id="782" name="Google Shape;782;p67"/>
              <p:cNvSpPr/>
              <p:nvPr/>
            </p:nvSpPr>
            <p:spPr>
              <a:xfrm>
                <a:off x="1382597" y="4670251"/>
                <a:ext cx="756356" cy="756442"/>
              </a:xfrm>
              <a:prstGeom prst="rect">
                <a:avLst/>
              </a:prstGeom>
              <a:solidFill>
                <a:schemeClr val="accent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2</a:t>
                </a:r>
                <a:endParaRPr sz="1400" b="0" i="0" u="none" strike="noStrike" cap="none">
                  <a:solidFill>
                    <a:srgbClr val="000000"/>
                  </a:solidFill>
                  <a:latin typeface="Arial"/>
                  <a:ea typeface="Arial"/>
                  <a:cs typeface="Arial"/>
                  <a:sym typeface="Arial"/>
                </a:endParaRPr>
              </a:p>
            </p:txBody>
          </p:sp>
          <p:sp>
            <p:nvSpPr>
              <p:cNvPr id="783" name="Google Shape;783;p67"/>
              <p:cNvSpPr/>
              <p:nvPr/>
            </p:nvSpPr>
            <p:spPr>
              <a:xfrm>
                <a:off x="2136141" y="4670251"/>
                <a:ext cx="756356" cy="756442"/>
              </a:xfrm>
              <a:prstGeom prst="rect">
                <a:avLst/>
              </a:prstGeom>
              <a:solidFill>
                <a:schemeClr val="accent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784" name="Google Shape;784;p67"/>
              <p:cNvSpPr/>
              <p:nvPr/>
            </p:nvSpPr>
            <p:spPr>
              <a:xfrm>
                <a:off x="2892497" y="3202362"/>
                <a:ext cx="753543" cy="753629"/>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4</a:t>
                </a:r>
                <a:endParaRPr sz="1400" b="0" i="0" u="none" strike="noStrike" cap="none">
                  <a:solidFill>
                    <a:srgbClr val="000000"/>
                  </a:solidFill>
                  <a:latin typeface="Arial"/>
                  <a:ea typeface="Arial"/>
                  <a:cs typeface="Arial"/>
                  <a:sym typeface="Arial"/>
                </a:endParaRPr>
              </a:p>
            </p:txBody>
          </p:sp>
          <p:sp>
            <p:nvSpPr>
              <p:cNvPr id="785" name="Google Shape;785;p67"/>
              <p:cNvSpPr/>
              <p:nvPr/>
            </p:nvSpPr>
            <p:spPr>
              <a:xfrm>
                <a:off x="2892497" y="3939119"/>
                <a:ext cx="753543" cy="756442"/>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8</a:t>
                </a:r>
                <a:endParaRPr sz="1400" b="0" i="0" u="none" strike="noStrike" cap="none">
                  <a:solidFill>
                    <a:srgbClr val="000000"/>
                  </a:solidFill>
                  <a:latin typeface="Arial"/>
                  <a:ea typeface="Arial"/>
                  <a:cs typeface="Arial"/>
                  <a:sym typeface="Arial"/>
                </a:endParaRPr>
              </a:p>
            </p:txBody>
          </p:sp>
          <p:sp>
            <p:nvSpPr>
              <p:cNvPr id="786" name="Google Shape;786;p67"/>
              <p:cNvSpPr/>
              <p:nvPr/>
            </p:nvSpPr>
            <p:spPr>
              <a:xfrm>
                <a:off x="2892497" y="4670251"/>
                <a:ext cx="753543" cy="756442"/>
              </a:xfrm>
              <a:prstGeom prst="rect">
                <a:avLst/>
              </a:prstGeom>
              <a:solidFill>
                <a:schemeClr val="accent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787" name="Google Shape;787;p67"/>
              <p:cNvSpPr/>
              <p:nvPr/>
            </p:nvSpPr>
            <p:spPr>
              <a:xfrm>
                <a:off x="629054" y="5426693"/>
                <a:ext cx="753543" cy="753629"/>
              </a:xfrm>
              <a:prstGeom prst="rect">
                <a:avLst/>
              </a:prstGeom>
              <a:solidFill>
                <a:schemeClr val="accent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788" name="Google Shape;788;p67"/>
              <p:cNvSpPr/>
              <p:nvPr/>
            </p:nvSpPr>
            <p:spPr>
              <a:xfrm>
                <a:off x="1382597" y="5426693"/>
                <a:ext cx="756356" cy="753629"/>
              </a:xfrm>
              <a:prstGeom prst="rect">
                <a:avLst/>
              </a:prstGeom>
              <a:solidFill>
                <a:schemeClr val="accent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789" name="Google Shape;789;p67"/>
              <p:cNvSpPr/>
              <p:nvPr/>
            </p:nvSpPr>
            <p:spPr>
              <a:xfrm>
                <a:off x="2138953" y="5426693"/>
                <a:ext cx="753543" cy="753629"/>
              </a:xfrm>
              <a:prstGeom prst="rect">
                <a:avLst/>
              </a:prstGeom>
              <a:solidFill>
                <a:schemeClr val="accent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p:txBody>
          </p:sp>
          <p:sp>
            <p:nvSpPr>
              <p:cNvPr id="790" name="Google Shape;790;p67"/>
              <p:cNvSpPr/>
              <p:nvPr/>
            </p:nvSpPr>
            <p:spPr>
              <a:xfrm>
                <a:off x="2892497" y="5426693"/>
                <a:ext cx="753543" cy="753629"/>
              </a:xfrm>
              <a:prstGeom prst="rect">
                <a:avLst/>
              </a:prstGeom>
              <a:solidFill>
                <a:schemeClr val="accent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4</a:t>
                </a:r>
                <a:endParaRPr sz="1400" b="0" i="0" u="none" strike="noStrike" cap="none">
                  <a:solidFill>
                    <a:srgbClr val="000000"/>
                  </a:solidFill>
                  <a:latin typeface="Arial"/>
                  <a:ea typeface="Arial"/>
                  <a:cs typeface="Arial"/>
                  <a:sym typeface="Arial"/>
                </a:endParaRPr>
              </a:p>
            </p:txBody>
          </p:sp>
        </p:grpSp>
        <p:sp>
          <p:nvSpPr>
            <p:cNvPr id="791" name="Google Shape;791;p67"/>
            <p:cNvSpPr/>
            <p:nvPr/>
          </p:nvSpPr>
          <p:spPr>
            <a:xfrm>
              <a:off x="1327045" y="3363985"/>
              <a:ext cx="460272" cy="1692091"/>
            </a:xfrm>
            <a:custGeom>
              <a:avLst/>
              <a:gdLst/>
              <a:ahLst/>
              <a:cxnLst/>
              <a:rect l="l" t="t" r="r" b="b"/>
              <a:pathLst>
                <a:path w="459810" h="1692729" extrusionOk="0">
                  <a:moveTo>
                    <a:pt x="40361" y="0"/>
                  </a:moveTo>
                  <a:cubicBezTo>
                    <a:pt x="5407" y="576743"/>
                    <a:pt x="-29547" y="1153487"/>
                    <a:pt x="40361" y="1434518"/>
                  </a:cubicBezTo>
                  <a:cubicBezTo>
                    <a:pt x="110269" y="1715549"/>
                    <a:pt x="285039" y="1700868"/>
                    <a:pt x="459810" y="1686187"/>
                  </a:cubicBezTo>
                </a:path>
              </a:pathLst>
            </a:custGeom>
            <a:no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792" name="Google Shape;792;p67"/>
          <p:cNvGrpSpPr/>
          <p:nvPr/>
        </p:nvGrpSpPr>
        <p:grpSpPr>
          <a:xfrm>
            <a:off x="6880225" y="2185988"/>
            <a:ext cx="1571625" cy="2811462"/>
            <a:chOff x="6879768" y="2186040"/>
            <a:chExt cx="1571668" cy="2810641"/>
          </a:xfrm>
        </p:grpSpPr>
        <p:grpSp>
          <p:nvGrpSpPr>
            <p:cNvPr id="793" name="Google Shape;793;p67"/>
            <p:cNvGrpSpPr/>
            <p:nvPr/>
          </p:nvGrpSpPr>
          <p:grpSpPr>
            <a:xfrm>
              <a:off x="6879768" y="2186040"/>
              <a:ext cx="1571668" cy="776060"/>
              <a:chOff x="5840799" y="1700861"/>
              <a:chExt cx="2784306" cy="1374838"/>
            </a:xfrm>
          </p:grpSpPr>
          <p:grpSp>
            <p:nvGrpSpPr>
              <p:cNvPr id="794" name="Google Shape;794;p67"/>
              <p:cNvGrpSpPr/>
              <p:nvPr/>
            </p:nvGrpSpPr>
            <p:grpSpPr>
              <a:xfrm>
                <a:off x="5840799" y="1720541"/>
                <a:ext cx="1293719" cy="1355158"/>
                <a:chOff x="611872" y="1903005"/>
                <a:chExt cx="1293719" cy="1355158"/>
              </a:xfrm>
            </p:grpSpPr>
            <p:sp>
              <p:nvSpPr>
                <p:cNvPr id="795" name="Google Shape;795;p67"/>
                <p:cNvSpPr/>
                <p:nvPr/>
              </p:nvSpPr>
              <p:spPr>
                <a:xfrm>
                  <a:off x="772182" y="2417516"/>
                  <a:ext cx="1133409" cy="671955"/>
                </a:xfrm>
                <a:prstGeom prst="cube">
                  <a:avLst>
                    <a:gd name="adj" fmla="val 25000"/>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96" name="Google Shape;796;p67"/>
                <p:cNvSpPr/>
                <p:nvPr/>
              </p:nvSpPr>
              <p:spPr>
                <a:xfrm>
                  <a:off x="611872" y="2586208"/>
                  <a:ext cx="1133411" cy="671955"/>
                </a:xfrm>
                <a:prstGeom prst="cube">
                  <a:avLst>
                    <a:gd name="adj" fmla="val 25000"/>
                  </a:avLst>
                </a:prstGeom>
                <a:solidFill>
                  <a:schemeClr val="accent3"/>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97" name="Google Shape;797;p67"/>
                <p:cNvSpPr/>
                <p:nvPr/>
              </p:nvSpPr>
              <p:spPr>
                <a:xfrm>
                  <a:off x="772182" y="1903005"/>
                  <a:ext cx="1133409" cy="671957"/>
                </a:xfrm>
                <a:prstGeom prst="cube">
                  <a:avLst>
                    <a:gd name="adj" fmla="val 2500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798" name="Google Shape;798;p67"/>
                <p:cNvSpPr/>
                <p:nvPr/>
              </p:nvSpPr>
              <p:spPr>
                <a:xfrm>
                  <a:off x="611872" y="2071697"/>
                  <a:ext cx="1133411" cy="671957"/>
                </a:xfrm>
                <a:prstGeom prst="cube">
                  <a:avLst>
                    <a:gd name="adj" fmla="val 25000"/>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799" name="Google Shape;799;p67"/>
              <p:cNvGrpSpPr/>
              <p:nvPr/>
            </p:nvGrpSpPr>
            <p:grpSpPr>
              <a:xfrm>
                <a:off x="6813901" y="1720541"/>
                <a:ext cx="798730" cy="1355158"/>
                <a:chOff x="1584974" y="1903005"/>
                <a:chExt cx="798730" cy="1355158"/>
              </a:xfrm>
            </p:grpSpPr>
            <p:sp>
              <p:nvSpPr>
                <p:cNvPr id="800" name="Google Shape;800;p67"/>
                <p:cNvSpPr/>
                <p:nvPr/>
              </p:nvSpPr>
              <p:spPr>
                <a:xfrm>
                  <a:off x="1745283" y="2417516"/>
                  <a:ext cx="638421" cy="671955"/>
                </a:xfrm>
                <a:prstGeom prst="cube">
                  <a:avLst>
                    <a:gd name="adj" fmla="val 25000"/>
                  </a:avLst>
                </a:prstGeom>
                <a:solidFill>
                  <a:schemeClr val="accent4"/>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01" name="Google Shape;801;p67"/>
                <p:cNvSpPr/>
                <p:nvPr/>
              </p:nvSpPr>
              <p:spPr>
                <a:xfrm>
                  <a:off x="1584974" y="2586208"/>
                  <a:ext cx="638422" cy="671955"/>
                </a:xfrm>
                <a:prstGeom prst="cube">
                  <a:avLst>
                    <a:gd name="adj" fmla="val 25000"/>
                  </a:avLst>
                </a:prstGeom>
                <a:solidFill>
                  <a:schemeClr val="accent3"/>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02" name="Google Shape;802;p67"/>
                <p:cNvSpPr/>
                <p:nvPr/>
              </p:nvSpPr>
              <p:spPr>
                <a:xfrm>
                  <a:off x="1745283" y="1903005"/>
                  <a:ext cx="638421" cy="671957"/>
                </a:xfrm>
                <a:prstGeom prst="cube">
                  <a:avLst>
                    <a:gd name="adj" fmla="val 25000"/>
                  </a:avLst>
                </a:prstGeom>
                <a:solidFill>
                  <a:schemeClr val="accent2"/>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03" name="Google Shape;803;p67"/>
                <p:cNvSpPr/>
                <p:nvPr/>
              </p:nvSpPr>
              <p:spPr>
                <a:xfrm>
                  <a:off x="1584974" y="2071697"/>
                  <a:ext cx="638422" cy="671957"/>
                </a:xfrm>
                <a:prstGeom prst="cube">
                  <a:avLst>
                    <a:gd name="adj" fmla="val 25000"/>
                  </a:avLst>
                </a:prstGeom>
                <a:solidFill>
                  <a:schemeClr val="accent1"/>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804" name="Google Shape;804;p67"/>
              <p:cNvGrpSpPr/>
              <p:nvPr/>
            </p:nvGrpSpPr>
            <p:grpSpPr>
              <a:xfrm>
                <a:off x="7331386" y="1700861"/>
                <a:ext cx="1293719" cy="1355158"/>
                <a:chOff x="610582" y="1902203"/>
                <a:chExt cx="1293719" cy="1355158"/>
              </a:xfrm>
            </p:grpSpPr>
            <p:sp>
              <p:nvSpPr>
                <p:cNvPr id="805" name="Google Shape;805;p67"/>
                <p:cNvSpPr/>
                <p:nvPr/>
              </p:nvSpPr>
              <p:spPr>
                <a:xfrm>
                  <a:off x="770892" y="2416712"/>
                  <a:ext cx="1133409" cy="671957"/>
                </a:xfrm>
                <a:prstGeom prst="cube">
                  <a:avLst>
                    <a:gd name="adj" fmla="val 25000"/>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06" name="Google Shape;806;p67"/>
                <p:cNvSpPr/>
                <p:nvPr/>
              </p:nvSpPr>
              <p:spPr>
                <a:xfrm>
                  <a:off x="610582" y="2585404"/>
                  <a:ext cx="1133411" cy="671957"/>
                </a:xfrm>
                <a:prstGeom prst="cube">
                  <a:avLst>
                    <a:gd name="adj" fmla="val 25000"/>
                  </a:avLst>
                </a:prstGeom>
                <a:solidFill>
                  <a:schemeClr val="accent3"/>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07" name="Google Shape;807;p67"/>
                <p:cNvSpPr/>
                <p:nvPr/>
              </p:nvSpPr>
              <p:spPr>
                <a:xfrm>
                  <a:off x="770892" y="1902203"/>
                  <a:ext cx="1133409" cy="671955"/>
                </a:xfrm>
                <a:prstGeom prst="cube">
                  <a:avLst>
                    <a:gd name="adj" fmla="val 2500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08" name="Google Shape;808;p67"/>
                <p:cNvSpPr/>
                <p:nvPr/>
              </p:nvSpPr>
              <p:spPr>
                <a:xfrm>
                  <a:off x="610582" y="2070895"/>
                  <a:ext cx="1133411" cy="671955"/>
                </a:xfrm>
                <a:prstGeom prst="cube">
                  <a:avLst>
                    <a:gd name="adj" fmla="val 25000"/>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sp>
          <p:nvSpPr>
            <p:cNvPr id="809" name="Google Shape;809;p67"/>
            <p:cNvSpPr/>
            <p:nvPr/>
          </p:nvSpPr>
          <p:spPr>
            <a:xfrm>
              <a:off x="6928982" y="3128740"/>
              <a:ext cx="685819" cy="1867941"/>
            </a:xfrm>
            <a:custGeom>
              <a:avLst/>
              <a:gdLst/>
              <a:ahLst/>
              <a:cxnLst/>
              <a:rect l="l" t="t" r="r" b="b"/>
              <a:pathLst>
                <a:path w="685903" h="1867587" extrusionOk="0">
                  <a:moveTo>
                    <a:pt x="0" y="1837189"/>
                  </a:moveTo>
                  <a:cubicBezTo>
                    <a:pt x="229299" y="1918981"/>
                    <a:pt x="500544" y="1841383"/>
                    <a:pt x="612397" y="1535185"/>
                  </a:cubicBezTo>
                  <a:cubicBezTo>
                    <a:pt x="724250" y="1228987"/>
                    <a:pt x="676712" y="694189"/>
                    <a:pt x="671120" y="0"/>
                  </a:cubicBezTo>
                </a:path>
              </a:pathLst>
            </a:custGeom>
            <a:no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68"/>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Now: Unpooling</a:t>
            </a:r>
            <a:endParaRPr/>
          </a:p>
        </p:txBody>
      </p:sp>
      <p:grpSp>
        <p:nvGrpSpPr>
          <p:cNvPr id="815" name="Google Shape;815;p68"/>
          <p:cNvGrpSpPr/>
          <p:nvPr/>
        </p:nvGrpSpPr>
        <p:grpSpPr>
          <a:xfrm>
            <a:off x="3182938" y="2960688"/>
            <a:ext cx="1677987" cy="2036762"/>
            <a:chOff x="3183585" y="2961457"/>
            <a:chExt cx="1677798" cy="2036749"/>
          </a:xfrm>
        </p:grpSpPr>
        <p:cxnSp>
          <p:nvCxnSpPr>
            <p:cNvPr id="816" name="Google Shape;816;p68"/>
            <p:cNvCxnSpPr/>
            <p:nvPr/>
          </p:nvCxnSpPr>
          <p:spPr>
            <a:xfrm>
              <a:off x="3426445" y="4998206"/>
              <a:ext cx="1260333" cy="0"/>
            </a:xfrm>
            <a:prstGeom prst="straightConnector1">
              <a:avLst/>
            </a:prstGeom>
            <a:noFill/>
            <a:ln w="76200" cap="flat" cmpd="sng">
              <a:solidFill>
                <a:schemeClr val="dk1"/>
              </a:solidFill>
              <a:prstDash val="solid"/>
              <a:miter lim="800000"/>
              <a:headEnd type="none" w="sm" len="sm"/>
              <a:tailEnd type="triangle" w="med" len="med"/>
            </a:ln>
          </p:spPr>
        </p:cxnSp>
        <p:sp>
          <p:nvSpPr>
            <p:cNvPr id="817" name="Google Shape;817;p68"/>
            <p:cNvSpPr txBox="1"/>
            <p:nvPr/>
          </p:nvSpPr>
          <p:spPr>
            <a:xfrm flipH="1">
              <a:off x="3183585" y="2961457"/>
              <a:ext cx="1677798" cy="181588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Nearest NeighborUnpool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x2</a:t>
              </a:r>
              <a:endParaRPr sz="1400" b="0" i="0" u="none" strike="noStrike" cap="none">
                <a:solidFill>
                  <a:srgbClr val="000000"/>
                </a:solidFill>
                <a:latin typeface="Arial"/>
                <a:ea typeface="Arial"/>
                <a:cs typeface="Arial"/>
                <a:sym typeface="Arial"/>
              </a:endParaRPr>
            </a:p>
          </p:txBody>
        </p:sp>
      </p:grpSp>
      <p:grpSp>
        <p:nvGrpSpPr>
          <p:cNvPr id="818" name="Google Shape;818;p68"/>
          <p:cNvGrpSpPr/>
          <p:nvPr/>
        </p:nvGrpSpPr>
        <p:grpSpPr>
          <a:xfrm flipH="1">
            <a:off x="5014913" y="4178300"/>
            <a:ext cx="1703387" cy="1681163"/>
            <a:chOff x="628652" y="3203577"/>
            <a:chExt cx="3017388" cy="2976745"/>
          </a:xfrm>
        </p:grpSpPr>
        <p:sp>
          <p:nvSpPr>
            <p:cNvPr id="819" name="Google Shape;819;p68"/>
            <p:cNvSpPr/>
            <p:nvPr/>
          </p:nvSpPr>
          <p:spPr>
            <a:xfrm>
              <a:off x="628652" y="3203577"/>
              <a:ext cx="753644" cy="753321"/>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6</a:t>
              </a:r>
              <a:endParaRPr sz="1400" b="0" i="0" u="none" strike="noStrike" cap="none">
                <a:solidFill>
                  <a:srgbClr val="000000"/>
                </a:solidFill>
                <a:latin typeface="Arial"/>
                <a:ea typeface="Arial"/>
                <a:cs typeface="Arial"/>
                <a:sym typeface="Arial"/>
              </a:endParaRPr>
            </a:p>
          </p:txBody>
        </p:sp>
        <p:sp>
          <p:nvSpPr>
            <p:cNvPr id="820" name="Google Shape;820;p68"/>
            <p:cNvSpPr/>
            <p:nvPr/>
          </p:nvSpPr>
          <p:spPr>
            <a:xfrm>
              <a:off x="1382296" y="3203577"/>
              <a:ext cx="753644" cy="753321"/>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6</a:t>
              </a:r>
              <a:endParaRPr sz="1400" b="0" i="0" u="none" strike="noStrike" cap="none">
                <a:solidFill>
                  <a:srgbClr val="000000"/>
                </a:solidFill>
                <a:latin typeface="Arial"/>
                <a:ea typeface="Arial"/>
                <a:cs typeface="Arial"/>
                <a:sym typeface="Arial"/>
              </a:endParaRPr>
            </a:p>
          </p:txBody>
        </p:sp>
        <p:sp>
          <p:nvSpPr>
            <p:cNvPr id="821" name="Google Shape;821;p68"/>
            <p:cNvSpPr/>
            <p:nvPr/>
          </p:nvSpPr>
          <p:spPr>
            <a:xfrm>
              <a:off x="2135940" y="3203577"/>
              <a:ext cx="756455" cy="753321"/>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8</a:t>
              </a:r>
              <a:endParaRPr sz="1400" b="0" i="0" u="none" strike="noStrike" cap="none">
                <a:solidFill>
                  <a:srgbClr val="000000"/>
                </a:solidFill>
                <a:latin typeface="Arial"/>
                <a:ea typeface="Arial"/>
                <a:cs typeface="Arial"/>
                <a:sym typeface="Arial"/>
              </a:endParaRPr>
            </a:p>
          </p:txBody>
        </p:sp>
        <p:sp>
          <p:nvSpPr>
            <p:cNvPr id="822" name="Google Shape;822;p68"/>
            <p:cNvSpPr/>
            <p:nvPr/>
          </p:nvSpPr>
          <p:spPr>
            <a:xfrm>
              <a:off x="628652" y="3940033"/>
              <a:ext cx="753644" cy="756133"/>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6</a:t>
              </a:r>
              <a:endParaRPr sz="1400" b="0" i="0" u="none" strike="noStrike" cap="none">
                <a:solidFill>
                  <a:srgbClr val="000000"/>
                </a:solidFill>
                <a:latin typeface="Arial"/>
                <a:ea typeface="Arial"/>
                <a:cs typeface="Arial"/>
                <a:sym typeface="Arial"/>
              </a:endParaRPr>
            </a:p>
          </p:txBody>
        </p:sp>
        <p:sp>
          <p:nvSpPr>
            <p:cNvPr id="823" name="Google Shape;823;p68"/>
            <p:cNvSpPr/>
            <p:nvPr/>
          </p:nvSpPr>
          <p:spPr>
            <a:xfrm>
              <a:off x="1382296" y="3940033"/>
              <a:ext cx="753644" cy="756133"/>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6</a:t>
              </a:r>
              <a:endParaRPr sz="1400" b="0" i="0" u="none" strike="noStrike" cap="none">
                <a:solidFill>
                  <a:srgbClr val="000000"/>
                </a:solidFill>
                <a:latin typeface="Arial"/>
                <a:ea typeface="Arial"/>
                <a:cs typeface="Arial"/>
                <a:sym typeface="Arial"/>
              </a:endParaRPr>
            </a:p>
          </p:txBody>
        </p:sp>
        <p:sp>
          <p:nvSpPr>
            <p:cNvPr id="824" name="Google Shape;824;p68"/>
            <p:cNvSpPr/>
            <p:nvPr/>
          </p:nvSpPr>
          <p:spPr>
            <a:xfrm>
              <a:off x="2135940" y="3940033"/>
              <a:ext cx="756455" cy="756133"/>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8</a:t>
              </a:r>
              <a:endParaRPr sz="1400" b="0" i="0" u="none" strike="noStrike" cap="none">
                <a:solidFill>
                  <a:srgbClr val="000000"/>
                </a:solidFill>
                <a:latin typeface="Arial"/>
                <a:ea typeface="Arial"/>
                <a:cs typeface="Arial"/>
                <a:sym typeface="Arial"/>
              </a:endParaRPr>
            </a:p>
          </p:txBody>
        </p:sp>
        <p:sp>
          <p:nvSpPr>
            <p:cNvPr id="825" name="Google Shape;825;p68"/>
            <p:cNvSpPr/>
            <p:nvPr/>
          </p:nvSpPr>
          <p:spPr>
            <a:xfrm>
              <a:off x="628652" y="4670867"/>
              <a:ext cx="753644" cy="756133"/>
            </a:xfrm>
            <a:prstGeom prst="rect">
              <a:avLst/>
            </a:prstGeom>
            <a:solidFill>
              <a:schemeClr val="accent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p:txBody>
        </p:sp>
        <p:sp>
          <p:nvSpPr>
            <p:cNvPr id="826" name="Google Shape;826;p68"/>
            <p:cNvSpPr/>
            <p:nvPr/>
          </p:nvSpPr>
          <p:spPr>
            <a:xfrm>
              <a:off x="1382296" y="4670867"/>
              <a:ext cx="753644" cy="756133"/>
            </a:xfrm>
            <a:prstGeom prst="rect">
              <a:avLst/>
            </a:prstGeom>
            <a:solidFill>
              <a:schemeClr val="accent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p:txBody>
        </p:sp>
        <p:sp>
          <p:nvSpPr>
            <p:cNvPr id="827" name="Google Shape;827;p68"/>
            <p:cNvSpPr/>
            <p:nvPr/>
          </p:nvSpPr>
          <p:spPr>
            <a:xfrm>
              <a:off x="2135940" y="4670867"/>
              <a:ext cx="756455" cy="756133"/>
            </a:xfrm>
            <a:prstGeom prst="rect">
              <a:avLst/>
            </a:prstGeom>
            <a:solidFill>
              <a:schemeClr val="accent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4</a:t>
              </a:r>
              <a:endParaRPr sz="1400" b="0" i="0" u="none" strike="noStrike" cap="none">
                <a:solidFill>
                  <a:srgbClr val="000000"/>
                </a:solidFill>
                <a:latin typeface="Arial"/>
                <a:ea typeface="Arial"/>
                <a:cs typeface="Arial"/>
                <a:sym typeface="Arial"/>
              </a:endParaRPr>
            </a:p>
          </p:txBody>
        </p:sp>
        <p:sp>
          <p:nvSpPr>
            <p:cNvPr id="828" name="Google Shape;828;p68"/>
            <p:cNvSpPr/>
            <p:nvPr/>
          </p:nvSpPr>
          <p:spPr>
            <a:xfrm>
              <a:off x="2892396" y="3203577"/>
              <a:ext cx="753644" cy="753321"/>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8</a:t>
              </a:r>
              <a:endParaRPr sz="1400" b="0" i="0" u="none" strike="noStrike" cap="none">
                <a:solidFill>
                  <a:srgbClr val="000000"/>
                </a:solidFill>
                <a:latin typeface="Arial"/>
                <a:ea typeface="Arial"/>
                <a:cs typeface="Arial"/>
                <a:sym typeface="Arial"/>
              </a:endParaRPr>
            </a:p>
          </p:txBody>
        </p:sp>
        <p:sp>
          <p:nvSpPr>
            <p:cNvPr id="829" name="Google Shape;829;p68"/>
            <p:cNvSpPr/>
            <p:nvPr/>
          </p:nvSpPr>
          <p:spPr>
            <a:xfrm>
              <a:off x="2892396" y="3940033"/>
              <a:ext cx="753644" cy="756133"/>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8</a:t>
              </a:r>
              <a:endParaRPr sz="1400" b="0" i="0" u="none" strike="noStrike" cap="none">
                <a:solidFill>
                  <a:srgbClr val="000000"/>
                </a:solidFill>
                <a:latin typeface="Arial"/>
                <a:ea typeface="Arial"/>
                <a:cs typeface="Arial"/>
                <a:sym typeface="Arial"/>
              </a:endParaRPr>
            </a:p>
          </p:txBody>
        </p:sp>
        <p:sp>
          <p:nvSpPr>
            <p:cNvPr id="830" name="Google Shape;830;p68"/>
            <p:cNvSpPr/>
            <p:nvPr/>
          </p:nvSpPr>
          <p:spPr>
            <a:xfrm>
              <a:off x="2892396" y="4670867"/>
              <a:ext cx="753644" cy="756133"/>
            </a:xfrm>
            <a:prstGeom prst="rect">
              <a:avLst/>
            </a:prstGeom>
            <a:solidFill>
              <a:schemeClr val="accent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4</a:t>
              </a:r>
              <a:endParaRPr sz="1400" b="0" i="0" u="none" strike="noStrike" cap="none">
                <a:solidFill>
                  <a:srgbClr val="000000"/>
                </a:solidFill>
                <a:latin typeface="Arial"/>
                <a:ea typeface="Arial"/>
                <a:cs typeface="Arial"/>
                <a:sym typeface="Arial"/>
              </a:endParaRPr>
            </a:p>
          </p:txBody>
        </p:sp>
        <p:sp>
          <p:nvSpPr>
            <p:cNvPr id="831" name="Google Shape;831;p68"/>
            <p:cNvSpPr/>
            <p:nvPr/>
          </p:nvSpPr>
          <p:spPr>
            <a:xfrm>
              <a:off x="628652" y="5427001"/>
              <a:ext cx="753644" cy="753321"/>
            </a:xfrm>
            <a:prstGeom prst="rect">
              <a:avLst/>
            </a:prstGeom>
            <a:solidFill>
              <a:schemeClr val="accent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p:txBody>
        </p:sp>
        <p:sp>
          <p:nvSpPr>
            <p:cNvPr id="832" name="Google Shape;832;p68"/>
            <p:cNvSpPr/>
            <p:nvPr/>
          </p:nvSpPr>
          <p:spPr>
            <a:xfrm>
              <a:off x="1382296" y="5427001"/>
              <a:ext cx="753644" cy="753321"/>
            </a:xfrm>
            <a:prstGeom prst="rect">
              <a:avLst/>
            </a:prstGeom>
            <a:solidFill>
              <a:schemeClr val="accent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p:txBody>
        </p:sp>
        <p:sp>
          <p:nvSpPr>
            <p:cNvPr id="833" name="Google Shape;833;p68"/>
            <p:cNvSpPr/>
            <p:nvPr/>
          </p:nvSpPr>
          <p:spPr>
            <a:xfrm>
              <a:off x="2135940" y="5427001"/>
              <a:ext cx="756455" cy="753321"/>
            </a:xfrm>
            <a:prstGeom prst="rect">
              <a:avLst/>
            </a:prstGeom>
            <a:solidFill>
              <a:schemeClr val="accent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4</a:t>
              </a:r>
              <a:endParaRPr sz="1400" b="0" i="0" u="none" strike="noStrike" cap="none">
                <a:solidFill>
                  <a:srgbClr val="000000"/>
                </a:solidFill>
                <a:latin typeface="Arial"/>
                <a:ea typeface="Arial"/>
                <a:cs typeface="Arial"/>
                <a:sym typeface="Arial"/>
              </a:endParaRPr>
            </a:p>
          </p:txBody>
        </p:sp>
        <p:sp>
          <p:nvSpPr>
            <p:cNvPr id="834" name="Google Shape;834;p68"/>
            <p:cNvSpPr/>
            <p:nvPr/>
          </p:nvSpPr>
          <p:spPr>
            <a:xfrm>
              <a:off x="2892396" y="5427001"/>
              <a:ext cx="753644" cy="753321"/>
            </a:xfrm>
            <a:prstGeom prst="rect">
              <a:avLst/>
            </a:prstGeom>
            <a:solidFill>
              <a:schemeClr val="accent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4</a:t>
              </a:r>
              <a:endParaRPr sz="1400" b="0" i="0" u="none" strike="noStrike" cap="none">
                <a:solidFill>
                  <a:srgbClr val="000000"/>
                </a:solidFill>
                <a:latin typeface="Arial"/>
                <a:ea typeface="Arial"/>
                <a:cs typeface="Arial"/>
                <a:sym typeface="Arial"/>
              </a:endParaRPr>
            </a:p>
          </p:txBody>
        </p:sp>
      </p:grpSp>
      <p:grpSp>
        <p:nvGrpSpPr>
          <p:cNvPr id="835" name="Google Shape;835;p68"/>
          <p:cNvGrpSpPr/>
          <p:nvPr/>
        </p:nvGrpSpPr>
        <p:grpSpPr>
          <a:xfrm>
            <a:off x="5667375" y="1882775"/>
            <a:ext cx="2784475" cy="3173413"/>
            <a:chOff x="5667130" y="1883325"/>
            <a:chExt cx="2784306" cy="3173389"/>
          </a:xfrm>
        </p:grpSpPr>
        <p:grpSp>
          <p:nvGrpSpPr>
            <p:cNvPr id="836" name="Google Shape;836;p68"/>
            <p:cNvGrpSpPr/>
            <p:nvPr/>
          </p:nvGrpSpPr>
          <p:grpSpPr>
            <a:xfrm flipH="1">
              <a:off x="5667130" y="1883325"/>
              <a:ext cx="2784306" cy="1373178"/>
              <a:chOff x="611872" y="1883325"/>
              <a:chExt cx="2784306" cy="1373178"/>
            </a:xfrm>
          </p:grpSpPr>
          <p:grpSp>
            <p:nvGrpSpPr>
              <p:cNvPr id="837" name="Google Shape;837;p68"/>
              <p:cNvGrpSpPr/>
              <p:nvPr/>
            </p:nvGrpSpPr>
            <p:grpSpPr>
              <a:xfrm>
                <a:off x="611872" y="1902375"/>
                <a:ext cx="1292147" cy="1354128"/>
                <a:chOff x="611872" y="1902375"/>
                <a:chExt cx="1292147" cy="1354128"/>
              </a:xfrm>
            </p:grpSpPr>
            <p:sp>
              <p:nvSpPr>
                <p:cNvPr id="838" name="Google Shape;838;p68"/>
                <p:cNvSpPr/>
                <p:nvPr/>
              </p:nvSpPr>
              <p:spPr>
                <a:xfrm>
                  <a:off x="772199" y="2416721"/>
                  <a:ext cx="1131820" cy="669920"/>
                </a:xfrm>
                <a:prstGeom prst="cube">
                  <a:avLst>
                    <a:gd name="adj" fmla="val 25000"/>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39" name="Google Shape;839;p68"/>
                <p:cNvSpPr/>
                <p:nvPr/>
              </p:nvSpPr>
              <p:spPr>
                <a:xfrm>
                  <a:off x="611872" y="2584995"/>
                  <a:ext cx="1131819" cy="671508"/>
                </a:xfrm>
                <a:prstGeom prst="cube">
                  <a:avLst>
                    <a:gd name="adj" fmla="val 25000"/>
                  </a:avLst>
                </a:prstGeom>
                <a:solidFill>
                  <a:schemeClr val="accent3"/>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40" name="Google Shape;840;p68"/>
                <p:cNvSpPr/>
                <p:nvPr/>
              </p:nvSpPr>
              <p:spPr>
                <a:xfrm>
                  <a:off x="772199" y="1902375"/>
                  <a:ext cx="1131820" cy="671508"/>
                </a:xfrm>
                <a:prstGeom prst="cube">
                  <a:avLst>
                    <a:gd name="adj" fmla="val 2500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41" name="Google Shape;841;p68"/>
                <p:cNvSpPr/>
                <p:nvPr/>
              </p:nvSpPr>
              <p:spPr>
                <a:xfrm>
                  <a:off x="611872" y="2072237"/>
                  <a:ext cx="1131819" cy="669920"/>
                </a:xfrm>
                <a:prstGeom prst="cube">
                  <a:avLst>
                    <a:gd name="adj" fmla="val 25000"/>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842" name="Google Shape;842;p68"/>
              <p:cNvGrpSpPr/>
              <p:nvPr/>
            </p:nvGrpSpPr>
            <p:grpSpPr>
              <a:xfrm>
                <a:off x="1584950" y="1902375"/>
                <a:ext cx="798465" cy="1354128"/>
                <a:chOff x="1584950" y="1902375"/>
                <a:chExt cx="798465" cy="1354128"/>
              </a:xfrm>
            </p:grpSpPr>
            <p:sp>
              <p:nvSpPr>
                <p:cNvPr id="843" name="Google Shape;843;p68"/>
                <p:cNvSpPr/>
                <p:nvPr/>
              </p:nvSpPr>
              <p:spPr>
                <a:xfrm>
                  <a:off x="1743690" y="2415134"/>
                  <a:ext cx="639725" cy="671507"/>
                </a:xfrm>
                <a:prstGeom prst="cube">
                  <a:avLst>
                    <a:gd name="adj" fmla="val 25000"/>
                  </a:avLst>
                </a:prstGeom>
                <a:solidFill>
                  <a:schemeClr val="accent4"/>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44" name="Google Shape;844;p68"/>
                <p:cNvSpPr/>
                <p:nvPr/>
              </p:nvSpPr>
              <p:spPr>
                <a:xfrm>
                  <a:off x="1584950" y="2584995"/>
                  <a:ext cx="639725" cy="671508"/>
                </a:xfrm>
                <a:prstGeom prst="cube">
                  <a:avLst>
                    <a:gd name="adj" fmla="val 25000"/>
                  </a:avLst>
                </a:prstGeom>
                <a:solidFill>
                  <a:schemeClr val="accent3"/>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45" name="Google Shape;845;p68"/>
                <p:cNvSpPr/>
                <p:nvPr/>
              </p:nvSpPr>
              <p:spPr>
                <a:xfrm>
                  <a:off x="1743690" y="1902375"/>
                  <a:ext cx="639725" cy="671508"/>
                </a:xfrm>
                <a:prstGeom prst="cube">
                  <a:avLst>
                    <a:gd name="adj" fmla="val 25000"/>
                  </a:avLst>
                </a:prstGeom>
                <a:solidFill>
                  <a:schemeClr val="accent2"/>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46" name="Google Shape;846;p68"/>
                <p:cNvSpPr/>
                <p:nvPr/>
              </p:nvSpPr>
              <p:spPr>
                <a:xfrm>
                  <a:off x="1584950" y="2072237"/>
                  <a:ext cx="639725" cy="669920"/>
                </a:xfrm>
                <a:prstGeom prst="cube">
                  <a:avLst>
                    <a:gd name="adj" fmla="val 25000"/>
                  </a:avLst>
                </a:prstGeom>
                <a:solidFill>
                  <a:schemeClr val="accent1"/>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847" name="Google Shape;847;p68"/>
              <p:cNvGrpSpPr/>
              <p:nvPr/>
            </p:nvGrpSpPr>
            <p:grpSpPr>
              <a:xfrm>
                <a:off x="2104031" y="1883325"/>
                <a:ext cx="1292147" cy="1354128"/>
                <a:chOff x="612154" y="1902203"/>
                <a:chExt cx="1292147" cy="1354128"/>
              </a:xfrm>
            </p:grpSpPr>
            <p:sp>
              <p:nvSpPr>
                <p:cNvPr id="848" name="Google Shape;848;p68"/>
                <p:cNvSpPr/>
                <p:nvPr/>
              </p:nvSpPr>
              <p:spPr>
                <a:xfrm>
                  <a:off x="772481" y="2416549"/>
                  <a:ext cx="1131820" cy="669920"/>
                </a:xfrm>
                <a:prstGeom prst="cube">
                  <a:avLst>
                    <a:gd name="adj" fmla="val 25000"/>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49" name="Google Shape;849;p68"/>
                <p:cNvSpPr/>
                <p:nvPr/>
              </p:nvSpPr>
              <p:spPr>
                <a:xfrm>
                  <a:off x="612154" y="2584823"/>
                  <a:ext cx="1131819" cy="671508"/>
                </a:xfrm>
                <a:prstGeom prst="cube">
                  <a:avLst>
                    <a:gd name="adj" fmla="val 25000"/>
                  </a:avLst>
                </a:prstGeom>
                <a:solidFill>
                  <a:schemeClr val="accent3"/>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50" name="Google Shape;850;p68"/>
                <p:cNvSpPr/>
                <p:nvPr/>
              </p:nvSpPr>
              <p:spPr>
                <a:xfrm>
                  <a:off x="772481" y="1902203"/>
                  <a:ext cx="1131820" cy="671508"/>
                </a:xfrm>
                <a:prstGeom prst="cube">
                  <a:avLst>
                    <a:gd name="adj" fmla="val 2500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51" name="Google Shape;851;p68"/>
                <p:cNvSpPr/>
                <p:nvPr/>
              </p:nvSpPr>
              <p:spPr>
                <a:xfrm>
                  <a:off x="612154" y="2072065"/>
                  <a:ext cx="1131819" cy="669920"/>
                </a:xfrm>
                <a:prstGeom prst="cube">
                  <a:avLst>
                    <a:gd name="adj" fmla="val 25000"/>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sp>
          <p:nvSpPr>
            <p:cNvPr id="852" name="Google Shape;852;p68"/>
            <p:cNvSpPr/>
            <p:nvPr/>
          </p:nvSpPr>
          <p:spPr>
            <a:xfrm flipH="1">
              <a:off x="6848158" y="3364452"/>
              <a:ext cx="460347" cy="1692262"/>
            </a:xfrm>
            <a:custGeom>
              <a:avLst/>
              <a:gdLst/>
              <a:ahLst/>
              <a:cxnLst/>
              <a:rect l="l" t="t" r="r" b="b"/>
              <a:pathLst>
                <a:path w="459810" h="1692729" extrusionOk="0">
                  <a:moveTo>
                    <a:pt x="40361" y="0"/>
                  </a:moveTo>
                  <a:cubicBezTo>
                    <a:pt x="5407" y="576743"/>
                    <a:pt x="-29547" y="1153487"/>
                    <a:pt x="40361" y="1434518"/>
                  </a:cubicBezTo>
                  <a:cubicBezTo>
                    <a:pt x="110269" y="1715549"/>
                    <a:pt x="285039" y="1700868"/>
                    <a:pt x="459810" y="1686187"/>
                  </a:cubicBezTo>
                </a:path>
              </a:pathLst>
            </a:custGeom>
            <a:no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853" name="Google Shape;853;p68"/>
          <p:cNvGrpSpPr/>
          <p:nvPr/>
        </p:nvGrpSpPr>
        <p:grpSpPr>
          <a:xfrm flipH="1">
            <a:off x="184150" y="2185988"/>
            <a:ext cx="1571625" cy="774700"/>
            <a:chOff x="5840799" y="1700861"/>
            <a:chExt cx="2784306" cy="1373699"/>
          </a:xfrm>
        </p:grpSpPr>
        <p:grpSp>
          <p:nvGrpSpPr>
            <p:cNvPr id="854" name="Google Shape;854;p68"/>
            <p:cNvGrpSpPr/>
            <p:nvPr/>
          </p:nvGrpSpPr>
          <p:grpSpPr>
            <a:xfrm>
              <a:off x="5840799" y="1720565"/>
              <a:ext cx="1293719" cy="1353995"/>
              <a:chOff x="611872" y="1903029"/>
              <a:chExt cx="1293719" cy="1353995"/>
            </a:xfrm>
          </p:grpSpPr>
          <p:sp>
            <p:nvSpPr>
              <p:cNvPr id="855" name="Google Shape;855;p68"/>
              <p:cNvSpPr/>
              <p:nvPr/>
            </p:nvSpPr>
            <p:spPr>
              <a:xfrm>
                <a:off x="772180" y="2415351"/>
                <a:ext cx="1133411" cy="672775"/>
              </a:xfrm>
              <a:prstGeom prst="cube">
                <a:avLst>
                  <a:gd name="adj" fmla="val 25000"/>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56" name="Google Shape;856;p68"/>
              <p:cNvSpPr/>
              <p:nvPr/>
            </p:nvSpPr>
            <p:spPr>
              <a:xfrm>
                <a:off x="611872" y="2587064"/>
                <a:ext cx="1133409" cy="669960"/>
              </a:xfrm>
              <a:prstGeom prst="cube">
                <a:avLst>
                  <a:gd name="adj" fmla="val 25000"/>
                </a:avLst>
              </a:prstGeom>
              <a:solidFill>
                <a:schemeClr val="accent3"/>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57" name="Google Shape;857;p68"/>
              <p:cNvSpPr/>
              <p:nvPr/>
            </p:nvSpPr>
            <p:spPr>
              <a:xfrm>
                <a:off x="772180" y="1903029"/>
                <a:ext cx="1133411" cy="669960"/>
              </a:xfrm>
              <a:prstGeom prst="cube">
                <a:avLst>
                  <a:gd name="adj" fmla="val 2500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58" name="Google Shape;858;p68"/>
              <p:cNvSpPr/>
              <p:nvPr/>
            </p:nvSpPr>
            <p:spPr>
              <a:xfrm>
                <a:off x="611872" y="2071927"/>
                <a:ext cx="1133409" cy="672775"/>
              </a:xfrm>
              <a:prstGeom prst="cube">
                <a:avLst>
                  <a:gd name="adj" fmla="val 25000"/>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859" name="Google Shape;859;p68"/>
            <p:cNvGrpSpPr/>
            <p:nvPr/>
          </p:nvGrpSpPr>
          <p:grpSpPr>
            <a:xfrm>
              <a:off x="6813901" y="1720565"/>
              <a:ext cx="798729" cy="1353995"/>
              <a:chOff x="1584974" y="1903029"/>
              <a:chExt cx="798729" cy="1353995"/>
            </a:xfrm>
          </p:grpSpPr>
          <p:sp>
            <p:nvSpPr>
              <p:cNvPr id="860" name="Google Shape;860;p68"/>
              <p:cNvSpPr/>
              <p:nvPr/>
            </p:nvSpPr>
            <p:spPr>
              <a:xfrm>
                <a:off x="1745281" y="2415351"/>
                <a:ext cx="638422" cy="672775"/>
              </a:xfrm>
              <a:prstGeom prst="cube">
                <a:avLst>
                  <a:gd name="adj" fmla="val 25000"/>
                </a:avLst>
              </a:prstGeom>
              <a:solidFill>
                <a:schemeClr val="accent4"/>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61" name="Google Shape;861;p68"/>
              <p:cNvSpPr/>
              <p:nvPr/>
            </p:nvSpPr>
            <p:spPr>
              <a:xfrm>
                <a:off x="1584974" y="2587064"/>
                <a:ext cx="638421" cy="669960"/>
              </a:xfrm>
              <a:prstGeom prst="cube">
                <a:avLst>
                  <a:gd name="adj" fmla="val 25000"/>
                </a:avLst>
              </a:prstGeom>
              <a:solidFill>
                <a:schemeClr val="accent3"/>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62" name="Google Shape;862;p68"/>
              <p:cNvSpPr/>
              <p:nvPr/>
            </p:nvSpPr>
            <p:spPr>
              <a:xfrm>
                <a:off x="1745281" y="1903029"/>
                <a:ext cx="638422" cy="669960"/>
              </a:xfrm>
              <a:prstGeom prst="cube">
                <a:avLst>
                  <a:gd name="adj" fmla="val 25000"/>
                </a:avLst>
              </a:prstGeom>
              <a:solidFill>
                <a:schemeClr val="accent2"/>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63" name="Google Shape;863;p68"/>
              <p:cNvSpPr/>
              <p:nvPr/>
            </p:nvSpPr>
            <p:spPr>
              <a:xfrm>
                <a:off x="1584974" y="2071927"/>
                <a:ext cx="638421" cy="672775"/>
              </a:xfrm>
              <a:prstGeom prst="cube">
                <a:avLst>
                  <a:gd name="adj" fmla="val 25000"/>
                </a:avLst>
              </a:prstGeom>
              <a:solidFill>
                <a:schemeClr val="accent1"/>
              </a:solid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864" name="Google Shape;864;p68"/>
            <p:cNvGrpSpPr/>
            <p:nvPr/>
          </p:nvGrpSpPr>
          <p:grpSpPr>
            <a:xfrm>
              <a:off x="7331386" y="1700861"/>
              <a:ext cx="1293719" cy="1353993"/>
              <a:chOff x="610582" y="1902203"/>
              <a:chExt cx="1293719" cy="1353993"/>
            </a:xfrm>
          </p:grpSpPr>
          <p:sp>
            <p:nvSpPr>
              <p:cNvPr id="865" name="Google Shape;865;p68"/>
              <p:cNvSpPr/>
              <p:nvPr/>
            </p:nvSpPr>
            <p:spPr>
              <a:xfrm>
                <a:off x="770890" y="2414525"/>
                <a:ext cx="1133411" cy="672774"/>
              </a:xfrm>
              <a:prstGeom prst="cube">
                <a:avLst>
                  <a:gd name="adj" fmla="val 25000"/>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66" name="Google Shape;866;p68"/>
              <p:cNvSpPr/>
              <p:nvPr/>
            </p:nvSpPr>
            <p:spPr>
              <a:xfrm>
                <a:off x="610582" y="2586236"/>
                <a:ext cx="1133409" cy="669960"/>
              </a:xfrm>
              <a:prstGeom prst="cube">
                <a:avLst>
                  <a:gd name="adj" fmla="val 25000"/>
                </a:avLst>
              </a:prstGeom>
              <a:solidFill>
                <a:schemeClr val="accent3"/>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67" name="Google Shape;867;p68"/>
              <p:cNvSpPr/>
              <p:nvPr/>
            </p:nvSpPr>
            <p:spPr>
              <a:xfrm>
                <a:off x="770890" y="1902203"/>
                <a:ext cx="1133411" cy="669960"/>
              </a:xfrm>
              <a:prstGeom prst="cube">
                <a:avLst>
                  <a:gd name="adj" fmla="val 25000"/>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868" name="Google Shape;868;p68"/>
              <p:cNvSpPr/>
              <p:nvPr/>
            </p:nvSpPr>
            <p:spPr>
              <a:xfrm>
                <a:off x="610582" y="2071100"/>
                <a:ext cx="1133409" cy="672774"/>
              </a:xfrm>
              <a:prstGeom prst="cube">
                <a:avLst>
                  <a:gd name="adj" fmla="val 25000"/>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grpSp>
        <p:nvGrpSpPr>
          <p:cNvPr id="869" name="Google Shape;869;p68"/>
          <p:cNvGrpSpPr/>
          <p:nvPr/>
        </p:nvGrpSpPr>
        <p:grpSpPr>
          <a:xfrm>
            <a:off x="1020763" y="3128963"/>
            <a:ext cx="2076450" cy="2486025"/>
            <a:chOff x="1020227" y="3129094"/>
            <a:chExt cx="2077357" cy="2485455"/>
          </a:xfrm>
        </p:grpSpPr>
        <p:grpSp>
          <p:nvGrpSpPr>
            <p:cNvPr id="870" name="Google Shape;870;p68"/>
            <p:cNvGrpSpPr/>
            <p:nvPr/>
          </p:nvGrpSpPr>
          <p:grpSpPr>
            <a:xfrm flipH="1">
              <a:off x="1850729" y="4381862"/>
              <a:ext cx="1246855" cy="1232687"/>
              <a:chOff x="575357" y="3581400"/>
              <a:chExt cx="1030459" cy="1018750"/>
            </a:xfrm>
          </p:grpSpPr>
          <p:sp>
            <p:nvSpPr>
              <p:cNvPr id="871" name="Google Shape;871;p68"/>
              <p:cNvSpPr/>
              <p:nvPr/>
            </p:nvSpPr>
            <p:spPr>
              <a:xfrm>
                <a:off x="575358" y="3581401"/>
                <a:ext cx="515229" cy="515229"/>
              </a:xfrm>
              <a:prstGeom prst="rect">
                <a:avLst/>
              </a:prstGeom>
              <a:solidFill>
                <a:schemeClr val="accent1"/>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6</a:t>
                </a:r>
                <a:endParaRPr sz="1400" b="0" i="0" u="none" strike="noStrike" cap="none">
                  <a:solidFill>
                    <a:srgbClr val="000000"/>
                  </a:solidFill>
                  <a:latin typeface="Arial"/>
                  <a:ea typeface="Arial"/>
                  <a:cs typeface="Arial"/>
                  <a:sym typeface="Arial"/>
                </a:endParaRPr>
              </a:p>
            </p:txBody>
          </p:sp>
          <p:sp>
            <p:nvSpPr>
              <p:cNvPr id="872" name="Google Shape;872;p68"/>
              <p:cNvSpPr/>
              <p:nvPr/>
            </p:nvSpPr>
            <p:spPr>
              <a:xfrm>
                <a:off x="1090587" y="3581400"/>
                <a:ext cx="515229" cy="515229"/>
              </a:xfrm>
              <a:prstGeom prst="rect">
                <a:avLst/>
              </a:prstGeom>
              <a:solidFill>
                <a:schemeClr val="accent2"/>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8</a:t>
                </a:r>
                <a:endParaRPr sz="1400" b="0" i="0" u="none" strike="noStrike" cap="none">
                  <a:solidFill>
                    <a:srgbClr val="000000"/>
                  </a:solidFill>
                  <a:latin typeface="Arial"/>
                  <a:ea typeface="Arial"/>
                  <a:cs typeface="Arial"/>
                  <a:sym typeface="Arial"/>
                </a:endParaRPr>
              </a:p>
            </p:txBody>
          </p:sp>
          <p:sp>
            <p:nvSpPr>
              <p:cNvPr id="873" name="Google Shape;873;p68"/>
              <p:cNvSpPr/>
              <p:nvPr/>
            </p:nvSpPr>
            <p:spPr>
              <a:xfrm>
                <a:off x="575357" y="4084921"/>
                <a:ext cx="515229" cy="515229"/>
              </a:xfrm>
              <a:prstGeom prst="rect">
                <a:avLst/>
              </a:prstGeom>
              <a:solidFill>
                <a:schemeClr val="accent3"/>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p:txBody>
          </p:sp>
          <p:sp>
            <p:nvSpPr>
              <p:cNvPr id="874" name="Google Shape;874;p68"/>
              <p:cNvSpPr/>
              <p:nvPr/>
            </p:nvSpPr>
            <p:spPr>
              <a:xfrm>
                <a:off x="1090586" y="4084920"/>
                <a:ext cx="515229" cy="515229"/>
              </a:xfrm>
              <a:prstGeom prst="rect">
                <a:avLst/>
              </a:prstGeom>
              <a:solidFill>
                <a:schemeClr val="accent4"/>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4</a:t>
                </a:r>
                <a:endParaRPr sz="1400" b="0" i="0" u="none" strike="noStrike" cap="none">
                  <a:solidFill>
                    <a:srgbClr val="000000"/>
                  </a:solidFill>
                  <a:latin typeface="Arial"/>
                  <a:ea typeface="Arial"/>
                  <a:cs typeface="Arial"/>
                  <a:sym typeface="Arial"/>
                </a:endParaRPr>
              </a:p>
            </p:txBody>
          </p:sp>
        </p:grpSp>
        <p:sp>
          <p:nvSpPr>
            <p:cNvPr id="875" name="Google Shape;875;p68"/>
            <p:cNvSpPr/>
            <p:nvPr/>
          </p:nvSpPr>
          <p:spPr>
            <a:xfrm flipH="1">
              <a:off x="1020227" y="3129094"/>
              <a:ext cx="686100" cy="1868059"/>
            </a:xfrm>
            <a:custGeom>
              <a:avLst/>
              <a:gdLst/>
              <a:ahLst/>
              <a:cxnLst/>
              <a:rect l="l" t="t" r="r" b="b"/>
              <a:pathLst>
                <a:path w="685903" h="1867587" extrusionOk="0">
                  <a:moveTo>
                    <a:pt x="0" y="1837189"/>
                  </a:moveTo>
                  <a:cubicBezTo>
                    <a:pt x="229299" y="1918981"/>
                    <a:pt x="500544" y="1841383"/>
                    <a:pt x="612397" y="1535185"/>
                  </a:cubicBezTo>
                  <a:cubicBezTo>
                    <a:pt x="724250" y="1228987"/>
                    <a:pt x="676712" y="694189"/>
                    <a:pt x="671120" y="0"/>
                  </a:cubicBezTo>
                </a:path>
              </a:pathLst>
            </a:custGeom>
            <a:noFill/>
            <a:ln w="762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69"/>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Recall: Convolution</a:t>
            </a:r>
            <a:endParaRPr/>
          </a:p>
        </p:txBody>
      </p:sp>
      <p:sp>
        <p:nvSpPr>
          <p:cNvPr id="881" name="Google Shape;881;p69"/>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Example Credit: L. Fei-Fei, J. Johnson, S. Yeung</a:t>
            </a:r>
            <a:endParaRPr sz="1400" b="0" i="0" u="none" strike="noStrike" cap="none">
              <a:solidFill>
                <a:srgbClr val="000000"/>
              </a:solidFill>
              <a:latin typeface="Arial"/>
              <a:ea typeface="Arial"/>
              <a:cs typeface="Arial"/>
              <a:sym typeface="Arial"/>
            </a:endParaRPr>
          </a:p>
        </p:txBody>
      </p:sp>
      <p:sp>
        <p:nvSpPr>
          <p:cNvPr id="882" name="Google Shape;882;p69"/>
          <p:cNvSpPr txBox="1"/>
          <p:nvPr/>
        </p:nvSpPr>
        <p:spPr>
          <a:xfrm flipH="1">
            <a:off x="339725" y="1522413"/>
            <a:ext cx="8267700" cy="5857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3x3 Convolution, Stride 2, Pad 1</a:t>
            </a:r>
            <a:endParaRPr sz="1400" b="0" i="0" u="none" strike="noStrike" cap="none">
              <a:solidFill>
                <a:srgbClr val="000000"/>
              </a:solidFill>
              <a:latin typeface="Arial"/>
              <a:ea typeface="Arial"/>
              <a:cs typeface="Arial"/>
              <a:sym typeface="Arial"/>
            </a:endParaRPr>
          </a:p>
        </p:txBody>
      </p:sp>
      <p:sp>
        <p:nvSpPr>
          <p:cNvPr id="883" name="Google Shape;883;p69"/>
          <p:cNvSpPr/>
          <p:nvPr/>
        </p:nvSpPr>
        <p:spPr>
          <a:xfrm>
            <a:off x="3017838" y="3171825"/>
            <a:ext cx="515937"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grpSp>
        <p:nvGrpSpPr>
          <p:cNvPr id="884" name="Google Shape;884;p69"/>
          <p:cNvGrpSpPr/>
          <p:nvPr/>
        </p:nvGrpSpPr>
        <p:grpSpPr>
          <a:xfrm>
            <a:off x="1987550" y="3171825"/>
            <a:ext cx="1030288" cy="1017588"/>
            <a:chOff x="339067" y="2472499"/>
            <a:chExt cx="1030459" cy="1018750"/>
          </a:xfrm>
        </p:grpSpPr>
        <p:sp>
          <p:nvSpPr>
            <p:cNvPr id="885" name="Google Shape;885;p69"/>
            <p:cNvSpPr/>
            <p:nvPr/>
          </p:nvSpPr>
          <p:spPr>
            <a:xfrm>
              <a:off x="339067" y="2472499"/>
              <a:ext cx="516024" cy="514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86" name="Google Shape;886;p69"/>
            <p:cNvSpPr/>
            <p:nvPr/>
          </p:nvSpPr>
          <p:spPr>
            <a:xfrm>
              <a:off x="855091" y="2472499"/>
              <a:ext cx="514435" cy="514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87" name="Google Shape;887;p69"/>
            <p:cNvSpPr/>
            <p:nvPr/>
          </p:nvSpPr>
          <p:spPr>
            <a:xfrm>
              <a:off x="339067" y="2976312"/>
              <a:ext cx="514435" cy="514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88" name="Google Shape;888;p69"/>
            <p:cNvSpPr/>
            <p:nvPr/>
          </p:nvSpPr>
          <p:spPr>
            <a:xfrm>
              <a:off x="853502" y="2976312"/>
              <a:ext cx="516024" cy="514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grpSp>
      <p:sp>
        <p:nvSpPr>
          <p:cNvPr id="889" name="Google Shape;889;p69"/>
          <p:cNvSpPr/>
          <p:nvPr/>
        </p:nvSpPr>
        <p:spPr>
          <a:xfrm>
            <a:off x="3017838" y="3675063"/>
            <a:ext cx="515937"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90" name="Google Shape;890;p69"/>
          <p:cNvSpPr/>
          <p:nvPr/>
        </p:nvSpPr>
        <p:spPr>
          <a:xfrm>
            <a:off x="1987550" y="4173538"/>
            <a:ext cx="515938"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91" name="Google Shape;891;p69"/>
          <p:cNvSpPr/>
          <p:nvPr/>
        </p:nvSpPr>
        <p:spPr>
          <a:xfrm>
            <a:off x="2503488" y="4173538"/>
            <a:ext cx="514350"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92" name="Google Shape;892;p69"/>
          <p:cNvSpPr/>
          <p:nvPr/>
        </p:nvSpPr>
        <p:spPr>
          <a:xfrm>
            <a:off x="3017838" y="4173538"/>
            <a:ext cx="515937"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93" name="Google Shape;893;p69"/>
          <p:cNvSpPr/>
          <p:nvPr/>
        </p:nvSpPr>
        <p:spPr>
          <a:xfrm>
            <a:off x="3533775" y="3171825"/>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94" name="Google Shape;894;p69"/>
          <p:cNvSpPr/>
          <p:nvPr/>
        </p:nvSpPr>
        <p:spPr>
          <a:xfrm>
            <a:off x="3533775" y="3675063"/>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95" name="Google Shape;895;p69"/>
          <p:cNvSpPr/>
          <p:nvPr/>
        </p:nvSpPr>
        <p:spPr>
          <a:xfrm>
            <a:off x="3533775" y="4173538"/>
            <a:ext cx="514350"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96" name="Google Shape;896;p69"/>
          <p:cNvSpPr/>
          <p:nvPr/>
        </p:nvSpPr>
        <p:spPr>
          <a:xfrm>
            <a:off x="1987550" y="4689475"/>
            <a:ext cx="515938"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97" name="Google Shape;897;p69"/>
          <p:cNvSpPr/>
          <p:nvPr/>
        </p:nvSpPr>
        <p:spPr>
          <a:xfrm>
            <a:off x="2503488" y="4689475"/>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98" name="Google Shape;898;p69"/>
          <p:cNvSpPr/>
          <p:nvPr/>
        </p:nvSpPr>
        <p:spPr>
          <a:xfrm>
            <a:off x="3017838" y="4689475"/>
            <a:ext cx="515937"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899" name="Google Shape;899;p69"/>
          <p:cNvSpPr/>
          <p:nvPr/>
        </p:nvSpPr>
        <p:spPr>
          <a:xfrm>
            <a:off x="3533775" y="4689475"/>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00" name="Google Shape;900;p69"/>
          <p:cNvSpPr/>
          <p:nvPr/>
        </p:nvSpPr>
        <p:spPr>
          <a:xfrm>
            <a:off x="5910263" y="3552825"/>
            <a:ext cx="622300" cy="622300"/>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cxnSp>
        <p:nvCxnSpPr>
          <p:cNvPr id="901" name="Google Shape;901;p69"/>
          <p:cNvCxnSpPr/>
          <p:nvPr/>
        </p:nvCxnSpPr>
        <p:spPr>
          <a:xfrm>
            <a:off x="4283075" y="4183063"/>
            <a:ext cx="1260475" cy="0"/>
          </a:xfrm>
          <a:prstGeom prst="straightConnector1">
            <a:avLst/>
          </a:prstGeom>
          <a:noFill/>
          <a:ln w="76200" cap="flat" cmpd="sng">
            <a:solidFill>
              <a:schemeClr val="dk1"/>
            </a:solidFill>
            <a:prstDash val="solid"/>
            <a:miter lim="800000"/>
            <a:headEnd type="none" w="sm" len="sm"/>
            <a:tailEnd type="triangle" w="med" len="med"/>
          </a:ln>
        </p:spPr>
      </p:cxnSp>
      <p:sp>
        <p:nvSpPr>
          <p:cNvPr id="902" name="Google Shape;902;p69"/>
          <p:cNvSpPr/>
          <p:nvPr/>
        </p:nvSpPr>
        <p:spPr>
          <a:xfrm>
            <a:off x="1473200" y="2651125"/>
            <a:ext cx="1544638" cy="1517650"/>
          </a:xfrm>
          <a:prstGeom prst="rect">
            <a:avLst/>
          </a:prstGeom>
          <a:no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03" name="Google Shape;903;p69"/>
          <p:cNvSpPr txBox="1"/>
          <p:nvPr/>
        </p:nvSpPr>
        <p:spPr>
          <a:xfrm>
            <a:off x="5910263" y="4303713"/>
            <a:ext cx="2855912" cy="138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Dot product between filter f and input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70"/>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Recall: Convolution</a:t>
            </a:r>
            <a:endParaRPr/>
          </a:p>
        </p:txBody>
      </p:sp>
      <p:sp>
        <p:nvSpPr>
          <p:cNvPr id="909" name="Google Shape;909;p70"/>
          <p:cNvSpPr txBox="1"/>
          <p:nvPr/>
        </p:nvSpPr>
        <p:spPr>
          <a:xfrm flipH="1">
            <a:off x="339725" y="1522413"/>
            <a:ext cx="8267700" cy="5857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3x3 Convolution, Stride 2, Pad 1</a:t>
            </a:r>
            <a:endParaRPr sz="1400" b="0" i="0" u="none" strike="noStrike" cap="none">
              <a:solidFill>
                <a:srgbClr val="000000"/>
              </a:solidFill>
              <a:latin typeface="Arial"/>
              <a:ea typeface="Arial"/>
              <a:cs typeface="Arial"/>
              <a:sym typeface="Arial"/>
            </a:endParaRPr>
          </a:p>
        </p:txBody>
      </p:sp>
      <p:sp>
        <p:nvSpPr>
          <p:cNvPr id="910" name="Google Shape;910;p70"/>
          <p:cNvSpPr/>
          <p:nvPr/>
        </p:nvSpPr>
        <p:spPr>
          <a:xfrm>
            <a:off x="3017838" y="3171825"/>
            <a:ext cx="515937"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grpSp>
        <p:nvGrpSpPr>
          <p:cNvPr id="911" name="Google Shape;911;p70"/>
          <p:cNvGrpSpPr/>
          <p:nvPr/>
        </p:nvGrpSpPr>
        <p:grpSpPr>
          <a:xfrm>
            <a:off x="1987550" y="3171825"/>
            <a:ext cx="1030288" cy="1017588"/>
            <a:chOff x="339067" y="2472499"/>
            <a:chExt cx="1030459" cy="1018750"/>
          </a:xfrm>
        </p:grpSpPr>
        <p:sp>
          <p:nvSpPr>
            <p:cNvPr id="912" name="Google Shape;912;p70"/>
            <p:cNvSpPr/>
            <p:nvPr/>
          </p:nvSpPr>
          <p:spPr>
            <a:xfrm>
              <a:off x="339067" y="2472499"/>
              <a:ext cx="516024" cy="514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13" name="Google Shape;913;p70"/>
            <p:cNvSpPr/>
            <p:nvPr/>
          </p:nvSpPr>
          <p:spPr>
            <a:xfrm>
              <a:off x="855091" y="2472499"/>
              <a:ext cx="514435" cy="514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14" name="Google Shape;914;p70"/>
            <p:cNvSpPr/>
            <p:nvPr/>
          </p:nvSpPr>
          <p:spPr>
            <a:xfrm>
              <a:off x="339067" y="2976312"/>
              <a:ext cx="514435" cy="514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15" name="Google Shape;915;p70"/>
            <p:cNvSpPr/>
            <p:nvPr/>
          </p:nvSpPr>
          <p:spPr>
            <a:xfrm>
              <a:off x="853502" y="2976312"/>
              <a:ext cx="516024" cy="514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grpSp>
      <p:sp>
        <p:nvSpPr>
          <p:cNvPr id="916" name="Google Shape;916;p70"/>
          <p:cNvSpPr/>
          <p:nvPr/>
        </p:nvSpPr>
        <p:spPr>
          <a:xfrm>
            <a:off x="3017838" y="3675063"/>
            <a:ext cx="515937"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17" name="Google Shape;917;p70"/>
          <p:cNvSpPr/>
          <p:nvPr/>
        </p:nvSpPr>
        <p:spPr>
          <a:xfrm>
            <a:off x="1987550" y="4173538"/>
            <a:ext cx="515938"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18" name="Google Shape;918;p70"/>
          <p:cNvSpPr/>
          <p:nvPr/>
        </p:nvSpPr>
        <p:spPr>
          <a:xfrm>
            <a:off x="2503488" y="4173538"/>
            <a:ext cx="514350"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19" name="Google Shape;919;p70"/>
          <p:cNvSpPr/>
          <p:nvPr/>
        </p:nvSpPr>
        <p:spPr>
          <a:xfrm>
            <a:off x="3017838" y="4173538"/>
            <a:ext cx="515937"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20" name="Google Shape;920;p70"/>
          <p:cNvSpPr/>
          <p:nvPr/>
        </p:nvSpPr>
        <p:spPr>
          <a:xfrm>
            <a:off x="3533775" y="3171825"/>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21" name="Google Shape;921;p70"/>
          <p:cNvSpPr/>
          <p:nvPr/>
        </p:nvSpPr>
        <p:spPr>
          <a:xfrm>
            <a:off x="3533775" y="3675063"/>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22" name="Google Shape;922;p70"/>
          <p:cNvSpPr/>
          <p:nvPr/>
        </p:nvSpPr>
        <p:spPr>
          <a:xfrm>
            <a:off x="3533775" y="4173538"/>
            <a:ext cx="514350"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23" name="Google Shape;923;p70"/>
          <p:cNvSpPr/>
          <p:nvPr/>
        </p:nvSpPr>
        <p:spPr>
          <a:xfrm>
            <a:off x="1987550" y="4689475"/>
            <a:ext cx="515938"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24" name="Google Shape;924;p70"/>
          <p:cNvSpPr/>
          <p:nvPr/>
        </p:nvSpPr>
        <p:spPr>
          <a:xfrm>
            <a:off x="2503488" y="4689475"/>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25" name="Google Shape;925;p70"/>
          <p:cNvSpPr/>
          <p:nvPr/>
        </p:nvSpPr>
        <p:spPr>
          <a:xfrm>
            <a:off x="3017838" y="4689475"/>
            <a:ext cx="515937"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26" name="Google Shape;926;p70"/>
          <p:cNvSpPr/>
          <p:nvPr/>
        </p:nvSpPr>
        <p:spPr>
          <a:xfrm>
            <a:off x="3533775" y="4689475"/>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27" name="Google Shape;927;p70"/>
          <p:cNvSpPr/>
          <p:nvPr/>
        </p:nvSpPr>
        <p:spPr>
          <a:xfrm>
            <a:off x="5910263" y="3552825"/>
            <a:ext cx="622300" cy="622300"/>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cxnSp>
        <p:nvCxnSpPr>
          <p:cNvPr id="928" name="Google Shape;928;p70"/>
          <p:cNvCxnSpPr/>
          <p:nvPr/>
        </p:nvCxnSpPr>
        <p:spPr>
          <a:xfrm>
            <a:off x="4283075" y="4183063"/>
            <a:ext cx="1260475" cy="0"/>
          </a:xfrm>
          <a:prstGeom prst="straightConnector1">
            <a:avLst/>
          </a:prstGeom>
          <a:noFill/>
          <a:ln w="76200" cap="flat" cmpd="sng">
            <a:solidFill>
              <a:schemeClr val="dk1"/>
            </a:solidFill>
            <a:prstDash val="solid"/>
            <a:miter lim="800000"/>
            <a:headEnd type="none" w="sm" len="sm"/>
            <a:tailEnd type="triangle" w="med" len="med"/>
          </a:ln>
        </p:spPr>
      </p:cxnSp>
      <p:sp>
        <p:nvSpPr>
          <p:cNvPr id="929" name="Google Shape;929;p70"/>
          <p:cNvSpPr/>
          <p:nvPr/>
        </p:nvSpPr>
        <p:spPr>
          <a:xfrm>
            <a:off x="1473200" y="2651125"/>
            <a:ext cx="1544638" cy="1517650"/>
          </a:xfrm>
          <a:prstGeom prst="rect">
            <a:avLst/>
          </a:prstGeom>
          <a:no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30" name="Google Shape;930;p70"/>
          <p:cNvSpPr txBox="1"/>
          <p:nvPr/>
        </p:nvSpPr>
        <p:spPr>
          <a:xfrm>
            <a:off x="5910263" y="4303713"/>
            <a:ext cx="2855912" cy="138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Dot product between filter f and input</a:t>
            </a:r>
            <a:endParaRPr sz="1400" b="0" i="0" u="none" strike="noStrike" cap="none">
              <a:solidFill>
                <a:srgbClr val="000000"/>
              </a:solidFill>
              <a:latin typeface="Arial"/>
              <a:ea typeface="Arial"/>
              <a:cs typeface="Arial"/>
              <a:sym typeface="Arial"/>
            </a:endParaRPr>
          </a:p>
        </p:txBody>
      </p:sp>
      <p:sp>
        <p:nvSpPr>
          <p:cNvPr id="931" name="Google Shape;931;p70"/>
          <p:cNvSpPr/>
          <p:nvPr/>
        </p:nvSpPr>
        <p:spPr>
          <a:xfrm>
            <a:off x="2503488" y="2651125"/>
            <a:ext cx="1544637" cy="1517650"/>
          </a:xfrm>
          <a:prstGeom prst="rect">
            <a:avLst/>
          </a:prstGeom>
          <a:noFill/>
          <a:ln w="762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32" name="Google Shape;932;p70"/>
          <p:cNvSpPr/>
          <p:nvPr/>
        </p:nvSpPr>
        <p:spPr>
          <a:xfrm>
            <a:off x="2239963" y="3203575"/>
            <a:ext cx="1041400" cy="260350"/>
          </a:xfrm>
          <a:custGeom>
            <a:avLst/>
            <a:gdLst/>
            <a:ahLst/>
            <a:cxnLst/>
            <a:rect l="l" t="t" r="r" b="b"/>
            <a:pathLst>
              <a:path w="1040235" h="260165" extrusionOk="0">
                <a:moveTo>
                  <a:pt x="0" y="260165"/>
                </a:moveTo>
                <a:cubicBezTo>
                  <a:pt x="177567" y="132233"/>
                  <a:pt x="355135" y="4301"/>
                  <a:pt x="528507" y="107"/>
                </a:cubicBezTo>
                <a:cubicBezTo>
                  <a:pt x="701879" y="-4087"/>
                  <a:pt x="871057" y="115455"/>
                  <a:pt x="1040235" y="234998"/>
                </a:cubicBezTo>
              </a:path>
            </a:pathLst>
          </a:custGeom>
          <a:no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933" name="Google Shape;933;p70"/>
          <p:cNvSpPr/>
          <p:nvPr/>
        </p:nvSpPr>
        <p:spPr>
          <a:xfrm>
            <a:off x="6532563" y="3552825"/>
            <a:ext cx="623887" cy="622300"/>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34" name="Google Shape;934;p70"/>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Example Credit: L. Fei-Fei, J. Johnson, S. Yeung</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71"/>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Recall: Convolution</a:t>
            </a:r>
            <a:endParaRPr/>
          </a:p>
        </p:txBody>
      </p:sp>
      <p:sp>
        <p:nvSpPr>
          <p:cNvPr id="945" name="Google Shape;945;p71"/>
          <p:cNvSpPr txBox="1"/>
          <p:nvPr/>
        </p:nvSpPr>
        <p:spPr>
          <a:xfrm flipH="1">
            <a:off x="339725" y="1522413"/>
            <a:ext cx="8267700" cy="5857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3x3 Convolution, Stride 2, Pad 1</a:t>
            </a:r>
            <a:endParaRPr sz="1400" b="0" i="0" u="none" strike="noStrike" cap="none">
              <a:solidFill>
                <a:srgbClr val="000000"/>
              </a:solidFill>
              <a:latin typeface="Arial"/>
              <a:ea typeface="Arial"/>
              <a:cs typeface="Arial"/>
              <a:sym typeface="Arial"/>
            </a:endParaRPr>
          </a:p>
        </p:txBody>
      </p:sp>
      <p:sp>
        <p:nvSpPr>
          <p:cNvPr id="946" name="Google Shape;946;p71"/>
          <p:cNvSpPr/>
          <p:nvPr/>
        </p:nvSpPr>
        <p:spPr>
          <a:xfrm>
            <a:off x="3017838" y="3171825"/>
            <a:ext cx="515937"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grpSp>
        <p:nvGrpSpPr>
          <p:cNvPr id="947" name="Google Shape;947;p71"/>
          <p:cNvGrpSpPr/>
          <p:nvPr/>
        </p:nvGrpSpPr>
        <p:grpSpPr>
          <a:xfrm>
            <a:off x="1987550" y="3171825"/>
            <a:ext cx="1030288" cy="1017588"/>
            <a:chOff x="339067" y="2472499"/>
            <a:chExt cx="1030459" cy="1018750"/>
          </a:xfrm>
        </p:grpSpPr>
        <p:sp>
          <p:nvSpPr>
            <p:cNvPr id="948" name="Google Shape;948;p71"/>
            <p:cNvSpPr/>
            <p:nvPr/>
          </p:nvSpPr>
          <p:spPr>
            <a:xfrm>
              <a:off x="339067" y="2472499"/>
              <a:ext cx="516024" cy="514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49" name="Google Shape;949;p71"/>
            <p:cNvSpPr/>
            <p:nvPr/>
          </p:nvSpPr>
          <p:spPr>
            <a:xfrm>
              <a:off x="855091" y="2472499"/>
              <a:ext cx="514435" cy="514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50" name="Google Shape;950;p71"/>
            <p:cNvSpPr/>
            <p:nvPr/>
          </p:nvSpPr>
          <p:spPr>
            <a:xfrm>
              <a:off x="339067" y="2976312"/>
              <a:ext cx="514435" cy="514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51" name="Google Shape;951;p71"/>
            <p:cNvSpPr/>
            <p:nvPr/>
          </p:nvSpPr>
          <p:spPr>
            <a:xfrm>
              <a:off x="853502" y="2976312"/>
              <a:ext cx="516024" cy="514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grpSp>
      <p:sp>
        <p:nvSpPr>
          <p:cNvPr id="952" name="Google Shape;952;p71"/>
          <p:cNvSpPr/>
          <p:nvPr/>
        </p:nvSpPr>
        <p:spPr>
          <a:xfrm>
            <a:off x="3017838" y="3675063"/>
            <a:ext cx="515937"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53" name="Google Shape;953;p71"/>
          <p:cNvSpPr/>
          <p:nvPr/>
        </p:nvSpPr>
        <p:spPr>
          <a:xfrm>
            <a:off x="1987550" y="4173538"/>
            <a:ext cx="515938"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54" name="Google Shape;954;p71"/>
          <p:cNvSpPr/>
          <p:nvPr/>
        </p:nvSpPr>
        <p:spPr>
          <a:xfrm>
            <a:off x="2503488" y="4173538"/>
            <a:ext cx="514350"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55" name="Google Shape;955;p71"/>
          <p:cNvSpPr/>
          <p:nvPr/>
        </p:nvSpPr>
        <p:spPr>
          <a:xfrm>
            <a:off x="3017838" y="4173538"/>
            <a:ext cx="515937"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56" name="Google Shape;956;p71"/>
          <p:cNvSpPr/>
          <p:nvPr/>
        </p:nvSpPr>
        <p:spPr>
          <a:xfrm>
            <a:off x="3533775" y="3171825"/>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57" name="Google Shape;957;p71"/>
          <p:cNvSpPr/>
          <p:nvPr/>
        </p:nvSpPr>
        <p:spPr>
          <a:xfrm>
            <a:off x="3533775" y="3675063"/>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58" name="Google Shape;958;p71"/>
          <p:cNvSpPr/>
          <p:nvPr/>
        </p:nvSpPr>
        <p:spPr>
          <a:xfrm>
            <a:off x="3533775" y="4173538"/>
            <a:ext cx="514350"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59" name="Google Shape;959;p71"/>
          <p:cNvSpPr/>
          <p:nvPr/>
        </p:nvSpPr>
        <p:spPr>
          <a:xfrm>
            <a:off x="1987550" y="4689475"/>
            <a:ext cx="515938"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60" name="Google Shape;960;p71"/>
          <p:cNvSpPr/>
          <p:nvPr/>
        </p:nvSpPr>
        <p:spPr>
          <a:xfrm>
            <a:off x="2503488" y="4689475"/>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61" name="Google Shape;961;p71"/>
          <p:cNvSpPr/>
          <p:nvPr/>
        </p:nvSpPr>
        <p:spPr>
          <a:xfrm>
            <a:off x="3017838" y="4689475"/>
            <a:ext cx="515937"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62" name="Google Shape;962;p71"/>
          <p:cNvSpPr/>
          <p:nvPr/>
        </p:nvSpPr>
        <p:spPr>
          <a:xfrm>
            <a:off x="3533775" y="4689475"/>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63" name="Google Shape;963;p71"/>
          <p:cNvSpPr/>
          <p:nvPr/>
        </p:nvSpPr>
        <p:spPr>
          <a:xfrm>
            <a:off x="5910263" y="3552825"/>
            <a:ext cx="622300" cy="622300"/>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cxnSp>
        <p:nvCxnSpPr>
          <p:cNvPr id="964" name="Google Shape;964;p71"/>
          <p:cNvCxnSpPr/>
          <p:nvPr/>
        </p:nvCxnSpPr>
        <p:spPr>
          <a:xfrm>
            <a:off x="4283075" y="4183063"/>
            <a:ext cx="1260475" cy="0"/>
          </a:xfrm>
          <a:prstGeom prst="straightConnector1">
            <a:avLst/>
          </a:prstGeom>
          <a:noFill/>
          <a:ln w="76200" cap="flat" cmpd="sng">
            <a:solidFill>
              <a:schemeClr val="dk1"/>
            </a:solidFill>
            <a:prstDash val="solid"/>
            <a:miter lim="800000"/>
            <a:headEnd type="none" w="sm" len="sm"/>
            <a:tailEnd type="triangle" w="med" len="med"/>
          </a:ln>
        </p:spPr>
      </p:cxnSp>
      <p:sp>
        <p:nvSpPr>
          <p:cNvPr id="965" name="Google Shape;965;p71"/>
          <p:cNvSpPr/>
          <p:nvPr/>
        </p:nvSpPr>
        <p:spPr>
          <a:xfrm>
            <a:off x="1473200" y="2651125"/>
            <a:ext cx="1544638" cy="1517650"/>
          </a:xfrm>
          <a:prstGeom prst="rect">
            <a:avLst/>
          </a:prstGeom>
          <a:no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66" name="Google Shape;966;p71"/>
          <p:cNvSpPr/>
          <p:nvPr/>
        </p:nvSpPr>
        <p:spPr>
          <a:xfrm>
            <a:off x="2503488" y="2651125"/>
            <a:ext cx="1544637" cy="1517650"/>
          </a:xfrm>
          <a:prstGeom prst="rect">
            <a:avLst/>
          </a:prstGeom>
          <a:noFill/>
          <a:ln w="762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67" name="Google Shape;967;p71"/>
          <p:cNvSpPr/>
          <p:nvPr/>
        </p:nvSpPr>
        <p:spPr>
          <a:xfrm>
            <a:off x="2239963" y="3203575"/>
            <a:ext cx="1041400" cy="260350"/>
          </a:xfrm>
          <a:custGeom>
            <a:avLst/>
            <a:gdLst/>
            <a:ahLst/>
            <a:cxnLst/>
            <a:rect l="l" t="t" r="r" b="b"/>
            <a:pathLst>
              <a:path w="1040235" h="260165" extrusionOk="0">
                <a:moveTo>
                  <a:pt x="0" y="260165"/>
                </a:moveTo>
                <a:cubicBezTo>
                  <a:pt x="177567" y="132233"/>
                  <a:pt x="355135" y="4301"/>
                  <a:pt x="528507" y="107"/>
                </a:cubicBezTo>
                <a:cubicBezTo>
                  <a:pt x="701879" y="-4087"/>
                  <a:pt x="871057" y="115455"/>
                  <a:pt x="1040235" y="234998"/>
                </a:cubicBezTo>
              </a:path>
            </a:pathLst>
          </a:custGeom>
          <a:no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968" name="Google Shape;968;p71"/>
          <p:cNvSpPr/>
          <p:nvPr/>
        </p:nvSpPr>
        <p:spPr>
          <a:xfrm>
            <a:off x="6532563" y="3552825"/>
            <a:ext cx="623887" cy="622300"/>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69" name="Google Shape;969;p71"/>
          <p:cNvSpPr/>
          <p:nvPr/>
        </p:nvSpPr>
        <p:spPr>
          <a:xfrm>
            <a:off x="1473200" y="3651250"/>
            <a:ext cx="1544638" cy="1517650"/>
          </a:xfrm>
          <a:prstGeom prst="rect">
            <a:avLst/>
          </a:prstGeom>
          <a:noFill/>
          <a:ln w="762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70" name="Google Shape;970;p71"/>
          <p:cNvSpPr/>
          <p:nvPr/>
        </p:nvSpPr>
        <p:spPr>
          <a:xfrm>
            <a:off x="2514600" y="3651250"/>
            <a:ext cx="1546225" cy="1517650"/>
          </a:xfrm>
          <a:prstGeom prst="rect">
            <a:avLst/>
          </a:prstGeom>
          <a:noFill/>
          <a:ln w="762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71" name="Google Shape;971;p71"/>
          <p:cNvSpPr/>
          <p:nvPr/>
        </p:nvSpPr>
        <p:spPr>
          <a:xfrm>
            <a:off x="5910263" y="4162425"/>
            <a:ext cx="622300" cy="622300"/>
          </a:xfrm>
          <a:prstGeom prst="rect">
            <a:avLst/>
          </a:prstGeom>
          <a:solidFill>
            <a:schemeClr val="accent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72" name="Google Shape;972;p71"/>
          <p:cNvSpPr/>
          <p:nvPr/>
        </p:nvSpPr>
        <p:spPr>
          <a:xfrm>
            <a:off x="6532563" y="4162425"/>
            <a:ext cx="623887" cy="622300"/>
          </a:xfrm>
          <a:prstGeom prst="rect">
            <a:avLst/>
          </a:prstGeom>
          <a:solidFill>
            <a:schemeClr val="accent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73" name="Google Shape;973;p71"/>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Example Credit: L. Fei-Fei, J. Johnson, S. Yeung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72"/>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Transpose Convolution</a:t>
            </a:r>
            <a:endParaRPr/>
          </a:p>
        </p:txBody>
      </p:sp>
      <p:sp>
        <p:nvSpPr>
          <p:cNvPr id="979" name="Google Shape;979;p72"/>
          <p:cNvSpPr txBox="1"/>
          <p:nvPr/>
        </p:nvSpPr>
        <p:spPr>
          <a:xfrm flipH="1">
            <a:off x="339725" y="1522413"/>
            <a:ext cx="8267700" cy="5857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3x3 Transpose Convolution, Stride 2, Pad 1</a:t>
            </a:r>
            <a:endParaRPr sz="1400" b="0" i="0" u="none" strike="noStrike" cap="none">
              <a:solidFill>
                <a:srgbClr val="000000"/>
              </a:solidFill>
              <a:latin typeface="Arial"/>
              <a:ea typeface="Arial"/>
              <a:cs typeface="Arial"/>
              <a:sym typeface="Arial"/>
            </a:endParaRPr>
          </a:p>
        </p:txBody>
      </p:sp>
      <p:sp>
        <p:nvSpPr>
          <p:cNvPr id="980" name="Google Shape;980;p72"/>
          <p:cNvSpPr/>
          <p:nvPr/>
        </p:nvSpPr>
        <p:spPr>
          <a:xfrm flipH="1">
            <a:off x="5281613" y="3179763"/>
            <a:ext cx="515937"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81" name="Google Shape;981;p72"/>
          <p:cNvSpPr/>
          <p:nvPr/>
        </p:nvSpPr>
        <p:spPr>
          <a:xfrm flipH="1">
            <a:off x="5281613" y="3683000"/>
            <a:ext cx="515937" cy="515938"/>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82" name="Google Shape;982;p72"/>
          <p:cNvSpPr/>
          <p:nvPr/>
        </p:nvSpPr>
        <p:spPr>
          <a:xfrm flipH="1">
            <a:off x="5281613" y="4183063"/>
            <a:ext cx="515937"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83" name="Google Shape;983;p72"/>
          <p:cNvSpPr/>
          <p:nvPr/>
        </p:nvSpPr>
        <p:spPr>
          <a:xfrm flipH="1">
            <a:off x="4251325" y="3179763"/>
            <a:ext cx="515938"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84" name="Google Shape;984;p72"/>
          <p:cNvSpPr/>
          <p:nvPr/>
        </p:nvSpPr>
        <p:spPr>
          <a:xfrm flipH="1">
            <a:off x="4767263" y="3179763"/>
            <a:ext cx="514350"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85" name="Google Shape;985;p72"/>
          <p:cNvSpPr/>
          <p:nvPr/>
        </p:nvSpPr>
        <p:spPr>
          <a:xfrm flipH="1">
            <a:off x="4767263" y="3683000"/>
            <a:ext cx="514350" cy="515938"/>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86" name="Google Shape;986;p72"/>
          <p:cNvSpPr/>
          <p:nvPr/>
        </p:nvSpPr>
        <p:spPr>
          <a:xfrm flipH="1">
            <a:off x="4251325" y="3683000"/>
            <a:ext cx="515938" cy="515938"/>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87" name="Google Shape;987;p72"/>
          <p:cNvSpPr/>
          <p:nvPr/>
        </p:nvSpPr>
        <p:spPr>
          <a:xfrm flipH="1">
            <a:off x="4767263" y="4183063"/>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88" name="Google Shape;988;p72"/>
          <p:cNvSpPr/>
          <p:nvPr/>
        </p:nvSpPr>
        <p:spPr>
          <a:xfrm flipH="1">
            <a:off x="4251325" y="4183063"/>
            <a:ext cx="515938"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89" name="Google Shape;989;p72"/>
          <p:cNvSpPr/>
          <p:nvPr/>
        </p:nvSpPr>
        <p:spPr>
          <a:xfrm flipH="1">
            <a:off x="3736975" y="3179763"/>
            <a:ext cx="514350"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90" name="Google Shape;990;p72"/>
          <p:cNvSpPr/>
          <p:nvPr/>
        </p:nvSpPr>
        <p:spPr>
          <a:xfrm flipH="1">
            <a:off x="3736975" y="3683000"/>
            <a:ext cx="514350" cy="515938"/>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91" name="Google Shape;991;p72"/>
          <p:cNvSpPr/>
          <p:nvPr/>
        </p:nvSpPr>
        <p:spPr>
          <a:xfrm flipH="1">
            <a:off x="3736975" y="4183063"/>
            <a:ext cx="514350"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92" name="Google Shape;992;p72"/>
          <p:cNvSpPr/>
          <p:nvPr/>
        </p:nvSpPr>
        <p:spPr>
          <a:xfrm flipH="1">
            <a:off x="5281613" y="4697413"/>
            <a:ext cx="515937"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93" name="Google Shape;993;p72"/>
          <p:cNvSpPr/>
          <p:nvPr/>
        </p:nvSpPr>
        <p:spPr>
          <a:xfrm flipH="1">
            <a:off x="4767263" y="4697413"/>
            <a:ext cx="514350"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94" name="Google Shape;994;p72"/>
          <p:cNvSpPr/>
          <p:nvPr/>
        </p:nvSpPr>
        <p:spPr>
          <a:xfrm flipH="1">
            <a:off x="4251325" y="4697413"/>
            <a:ext cx="515938"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995" name="Google Shape;995;p72"/>
          <p:cNvSpPr/>
          <p:nvPr/>
        </p:nvSpPr>
        <p:spPr>
          <a:xfrm flipH="1">
            <a:off x="3736975" y="4697413"/>
            <a:ext cx="514350"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cxnSp>
        <p:nvCxnSpPr>
          <p:cNvPr id="996" name="Google Shape;996;p72"/>
          <p:cNvCxnSpPr/>
          <p:nvPr/>
        </p:nvCxnSpPr>
        <p:spPr>
          <a:xfrm>
            <a:off x="2170113" y="4191000"/>
            <a:ext cx="782637" cy="0"/>
          </a:xfrm>
          <a:prstGeom prst="straightConnector1">
            <a:avLst/>
          </a:prstGeom>
          <a:noFill/>
          <a:ln w="76200" cap="flat" cmpd="sng">
            <a:solidFill>
              <a:schemeClr val="dk1"/>
            </a:solidFill>
            <a:prstDash val="solid"/>
            <a:miter lim="800000"/>
            <a:headEnd type="none" w="sm" len="sm"/>
            <a:tailEnd type="triangle" w="med" len="med"/>
          </a:ln>
        </p:spPr>
      </p:cxnSp>
      <p:grpSp>
        <p:nvGrpSpPr>
          <p:cNvPr id="997" name="Google Shape;997;p72"/>
          <p:cNvGrpSpPr/>
          <p:nvPr/>
        </p:nvGrpSpPr>
        <p:grpSpPr>
          <a:xfrm>
            <a:off x="628650" y="2667000"/>
            <a:ext cx="6753225" cy="2424113"/>
            <a:chOff x="628650" y="2666498"/>
            <a:chExt cx="6753767" cy="2425003"/>
          </a:xfrm>
        </p:grpSpPr>
        <p:sp>
          <p:nvSpPr>
            <p:cNvPr id="998" name="Google Shape;998;p72"/>
            <p:cNvSpPr/>
            <p:nvPr/>
          </p:nvSpPr>
          <p:spPr>
            <a:xfrm>
              <a:off x="628650" y="3560589"/>
              <a:ext cx="623938" cy="624116"/>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I11</a:t>
              </a:r>
              <a:endParaRPr sz="1400" b="0" i="0" u="none" strike="noStrike" cap="none">
                <a:solidFill>
                  <a:srgbClr val="000000"/>
                </a:solidFill>
                <a:latin typeface="Arial"/>
                <a:ea typeface="Arial"/>
                <a:cs typeface="Arial"/>
                <a:sym typeface="Arial"/>
              </a:endParaRPr>
            </a:p>
          </p:txBody>
        </p:sp>
        <p:sp>
          <p:nvSpPr>
            <p:cNvPr id="999" name="Google Shape;999;p72"/>
            <p:cNvSpPr/>
            <p:nvPr/>
          </p:nvSpPr>
          <p:spPr>
            <a:xfrm>
              <a:off x="3208545" y="2666498"/>
              <a:ext cx="1546349" cy="1518207"/>
            </a:xfrm>
            <a:prstGeom prst="rect">
              <a:avLst/>
            </a:prstGeom>
            <a:no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00" name="Google Shape;1000;p72"/>
            <p:cNvSpPr txBox="1"/>
            <p:nvPr/>
          </p:nvSpPr>
          <p:spPr>
            <a:xfrm>
              <a:off x="6089499" y="4352837"/>
              <a:ext cx="1292918" cy="738664"/>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grpSp>
      <p:sp>
        <p:nvSpPr>
          <p:cNvPr id="1001" name="Google Shape;1001;p72"/>
          <p:cNvSpPr txBox="1"/>
          <p:nvPr/>
        </p:nvSpPr>
        <p:spPr>
          <a:xfrm>
            <a:off x="6015038" y="2667000"/>
            <a:ext cx="2809875" cy="138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Output is filter F weighted by input I</a:t>
            </a:r>
            <a:endParaRPr sz="1400" b="0" i="0" u="none" strike="noStrike" cap="none">
              <a:solidFill>
                <a:srgbClr val="000000"/>
              </a:solidFill>
              <a:latin typeface="Arial"/>
              <a:ea typeface="Arial"/>
              <a:cs typeface="Arial"/>
              <a:sym typeface="Arial"/>
            </a:endParaRPr>
          </a:p>
        </p:txBody>
      </p:sp>
      <p:grpSp>
        <p:nvGrpSpPr>
          <p:cNvPr id="1002" name="Google Shape;1002;p72"/>
          <p:cNvGrpSpPr/>
          <p:nvPr/>
        </p:nvGrpSpPr>
        <p:grpSpPr>
          <a:xfrm>
            <a:off x="1252538" y="2651125"/>
            <a:ext cx="7423150" cy="2439988"/>
            <a:chOff x="1252077" y="2650833"/>
            <a:chExt cx="7423258" cy="2440668"/>
          </a:xfrm>
        </p:grpSpPr>
        <p:grpSp>
          <p:nvGrpSpPr>
            <p:cNvPr id="1003" name="Google Shape;1003;p72"/>
            <p:cNvGrpSpPr/>
            <p:nvPr/>
          </p:nvGrpSpPr>
          <p:grpSpPr>
            <a:xfrm>
              <a:off x="1252077" y="2650833"/>
              <a:ext cx="4522853" cy="1533952"/>
              <a:chOff x="1252077" y="2650833"/>
              <a:chExt cx="4522853" cy="1533952"/>
            </a:xfrm>
          </p:grpSpPr>
          <p:sp>
            <p:nvSpPr>
              <p:cNvPr id="1004" name="Google Shape;1004;p72"/>
              <p:cNvSpPr/>
              <p:nvPr/>
            </p:nvSpPr>
            <p:spPr>
              <a:xfrm>
                <a:off x="1252077" y="3560724"/>
                <a:ext cx="623896" cy="624061"/>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I12</a:t>
                </a:r>
                <a:endParaRPr sz="1400" b="0" i="0" u="none" strike="noStrike" cap="none">
                  <a:solidFill>
                    <a:srgbClr val="000000"/>
                  </a:solidFill>
                  <a:latin typeface="Arial"/>
                  <a:ea typeface="Arial"/>
                  <a:cs typeface="Arial"/>
                  <a:sym typeface="Arial"/>
                </a:endParaRPr>
              </a:p>
            </p:txBody>
          </p:sp>
          <p:sp>
            <p:nvSpPr>
              <p:cNvPr id="1005" name="Google Shape;1005;p72"/>
              <p:cNvSpPr/>
              <p:nvPr/>
            </p:nvSpPr>
            <p:spPr>
              <a:xfrm>
                <a:off x="4228682" y="2650833"/>
                <a:ext cx="1546248" cy="1518073"/>
              </a:xfrm>
              <a:prstGeom prst="rect">
                <a:avLst/>
              </a:prstGeom>
              <a:noFill/>
              <a:ln w="762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06" name="Google Shape;1006;p72"/>
              <p:cNvSpPr/>
              <p:nvPr/>
            </p:nvSpPr>
            <p:spPr>
              <a:xfrm>
                <a:off x="3966742" y="3203437"/>
                <a:ext cx="1039827" cy="260423"/>
              </a:xfrm>
              <a:custGeom>
                <a:avLst/>
                <a:gdLst/>
                <a:ahLst/>
                <a:cxnLst/>
                <a:rect l="l" t="t" r="r" b="b"/>
                <a:pathLst>
                  <a:path w="1040235" h="260165" extrusionOk="0">
                    <a:moveTo>
                      <a:pt x="0" y="260165"/>
                    </a:moveTo>
                    <a:cubicBezTo>
                      <a:pt x="177567" y="132233"/>
                      <a:pt x="355135" y="4301"/>
                      <a:pt x="528507" y="107"/>
                    </a:cubicBezTo>
                    <a:cubicBezTo>
                      <a:pt x="701879" y="-4087"/>
                      <a:pt x="871057" y="115455"/>
                      <a:pt x="1040235" y="234998"/>
                    </a:cubicBezTo>
                  </a:path>
                </a:pathLst>
              </a:custGeom>
              <a:no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007" name="Google Shape;1007;p72"/>
            <p:cNvSpPr txBox="1"/>
            <p:nvPr/>
          </p:nvSpPr>
          <p:spPr>
            <a:xfrm>
              <a:off x="7382417" y="4352837"/>
              <a:ext cx="1292918" cy="738664"/>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grpSp>
      <p:sp>
        <p:nvSpPr>
          <p:cNvPr id="1008" name="Google Shape;1008;p72"/>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Example Credit: L. Fei-Fei, J. Johnson, S. Yeung</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p73"/>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Transpose Convolution</a:t>
            </a:r>
            <a:endParaRPr/>
          </a:p>
        </p:txBody>
      </p:sp>
      <p:sp>
        <p:nvSpPr>
          <p:cNvPr id="1014" name="Google Shape;1014;p73"/>
          <p:cNvSpPr txBox="1"/>
          <p:nvPr/>
        </p:nvSpPr>
        <p:spPr>
          <a:xfrm flipH="1">
            <a:off x="339725" y="1522413"/>
            <a:ext cx="8267700" cy="5857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3x3 Transpose Convolution, Stride 2, Pad 1</a:t>
            </a:r>
            <a:endParaRPr sz="1400" b="0" i="0" u="none" strike="noStrike" cap="none">
              <a:solidFill>
                <a:srgbClr val="000000"/>
              </a:solidFill>
              <a:latin typeface="Arial"/>
              <a:ea typeface="Arial"/>
              <a:cs typeface="Arial"/>
              <a:sym typeface="Arial"/>
            </a:endParaRPr>
          </a:p>
        </p:txBody>
      </p:sp>
      <p:sp>
        <p:nvSpPr>
          <p:cNvPr id="1015" name="Google Shape;1015;p73"/>
          <p:cNvSpPr/>
          <p:nvPr/>
        </p:nvSpPr>
        <p:spPr>
          <a:xfrm flipH="1">
            <a:off x="5281613" y="3179763"/>
            <a:ext cx="515937"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16" name="Google Shape;1016;p73"/>
          <p:cNvSpPr/>
          <p:nvPr/>
        </p:nvSpPr>
        <p:spPr>
          <a:xfrm flipH="1">
            <a:off x="5281613" y="3683000"/>
            <a:ext cx="515937" cy="515938"/>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17" name="Google Shape;1017;p73"/>
          <p:cNvSpPr/>
          <p:nvPr/>
        </p:nvSpPr>
        <p:spPr>
          <a:xfrm flipH="1">
            <a:off x="5281613" y="4183063"/>
            <a:ext cx="515937" cy="514350"/>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grpSp>
        <p:nvGrpSpPr>
          <p:cNvPr id="1018" name="Google Shape;1018;p73"/>
          <p:cNvGrpSpPr/>
          <p:nvPr/>
        </p:nvGrpSpPr>
        <p:grpSpPr>
          <a:xfrm>
            <a:off x="3736975" y="3179763"/>
            <a:ext cx="1544638" cy="1517650"/>
            <a:chOff x="3736403" y="3180119"/>
            <a:chExt cx="1545686" cy="1517923"/>
          </a:xfrm>
        </p:grpSpPr>
        <p:sp>
          <p:nvSpPr>
            <p:cNvPr id="1019" name="Google Shape;1019;p73"/>
            <p:cNvSpPr/>
            <p:nvPr/>
          </p:nvSpPr>
          <p:spPr>
            <a:xfrm flipH="1">
              <a:off x="4251102" y="3180119"/>
              <a:ext cx="516288" cy="514443"/>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20" name="Google Shape;1020;p73"/>
            <p:cNvSpPr/>
            <p:nvPr/>
          </p:nvSpPr>
          <p:spPr>
            <a:xfrm flipH="1">
              <a:off x="4767390" y="3180119"/>
              <a:ext cx="514699" cy="514443"/>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21" name="Google Shape;1021;p73"/>
            <p:cNvSpPr/>
            <p:nvPr/>
          </p:nvSpPr>
          <p:spPr>
            <a:xfrm flipH="1">
              <a:off x="4767390" y="3683447"/>
              <a:ext cx="514699" cy="516031"/>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22" name="Google Shape;1022;p73"/>
            <p:cNvSpPr/>
            <p:nvPr/>
          </p:nvSpPr>
          <p:spPr>
            <a:xfrm flipH="1">
              <a:off x="4251102" y="3683447"/>
              <a:ext cx="516288" cy="516031"/>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23" name="Google Shape;1023;p73"/>
            <p:cNvSpPr/>
            <p:nvPr/>
          </p:nvSpPr>
          <p:spPr>
            <a:xfrm flipH="1">
              <a:off x="4767390" y="4183599"/>
              <a:ext cx="514699" cy="514443"/>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24" name="Google Shape;1024;p73"/>
            <p:cNvSpPr/>
            <p:nvPr/>
          </p:nvSpPr>
          <p:spPr>
            <a:xfrm flipH="1">
              <a:off x="4251102" y="4183599"/>
              <a:ext cx="516288" cy="514443"/>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25" name="Google Shape;1025;p73"/>
            <p:cNvSpPr/>
            <p:nvPr/>
          </p:nvSpPr>
          <p:spPr>
            <a:xfrm flipH="1">
              <a:off x="3736403" y="3180119"/>
              <a:ext cx="514699" cy="514443"/>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26" name="Google Shape;1026;p73"/>
            <p:cNvSpPr/>
            <p:nvPr/>
          </p:nvSpPr>
          <p:spPr>
            <a:xfrm flipH="1">
              <a:off x="3736403" y="3683447"/>
              <a:ext cx="514699" cy="516031"/>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27" name="Google Shape;1027;p73"/>
            <p:cNvSpPr/>
            <p:nvPr/>
          </p:nvSpPr>
          <p:spPr>
            <a:xfrm flipH="1">
              <a:off x="3736403" y="4183599"/>
              <a:ext cx="514699" cy="514443"/>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grpSp>
      <p:sp>
        <p:nvSpPr>
          <p:cNvPr id="1028" name="Google Shape;1028;p73"/>
          <p:cNvSpPr/>
          <p:nvPr/>
        </p:nvSpPr>
        <p:spPr>
          <a:xfrm flipH="1">
            <a:off x="5281613" y="4697413"/>
            <a:ext cx="515937"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29" name="Google Shape;1029;p73"/>
          <p:cNvSpPr/>
          <p:nvPr/>
        </p:nvSpPr>
        <p:spPr>
          <a:xfrm flipH="1">
            <a:off x="4767263" y="4697413"/>
            <a:ext cx="514350"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30" name="Google Shape;1030;p73"/>
          <p:cNvSpPr/>
          <p:nvPr/>
        </p:nvSpPr>
        <p:spPr>
          <a:xfrm flipH="1">
            <a:off x="4251325" y="4697413"/>
            <a:ext cx="515938"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31" name="Google Shape;1031;p73"/>
          <p:cNvSpPr/>
          <p:nvPr/>
        </p:nvSpPr>
        <p:spPr>
          <a:xfrm flipH="1">
            <a:off x="3736975" y="4697413"/>
            <a:ext cx="514350" cy="51593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cxnSp>
        <p:nvCxnSpPr>
          <p:cNvPr id="1032" name="Google Shape;1032;p73"/>
          <p:cNvCxnSpPr/>
          <p:nvPr/>
        </p:nvCxnSpPr>
        <p:spPr>
          <a:xfrm>
            <a:off x="2170113" y="4191000"/>
            <a:ext cx="782637" cy="0"/>
          </a:xfrm>
          <a:prstGeom prst="straightConnector1">
            <a:avLst/>
          </a:prstGeom>
          <a:noFill/>
          <a:ln w="76200" cap="flat" cmpd="sng">
            <a:solidFill>
              <a:schemeClr val="dk1"/>
            </a:solidFill>
            <a:prstDash val="solid"/>
            <a:miter lim="800000"/>
            <a:headEnd type="none" w="sm" len="sm"/>
            <a:tailEnd type="triangle" w="med" len="med"/>
          </a:ln>
        </p:spPr>
      </p:cxnSp>
      <p:sp>
        <p:nvSpPr>
          <p:cNvPr id="1033" name="Google Shape;1033;p73"/>
          <p:cNvSpPr/>
          <p:nvPr/>
        </p:nvSpPr>
        <p:spPr>
          <a:xfrm>
            <a:off x="628650" y="3560763"/>
            <a:ext cx="623888" cy="623887"/>
          </a:xfrm>
          <a:prstGeom prst="rect">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I11</a:t>
            </a:r>
            <a:endParaRPr sz="1400" b="0" i="0" u="none" strike="noStrike" cap="none">
              <a:solidFill>
                <a:srgbClr val="000000"/>
              </a:solidFill>
              <a:latin typeface="Arial"/>
              <a:ea typeface="Arial"/>
              <a:cs typeface="Arial"/>
              <a:sym typeface="Arial"/>
            </a:endParaRPr>
          </a:p>
        </p:txBody>
      </p:sp>
      <p:sp>
        <p:nvSpPr>
          <p:cNvPr id="1034" name="Google Shape;1034;p73"/>
          <p:cNvSpPr/>
          <p:nvPr/>
        </p:nvSpPr>
        <p:spPr>
          <a:xfrm>
            <a:off x="1252538" y="3560763"/>
            <a:ext cx="622300" cy="623887"/>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I12</a:t>
            </a:r>
            <a:endParaRPr sz="1400" b="0" i="0" u="none" strike="noStrike" cap="none">
              <a:solidFill>
                <a:srgbClr val="000000"/>
              </a:solidFill>
              <a:latin typeface="Arial"/>
              <a:ea typeface="Arial"/>
              <a:cs typeface="Arial"/>
              <a:sym typeface="Arial"/>
            </a:endParaRPr>
          </a:p>
        </p:txBody>
      </p:sp>
      <p:sp>
        <p:nvSpPr>
          <p:cNvPr id="1035" name="Google Shape;1035;p73"/>
          <p:cNvSpPr/>
          <p:nvPr/>
        </p:nvSpPr>
        <p:spPr>
          <a:xfrm>
            <a:off x="628650" y="4170363"/>
            <a:ext cx="623888" cy="623887"/>
          </a:xfrm>
          <a:prstGeom prst="rect">
            <a:avLst/>
          </a:prstGeom>
          <a:solidFill>
            <a:schemeClr val="accent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I21</a:t>
            </a:r>
            <a:endParaRPr sz="1400" b="0" i="0" u="none" strike="noStrike" cap="none">
              <a:solidFill>
                <a:srgbClr val="000000"/>
              </a:solidFill>
              <a:latin typeface="Arial"/>
              <a:ea typeface="Arial"/>
              <a:cs typeface="Arial"/>
              <a:sym typeface="Arial"/>
            </a:endParaRPr>
          </a:p>
        </p:txBody>
      </p:sp>
      <p:sp>
        <p:nvSpPr>
          <p:cNvPr id="1036" name="Google Shape;1036;p73"/>
          <p:cNvSpPr/>
          <p:nvPr/>
        </p:nvSpPr>
        <p:spPr>
          <a:xfrm>
            <a:off x="1252538" y="4170363"/>
            <a:ext cx="622300" cy="623887"/>
          </a:xfrm>
          <a:prstGeom prst="rect">
            <a:avLst/>
          </a:prstGeom>
          <a:solidFill>
            <a:schemeClr val="accent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I22</a:t>
            </a:r>
            <a:endParaRPr sz="1400" b="0" i="0" u="none" strike="noStrike" cap="none">
              <a:solidFill>
                <a:srgbClr val="000000"/>
              </a:solidFill>
              <a:latin typeface="Arial"/>
              <a:ea typeface="Arial"/>
              <a:cs typeface="Arial"/>
              <a:sym typeface="Arial"/>
            </a:endParaRPr>
          </a:p>
        </p:txBody>
      </p:sp>
      <p:sp>
        <p:nvSpPr>
          <p:cNvPr id="1037" name="Google Shape;1037;p73"/>
          <p:cNvSpPr/>
          <p:nvPr/>
        </p:nvSpPr>
        <p:spPr>
          <a:xfrm>
            <a:off x="3209925" y="2667000"/>
            <a:ext cx="1544638" cy="1517650"/>
          </a:xfrm>
          <a:prstGeom prst="rect">
            <a:avLst/>
          </a:prstGeom>
          <a:no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38" name="Google Shape;1038;p73"/>
          <p:cNvSpPr txBox="1"/>
          <p:nvPr/>
        </p:nvSpPr>
        <p:spPr>
          <a:xfrm>
            <a:off x="6089499" y="4352837"/>
            <a:ext cx="1292918" cy="738664"/>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
        <p:nvSpPr>
          <p:cNvPr id="1039" name="Google Shape;1039;p73"/>
          <p:cNvSpPr/>
          <p:nvPr/>
        </p:nvSpPr>
        <p:spPr>
          <a:xfrm>
            <a:off x="4244975" y="2667000"/>
            <a:ext cx="1546225" cy="1517650"/>
          </a:xfrm>
          <a:prstGeom prst="rect">
            <a:avLst/>
          </a:prstGeom>
          <a:noFill/>
          <a:ln w="762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40" name="Google Shape;1040;p73"/>
          <p:cNvSpPr txBox="1"/>
          <p:nvPr/>
        </p:nvSpPr>
        <p:spPr>
          <a:xfrm>
            <a:off x="7382417" y="4352837"/>
            <a:ext cx="1292918" cy="738664"/>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
        <p:nvSpPr>
          <p:cNvPr id="1041" name="Google Shape;1041;p73"/>
          <p:cNvSpPr txBox="1"/>
          <p:nvPr/>
        </p:nvSpPr>
        <p:spPr>
          <a:xfrm>
            <a:off x="6015038" y="2667000"/>
            <a:ext cx="2809875" cy="138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Output is filter F weighted by input I</a:t>
            </a:r>
            <a:endParaRPr sz="1400" b="0" i="0" u="none" strike="noStrike" cap="none">
              <a:solidFill>
                <a:srgbClr val="000000"/>
              </a:solidFill>
              <a:latin typeface="Arial"/>
              <a:ea typeface="Arial"/>
              <a:cs typeface="Arial"/>
              <a:sym typeface="Arial"/>
            </a:endParaRPr>
          </a:p>
        </p:txBody>
      </p:sp>
      <p:sp>
        <p:nvSpPr>
          <p:cNvPr id="1042" name="Google Shape;1042;p73"/>
          <p:cNvSpPr/>
          <p:nvPr/>
        </p:nvSpPr>
        <p:spPr>
          <a:xfrm>
            <a:off x="3221038" y="3705225"/>
            <a:ext cx="1546225" cy="1517650"/>
          </a:xfrm>
          <a:prstGeom prst="rect">
            <a:avLst/>
          </a:prstGeom>
          <a:noFill/>
          <a:ln w="762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43" name="Google Shape;1043;p73"/>
          <p:cNvSpPr/>
          <p:nvPr/>
        </p:nvSpPr>
        <p:spPr>
          <a:xfrm>
            <a:off x="4264025" y="3705225"/>
            <a:ext cx="1544638" cy="1517650"/>
          </a:xfrm>
          <a:prstGeom prst="rect">
            <a:avLst/>
          </a:prstGeom>
          <a:noFill/>
          <a:ln w="762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Times New Roman"/>
              <a:ea typeface="Times New Roman"/>
              <a:cs typeface="Times New Roman"/>
              <a:sym typeface="Times New Roman"/>
            </a:endParaRPr>
          </a:p>
        </p:txBody>
      </p:sp>
      <p:sp>
        <p:nvSpPr>
          <p:cNvPr id="1044" name="Google Shape;1044;p73"/>
          <p:cNvSpPr txBox="1"/>
          <p:nvPr/>
        </p:nvSpPr>
        <p:spPr>
          <a:xfrm>
            <a:off x="6089498" y="5194301"/>
            <a:ext cx="1307153" cy="738664"/>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
        <p:nvSpPr>
          <p:cNvPr id="1045" name="Google Shape;1045;p73"/>
          <p:cNvSpPr txBox="1"/>
          <p:nvPr/>
        </p:nvSpPr>
        <p:spPr>
          <a:xfrm>
            <a:off x="7382416" y="5194301"/>
            <a:ext cx="1307153" cy="738664"/>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cxnSp>
        <p:nvCxnSpPr>
          <p:cNvPr id="1046" name="Google Shape;1046;p73"/>
          <p:cNvCxnSpPr/>
          <p:nvPr/>
        </p:nvCxnSpPr>
        <p:spPr>
          <a:xfrm rot="10800000" flipH="1">
            <a:off x="2506663" y="3881438"/>
            <a:ext cx="1544637" cy="1409700"/>
          </a:xfrm>
          <a:prstGeom prst="straightConnector1">
            <a:avLst/>
          </a:prstGeom>
          <a:noFill/>
          <a:ln w="76200" cap="flat" cmpd="sng">
            <a:solidFill>
              <a:schemeClr val="dk1"/>
            </a:solidFill>
            <a:prstDash val="solid"/>
            <a:miter lim="800000"/>
            <a:headEnd type="none" w="sm" len="sm"/>
            <a:tailEnd type="triangle" w="med" len="med"/>
          </a:ln>
        </p:spPr>
      </p:cxnSp>
      <p:sp>
        <p:nvSpPr>
          <p:cNvPr id="1047" name="Google Shape;1047;p73"/>
          <p:cNvSpPr txBox="1"/>
          <p:nvPr/>
        </p:nvSpPr>
        <p:spPr>
          <a:xfrm>
            <a:off x="628650" y="5291138"/>
            <a:ext cx="4471988" cy="9540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Sum outputs at overlap (e.g., from </a:t>
            </a:r>
            <a:r>
              <a:rPr lang="en-US" sz="2800" b="0" i="0" u="none" strike="noStrike" cap="none">
                <a:solidFill>
                  <a:schemeClr val="accent2"/>
                </a:solidFill>
                <a:latin typeface="Times New Roman"/>
                <a:ea typeface="Times New Roman"/>
                <a:cs typeface="Times New Roman"/>
                <a:sym typeface="Times New Roman"/>
              </a:rPr>
              <a:t>I</a:t>
            </a:r>
            <a:r>
              <a:rPr lang="en-US" sz="2800" b="0" i="0" u="none" strike="noStrike" cap="none" baseline="-25000">
                <a:solidFill>
                  <a:schemeClr val="accent2"/>
                </a:solidFill>
                <a:latin typeface="Times New Roman"/>
                <a:ea typeface="Times New Roman"/>
                <a:cs typeface="Times New Roman"/>
                <a:sym typeface="Times New Roman"/>
              </a:rPr>
              <a:t>11</a:t>
            </a:r>
            <a:r>
              <a:rPr lang="en-US" sz="2800" b="1" i="0" u="none" strike="noStrike" cap="none">
                <a:solidFill>
                  <a:schemeClr val="accent2"/>
                </a:solidFill>
                <a:latin typeface="Times New Roman"/>
                <a:ea typeface="Times New Roman"/>
                <a:cs typeface="Times New Roman"/>
                <a:sym typeface="Times New Roman"/>
              </a:rPr>
              <a:t>F</a:t>
            </a:r>
            <a:r>
              <a:rPr lang="en-US" sz="2800" b="0" i="0" u="none" strike="noStrike" cap="none">
                <a:solidFill>
                  <a:schemeClr val="dk1"/>
                </a:solidFill>
                <a:latin typeface="Times New Roman"/>
                <a:ea typeface="Times New Roman"/>
                <a:cs typeface="Times New Roman"/>
                <a:sym typeface="Times New Roman"/>
              </a:rPr>
              <a:t> and </a:t>
            </a:r>
            <a:r>
              <a:rPr lang="en-US" sz="2800" b="0" i="0" u="none" strike="noStrike" cap="none">
                <a:solidFill>
                  <a:schemeClr val="accent4"/>
                </a:solidFill>
                <a:latin typeface="Times New Roman"/>
                <a:ea typeface="Times New Roman"/>
                <a:cs typeface="Times New Roman"/>
                <a:sym typeface="Times New Roman"/>
              </a:rPr>
              <a:t>I</a:t>
            </a:r>
            <a:r>
              <a:rPr lang="en-US" sz="2800" b="0" i="0" u="none" strike="noStrike" cap="none" baseline="-25000">
                <a:solidFill>
                  <a:schemeClr val="accent4"/>
                </a:solidFill>
                <a:latin typeface="Times New Roman"/>
                <a:ea typeface="Times New Roman"/>
                <a:cs typeface="Times New Roman"/>
                <a:sym typeface="Times New Roman"/>
              </a:rPr>
              <a:t>21</a:t>
            </a:r>
            <a:r>
              <a:rPr lang="en-US" sz="2800" b="1" i="0" u="none" strike="noStrike" cap="none">
                <a:solidFill>
                  <a:schemeClr val="accent4"/>
                </a:solidFill>
                <a:latin typeface="Times New Roman"/>
                <a:ea typeface="Times New Roman"/>
                <a:cs typeface="Times New Roman"/>
                <a:sym typeface="Times New Roman"/>
              </a:rPr>
              <a:t>F</a:t>
            </a:r>
            <a:r>
              <a:rPr lang="en-US" sz="28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1048" name="Google Shape;1048;p73"/>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Example Credit: L. Fei-Fei, J. Johnson, S. Yeung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p74"/>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Putting it Together</a:t>
            </a:r>
            <a:endParaRPr/>
          </a:p>
        </p:txBody>
      </p:sp>
      <p:sp>
        <p:nvSpPr>
          <p:cNvPr id="1054" name="Google Shape;1054;p74"/>
          <p:cNvSpPr/>
          <p:nvPr/>
        </p:nvSpPr>
        <p:spPr>
          <a:xfrm>
            <a:off x="4378325" y="4878388"/>
            <a:ext cx="312738" cy="615950"/>
          </a:xfrm>
          <a:prstGeom prst="cube">
            <a:avLst>
              <a:gd name="adj" fmla="val 4052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1055" name="Google Shape;1055;p74"/>
          <p:cNvGrpSpPr/>
          <p:nvPr/>
        </p:nvGrpSpPr>
        <p:grpSpPr>
          <a:xfrm>
            <a:off x="39688" y="2768600"/>
            <a:ext cx="1863725" cy="3400425"/>
            <a:chOff x="39863" y="2768187"/>
            <a:chExt cx="1863226" cy="3400872"/>
          </a:xfrm>
        </p:grpSpPr>
        <p:grpSp>
          <p:nvGrpSpPr>
            <p:cNvPr id="1056" name="Google Shape;1056;p74"/>
            <p:cNvGrpSpPr/>
            <p:nvPr/>
          </p:nvGrpSpPr>
          <p:grpSpPr>
            <a:xfrm>
              <a:off x="135672" y="3638725"/>
              <a:ext cx="1322890" cy="2530334"/>
              <a:chOff x="135672" y="3638725"/>
              <a:chExt cx="1322890" cy="2530334"/>
            </a:xfrm>
          </p:grpSpPr>
          <p:sp>
            <p:nvSpPr>
              <p:cNvPr id="1057" name="Google Shape;1057;p74"/>
              <p:cNvSpPr/>
              <p:nvPr/>
            </p:nvSpPr>
            <p:spPr>
              <a:xfrm>
                <a:off x="635015" y="4233642"/>
                <a:ext cx="672920" cy="1935417"/>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058" name="Google Shape;1058;p74"/>
              <p:cNvSpPr txBox="1"/>
              <p:nvPr/>
            </p:nvSpPr>
            <p:spPr>
              <a:xfrm>
                <a:off x="135672" y="5042508"/>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1059" name="Google Shape;1059;p74"/>
              <p:cNvSpPr txBox="1"/>
              <p:nvPr/>
            </p:nvSpPr>
            <p:spPr>
              <a:xfrm>
                <a:off x="286505" y="3877085"/>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1060" name="Google Shape;1060;p74"/>
              <p:cNvSpPr txBox="1"/>
              <p:nvPr/>
            </p:nvSpPr>
            <p:spPr>
              <a:xfrm>
                <a:off x="971476" y="3638725"/>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grpSp>
        <p:sp>
          <p:nvSpPr>
            <p:cNvPr id="1061" name="Google Shape;1061;p74"/>
            <p:cNvSpPr txBox="1"/>
            <p:nvPr/>
          </p:nvSpPr>
          <p:spPr>
            <a:xfrm>
              <a:off x="39863" y="2768187"/>
              <a:ext cx="1863226"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Input</a:t>
              </a:r>
              <a:endParaRPr sz="1400" b="0" i="0" u="none" strike="noStrike" cap="none">
                <a:solidFill>
                  <a:srgbClr val="000000"/>
                </a:solidFill>
                <a:latin typeface="Arial"/>
                <a:ea typeface="Arial"/>
                <a:cs typeface="Arial"/>
                <a:sym typeface="Arial"/>
              </a:endParaRPr>
            </a:p>
          </p:txBody>
        </p:sp>
      </p:grpSp>
      <p:grpSp>
        <p:nvGrpSpPr>
          <p:cNvPr id="1062" name="Google Shape;1062;p74"/>
          <p:cNvGrpSpPr/>
          <p:nvPr/>
        </p:nvGrpSpPr>
        <p:grpSpPr>
          <a:xfrm>
            <a:off x="1706563" y="2768600"/>
            <a:ext cx="2727325" cy="3400425"/>
            <a:chOff x="1705843" y="2768187"/>
            <a:chExt cx="2727949" cy="3400872"/>
          </a:xfrm>
        </p:grpSpPr>
        <p:grpSp>
          <p:nvGrpSpPr>
            <p:cNvPr id="1063" name="Google Shape;1063;p74"/>
            <p:cNvGrpSpPr/>
            <p:nvPr/>
          </p:nvGrpSpPr>
          <p:grpSpPr>
            <a:xfrm>
              <a:off x="2107572" y="4235230"/>
              <a:ext cx="1711717" cy="1933829"/>
              <a:chOff x="2928768" y="4470122"/>
              <a:chExt cx="1711717" cy="1933829"/>
            </a:xfrm>
          </p:grpSpPr>
          <p:sp>
            <p:nvSpPr>
              <p:cNvPr id="1064" name="Google Shape;1064;p74"/>
              <p:cNvSpPr/>
              <p:nvPr/>
            </p:nvSpPr>
            <p:spPr>
              <a:xfrm>
                <a:off x="2928768" y="4470122"/>
                <a:ext cx="671667" cy="1933829"/>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065" name="Google Shape;1065;p74"/>
              <p:cNvSpPr/>
              <p:nvPr/>
            </p:nvSpPr>
            <p:spPr>
              <a:xfrm>
                <a:off x="3448000" y="4622542"/>
                <a:ext cx="555752" cy="1597235"/>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066" name="Google Shape;1066;p74"/>
              <p:cNvSpPr/>
              <p:nvPr/>
            </p:nvSpPr>
            <p:spPr>
              <a:xfrm>
                <a:off x="3891013" y="4821006"/>
                <a:ext cx="458893" cy="1200308"/>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067" name="Google Shape;1067;p74"/>
              <p:cNvSpPr/>
              <p:nvPr/>
            </p:nvSpPr>
            <p:spPr>
              <a:xfrm>
                <a:off x="4260986" y="4970251"/>
                <a:ext cx="379499" cy="901818"/>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068" name="Google Shape;1068;p74"/>
            <p:cNvSpPr txBox="1"/>
            <p:nvPr/>
          </p:nvSpPr>
          <p:spPr>
            <a:xfrm>
              <a:off x="1705843" y="2768187"/>
              <a:ext cx="2727949"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Downsample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Conv, pool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“Encoder”</a:t>
              </a:r>
              <a:endParaRPr sz="1400" b="0" i="0" u="none" strike="noStrike" cap="none">
                <a:solidFill>
                  <a:srgbClr val="000000"/>
                </a:solidFill>
                <a:latin typeface="Arial"/>
                <a:ea typeface="Arial"/>
                <a:cs typeface="Arial"/>
                <a:sym typeface="Arial"/>
              </a:endParaRPr>
            </a:p>
          </p:txBody>
        </p:sp>
      </p:grpSp>
      <p:grpSp>
        <p:nvGrpSpPr>
          <p:cNvPr id="1069" name="Google Shape;1069;p74"/>
          <p:cNvGrpSpPr/>
          <p:nvPr/>
        </p:nvGrpSpPr>
        <p:grpSpPr>
          <a:xfrm>
            <a:off x="4625975" y="2768600"/>
            <a:ext cx="2479675" cy="3400425"/>
            <a:chOff x="4625538" y="2768187"/>
            <a:chExt cx="2479954" cy="3400872"/>
          </a:xfrm>
        </p:grpSpPr>
        <p:grpSp>
          <p:nvGrpSpPr>
            <p:cNvPr id="1070" name="Google Shape;1070;p74"/>
            <p:cNvGrpSpPr/>
            <p:nvPr/>
          </p:nvGrpSpPr>
          <p:grpSpPr>
            <a:xfrm>
              <a:off x="5116131" y="4235230"/>
              <a:ext cx="1711518" cy="1933829"/>
              <a:chOff x="4814524" y="4470122"/>
              <a:chExt cx="1711518" cy="1933829"/>
            </a:xfrm>
          </p:grpSpPr>
          <p:sp>
            <p:nvSpPr>
              <p:cNvPr id="1071" name="Google Shape;1071;p74"/>
              <p:cNvSpPr/>
              <p:nvPr/>
            </p:nvSpPr>
            <p:spPr>
              <a:xfrm>
                <a:off x="4814524" y="4970251"/>
                <a:ext cx="379455" cy="901818"/>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072" name="Google Shape;1072;p74"/>
              <p:cNvSpPr/>
              <p:nvPr/>
            </p:nvSpPr>
            <p:spPr>
              <a:xfrm>
                <a:off x="5105069" y="4821006"/>
                <a:ext cx="458840" cy="1200308"/>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073" name="Google Shape;1073;p74"/>
              <p:cNvSpPr/>
              <p:nvPr/>
            </p:nvSpPr>
            <p:spPr>
              <a:xfrm>
                <a:off x="5451183" y="4622542"/>
                <a:ext cx="555688" cy="1597235"/>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074" name="Google Shape;1074;p74"/>
              <p:cNvSpPr/>
              <p:nvPr/>
            </p:nvSpPr>
            <p:spPr>
              <a:xfrm>
                <a:off x="5854453" y="4470122"/>
                <a:ext cx="671589" cy="1933829"/>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075" name="Google Shape;1075;p74"/>
            <p:cNvSpPr txBox="1"/>
            <p:nvPr/>
          </p:nvSpPr>
          <p:spPr>
            <a:xfrm>
              <a:off x="4625538" y="2768187"/>
              <a:ext cx="2479954"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Upsample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Tr. Conv./Unpool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“Decoder”</a:t>
              </a:r>
              <a:endParaRPr sz="1400" b="0" i="0" u="none" strike="noStrike" cap="none">
                <a:solidFill>
                  <a:srgbClr val="000000"/>
                </a:solidFill>
                <a:latin typeface="Arial"/>
                <a:ea typeface="Arial"/>
                <a:cs typeface="Arial"/>
                <a:sym typeface="Arial"/>
              </a:endParaRPr>
            </a:p>
          </p:txBody>
        </p:sp>
      </p:grpSp>
      <p:grpSp>
        <p:nvGrpSpPr>
          <p:cNvPr id="1076" name="Google Shape;1076;p74"/>
          <p:cNvGrpSpPr/>
          <p:nvPr/>
        </p:nvGrpSpPr>
        <p:grpSpPr>
          <a:xfrm>
            <a:off x="7366000" y="2768600"/>
            <a:ext cx="1862138" cy="3400425"/>
            <a:chOff x="7365595" y="2768187"/>
            <a:chExt cx="1863226" cy="3400872"/>
          </a:xfrm>
        </p:grpSpPr>
        <p:grpSp>
          <p:nvGrpSpPr>
            <p:cNvPr id="1077" name="Google Shape;1077;p74"/>
            <p:cNvGrpSpPr/>
            <p:nvPr/>
          </p:nvGrpSpPr>
          <p:grpSpPr>
            <a:xfrm>
              <a:off x="7810122" y="3638725"/>
              <a:ext cx="1169246" cy="2530334"/>
              <a:chOff x="6367993" y="3873617"/>
              <a:chExt cx="1169246" cy="2530334"/>
            </a:xfrm>
          </p:grpSpPr>
          <p:sp>
            <p:nvSpPr>
              <p:cNvPr id="1078" name="Google Shape;1078;p74"/>
              <p:cNvSpPr/>
              <p:nvPr/>
            </p:nvSpPr>
            <p:spPr>
              <a:xfrm>
                <a:off x="6377757" y="4468534"/>
                <a:ext cx="671905" cy="1935417"/>
              </a:xfrm>
              <a:prstGeom prst="cube">
                <a:avLst>
                  <a:gd name="adj" fmla="val 67261"/>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079" name="Google Shape;1079;p74"/>
              <p:cNvSpPr txBox="1"/>
              <p:nvPr/>
            </p:nvSpPr>
            <p:spPr>
              <a:xfrm>
                <a:off x="7050153" y="5277400"/>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1080" name="Google Shape;1080;p74"/>
              <p:cNvSpPr txBox="1"/>
              <p:nvPr/>
            </p:nvSpPr>
            <p:spPr>
              <a:xfrm>
                <a:off x="6367993" y="4111977"/>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1081" name="Google Shape;1081;p74"/>
              <p:cNvSpPr txBox="1"/>
              <p:nvPr/>
            </p:nvSpPr>
            <p:spPr>
              <a:xfrm>
                <a:off x="6713900" y="3873617"/>
                <a:ext cx="487086"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p:txBody>
          </p:sp>
        </p:grpSp>
        <p:sp>
          <p:nvSpPr>
            <p:cNvPr id="1082" name="Google Shape;1082;p74"/>
            <p:cNvSpPr txBox="1"/>
            <p:nvPr/>
          </p:nvSpPr>
          <p:spPr>
            <a:xfrm>
              <a:off x="7365595" y="2768187"/>
              <a:ext cx="1863226"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Output</a:t>
              </a:r>
              <a:endParaRPr sz="1400" b="0" i="0" u="none" strike="noStrike" cap="none">
                <a:solidFill>
                  <a:srgbClr val="000000"/>
                </a:solidFill>
                <a:latin typeface="Arial"/>
                <a:ea typeface="Arial"/>
                <a:cs typeface="Arial"/>
                <a:sym typeface="Arial"/>
              </a:endParaRPr>
            </a:p>
          </p:txBody>
        </p:sp>
      </p:grpSp>
      <p:sp>
        <p:nvSpPr>
          <p:cNvPr id="1083" name="Google Shape;1083;p74"/>
          <p:cNvSpPr txBox="1"/>
          <p:nvPr/>
        </p:nvSpPr>
        <p:spPr>
          <a:xfrm flipH="1">
            <a:off x="-74613" y="1522413"/>
            <a:ext cx="9094788" cy="8318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Convolutions + pooling downsample/compress/encode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Transpose convs./unpoolings upsample/uncompress/decode</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75"/>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Putting It Together – Block Sizes</a:t>
            </a:r>
            <a:endParaRPr/>
          </a:p>
        </p:txBody>
      </p:sp>
      <p:sp>
        <p:nvSpPr>
          <p:cNvPr id="1089" name="Google Shape;1089;p75"/>
          <p:cNvSpPr txBox="1"/>
          <p:nvPr/>
        </p:nvSpPr>
        <p:spPr>
          <a:xfrm flipH="1">
            <a:off x="339725" y="1412875"/>
            <a:ext cx="8267700" cy="1384300"/>
          </a:xfrm>
          <a:prstGeom prst="rect">
            <a:avLst/>
          </a:prstGeom>
          <a:noFill/>
          <a:ln>
            <a:noFill/>
          </a:ln>
        </p:spPr>
        <p:txBody>
          <a:bodyPr spcFirstLastPara="1" wrap="square" lIns="91425" tIns="45700" rIns="91425" bIns="45700" anchor="t" anchorCtr="0">
            <a:spAutoFit/>
          </a:bodyPr>
          <a:lstStyle/>
          <a:p>
            <a:pPr marL="457200" marR="0" lvl="0" indent="-457200" algn="ctr"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Times New Roman"/>
                <a:ea typeface="Times New Roman"/>
                <a:cs typeface="Times New Roman"/>
                <a:sym typeface="Times New Roman"/>
              </a:rPr>
              <a:t>Networks come in lots of forms </a:t>
            </a:r>
            <a:endParaRPr sz="1400" b="0" i="0" u="none" strike="noStrike" cap="none">
              <a:solidFill>
                <a:srgbClr val="000000"/>
              </a:solidFill>
              <a:latin typeface="Arial"/>
              <a:ea typeface="Arial"/>
              <a:cs typeface="Arial"/>
              <a:sym typeface="Arial"/>
            </a:endParaRPr>
          </a:p>
          <a:p>
            <a:pPr marL="457200" marR="0" lvl="0" indent="-457200" algn="ctr" rtl="0">
              <a:lnSpc>
                <a:spcPct val="100000"/>
              </a:lnSpc>
              <a:spcBef>
                <a:spcPts val="0"/>
              </a:spcBef>
              <a:spcAft>
                <a:spcPts val="0"/>
              </a:spcAft>
              <a:buClr>
                <a:schemeClr val="dk1"/>
              </a:buClr>
              <a:buSzPts val="2800"/>
              <a:buFont typeface="Arial"/>
              <a:buChar char="•"/>
            </a:pPr>
            <a:r>
              <a:rPr lang="en-US" sz="2800" b="1" i="0" u="none" strike="noStrike" cap="none">
                <a:solidFill>
                  <a:schemeClr val="dk1"/>
                </a:solidFill>
                <a:latin typeface="Times New Roman"/>
                <a:ea typeface="Times New Roman"/>
                <a:cs typeface="Times New Roman"/>
                <a:sym typeface="Times New Roman"/>
              </a:rPr>
              <a:t>Don’t take any block sizes literally.</a:t>
            </a:r>
            <a:endParaRPr sz="1400" b="0" i="0" u="none" strike="noStrike" cap="none">
              <a:solidFill>
                <a:srgbClr val="000000"/>
              </a:solidFill>
              <a:latin typeface="Arial"/>
              <a:ea typeface="Arial"/>
              <a:cs typeface="Arial"/>
              <a:sym typeface="Arial"/>
            </a:endParaRPr>
          </a:p>
          <a:p>
            <a:pPr marL="457200" marR="0" lvl="0" indent="-457200" algn="ctr"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Times New Roman"/>
                <a:ea typeface="Times New Roman"/>
                <a:cs typeface="Times New Roman"/>
                <a:sym typeface="Times New Roman"/>
              </a:rPr>
              <a:t>Often (not always) keep some spatial resolution</a:t>
            </a:r>
            <a:endParaRPr sz="1400" b="0" i="0" u="none" strike="noStrike" cap="none">
              <a:solidFill>
                <a:srgbClr val="000000"/>
              </a:solidFill>
              <a:latin typeface="Arial"/>
              <a:ea typeface="Arial"/>
              <a:cs typeface="Arial"/>
              <a:sym typeface="Arial"/>
            </a:endParaRPr>
          </a:p>
        </p:txBody>
      </p:sp>
      <p:grpSp>
        <p:nvGrpSpPr>
          <p:cNvPr id="1090" name="Google Shape;1090;p75"/>
          <p:cNvGrpSpPr/>
          <p:nvPr/>
        </p:nvGrpSpPr>
        <p:grpSpPr>
          <a:xfrm>
            <a:off x="261938" y="3333750"/>
            <a:ext cx="3900487" cy="2759075"/>
            <a:chOff x="261319" y="3686497"/>
            <a:chExt cx="3900612" cy="2759199"/>
          </a:xfrm>
        </p:grpSpPr>
        <p:grpSp>
          <p:nvGrpSpPr>
            <p:cNvPr id="1091" name="Google Shape;1091;p75"/>
            <p:cNvGrpSpPr/>
            <p:nvPr/>
          </p:nvGrpSpPr>
          <p:grpSpPr>
            <a:xfrm>
              <a:off x="261319" y="4847012"/>
              <a:ext cx="3900612" cy="1598684"/>
              <a:chOff x="635223" y="2237042"/>
              <a:chExt cx="4735510" cy="1934404"/>
            </a:xfrm>
          </p:grpSpPr>
          <p:sp>
            <p:nvSpPr>
              <p:cNvPr id="1092" name="Google Shape;1092;p75"/>
              <p:cNvSpPr/>
              <p:nvPr/>
            </p:nvSpPr>
            <p:spPr>
              <a:xfrm>
                <a:off x="635223" y="2237042"/>
                <a:ext cx="672646" cy="1934404"/>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1093" name="Google Shape;1093;p75"/>
              <p:cNvGrpSpPr/>
              <p:nvPr/>
            </p:nvGrpSpPr>
            <p:grpSpPr>
              <a:xfrm>
                <a:off x="1124772" y="2237042"/>
                <a:ext cx="1713417" cy="1934404"/>
                <a:chOff x="2927480" y="4469547"/>
                <a:chExt cx="1713417" cy="1934404"/>
              </a:xfrm>
            </p:grpSpPr>
            <p:sp>
              <p:nvSpPr>
                <p:cNvPr id="1094" name="Google Shape;1094;p75"/>
                <p:cNvSpPr/>
                <p:nvPr/>
              </p:nvSpPr>
              <p:spPr>
                <a:xfrm>
                  <a:off x="2927480" y="4469547"/>
                  <a:ext cx="672646" cy="1934404"/>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095" name="Google Shape;1095;p75"/>
                <p:cNvSpPr/>
                <p:nvPr/>
              </p:nvSpPr>
              <p:spPr>
                <a:xfrm>
                  <a:off x="3447865" y="4621302"/>
                  <a:ext cx="555078" cy="1598237"/>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096" name="Google Shape;1096;p75"/>
                <p:cNvSpPr/>
                <p:nvPr/>
              </p:nvSpPr>
              <p:spPr>
                <a:xfrm>
                  <a:off x="3891157" y="4821081"/>
                  <a:ext cx="458710" cy="1200600"/>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097" name="Google Shape;1097;p75"/>
                <p:cNvSpPr/>
                <p:nvPr/>
              </p:nvSpPr>
              <p:spPr>
                <a:xfrm>
                  <a:off x="4261209" y="4968996"/>
                  <a:ext cx="379688" cy="902850"/>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098" name="Google Shape;1098;p75"/>
              <p:cNvSpPr/>
              <p:nvPr/>
            </p:nvSpPr>
            <p:spPr>
              <a:xfrm>
                <a:off x="2870955" y="2847906"/>
                <a:ext cx="314158" cy="649284"/>
              </a:xfrm>
              <a:prstGeom prst="cube">
                <a:avLst>
                  <a:gd name="adj" fmla="val 4052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1099" name="Google Shape;1099;p75"/>
              <p:cNvGrpSpPr/>
              <p:nvPr/>
            </p:nvGrpSpPr>
            <p:grpSpPr>
              <a:xfrm>
                <a:off x="3215951" y="2237042"/>
                <a:ext cx="1711490" cy="1934404"/>
                <a:chOff x="4814788" y="4469547"/>
                <a:chExt cx="1711490" cy="1934404"/>
              </a:xfrm>
            </p:grpSpPr>
            <p:sp>
              <p:nvSpPr>
                <p:cNvPr id="1100" name="Google Shape;1100;p75"/>
                <p:cNvSpPr/>
                <p:nvPr/>
              </p:nvSpPr>
              <p:spPr>
                <a:xfrm>
                  <a:off x="4814788" y="4968996"/>
                  <a:ext cx="379689" cy="902850"/>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01" name="Google Shape;1101;p75"/>
                <p:cNvSpPr/>
                <p:nvPr/>
              </p:nvSpPr>
              <p:spPr>
                <a:xfrm>
                  <a:off x="5105819" y="4821081"/>
                  <a:ext cx="458710" cy="1200600"/>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02" name="Google Shape;1102;p75"/>
                <p:cNvSpPr/>
                <p:nvPr/>
              </p:nvSpPr>
              <p:spPr>
                <a:xfrm>
                  <a:off x="5450815" y="4621302"/>
                  <a:ext cx="555078" cy="1598237"/>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03" name="Google Shape;1103;p75"/>
                <p:cNvSpPr/>
                <p:nvPr/>
              </p:nvSpPr>
              <p:spPr>
                <a:xfrm>
                  <a:off x="5853632" y="4469547"/>
                  <a:ext cx="672646" cy="1934404"/>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104" name="Google Shape;1104;p75"/>
              <p:cNvSpPr/>
              <p:nvPr/>
            </p:nvSpPr>
            <p:spPr>
              <a:xfrm>
                <a:off x="4698087" y="2237042"/>
                <a:ext cx="672646" cy="1934404"/>
              </a:xfrm>
              <a:prstGeom prst="cube">
                <a:avLst>
                  <a:gd name="adj" fmla="val 67261"/>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105" name="Google Shape;1105;p75"/>
            <p:cNvSpPr txBox="1"/>
            <p:nvPr/>
          </p:nvSpPr>
          <p:spPr>
            <a:xfrm>
              <a:off x="261319" y="3686497"/>
              <a:ext cx="3900612"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Encode to spatially smaller tensor, then decode.</a:t>
              </a:r>
              <a:endParaRPr sz="1400" b="0" i="0" u="none" strike="noStrike" cap="none">
                <a:solidFill>
                  <a:srgbClr val="000000"/>
                </a:solidFill>
                <a:latin typeface="Arial"/>
                <a:ea typeface="Arial"/>
                <a:cs typeface="Arial"/>
                <a:sym typeface="Arial"/>
              </a:endParaRPr>
            </a:p>
          </p:txBody>
        </p:sp>
      </p:grpSp>
      <p:grpSp>
        <p:nvGrpSpPr>
          <p:cNvPr id="1106" name="Google Shape;1106;p75"/>
          <p:cNvGrpSpPr/>
          <p:nvPr/>
        </p:nvGrpSpPr>
        <p:grpSpPr>
          <a:xfrm>
            <a:off x="4835525" y="3333750"/>
            <a:ext cx="3913188" cy="2625725"/>
            <a:chOff x="4835260" y="3686497"/>
            <a:chExt cx="3913646" cy="2626058"/>
          </a:xfrm>
        </p:grpSpPr>
        <p:grpSp>
          <p:nvGrpSpPr>
            <p:cNvPr id="1107" name="Google Shape;1107;p75"/>
            <p:cNvGrpSpPr/>
            <p:nvPr/>
          </p:nvGrpSpPr>
          <p:grpSpPr>
            <a:xfrm>
              <a:off x="4835260" y="4713740"/>
              <a:ext cx="3913646" cy="1598815"/>
              <a:chOff x="5174874" y="4815064"/>
              <a:chExt cx="3234418" cy="1321334"/>
            </a:xfrm>
          </p:grpSpPr>
          <p:sp>
            <p:nvSpPr>
              <p:cNvPr id="1108" name="Google Shape;1108;p75"/>
              <p:cNvSpPr/>
              <p:nvPr/>
            </p:nvSpPr>
            <p:spPr>
              <a:xfrm>
                <a:off x="5174874" y="4815064"/>
                <a:ext cx="459248" cy="1321334"/>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09" name="Google Shape;1109;p75"/>
              <p:cNvSpPr/>
              <p:nvPr/>
            </p:nvSpPr>
            <p:spPr>
              <a:xfrm>
                <a:off x="5509469" y="4815064"/>
                <a:ext cx="459248" cy="1321334"/>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10" name="Google Shape;1110;p75"/>
              <p:cNvSpPr/>
              <p:nvPr/>
            </p:nvSpPr>
            <p:spPr>
              <a:xfrm>
                <a:off x="5865058" y="4918723"/>
                <a:ext cx="379208" cy="1091709"/>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11" name="Google Shape;1111;p75"/>
              <p:cNvSpPr/>
              <p:nvPr/>
            </p:nvSpPr>
            <p:spPr>
              <a:xfrm>
                <a:off x="6181284" y="5156223"/>
                <a:ext cx="286046" cy="616710"/>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12" name="Google Shape;1112;p75"/>
              <p:cNvSpPr/>
              <p:nvPr/>
            </p:nvSpPr>
            <p:spPr>
              <a:xfrm>
                <a:off x="6452895" y="5291374"/>
                <a:ext cx="194196" cy="347720"/>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13" name="Google Shape;1113;p75"/>
              <p:cNvSpPr/>
              <p:nvPr/>
            </p:nvSpPr>
            <p:spPr>
              <a:xfrm>
                <a:off x="6685144" y="5387161"/>
                <a:ext cx="213878" cy="154834"/>
              </a:xfrm>
              <a:prstGeom prst="cube">
                <a:avLst>
                  <a:gd name="adj" fmla="val 4052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14" name="Google Shape;1114;p75"/>
              <p:cNvSpPr/>
              <p:nvPr/>
            </p:nvSpPr>
            <p:spPr>
              <a:xfrm>
                <a:off x="6969877" y="5274316"/>
                <a:ext cx="194196" cy="381835"/>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15" name="Google Shape;1115;p75"/>
              <p:cNvSpPr/>
              <p:nvPr/>
            </p:nvSpPr>
            <p:spPr>
              <a:xfrm>
                <a:off x="7162762" y="5156223"/>
                <a:ext cx="259803" cy="616710"/>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16" name="Google Shape;1116;p75"/>
              <p:cNvSpPr/>
              <p:nvPr/>
            </p:nvSpPr>
            <p:spPr>
              <a:xfrm>
                <a:off x="7372704" y="4918723"/>
                <a:ext cx="379207" cy="1091709"/>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17" name="Google Shape;1117;p75"/>
              <p:cNvSpPr/>
              <p:nvPr/>
            </p:nvSpPr>
            <p:spPr>
              <a:xfrm>
                <a:off x="7646940" y="4815064"/>
                <a:ext cx="459248" cy="1321334"/>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18" name="Google Shape;1118;p75"/>
              <p:cNvSpPr/>
              <p:nvPr/>
            </p:nvSpPr>
            <p:spPr>
              <a:xfrm>
                <a:off x="7950044" y="4815064"/>
                <a:ext cx="459248" cy="1321334"/>
              </a:xfrm>
              <a:prstGeom prst="cube">
                <a:avLst>
                  <a:gd name="adj" fmla="val 67261"/>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119" name="Google Shape;1119;p75"/>
            <p:cNvSpPr txBox="1"/>
            <p:nvPr/>
          </p:nvSpPr>
          <p:spPr>
            <a:xfrm>
              <a:off x="4835260" y="3686497"/>
              <a:ext cx="3913645"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Encode to 1D vector then decode</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p76"/>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Putting It Together – Block Sizes</a:t>
            </a:r>
            <a:endParaRPr/>
          </a:p>
        </p:txBody>
      </p:sp>
      <p:sp>
        <p:nvSpPr>
          <p:cNvPr id="1125" name="Google Shape;1125;p76"/>
          <p:cNvSpPr txBox="1"/>
          <p:nvPr/>
        </p:nvSpPr>
        <p:spPr>
          <a:xfrm flipH="1">
            <a:off x="339725" y="1412875"/>
            <a:ext cx="8267700" cy="1384300"/>
          </a:xfrm>
          <a:prstGeom prst="rect">
            <a:avLst/>
          </a:prstGeom>
          <a:noFill/>
          <a:ln>
            <a:noFill/>
          </a:ln>
        </p:spPr>
        <p:txBody>
          <a:bodyPr spcFirstLastPara="1" wrap="square" lIns="91425" tIns="45700" rIns="91425" bIns="45700" anchor="t" anchorCtr="0">
            <a:spAutoFit/>
          </a:bodyPr>
          <a:lstStyle/>
          <a:p>
            <a:pPr marL="457200" marR="0" lvl="0" indent="-457200" algn="ctr"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Times New Roman"/>
                <a:ea typeface="Times New Roman"/>
                <a:cs typeface="Times New Roman"/>
                <a:sym typeface="Times New Roman"/>
              </a:rPr>
              <a:t>Often multiple layers at each spatial resolution.</a:t>
            </a:r>
            <a:endParaRPr sz="1400" b="0" i="0" u="none" strike="noStrike" cap="none">
              <a:solidFill>
                <a:srgbClr val="000000"/>
              </a:solidFill>
              <a:latin typeface="Arial"/>
              <a:ea typeface="Arial"/>
              <a:cs typeface="Arial"/>
              <a:sym typeface="Arial"/>
            </a:endParaRPr>
          </a:p>
          <a:p>
            <a:pPr marL="457200" marR="0" lvl="0" indent="-457200" algn="ctr"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Times New Roman"/>
                <a:ea typeface="Times New Roman"/>
                <a:cs typeface="Times New Roman"/>
                <a:sym typeface="Times New Roman"/>
              </a:rPr>
              <a:t>Often halve spatial resolution and double feature depth every few layers </a:t>
            </a:r>
            <a:endParaRPr sz="1400" b="0" i="0" u="none" strike="noStrike" cap="none">
              <a:solidFill>
                <a:srgbClr val="000000"/>
              </a:solidFill>
              <a:latin typeface="Arial"/>
              <a:ea typeface="Arial"/>
              <a:cs typeface="Arial"/>
              <a:sym typeface="Arial"/>
            </a:endParaRPr>
          </a:p>
        </p:txBody>
      </p:sp>
      <p:sp>
        <p:nvSpPr>
          <p:cNvPr id="1126" name="Google Shape;1126;p76"/>
          <p:cNvSpPr/>
          <p:nvPr/>
        </p:nvSpPr>
        <p:spPr>
          <a:xfrm>
            <a:off x="1074738" y="4527550"/>
            <a:ext cx="506412" cy="1454150"/>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1127" name="Google Shape;1127;p76"/>
          <p:cNvGrpSpPr/>
          <p:nvPr/>
        </p:nvGrpSpPr>
        <p:grpSpPr>
          <a:xfrm>
            <a:off x="1531938" y="4527550"/>
            <a:ext cx="1028700" cy="1454150"/>
            <a:chOff x="1007938" y="3429000"/>
            <a:chExt cx="1029157" cy="1453287"/>
          </a:xfrm>
        </p:grpSpPr>
        <p:sp>
          <p:nvSpPr>
            <p:cNvPr id="1128" name="Google Shape;1128;p76"/>
            <p:cNvSpPr/>
            <p:nvPr/>
          </p:nvSpPr>
          <p:spPr>
            <a:xfrm>
              <a:off x="1007938" y="3429000"/>
              <a:ext cx="505049" cy="1453287"/>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29" name="Google Shape;1129;p76"/>
            <p:cNvSpPr/>
            <p:nvPr/>
          </p:nvSpPr>
          <p:spPr>
            <a:xfrm>
              <a:off x="1260462" y="3429000"/>
              <a:ext cx="505049" cy="1453287"/>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30" name="Google Shape;1130;p76"/>
            <p:cNvSpPr/>
            <p:nvPr/>
          </p:nvSpPr>
          <p:spPr>
            <a:xfrm>
              <a:off x="1532046" y="3429000"/>
              <a:ext cx="505049" cy="1453287"/>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1131" name="Google Shape;1131;p76"/>
          <p:cNvGrpSpPr/>
          <p:nvPr/>
        </p:nvGrpSpPr>
        <p:grpSpPr>
          <a:xfrm>
            <a:off x="2513013" y="4638675"/>
            <a:ext cx="879475" cy="1201738"/>
            <a:chOff x="1865080" y="3539684"/>
            <a:chExt cx="879697" cy="1201064"/>
          </a:xfrm>
        </p:grpSpPr>
        <p:sp>
          <p:nvSpPr>
            <p:cNvPr id="1132" name="Google Shape;1132;p76"/>
            <p:cNvSpPr/>
            <p:nvPr/>
          </p:nvSpPr>
          <p:spPr>
            <a:xfrm>
              <a:off x="1865080" y="3539684"/>
              <a:ext cx="417617" cy="1201064"/>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33" name="Google Shape;1133;p76"/>
            <p:cNvSpPr/>
            <p:nvPr/>
          </p:nvSpPr>
          <p:spPr>
            <a:xfrm>
              <a:off x="2065155" y="3539684"/>
              <a:ext cx="417617" cy="1201064"/>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34" name="Google Shape;1134;p76"/>
            <p:cNvSpPr/>
            <p:nvPr/>
          </p:nvSpPr>
          <p:spPr>
            <a:xfrm>
              <a:off x="2327159" y="3539684"/>
              <a:ext cx="417618" cy="1201064"/>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1135" name="Google Shape;1135;p76"/>
          <p:cNvGrpSpPr/>
          <p:nvPr/>
        </p:nvGrpSpPr>
        <p:grpSpPr>
          <a:xfrm>
            <a:off x="3343275" y="4791075"/>
            <a:ext cx="850900" cy="903288"/>
            <a:chOff x="3020379" y="3692713"/>
            <a:chExt cx="851447" cy="902377"/>
          </a:xfrm>
        </p:grpSpPr>
        <p:sp>
          <p:nvSpPr>
            <p:cNvPr id="1136" name="Google Shape;1136;p76"/>
            <p:cNvSpPr/>
            <p:nvPr/>
          </p:nvSpPr>
          <p:spPr>
            <a:xfrm>
              <a:off x="3020379" y="3692713"/>
              <a:ext cx="344709" cy="902377"/>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37" name="Google Shape;1137;p76"/>
            <p:cNvSpPr/>
            <p:nvPr/>
          </p:nvSpPr>
          <p:spPr>
            <a:xfrm>
              <a:off x="3279308" y="3692713"/>
              <a:ext cx="346297" cy="902377"/>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38" name="Google Shape;1138;p76"/>
            <p:cNvSpPr/>
            <p:nvPr/>
          </p:nvSpPr>
          <p:spPr>
            <a:xfrm>
              <a:off x="3527118" y="3692713"/>
              <a:ext cx="344708" cy="902377"/>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139" name="Google Shape;1139;p76"/>
          <p:cNvSpPr/>
          <p:nvPr/>
        </p:nvSpPr>
        <p:spPr>
          <a:xfrm>
            <a:off x="4146550" y="4903788"/>
            <a:ext cx="284163" cy="677862"/>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1140" name="Google Shape;1140;p76"/>
          <p:cNvGrpSpPr/>
          <p:nvPr/>
        </p:nvGrpSpPr>
        <p:grpSpPr>
          <a:xfrm>
            <a:off x="4383088" y="4791075"/>
            <a:ext cx="812800" cy="903288"/>
            <a:chOff x="4378200" y="3692714"/>
            <a:chExt cx="813470" cy="902376"/>
          </a:xfrm>
        </p:grpSpPr>
        <p:sp>
          <p:nvSpPr>
            <p:cNvPr id="1141" name="Google Shape;1141;p76"/>
            <p:cNvSpPr/>
            <p:nvPr/>
          </p:nvSpPr>
          <p:spPr>
            <a:xfrm>
              <a:off x="4378200" y="3692714"/>
              <a:ext cx="344771" cy="902376"/>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42" name="Google Shape;1142;p76"/>
            <p:cNvSpPr/>
            <p:nvPr/>
          </p:nvSpPr>
          <p:spPr>
            <a:xfrm>
              <a:off x="4616521" y="3692714"/>
              <a:ext cx="344771" cy="902376"/>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43" name="Google Shape;1143;p76"/>
            <p:cNvSpPr/>
            <p:nvPr/>
          </p:nvSpPr>
          <p:spPr>
            <a:xfrm>
              <a:off x="4846898" y="3692714"/>
              <a:ext cx="344772" cy="902376"/>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1144" name="Google Shape;1144;p76"/>
          <p:cNvGrpSpPr/>
          <p:nvPr/>
        </p:nvGrpSpPr>
        <p:grpSpPr>
          <a:xfrm>
            <a:off x="5146675" y="4641850"/>
            <a:ext cx="952500" cy="1201738"/>
            <a:chOff x="5048404" y="3543370"/>
            <a:chExt cx="951694" cy="1201064"/>
          </a:xfrm>
        </p:grpSpPr>
        <p:sp>
          <p:nvSpPr>
            <p:cNvPr id="1145" name="Google Shape;1145;p76"/>
            <p:cNvSpPr/>
            <p:nvPr/>
          </p:nvSpPr>
          <p:spPr>
            <a:xfrm>
              <a:off x="5048404" y="3543370"/>
              <a:ext cx="417160" cy="1201064"/>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46" name="Google Shape;1146;p76"/>
            <p:cNvSpPr/>
            <p:nvPr/>
          </p:nvSpPr>
          <p:spPr>
            <a:xfrm>
              <a:off x="5308534" y="3543370"/>
              <a:ext cx="417160" cy="1201064"/>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47" name="Google Shape;1147;p76"/>
            <p:cNvSpPr/>
            <p:nvPr/>
          </p:nvSpPr>
          <p:spPr>
            <a:xfrm>
              <a:off x="5582939" y="3543370"/>
              <a:ext cx="417159" cy="1201064"/>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1148" name="Google Shape;1148;p76"/>
          <p:cNvGrpSpPr/>
          <p:nvPr/>
        </p:nvGrpSpPr>
        <p:grpSpPr>
          <a:xfrm>
            <a:off x="6049963" y="4527550"/>
            <a:ext cx="1087437" cy="1454150"/>
            <a:chOff x="5835157" y="3429000"/>
            <a:chExt cx="1086610" cy="1453287"/>
          </a:xfrm>
        </p:grpSpPr>
        <p:sp>
          <p:nvSpPr>
            <p:cNvPr id="1149" name="Google Shape;1149;p76"/>
            <p:cNvSpPr/>
            <p:nvPr/>
          </p:nvSpPr>
          <p:spPr>
            <a:xfrm>
              <a:off x="5835157" y="3429000"/>
              <a:ext cx="506027" cy="1453287"/>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50" name="Google Shape;1150;p76"/>
            <p:cNvSpPr/>
            <p:nvPr/>
          </p:nvSpPr>
          <p:spPr>
            <a:xfrm>
              <a:off x="6138138" y="3429000"/>
              <a:ext cx="506028" cy="1453287"/>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51" name="Google Shape;1151;p76"/>
            <p:cNvSpPr/>
            <p:nvPr/>
          </p:nvSpPr>
          <p:spPr>
            <a:xfrm>
              <a:off x="6415740" y="3429000"/>
              <a:ext cx="506027" cy="1453287"/>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152" name="Google Shape;1152;p76"/>
          <p:cNvSpPr/>
          <p:nvPr/>
        </p:nvSpPr>
        <p:spPr>
          <a:xfrm>
            <a:off x="7088188" y="4527550"/>
            <a:ext cx="504825" cy="1454150"/>
          </a:xfrm>
          <a:prstGeom prst="cube">
            <a:avLst>
              <a:gd name="adj" fmla="val 67261"/>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53" name="Google Shape;1153;p76"/>
          <p:cNvSpPr txBox="1"/>
          <p:nvPr/>
        </p:nvSpPr>
        <p:spPr>
          <a:xfrm>
            <a:off x="1752600" y="3128963"/>
            <a:ext cx="776288" cy="9239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D</a:t>
            </a:r>
            <a:endParaRPr sz="1400" b="0" i="0" u="none" strike="noStrike" cap="none">
              <a:solidFill>
                <a:srgbClr val="000000"/>
              </a:solidFill>
              <a:latin typeface="Arial"/>
              <a:ea typeface="Arial"/>
              <a:cs typeface="Arial"/>
              <a:sym typeface="Arial"/>
            </a:endParaRPr>
          </a:p>
        </p:txBody>
      </p:sp>
      <p:sp>
        <p:nvSpPr>
          <p:cNvPr id="1154" name="Google Shape;1154;p76"/>
          <p:cNvSpPr txBox="1"/>
          <p:nvPr/>
        </p:nvSpPr>
        <p:spPr>
          <a:xfrm>
            <a:off x="2586038" y="3128963"/>
            <a:ext cx="776287" cy="9239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H/2 W/2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2D</a:t>
            </a:r>
            <a:endParaRPr sz="1400" b="0" i="0" u="none" strike="noStrike" cap="none">
              <a:solidFill>
                <a:srgbClr val="000000"/>
              </a:solidFill>
              <a:latin typeface="Arial"/>
              <a:ea typeface="Arial"/>
              <a:cs typeface="Arial"/>
              <a:sym typeface="Arial"/>
            </a:endParaRPr>
          </a:p>
        </p:txBody>
      </p:sp>
      <p:sp>
        <p:nvSpPr>
          <p:cNvPr id="1155" name="Google Shape;1155;p76"/>
          <p:cNvSpPr txBox="1"/>
          <p:nvPr/>
        </p:nvSpPr>
        <p:spPr>
          <a:xfrm>
            <a:off x="3433763" y="3128963"/>
            <a:ext cx="749300" cy="9239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H/4</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W/4</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4D</a:t>
            </a:r>
            <a:endParaRPr sz="1400" b="0" i="0" u="none" strike="noStrike" cap="none">
              <a:solidFill>
                <a:srgbClr val="000000"/>
              </a:solidFill>
              <a:latin typeface="Arial"/>
              <a:ea typeface="Arial"/>
              <a:cs typeface="Arial"/>
              <a:sym typeface="Arial"/>
            </a:endParaRPr>
          </a:p>
        </p:txBody>
      </p:sp>
      <p:sp>
        <p:nvSpPr>
          <p:cNvPr id="1156" name="Google Shape;1156;p76"/>
          <p:cNvSpPr txBox="1"/>
          <p:nvPr/>
        </p:nvSpPr>
        <p:spPr>
          <a:xfrm>
            <a:off x="3990975" y="3128963"/>
            <a:ext cx="776288" cy="9239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H/8</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W/8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8D</a:t>
            </a:r>
            <a:endParaRPr sz="1400" b="0" i="0" u="none" strike="noStrike" cap="none">
              <a:solidFill>
                <a:srgbClr val="000000"/>
              </a:solidFill>
              <a:latin typeface="Arial"/>
              <a:ea typeface="Arial"/>
              <a:cs typeface="Arial"/>
              <a:sym typeface="Arial"/>
            </a:endParaRPr>
          </a:p>
        </p:txBody>
      </p:sp>
      <p:sp>
        <p:nvSpPr>
          <p:cNvPr id="1157" name="Google Shape;1157;p76"/>
          <p:cNvSpPr txBox="1"/>
          <p:nvPr/>
        </p:nvSpPr>
        <p:spPr>
          <a:xfrm>
            <a:off x="4587875" y="3128963"/>
            <a:ext cx="747713" cy="9239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H/4</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W/4</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4D</a:t>
            </a:r>
            <a:endParaRPr sz="1400" b="0" i="0" u="none" strike="noStrike" cap="none">
              <a:solidFill>
                <a:srgbClr val="000000"/>
              </a:solidFill>
              <a:latin typeface="Arial"/>
              <a:ea typeface="Arial"/>
              <a:cs typeface="Arial"/>
              <a:sym typeface="Arial"/>
            </a:endParaRPr>
          </a:p>
        </p:txBody>
      </p:sp>
      <p:sp>
        <p:nvSpPr>
          <p:cNvPr id="1158" name="Google Shape;1158;p76"/>
          <p:cNvSpPr txBox="1"/>
          <p:nvPr/>
        </p:nvSpPr>
        <p:spPr>
          <a:xfrm>
            <a:off x="5308600" y="3128963"/>
            <a:ext cx="777875" cy="9239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H/2 W/2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2D</a:t>
            </a:r>
            <a:endParaRPr sz="1400" b="0" i="0" u="none" strike="noStrike" cap="none">
              <a:solidFill>
                <a:srgbClr val="000000"/>
              </a:solidFill>
              <a:latin typeface="Arial"/>
              <a:ea typeface="Arial"/>
              <a:cs typeface="Arial"/>
              <a:sym typeface="Arial"/>
            </a:endParaRPr>
          </a:p>
        </p:txBody>
      </p:sp>
      <p:sp>
        <p:nvSpPr>
          <p:cNvPr id="1159" name="Google Shape;1159;p76"/>
          <p:cNvSpPr txBox="1"/>
          <p:nvPr/>
        </p:nvSpPr>
        <p:spPr>
          <a:xfrm>
            <a:off x="6303963" y="3128963"/>
            <a:ext cx="776287" cy="9239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D</a:t>
            </a:r>
            <a:endParaRPr sz="1400" b="0" i="0" u="none" strike="noStrike" cap="none">
              <a:solidFill>
                <a:srgbClr val="000000"/>
              </a:solidFill>
              <a:latin typeface="Arial"/>
              <a:ea typeface="Arial"/>
              <a:cs typeface="Arial"/>
              <a:sym typeface="Arial"/>
            </a:endParaRPr>
          </a:p>
        </p:txBody>
      </p:sp>
      <p:cxnSp>
        <p:nvCxnSpPr>
          <p:cNvPr id="1160" name="Google Shape;1160;p76"/>
          <p:cNvCxnSpPr/>
          <p:nvPr/>
        </p:nvCxnSpPr>
        <p:spPr>
          <a:xfrm>
            <a:off x="2139950" y="4025900"/>
            <a:ext cx="0" cy="469900"/>
          </a:xfrm>
          <a:prstGeom prst="straightConnector1">
            <a:avLst/>
          </a:prstGeom>
          <a:noFill/>
          <a:ln w="76200" cap="flat" cmpd="sng">
            <a:solidFill>
              <a:schemeClr val="dk1"/>
            </a:solidFill>
            <a:prstDash val="solid"/>
            <a:miter lim="800000"/>
            <a:headEnd type="none" w="sm" len="sm"/>
            <a:tailEnd type="triangle" w="med" len="med"/>
          </a:ln>
        </p:spPr>
      </p:cxnSp>
      <p:cxnSp>
        <p:nvCxnSpPr>
          <p:cNvPr id="1161" name="Google Shape;1161;p76"/>
          <p:cNvCxnSpPr/>
          <p:nvPr/>
        </p:nvCxnSpPr>
        <p:spPr>
          <a:xfrm>
            <a:off x="2974975" y="4025900"/>
            <a:ext cx="0" cy="469900"/>
          </a:xfrm>
          <a:prstGeom prst="straightConnector1">
            <a:avLst/>
          </a:prstGeom>
          <a:noFill/>
          <a:ln w="76200" cap="flat" cmpd="sng">
            <a:solidFill>
              <a:schemeClr val="dk1"/>
            </a:solidFill>
            <a:prstDash val="solid"/>
            <a:miter lim="800000"/>
            <a:headEnd type="none" w="sm" len="sm"/>
            <a:tailEnd type="triangle" w="med" len="med"/>
          </a:ln>
        </p:spPr>
      </p:cxnSp>
      <p:cxnSp>
        <p:nvCxnSpPr>
          <p:cNvPr id="1162" name="Google Shape;1162;p76"/>
          <p:cNvCxnSpPr/>
          <p:nvPr/>
        </p:nvCxnSpPr>
        <p:spPr>
          <a:xfrm>
            <a:off x="3836988" y="4025900"/>
            <a:ext cx="0" cy="469900"/>
          </a:xfrm>
          <a:prstGeom prst="straightConnector1">
            <a:avLst/>
          </a:prstGeom>
          <a:noFill/>
          <a:ln w="76200" cap="flat" cmpd="sng">
            <a:solidFill>
              <a:schemeClr val="dk1"/>
            </a:solidFill>
            <a:prstDash val="solid"/>
            <a:miter lim="800000"/>
            <a:headEnd type="none" w="sm" len="sm"/>
            <a:tailEnd type="triangle" w="med" len="med"/>
          </a:ln>
        </p:spPr>
      </p:cxnSp>
      <p:cxnSp>
        <p:nvCxnSpPr>
          <p:cNvPr id="1163" name="Google Shape;1163;p76"/>
          <p:cNvCxnSpPr/>
          <p:nvPr/>
        </p:nvCxnSpPr>
        <p:spPr>
          <a:xfrm>
            <a:off x="4378325" y="4025900"/>
            <a:ext cx="0" cy="469900"/>
          </a:xfrm>
          <a:prstGeom prst="straightConnector1">
            <a:avLst/>
          </a:prstGeom>
          <a:noFill/>
          <a:ln w="76200" cap="flat" cmpd="sng">
            <a:solidFill>
              <a:schemeClr val="dk1"/>
            </a:solidFill>
            <a:prstDash val="solid"/>
            <a:miter lim="800000"/>
            <a:headEnd type="none" w="sm" len="sm"/>
            <a:tailEnd type="triangle" w="med" len="med"/>
          </a:ln>
        </p:spPr>
      </p:cxnSp>
      <p:cxnSp>
        <p:nvCxnSpPr>
          <p:cNvPr id="1164" name="Google Shape;1164;p76"/>
          <p:cNvCxnSpPr/>
          <p:nvPr/>
        </p:nvCxnSpPr>
        <p:spPr>
          <a:xfrm>
            <a:off x="4949825" y="4025900"/>
            <a:ext cx="0" cy="469900"/>
          </a:xfrm>
          <a:prstGeom prst="straightConnector1">
            <a:avLst/>
          </a:prstGeom>
          <a:noFill/>
          <a:ln w="76200" cap="flat" cmpd="sng">
            <a:solidFill>
              <a:schemeClr val="dk1"/>
            </a:solidFill>
            <a:prstDash val="solid"/>
            <a:miter lim="800000"/>
            <a:headEnd type="none" w="sm" len="sm"/>
            <a:tailEnd type="triangle" w="med" len="med"/>
          </a:ln>
        </p:spPr>
      </p:cxnSp>
      <p:cxnSp>
        <p:nvCxnSpPr>
          <p:cNvPr id="1165" name="Google Shape;1165;p76"/>
          <p:cNvCxnSpPr/>
          <p:nvPr/>
        </p:nvCxnSpPr>
        <p:spPr>
          <a:xfrm>
            <a:off x="5699125" y="4025900"/>
            <a:ext cx="0" cy="469900"/>
          </a:xfrm>
          <a:prstGeom prst="straightConnector1">
            <a:avLst/>
          </a:prstGeom>
          <a:noFill/>
          <a:ln w="76200" cap="flat" cmpd="sng">
            <a:solidFill>
              <a:schemeClr val="dk1"/>
            </a:solidFill>
            <a:prstDash val="solid"/>
            <a:miter lim="800000"/>
            <a:headEnd type="none" w="sm" len="sm"/>
            <a:tailEnd type="triangle" w="med" len="med"/>
          </a:ln>
        </p:spPr>
      </p:cxnSp>
      <p:cxnSp>
        <p:nvCxnSpPr>
          <p:cNvPr id="1166" name="Google Shape;1166;p76"/>
          <p:cNvCxnSpPr/>
          <p:nvPr/>
        </p:nvCxnSpPr>
        <p:spPr>
          <a:xfrm>
            <a:off x="6692900" y="4025900"/>
            <a:ext cx="0" cy="469900"/>
          </a:xfrm>
          <a:prstGeom prst="straightConnector1">
            <a:avLst/>
          </a:prstGeom>
          <a:noFill/>
          <a:ln w="76200" cap="flat" cmpd="sng">
            <a:solidFill>
              <a:schemeClr val="dk1"/>
            </a:solidFill>
            <a:prstDash val="solid"/>
            <a:miter lim="800000"/>
            <a:headEnd type="none" w="sm" len="sm"/>
            <a:tailEnd type="triangle"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0"/>
        <p:cNvGrpSpPr/>
        <p:nvPr/>
      </p:nvGrpSpPr>
      <p:grpSpPr>
        <a:xfrm>
          <a:off x="0" y="0"/>
          <a:ext cx="0" cy="0"/>
          <a:chOff x="0" y="0"/>
          <a:chExt cx="0" cy="0"/>
        </a:xfrm>
      </p:grpSpPr>
      <p:sp>
        <p:nvSpPr>
          <p:cNvPr id="1171" name="Google Shape;1171;p77"/>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Missing Details</a:t>
            </a:r>
            <a:endParaRPr/>
          </a:p>
        </p:txBody>
      </p:sp>
      <p:sp>
        <p:nvSpPr>
          <p:cNvPr id="1172" name="Google Shape;1172;p77"/>
          <p:cNvSpPr txBox="1"/>
          <p:nvPr/>
        </p:nvSpPr>
        <p:spPr>
          <a:xfrm flipH="1">
            <a:off x="-74613" y="1522413"/>
            <a:ext cx="9094788" cy="1385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While the output </a:t>
            </a:r>
            <a:r>
              <a:rPr lang="en-US" sz="2800" b="0" i="1" u="none" strike="noStrike" cap="none">
                <a:solidFill>
                  <a:schemeClr val="dk1"/>
                </a:solidFill>
                <a:latin typeface="Times New Roman"/>
                <a:ea typeface="Times New Roman"/>
                <a:cs typeface="Times New Roman"/>
                <a:sym typeface="Times New Roman"/>
              </a:rPr>
              <a:t>is</a:t>
            </a:r>
            <a:r>
              <a:rPr lang="en-US" sz="2800" b="0" i="0" u="none" strike="noStrike" cap="none">
                <a:solidFill>
                  <a:schemeClr val="dk1"/>
                </a:solidFill>
                <a:latin typeface="Times New Roman"/>
                <a:ea typeface="Times New Roman"/>
                <a:cs typeface="Times New Roman"/>
                <a:sym typeface="Times New Roman"/>
              </a:rPr>
              <a:t> HxW, just upsampling often produces results without details/not aligned with the image.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Times New Roman"/>
                <a:ea typeface="Times New Roman"/>
                <a:cs typeface="Times New Roman"/>
                <a:sym typeface="Times New Roman"/>
              </a:rPr>
              <a:t>Why?</a:t>
            </a:r>
            <a:endParaRPr sz="1400" b="0" i="0" u="none" strike="noStrike" cap="none">
              <a:solidFill>
                <a:srgbClr val="000000"/>
              </a:solidFill>
              <a:latin typeface="Arial"/>
              <a:ea typeface="Arial"/>
              <a:cs typeface="Arial"/>
              <a:sym typeface="Arial"/>
            </a:endParaRPr>
          </a:p>
        </p:txBody>
      </p:sp>
      <p:pic>
        <p:nvPicPr>
          <p:cNvPr id="1173" name="Google Shape;1173;p77"/>
          <p:cNvPicPr preferRelativeResize="0"/>
          <p:nvPr/>
        </p:nvPicPr>
        <p:blipFill rotWithShape="1">
          <a:blip r:embed="rId3">
            <a:alphaModFix/>
          </a:blip>
          <a:srcRect/>
          <a:stretch/>
        </p:blipFill>
        <p:spPr>
          <a:xfrm>
            <a:off x="6965950" y="3429000"/>
            <a:ext cx="1831975" cy="2743200"/>
          </a:xfrm>
          <a:prstGeom prst="rect">
            <a:avLst/>
          </a:prstGeom>
          <a:noFill/>
          <a:ln>
            <a:noFill/>
          </a:ln>
        </p:spPr>
      </p:pic>
      <p:pic>
        <p:nvPicPr>
          <p:cNvPr id="1174" name="Google Shape;1174;p77" descr="http://www.robots.ox.ac.uk/~szheng/crf-rnn-res-voc12-val/2007_000129.jpg"/>
          <p:cNvPicPr preferRelativeResize="0"/>
          <p:nvPr/>
        </p:nvPicPr>
        <p:blipFill rotWithShape="1">
          <a:blip r:embed="rId4">
            <a:alphaModFix/>
          </a:blip>
          <a:srcRect r="66698"/>
          <a:stretch/>
        </p:blipFill>
        <p:spPr>
          <a:xfrm>
            <a:off x="339725" y="3435350"/>
            <a:ext cx="1830388" cy="2743200"/>
          </a:xfrm>
          <a:prstGeom prst="rect">
            <a:avLst/>
          </a:prstGeom>
          <a:noFill/>
          <a:ln>
            <a:noFill/>
          </a:ln>
        </p:spPr>
      </p:pic>
      <p:grpSp>
        <p:nvGrpSpPr>
          <p:cNvPr id="1175" name="Google Shape;1175;p77"/>
          <p:cNvGrpSpPr/>
          <p:nvPr/>
        </p:nvGrpSpPr>
        <p:grpSpPr>
          <a:xfrm>
            <a:off x="2487613" y="4411663"/>
            <a:ext cx="4168775" cy="1758950"/>
            <a:chOff x="635223" y="4234738"/>
            <a:chExt cx="4586338" cy="1934321"/>
          </a:xfrm>
        </p:grpSpPr>
        <p:sp>
          <p:nvSpPr>
            <p:cNvPr id="1176" name="Google Shape;1176;p77"/>
            <p:cNvSpPr/>
            <p:nvPr/>
          </p:nvSpPr>
          <p:spPr>
            <a:xfrm>
              <a:off x="635223" y="4234738"/>
              <a:ext cx="672406" cy="1934321"/>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1177" name="Google Shape;1177;p77"/>
            <p:cNvGrpSpPr/>
            <p:nvPr/>
          </p:nvGrpSpPr>
          <p:grpSpPr>
            <a:xfrm>
              <a:off x="1124246" y="4234738"/>
              <a:ext cx="1711582" cy="1934321"/>
              <a:chOff x="2928437" y="4469630"/>
              <a:chExt cx="1711582" cy="1934321"/>
            </a:xfrm>
          </p:grpSpPr>
          <p:sp>
            <p:nvSpPr>
              <p:cNvPr id="1178" name="Google Shape;1178;p77"/>
              <p:cNvSpPr/>
              <p:nvPr/>
            </p:nvSpPr>
            <p:spPr>
              <a:xfrm>
                <a:off x="2928437" y="4469630"/>
                <a:ext cx="672406" cy="1934321"/>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79" name="Google Shape;1179;p77"/>
              <p:cNvSpPr/>
              <p:nvPr/>
            </p:nvSpPr>
            <p:spPr>
              <a:xfrm>
                <a:off x="3448898" y="4621512"/>
                <a:ext cx="555391" cy="1599132"/>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80" name="Google Shape;1180;p77"/>
              <p:cNvSpPr/>
              <p:nvPr/>
            </p:nvSpPr>
            <p:spPr>
              <a:xfrm>
                <a:off x="3890765" y="4820531"/>
                <a:ext cx="459333" cy="1201095"/>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81" name="Google Shape;1181;p77"/>
              <p:cNvSpPr/>
              <p:nvPr/>
            </p:nvSpPr>
            <p:spPr>
              <a:xfrm>
                <a:off x="4261025" y="4970667"/>
                <a:ext cx="378994" cy="900821"/>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182" name="Google Shape;1182;p77"/>
            <p:cNvSpPr/>
            <p:nvPr/>
          </p:nvSpPr>
          <p:spPr>
            <a:xfrm>
              <a:off x="2765966" y="4878929"/>
              <a:ext cx="314372" cy="616260"/>
            </a:xfrm>
            <a:prstGeom prst="cube">
              <a:avLst>
                <a:gd name="adj" fmla="val 4052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1183" name="Google Shape;1183;p77"/>
            <p:cNvGrpSpPr/>
            <p:nvPr/>
          </p:nvGrpSpPr>
          <p:grpSpPr>
            <a:xfrm>
              <a:off x="3055887" y="4234738"/>
              <a:ext cx="1713327" cy="1934321"/>
              <a:chOff x="4813550" y="4469630"/>
              <a:chExt cx="1713327" cy="1934321"/>
            </a:xfrm>
          </p:grpSpPr>
          <p:sp>
            <p:nvSpPr>
              <p:cNvPr id="1184" name="Google Shape;1184;p77"/>
              <p:cNvSpPr/>
              <p:nvPr/>
            </p:nvSpPr>
            <p:spPr>
              <a:xfrm>
                <a:off x="4813550" y="4970667"/>
                <a:ext cx="378992" cy="900821"/>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85" name="Google Shape;1185;p77"/>
              <p:cNvSpPr/>
              <p:nvPr/>
            </p:nvSpPr>
            <p:spPr>
              <a:xfrm>
                <a:off x="5103471" y="4820531"/>
                <a:ext cx="459332" cy="1201095"/>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86" name="Google Shape;1186;p77"/>
              <p:cNvSpPr/>
              <p:nvPr/>
            </p:nvSpPr>
            <p:spPr>
              <a:xfrm>
                <a:off x="5451026" y="4621512"/>
                <a:ext cx="555391" cy="1599132"/>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187" name="Google Shape;1187;p77"/>
              <p:cNvSpPr/>
              <p:nvPr/>
            </p:nvSpPr>
            <p:spPr>
              <a:xfrm>
                <a:off x="5854471" y="4469630"/>
                <a:ext cx="672406" cy="1934321"/>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188" name="Google Shape;1188;p77"/>
            <p:cNvSpPr/>
            <p:nvPr/>
          </p:nvSpPr>
          <p:spPr>
            <a:xfrm>
              <a:off x="4549154" y="4234738"/>
              <a:ext cx="672407" cy="1934321"/>
            </a:xfrm>
            <a:prstGeom prst="cube">
              <a:avLst>
                <a:gd name="adj" fmla="val 67261"/>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189" name="Google Shape;1189;p77"/>
          <p:cNvSpPr txBox="1"/>
          <p:nvPr/>
        </p:nvSpPr>
        <p:spPr>
          <a:xfrm>
            <a:off x="2487613" y="3429000"/>
            <a:ext cx="4168775" cy="9540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Information about details lost when downsampling!</a:t>
            </a:r>
            <a:endParaRPr sz="1400" b="0" i="0" u="none" strike="noStrike" cap="none">
              <a:solidFill>
                <a:srgbClr val="000000"/>
              </a:solidFill>
              <a:latin typeface="Arial"/>
              <a:ea typeface="Arial"/>
              <a:cs typeface="Arial"/>
              <a:sym typeface="Arial"/>
            </a:endParaRPr>
          </a:p>
        </p:txBody>
      </p:sp>
      <p:sp>
        <p:nvSpPr>
          <p:cNvPr id="1190" name="Google Shape;1190;p77"/>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Result from Long et al. </a:t>
            </a:r>
            <a:r>
              <a:rPr lang="en-US" sz="1200" b="0" i="1" u="none" strike="noStrike" cap="none">
                <a:solidFill>
                  <a:schemeClr val="dk1"/>
                </a:solidFill>
                <a:latin typeface="Times New Roman"/>
                <a:ea typeface="Times New Roman"/>
                <a:cs typeface="Times New Roman"/>
                <a:sym typeface="Times New Roman"/>
              </a:rPr>
              <a:t>Fully Convolutional Networks For Semantic Segmentation</a:t>
            </a:r>
            <a:r>
              <a:rPr lang="en-US" sz="1200" b="0" i="0" u="none" strike="noStrike" cap="none">
                <a:solidFill>
                  <a:schemeClr val="dk1"/>
                </a:solidFill>
                <a:latin typeface="Times New Roman"/>
                <a:ea typeface="Times New Roman"/>
                <a:cs typeface="Times New Roman"/>
                <a:sym typeface="Times New Roman"/>
              </a:rPr>
              <a:t>. CVPR 2014</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4"/>
        <p:cNvGrpSpPr/>
        <p:nvPr/>
      </p:nvGrpSpPr>
      <p:grpSpPr>
        <a:xfrm>
          <a:off x="0" y="0"/>
          <a:ext cx="0" cy="0"/>
          <a:chOff x="0" y="0"/>
          <a:chExt cx="0" cy="0"/>
        </a:xfrm>
      </p:grpSpPr>
      <p:sp>
        <p:nvSpPr>
          <p:cNvPr id="1195" name="Google Shape;1195;p78"/>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Missing Details</a:t>
            </a:r>
            <a:endParaRPr/>
          </a:p>
        </p:txBody>
      </p:sp>
      <p:sp>
        <p:nvSpPr>
          <p:cNvPr id="1196" name="Google Shape;1196;p78"/>
          <p:cNvSpPr txBox="1"/>
          <p:nvPr/>
        </p:nvSpPr>
        <p:spPr>
          <a:xfrm flipH="1">
            <a:off x="339725" y="1522413"/>
            <a:ext cx="8267700" cy="9540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Where is the useful information about the high-frequency details of the image?</a:t>
            </a:r>
            <a:endParaRPr sz="1400" b="0" i="0" u="none" strike="noStrike" cap="none">
              <a:solidFill>
                <a:srgbClr val="000000"/>
              </a:solidFill>
              <a:latin typeface="Arial"/>
              <a:ea typeface="Arial"/>
              <a:cs typeface="Arial"/>
              <a:sym typeface="Arial"/>
            </a:endParaRPr>
          </a:p>
        </p:txBody>
      </p:sp>
      <p:pic>
        <p:nvPicPr>
          <p:cNvPr id="1197" name="Google Shape;1197;p78"/>
          <p:cNvPicPr preferRelativeResize="0"/>
          <p:nvPr/>
        </p:nvPicPr>
        <p:blipFill rotWithShape="1">
          <a:blip r:embed="rId3">
            <a:alphaModFix/>
          </a:blip>
          <a:srcRect/>
          <a:stretch/>
        </p:blipFill>
        <p:spPr>
          <a:xfrm>
            <a:off x="6965950" y="3429000"/>
            <a:ext cx="1831975" cy="2743200"/>
          </a:xfrm>
          <a:prstGeom prst="rect">
            <a:avLst/>
          </a:prstGeom>
          <a:noFill/>
          <a:ln>
            <a:noFill/>
          </a:ln>
        </p:spPr>
      </p:pic>
      <p:pic>
        <p:nvPicPr>
          <p:cNvPr id="1198" name="Google Shape;1198;p78" descr="http://www.robots.ox.ac.uk/~szheng/crf-rnn-res-voc12-val/2007_000129.jpg"/>
          <p:cNvPicPr preferRelativeResize="0"/>
          <p:nvPr/>
        </p:nvPicPr>
        <p:blipFill rotWithShape="1">
          <a:blip r:embed="rId4">
            <a:alphaModFix/>
          </a:blip>
          <a:srcRect r="66698"/>
          <a:stretch/>
        </p:blipFill>
        <p:spPr>
          <a:xfrm>
            <a:off x="339725" y="3435350"/>
            <a:ext cx="1830388" cy="2743200"/>
          </a:xfrm>
          <a:prstGeom prst="rect">
            <a:avLst/>
          </a:prstGeom>
          <a:noFill/>
          <a:ln>
            <a:noFill/>
          </a:ln>
        </p:spPr>
      </p:pic>
      <p:grpSp>
        <p:nvGrpSpPr>
          <p:cNvPr id="1199" name="Google Shape;1199;p78"/>
          <p:cNvGrpSpPr/>
          <p:nvPr/>
        </p:nvGrpSpPr>
        <p:grpSpPr>
          <a:xfrm>
            <a:off x="2487613" y="4411663"/>
            <a:ext cx="4168775" cy="1758950"/>
            <a:chOff x="635223" y="4234738"/>
            <a:chExt cx="4586338" cy="1934321"/>
          </a:xfrm>
        </p:grpSpPr>
        <p:sp>
          <p:nvSpPr>
            <p:cNvPr id="1200" name="Google Shape;1200;p78"/>
            <p:cNvSpPr/>
            <p:nvPr/>
          </p:nvSpPr>
          <p:spPr>
            <a:xfrm>
              <a:off x="635223" y="4234738"/>
              <a:ext cx="672406" cy="1934321"/>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1201" name="Google Shape;1201;p78"/>
            <p:cNvGrpSpPr/>
            <p:nvPr/>
          </p:nvGrpSpPr>
          <p:grpSpPr>
            <a:xfrm>
              <a:off x="1124246" y="4234738"/>
              <a:ext cx="1711582" cy="1934321"/>
              <a:chOff x="2928437" y="4469630"/>
              <a:chExt cx="1711582" cy="1934321"/>
            </a:xfrm>
          </p:grpSpPr>
          <p:sp>
            <p:nvSpPr>
              <p:cNvPr id="1202" name="Google Shape;1202;p78"/>
              <p:cNvSpPr/>
              <p:nvPr/>
            </p:nvSpPr>
            <p:spPr>
              <a:xfrm>
                <a:off x="2928437" y="4469630"/>
                <a:ext cx="672406" cy="1934321"/>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03" name="Google Shape;1203;p78"/>
              <p:cNvSpPr/>
              <p:nvPr/>
            </p:nvSpPr>
            <p:spPr>
              <a:xfrm>
                <a:off x="3448898" y="4621512"/>
                <a:ext cx="555391" cy="1599132"/>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04" name="Google Shape;1204;p78"/>
              <p:cNvSpPr/>
              <p:nvPr/>
            </p:nvSpPr>
            <p:spPr>
              <a:xfrm>
                <a:off x="3890765" y="4820531"/>
                <a:ext cx="459333" cy="1201095"/>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05" name="Google Shape;1205;p78"/>
              <p:cNvSpPr/>
              <p:nvPr/>
            </p:nvSpPr>
            <p:spPr>
              <a:xfrm>
                <a:off x="4261025" y="4970667"/>
                <a:ext cx="378994" cy="900821"/>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206" name="Google Shape;1206;p78"/>
            <p:cNvSpPr/>
            <p:nvPr/>
          </p:nvSpPr>
          <p:spPr>
            <a:xfrm>
              <a:off x="2765966" y="4878929"/>
              <a:ext cx="314372" cy="616260"/>
            </a:xfrm>
            <a:prstGeom prst="cube">
              <a:avLst>
                <a:gd name="adj" fmla="val 4052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nvGrpSpPr>
            <p:cNvPr id="1207" name="Google Shape;1207;p78"/>
            <p:cNvGrpSpPr/>
            <p:nvPr/>
          </p:nvGrpSpPr>
          <p:grpSpPr>
            <a:xfrm>
              <a:off x="3055887" y="4234738"/>
              <a:ext cx="1713327" cy="1934321"/>
              <a:chOff x="4813550" y="4469630"/>
              <a:chExt cx="1713327" cy="1934321"/>
            </a:xfrm>
          </p:grpSpPr>
          <p:sp>
            <p:nvSpPr>
              <p:cNvPr id="1208" name="Google Shape;1208;p78"/>
              <p:cNvSpPr/>
              <p:nvPr/>
            </p:nvSpPr>
            <p:spPr>
              <a:xfrm>
                <a:off x="4813550" y="4970667"/>
                <a:ext cx="378992" cy="900821"/>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09" name="Google Shape;1209;p78"/>
              <p:cNvSpPr/>
              <p:nvPr/>
            </p:nvSpPr>
            <p:spPr>
              <a:xfrm>
                <a:off x="5103471" y="4820531"/>
                <a:ext cx="459332" cy="1201095"/>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10" name="Google Shape;1210;p78"/>
              <p:cNvSpPr/>
              <p:nvPr/>
            </p:nvSpPr>
            <p:spPr>
              <a:xfrm>
                <a:off x="5451026" y="4621512"/>
                <a:ext cx="555391" cy="1599132"/>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11" name="Google Shape;1211;p78"/>
              <p:cNvSpPr/>
              <p:nvPr/>
            </p:nvSpPr>
            <p:spPr>
              <a:xfrm>
                <a:off x="5854471" y="4469630"/>
                <a:ext cx="672406" cy="1934321"/>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212" name="Google Shape;1212;p78"/>
            <p:cNvSpPr/>
            <p:nvPr/>
          </p:nvSpPr>
          <p:spPr>
            <a:xfrm>
              <a:off x="4549154" y="4234738"/>
              <a:ext cx="672407" cy="1934321"/>
            </a:xfrm>
            <a:prstGeom prst="cube">
              <a:avLst>
                <a:gd name="adj" fmla="val 67261"/>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213" name="Google Shape;1213;p78"/>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Result from Long et al. </a:t>
            </a:r>
            <a:r>
              <a:rPr lang="en-US" sz="1200" b="0" i="1" u="none" strike="noStrike" cap="none">
                <a:solidFill>
                  <a:schemeClr val="dk1"/>
                </a:solidFill>
                <a:latin typeface="Times New Roman"/>
                <a:ea typeface="Times New Roman"/>
                <a:cs typeface="Times New Roman"/>
                <a:sym typeface="Times New Roman"/>
              </a:rPr>
              <a:t>Fully Convolutional Networks For Semantic Segmentation</a:t>
            </a:r>
            <a:r>
              <a:rPr lang="en-US" sz="1200" b="0" i="0" u="none" strike="noStrike" cap="none">
                <a:solidFill>
                  <a:schemeClr val="dk1"/>
                </a:solidFill>
                <a:latin typeface="Times New Roman"/>
                <a:ea typeface="Times New Roman"/>
                <a:cs typeface="Times New Roman"/>
                <a:sym typeface="Times New Roman"/>
              </a:rPr>
              <a:t>. CVPR 2014</a:t>
            </a:r>
            <a:endParaRPr sz="1400" b="0" i="0" u="none" strike="noStrike" cap="none">
              <a:solidFill>
                <a:srgbClr val="000000"/>
              </a:solidFill>
              <a:latin typeface="Arial"/>
              <a:ea typeface="Arial"/>
              <a:cs typeface="Arial"/>
              <a:sym typeface="Arial"/>
            </a:endParaRPr>
          </a:p>
        </p:txBody>
      </p:sp>
      <p:grpSp>
        <p:nvGrpSpPr>
          <p:cNvPr id="1214" name="Google Shape;1214;p78"/>
          <p:cNvGrpSpPr/>
          <p:nvPr/>
        </p:nvGrpSpPr>
        <p:grpSpPr>
          <a:xfrm>
            <a:off x="5808663" y="2800350"/>
            <a:ext cx="473075" cy="1439863"/>
            <a:chOff x="5808976" y="2800100"/>
            <a:chExt cx="472708" cy="1440653"/>
          </a:xfrm>
        </p:grpSpPr>
        <p:cxnSp>
          <p:nvCxnSpPr>
            <p:cNvPr id="1215" name="Google Shape;1215;p78"/>
            <p:cNvCxnSpPr/>
            <p:nvPr/>
          </p:nvCxnSpPr>
          <p:spPr>
            <a:xfrm>
              <a:off x="6045330" y="3645113"/>
              <a:ext cx="0" cy="595640"/>
            </a:xfrm>
            <a:prstGeom prst="straightConnector1">
              <a:avLst/>
            </a:prstGeom>
            <a:noFill/>
            <a:ln w="76200" cap="flat" cmpd="sng">
              <a:solidFill>
                <a:schemeClr val="dk1"/>
              </a:solidFill>
              <a:prstDash val="solid"/>
              <a:miter lim="800000"/>
              <a:headEnd type="none" w="sm" len="sm"/>
              <a:tailEnd type="triangle" w="med" len="med"/>
            </a:ln>
          </p:spPr>
        </p:cxnSp>
        <p:sp>
          <p:nvSpPr>
            <p:cNvPr id="1216" name="Google Shape;1216;p78"/>
            <p:cNvSpPr txBox="1"/>
            <p:nvPr/>
          </p:nvSpPr>
          <p:spPr>
            <a:xfrm>
              <a:off x="5808976" y="2800100"/>
              <a:ext cx="472708"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Times New Roman"/>
                  <a:ea typeface="Times New Roman"/>
                  <a:cs typeface="Times New Roman"/>
                  <a:sym typeface="Times New Roman"/>
                </a:rPr>
                <a:t>E</a:t>
              </a:r>
              <a:endParaRPr sz="1400" b="0" i="0" u="none" strike="noStrike" cap="none">
                <a:solidFill>
                  <a:srgbClr val="000000"/>
                </a:solidFill>
                <a:latin typeface="Arial"/>
                <a:ea typeface="Arial"/>
                <a:cs typeface="Arial"/>
                <a:sym typeface="Arial"/>
              </a:endParaRPr>
            </a:p>
          </p:txBody>
        </p:sp>
      </p:grpSp>
      <p:grpSp>
        <p:nvGrpSpPr>
          <p:cNvPr id="1217" name="Google Shape;1217;p78"/>
          <p:cNvGrpSpPr/>
          <p:nvPr/>
        </p:nvGrpSpPr>
        <p:grpSpPr>
          <a:xfrm>
            <a:off x="3203575" y="2800350"/>
            <a:ext cx="473075" cy="1439863"/>
            <a:chOff x="3204082" y="2800100"/>
            <a:chExt cx="472708" cy="1440653"/>
          </a:xfrm>
        </p:grpSpPr>
        <p:cxnSp>
          <p:nvCxnSpPr>
            <p:cNvPr id="1218" name="Google Shape;1218;p78"/>
            <p:cNvCxnSpPr/>
            <p:nvPr/>
          </p:nvCxnSpPr>
          <p:spPr>
            <a:xfrm>
              <a:off x="3440436" y="3645113"/>
              <a:ext cx="0" cy="595640"/>
            </a:xfrm>
            <a:prstGeom prst="straightConnector1">
              <a:avLst/>
            </a:prstGeom>
            <a:noFill/>
            <a:ln w="76200" cap="flat" cmpd="sng">
              <a:solidFill>
                <a:schemeClr val="dk1"/>
              </a:solidFill>
              <a:prstDash val="solid"/>
              <a:miter lim="800000"/>
              <a:headEnd type="none" w="sm" len="sm"/>
              <a:tailEnd type="triangle" w="med" len="med"/>
            </a:ln>
          </p:spPr>
        </p:cxnSp>
        <p:sp>
          <p:nvSpPr>
            <p:cNvPr id="1219" name="Google Shape;1219;p78"/>
            <p:cNvSpPr txBox="1"/>
            <p:nvPr/>
          </p:nvSpPr>
          <p:spPr>
            <a:xfrm>
              <a:off x="3204082" y="2800100"/>
              <a:ext cx="472708"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Times New Roman"/>
                  <a:ea typeface="Times New Roman"/>
                  <a:cs typeface="Times New Roman"/>
                  <a:sym typeface="Times New Roman"/>
                </a:rPr>
                <a:t>B</a:t>
              </a:r>
              <a:endParaRPr sz="1400" b="0" i="0" u="none" strike="noStrike" cap="none">
                <a:solidFill>
                  <a:srgbClr val="000000"/>
                </a:solidFill>
                <a:latin typeface="Arial"/>
                <a:ea typeface="Arial"/>
                <a:cs typeface="Arial"/>
                <a:sym typeface="Arial"/>
              </a:endParaRPr>
            </a:p>
          </p:txBody>
        </p:sp>
      </p:grpSp>
      <p:grpSp>
        <p:nvGrpSpPr>
          <p:cNvPr id="1220" name="Google Shape;1220;p78"/>
          <p:cNvGrpSpPr/>
          <p:nvPr/>
        </p:nvGrpSpPr>
        <p:grpSpPr>
          <a:xfrm>
            <a:off x="2487613" y="2800350"/>
            <a:ext cx="473075" cy="1439863"/>
            <a:chOff x="2487301" y="2800100"/>
            <a:chExt cx="472708" cy="1440653"/>
          </a:xfrm>
        </p:grpSpPr>
        <p:cxnSp>
          <p:nvCxnSpPr>
            <p:cNvPr id="1221" name="Google Shape;1221;p78"/>
            <p:cNvCxnSpPr/>
            <p:nvPr/>
          </p:nvCxnSpPr>
          <p:spPr>
            <a:xfrm>
              <a:off x="2723655" y="3645113"/>
              <a:ext cx="0" cy="595640"/>
            </a:xfrm>
            <a:prstGeom prst="straightConnector1">
              <a:avLst/>
            </a:prstGeom>
            <a:noFill/>
            <a:ln w="76200" cap="flat" cmpd="sng">
              <a:solidFill>
                <a:schemeClr val="dk1"/>
              </a:solidFill>
              <a:prstDash val="solid"/>
              <a:miter lim="800000"/>
              <a:headEnd type="none" w="sm" len="sm"/>
              <a:tailEnd type="triangle" w="med" len="med"/>
            </a:ln>
          </p:spPr>
        </p:cxnSp>
        <p:sp>
          <p:nvSpPr>
            <p:cNvPr id="1222" name="Google Shape;1222;p78"/>
            <p:cNvSpPr txBox="1"/>
            <p:nvPr/>
          </p:nvSpPr>
          <p:spPr>
            <a:xfrm>
              <a:off x="2487301" y="2800100"/>
              <a:ext cx="472708"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Times New Roman"/>
                  <a:ea typeface="Times New Roman"/>
                  <a:cs typeface="Times New Roman"/>
                  <a:sym typeface="Times New Roman"/>
                </a:rPr>
                <a:t>A</a:t>
              </a:r>
              <a:endParaRPr sz="1400" b="0" i="0" u="none" strike="noStrike" cap="none">
                <a:solidFill>
                  <a:srgbClr val="000000"/>
                </a:solidFill>
                <a:latin typeface="Arial"/>
                <a:ea typeface="Arial"/>
                <a:cs typeface="Arial"/>
                <a:sym typeface="Arial"/>
              </a:endParaRPr>
            </a:p>
          </p:txBody>
        </p:sp>
      </p:grpSp>
      <p:grpSp>
        <p:nvGrpSpPr>
          <p:cNvPr id="1223" name="Google Shape;1223;p78"/>
          <p:cNvGrpSpPr/>
          <p:nvPr/>
        </p:nvGrpSpPr>
        <p:grpSpPr>
          <a:xfrm>
            <a:off x="3867150" y="2800350"/>
            <a:ext cx="473075" cy="1439863"/>
            <a:chOff x="3867135" y="2800100"/>
            <a:chExt cx="472708" cy="1440653"/>
          </a:xfrm>
        </p:grpSpPr>
        <p:cxnSp>
          <p:nvCxnSpPr>
            <p:cNvPr id="1224" name="Google Shape;1224;p78"/>
            <p:cNvCxnSpPr/>
            <p:nvPr/>
          </p:nvCxnSpPr>
          <p:spPr>
            <a:xfrm>
              <a:off x="4103489" y="3645113"/>
              <a:ext cx="0" cy="595640"/>
            </a:xfrm>
            <a:prstGeom prst="straightConnector1">
              <a:avLst/>
            </a:prstGeom>
            <a:noFill/>
            <a:ln w="76200" cap="flat" cmpd="sng">
              <a:solidFill>
                <a:schemeClr val="dk1"/>
              </a:solidFill>
              <a:prstDash val="solid"/>
              <a:miter lim="800000"/>
              <a:headEnd type="none" w="sm" len="sm"/>
              <a:tailEnd type="triangle" w="med" len="med"/>
            </a:ln>
          </p:spPr>
        </p:cxnSp>
        <p:sp>
          <p:nvSpPr>
            <p:cNvPr id="1225" name="Google Shape;1225;p78"/>
            <p:cNvSpPr txBox="1"/>
            <p:nvPr/>
          </p:nvSpPr>
          <p:spPr>
            <a:xfrm>
              <a:off x="3867135" y="2800100"/>
              <a:ext cx="472708"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grpSp>
      <p:grpSp>
        <p:nvGrpSpPr>
          <p:cNvPr id="1226" name="Google Shape;1226;p78"/>
          <p:cNvGrpSpPr/>
          <p:nvPr/>
        </p:nvGrpSpPr>
        <p:grpSpPr>
          <a:xfrm>
            <a:off x="5002213" y="2800350"/>
            <a:ext cx="473075" cy="1439863"/>
            <a:chOff x="5002334" y="2800100"/>
            <a:chExt cx="472708" cy="1440653"/>
          </a:xfrm>
        </p:grpSpPr>
        <p:cxnSp>
          <p:nvCxnSpPr>
            <p:cNvPr id="1227" name="Google Shape;1227;p78"/>
            <p:cNvCxnSpPr/>
            <p:nvPr/>
          </p:nvCxnSpPr>
          <p:spPr>
            <a:xfrm>
              <a:off x="5238688" y="3645113"/>
              <a:ext cx="0" cy="595640"/>
            </a:xfrm>
            <a:prstGeom prst="straightConnector1">
              <a:avLst/>
            </a:prstGeom>
            <a:noFill/>
            <a:ln w="76200" cap="flat" cmpd="sng">
              <a:solidFill>
                <a:schemeClr val="dk1"/>
              </a:solidFill>
              <a:prstDash val="solid"/>
              <a:miter lim="800000"/>
              <a:headEnd type="none" w="sm" len="sm"/>
              <a:tailEnd type="triangle" w="med" len="med"/>
            </a:ln>
          </p:spPr>
        </p:cxnSp>
        <p:sp>
          <p:nvSpPr>
            <p:cNvPr id="1228" name="Google Shape;1228;p78"/>
            <p:cNvSpPr txBox="1"/>
            <p:nvPr/>
          </p:nvSpPr>
          <p:spPr>
            <a:xfrm>
              <a:off x="5002334" y="2800100"/>
              <a:ext cx="472708"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Times New Roman"/>
                  <a:ea typeface="Times New Roman"/>
                  <a:cs typeface="Times New Roman"/>
                  <a:sym typeface="Times New Roman"/>
                </a:rPr>
                <a:t>D</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grpSp>
        <p:nvGrpSpPr>
          <p:cNvPr id="1233" name="Google Shape;1233;p79"/>
          <p:cNvGrpSpPr/>
          <p:nvPr/>
        </p:nvGrpSpPr>
        <p:grpSpPr>
          <a:xfrm>
            <a:off x="2394037" y="3733800"/>
            <a:ext cx="5449801" cy="2759075"/>
            <a:chOff x="2394081" y="2816527"/>
            <a:chExt cx="5449271" cy="2759698"/>
          </a:xfrm>
        </p:grpSpPr>
        <p:sp>
          <p:nvSpPr>
            <p:cNvPr id="1234" name="Google Shape;1234;p79"/>
            <p:cNvSpPr/>
            <p:nvPr/>
          </p:nvSpPr>
          <p:spPr>
            <a:xfrm rot="5400000">
              <a:off x="5085293" y="3082560"/>
              <a:ext cx="285814" cy="407947"/>
            </a:xfrm>
            <a:prstGeom prst="leftBrace">
              <a:avLst>
                <a:gd name="adj1" fmla="val 75117"/>
                <a:gd name="adj2" fmla="val 50000"/>
              </a:avLst>
            </a:prstGeom>
            <a:no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235" name="Google Shape;1235;p79"/>
            <p:cNvSpPr/>
            <p:nvPr/>
          </p:nvSpPr>
          <p:spPr>
            <a:xfrm rot="5400000">
              <a:off x="6178180" y="2897575"/>
              <a:ext cx="284227" cy="407947"/>
            </a:xfrm>
            <a:prstGeom prst="leftBrace">
              <a:avLst>
                <a:gd name="adj1" fmla="val 75117"/>
                <a:gd name="adj2" fmla="val 50000"/>
              </a:avLst>
            </a:prstGeom>
            <a:no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236" name="Google Shape;1236;p79"/>
            <p:cNvSpPr/>
            <p:nvPr/>
          </p:nvSpPr>
          <p:spPr>
            <a:xfrm rot="5400000">
              <a:off x="7495678" y="2754667"/>
              <a:ext cx="285814" cy="409535"/>
            </a:xfrm>
            <a:prstGeom prst="leftBrace">
              <a:avLst>
                <a:gd name="adj1" fmla="val 75117"/>
                <a:gd name="adj2" fmla="val 50000"/>
              </a:avLst>
            </a:prstGeom>
            <a:no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1237" name="Google Shape;1237;p79"/>
            <p:cNvGrpSpPr/>
            <p:nvPr/>
          </p:nvGrpSpPr>
          <p:grpSpPr>
            <a:xfrm>
              <a:off x="2394081" y="3205554"/>
              <a:ext cx="5287362" cy="2370671"/>
              <a:chOff x="2394081" y="3205554"/>
              <a:chExt cx="5287362" cy="2370671"/>
            </a:xfrm>
          </p:grpSpPr>
          <p:grpSp>
            <p:nvGrpSpPr>
              <p:cNvPr id="1238" name="Google Shape;1238;p79"/>
              <p:cNvGrpSpPr/>
              <p:nvPr/>
            </p:nvGrpSpPr>
            <p:grpSpPr>
              <a:xfrm>
                <a:off x="2394081" y="3205554"/>
                <a:ext cx="5287362" cy="1452926"/>
                <a:chOff x="2394081" y="3205554"/>
                <a:chExt cx="5287362" cy="1452926"/>
              </a:xfrm>
            </p:grpSpPr>
            <p:grpSp>
              <p:nvGrpSpPr>
                <p:cNvPr id="1239" name="Google Shape;1239;p79"/>
                <p:cNvGrpSpPr/>
                <p:nvPr/>
              </p:nvGrpSpPr>
              <p:grpSpPr>
                <a:xfrm>
                  <a:off x="4952795" y="3205554"/>
                  <a:ext cx="2728648" cy="1452889"/>
                  <a:chOff x="4955508" y="2294507"/>
                  <a:chExt cx="2728648" cy="1452889"/>
                </a:xfrm>
              </p:grpSpPr>
              <p:sp>
                <p:nvSpPr>
                  <p:cNvPr id="1240" name="Google Shape;1240;p79"/>
                  <p:cNvSpPr/>
                  <p:nvPr/>
                </p:nvSpPr>
                <p:spPr>
                  <a:xfrm>
                    <a:off x="4955508" y="2550151"/>
                    <a:ext cx="344455" cy="901903"/>
                  </a:xfrm>
                  <a:prstGeom prst="cube">
                    <a:avLst>
                      <a:gd name="adj" fmla="val 58129"/>
                    </a:avLst>
                  </a:prstGeom>
                  <a:solidFill>
                    <a:srgbClr val="ACACEA"/>
                  </a:solidFill>
                  <a:ln w="12700" cap="flat" cmpd="sng">
                    <a:solidFill>
                      <a:srgbClr val="838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41" name="Google Shape;1241;p79"/>
                  <p:cNvSpPr/>
                  <p:nvPr/>
                </p:nvSpPr>
                <p:spPr>
                  <a:xfrm>
                    <a:off x="5949186" y="2400893"/>
                    <a:ext cx="417472" cy="1200420"/>
                  </a:xfrm>
                  <a:prstGeom prst="cube">
                    <a:avLst>
                      <a:gd name="adj" fmla="val 67261"/>
                    </a:avLst>
                  </a:prstGeom>
                  <a:solidFill>
                    <a:srgbClr val="ACACEA"/>
                  </a:solidFill>
                  <a:ln w="12700" cap="flat" cmpd="sng">
                    <a:solidFill>
                      <a:srgbClr val="838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42" name="Google Shape;1242;p79"/>
                  <p:cNvSpPr/>
                  <p:nvPr/>
                </p:nvSpPr>
                <p:spPr>
                  <a:xfrm>
                    <a:off x="7179380" y="2294507"/>
                    <a:ext cx="504776" cy="1452889"/>
                  </a:xfrm>
                  <a:prstGeom prst="cube">
                    <a:avLst>
                      <a:gd name="adj" fmla="val 67261"/>
                    </a:avLst>
                  </a:prstGeom>
                  <a:solidFill>
                    <a:srgbClr val="ACACEA"/>
                  </a:solidFill>
                  <a:ln w="12700" cap="flat" cmpd="sng">
                    <a:solidFill>
                      <a:srgbClr val="838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1243" name="Google Shape;1243;p79"/>
                <p:cNvGrpSpPr/>
                <p:nvPr/>
              </p:nvGrpSpPr>
              <p:grpSpPr>
                <a:xfrm>
                  <a:off x="2394081" y="4362977"/>
                  <a:ext cx="4865100" cy="295503"/>
                  <a:chOff x="2394081" y="4362977"/>
                  <a:chExt cx="4865100" cy="295503"/>
                </a:xfrm>
              </p:grpSpPr>
              <p:cxnSp>
                <p:nvCxnSpPr>
                  <p:cNvPr id="1244" name="Google Shape;1244;p79"/>
                  <p:cNvCxnSpPr>
                    <a:stCxn id="1245" idx="3"/>
                    <a:endCxn id="1240" idx="3"/>
                  </p:cNvCxnSpPr>
                  <p:nvPr/>
                </p:nvCxnSpPr>
                <p:spPr>
                  <a:xfrm rot="-5400000">
                    <a:off x="4443291" y="3784577"/>
                    <a:ext cx="3300" cy="1160100"/>
                  </a:xfrm>
                  <a:prstGeom prst="curvedConnector3">
                    <a:avLst>
                      <a:gd name="adj1" fmla="val -6817775"/>
                    </a:avLst>
                  </a:prstGeom>
                  <a:noFill/>
                  <a:ln w="76200" cap="flat" cmpd="sng">
                    <a:solidFill>
                      <a:schemeClr val="accent2"/>
                    </a:solidFill>
                    <a:prstDash val="solid"/>
                    <a:miter lim="800000"/>
                    <a:headEnd type="none" w="sm" len="sm"/>
                    <a:tailEnd type="triangle" w="med" len="med"/>
                  </a:ln>
                </p:spPr>
              </p:cxnSp>
              <p:cxnSp>
                <p:nvCxnSpPr>
                  <p:cNvPr id="1246" name="Google Shape;1246;p79"/>
                  <p:cNvCxnSpPr>
                    <a:stCxn id="1247" idx="3"/>
                    <a:endCxn id="1241" idx="3"/>
                  </p:cNvCxnSpPr>
                  <p:nvPr/>
                </p:nvCxnSpPr>
                <p:spPr>
                  <a:xfrm rot="-5400000">
                    <a:off x="4554370" y="3055136"/>
                    <a:ext cx="3300" cy="2917500"/>
                  </a:xfrm>
                  <a:prstGeom prst="curvedConnector3">
                    <a:avLst>
                      <a:gd name="adj1" fmla="val -6817775"/>
                    </a:avLst>
                  </a:prstGeom>
                  <a:noFill/>
                  <a:ln w="76200" cap="flat" cmpd="sng">
                    <a:solidFill>
                      <a:schemeClr val="accent2"/>
                    </a:solidFill>
                    <a:prstDash val="solid"/>
                    <a:miter lim="800000"/>
                    <a:headEnd type="none" w="sm" len="sm"/>
                    <a:tailEnd type="triangle" w="med" len="med"/>
                  </a:ln>
                </p:spPr>
              </p:cxnSp>
              <p:cxnSp>
                <p:nvCxnSpPr>
                  <p:cNvPr id="1248" name="Google Shape;1248;p79"/>
                  <p:cNvCxnSpPr>
                    <a:stCxn id="1249" idx="3"/>
                    <a:endCxn id="1242" idx="3"/>
                  </p:cNvCxnSpPr>
                  <p:nvPr/>
                </p:nvCxnSpPr>
                <p:spPr>
                  <a:xfrm rot="-5400000" flipH="1">
                    <a:off x="4824231" y="2223530"/>
                    <a:ext cx="4800" cy="4865100"/>
                  </a:xfrm>
                  <a:prstGeom prst="curvedConnector3">
                    <a:avLst>
                      <a:gd name="adj1" fmla="val 4639317"/>
                    </a:avLst>
                  </a:prstGeom>
                  <a:noFill/>
                  <a:ln w="76200" cap="flat" cmpd="sng">
                    <a:solidFill>
                      <a:schemeClr val="accent2"/>
                    </a:solidFill>
                    <a:prstDash val="solid"/>
                    <a:miter lim="800000"/>
                    <a:headEnd type="none" w="sm" len="sm"/>
                    <a:tailEnd type="triangle" w="med" len="med"/>
                  </a:ln>
                </p:spPr>
              </p:cxnSp>
            </p:grpSp>
          </p:grpSp>
          <p:sp>
            <p:nvSpPr>
              <p:cNvPr id="1250" name="Google Shape;1250;p79"/>
              <p:cNvSpPr txBox="1"/>
              <p:nvPr/>
            </p:nvSpPr>
            <p:spPr>
              <a:xfrm>
                <a:off x="3721636" y="4991450"/>
                <a:ext cx="1830935"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Copy</a:t>
                </a:r>
                <a:endParaRPr sz="1400" b="0" i="0" u="none" strike="noStrike" cap="none">
                  <a:solidFill>
                    <a:srgbClr val="000000"/>
                  </a:solidFill>
                  <a:latin typeface="Arial"/>
                  <a:ea typeface="Arial"/>
                  <a:cs typeface="Arial"/>
                  <a:sym typeface="Arial"/>
                </a:endParaRPr>
              </a:p>
            </p:txBody>
          </p:sp>
        </p:grpSp>
      </p:grpSp>
      <p:sp>
        <p:nvSpPr>
          <p:cNvPr id="1251" name="Google Shape;1251;p79"/>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Missing Details</a:t>
            </a:r>
            <a:endParaRPr/>
          </a:p>
        </p:txBody>
      </p:sp>
      <p:pic>
        <p:nvPicPr>
          <p:cNvPr id="1252" name="Google Shape;1252;p79" descr="http://www.robots.ox.ac.uk/~szheng/crf-rnn-res-voc12-val/2007_000129.jpg"/>
          <p:cNvPicPr preferRelativeResize="0"/>
          <p:nvPr/>
        </p:nvPicPr>
        <p:blipFill rotWithShape="1">
          <a:blip r:embed="rId3">
            <a:alphaModFix/>
          </a:blip>
          <a:srcRect r="66698"/>
          <a:stretch/>
        </p:blipFill>
        <p:spPr>
          <a:xfrm>
            <a:off x="327025" y="3906838"/>
            <a:ext cx="1250950" cy="1873250"/>
          </a:xfrm>
          <a:prstGeom prst="rect">
            <a:avLst/>
          </a:prstGeom>
          <a:noFill/>
          <a:ln>
            <a:noFill/>
          </a:ln>
        </p:spPr>
      </p:pic>
      <p:sp>
        <p:nvSpPr>
          <p:cNvPr id="1253" name="Google Shape;1253;p79"/>
          <p:cNvSpPr/>
          <p:nvPr/>
        </p:nvSpPr>
        <p:spPr>
          <a:xfrm>
            <a:off x="1690688" y="4117975"/>
            <a:ext cx="506412" cy="1452563"/>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54" name="Google Shape;1254;p79"/>
          <p:cNvSpPr/>
          <p:nvPr/>
        </p:nvSpPr>
        <p:spPr>
          <a:xfrm>
            <a:off x="2058988" y="4117975"/>
            <a:ext cx="504825" cy="1452563"/>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55" name="Google Shape;1255;p79"/>
          <p:cNvSpPr/>
          <p:nvPr/>
        </p:nvSpPr>
        <p:spPr>
          <a:xfrm>
            <a:off x="2830513" y="4232275"/>
            <a:ext cx="417512" cy="1200150"/>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56" name="Google Shape;1256;p79"/>
          <p:cNvSpPr/>
          <p:nvPr/>
        </p:nvSpPr>
        <p:spPr>
          <a:xfrm>
            <a:off x="3533775" y="4381500"/>
            <a:ext cx="344488" cy="901700"/>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57" name="Google Shape;1257;p79"/>
          <p:cNvSpPr/>
          <p:nvPr/>
        </p:nvSpPr>
        <p:spPr>
          <a:xfrm>
            <a:off x="4494213" y="4492625"/>
            <a:ext cx="285750" cy="677863"/>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58" name="Google Shape;1258;p79"/>
          <p:cNvSpPr/>
          <p:nvPr/>
        </p:nvSpPr>
        <p:spPr>
          <a:xfrm>
            <a:off x="5087938" y="4381500"/>
            <a:ext cx="344487" cy="901700"/>
          </a:xfrm>
          <a:prstGeom prst="cube">
            <a:avLst>
              <a:gd name="adj" fmla="val 58129"/>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49" name="Google Shape;1249;p79"/>
          <p:cNvSpPr/>
          <p:nvPr/>
        </p:nvSpPr>
        <p:spPr>
          <a:xfrm>
            <a:off x="2311400" y="4117975"/>
            <a:ext cx="504825" cy="1452563"/>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47" name="Google Shape;1247;p79"/>
          <p:cNvSpPr/>
          <p:nvPr/>
        </p:nvSpPr>
        <p:spPr>
          <a:xfrm>
            <a:off x="3028950" y="4232275"/>
            <a:ext cx="417513" cy="1200150"/>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45" name="Google Shape;1245;p79"/>
          <p:cNvSpPr/>
          <p:nvPr/>
        </p:nvSpPr>
        <p:spPr>
          <a:xfrm>
            <a:off x="3792538" y="4381500"/>
            <a:ext cx="346075" cy="901700"/>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59" name="Google Shape;1259;p79"/>
          <p:cNvSpPr/>
          <p:nvPr/>
        </p:nvSpPr>
        <p:spPr>
          <a:xfrm>
            <a:off x="5318125" y="4381500"/>
            <a:ext cx="346075" cy="901700"/>
          </a:xfrm>
          <a:prstGeom prst="cube">
            <a:avLst>
              <a:gd name="adj" fmla="val 58129"/>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60" name="Google Shape;1260;p79"/>
          <p:cNvSpPr/>
          <p:nvPr/>
        </p:nvSpPr>
        <p:spPr>
          <a:xfrm>
            <a:off x="6064250" y="4232275"/>
            <a:ext cx="417513" cy="1200150"/>
          </a:xfrm>
          <a:prstGeom prst="cube">
            <a:avLst>
              <a:gd name="adj" fmla="val 6726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61" name="Google Shape;1261;p79"/>
          <p:cNvSpPr/>
          <p:nvPr/>
        </p:nvSpPr>
        <p:spPr>
          <a:xfrm>
            <a:off x="6338888" y="4232275"/>
            <a:ext cx="417512" cy="1200150"/>
          </a:xfrm>
          <a:prstGeom prst="cube">
            <a:avLst>
              <a:gd name="adj" fmla="val 6726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62" name="Google Shape;1262;p79"/>
          <p:cNvSpPr/>
          <p:nvPr/>
        </p:nvSpPr>
        <p:spPr>
          <a:xfrm>
            <a:off x="7337425" y="4117975"/>
            <a:ext cx="506413" cy="1452563"/>
          </a:xfrm>
          <a:prstGeom prst="cube">
            <a:avLst>
              <a:gd name="adj" fmla="val 6726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63" name="Google Shape;1263;p79"/>
          <p:cNvSpPr/>
          <p:nvPr/>
        </p:nvSpPr>
        <p:spPr>
          <a:xfrm>
            <a:off x="7616825" y="4117975"/>
            <a:ext cx="504825" cy="1452563"/>
          </a:xfrm>
          <a:prstGeom prst="cube">
            <a:avLst>
              <a:gd name="adj" fmla="val 6726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64" name="Google Shape;1264;p79"/>
          <p:cNvSpPr/>
          <p:nvPr/>
        </p:nvSpPr>
        <p:spPr>
          <a:xfrm>
            <a:off x="8062913" y="4117975"/>
            <a:ext cx="504825" cy="1452563"/>
          </a:xfrm>
          <a:prstGeom prst="cube">
            <a:avLst>
              <a:gd name="adj" fmla="val 67261"/>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65" name="Google Shape;1265;p79"/>
          <p:cNvSpPr txBox="1"/>
          <p:nvPr/>
        </p:nvSpPr>
        <p:spPr>
          <a:xfrm>
            <a:off x="323850" y="1428750"/>
            <a:ext cx="8243888"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How do you send details forward in the network? </a:t>
            </a:r>
            <a:endParaRPr sz="1400" b="0" i="0" u="none" strike="noStrike" cap="none">
              <a:solidFill>
                <a:srgbClr val="000000"/>
              </a:solidFill>
              <a:latin typeface="Arial"/>
              <a:ea typeface="Arial"/>
              <a:cs typeface="Arial"/>
              <a:sym typeface="Arial"/>
            </a:endParaRPr>
          </a:p>
        </p:txBody>
      </p:sp>
      <p:sp>
        <p:nvSpPr>
          <p:cNvPr id="1266" name="Google Shape;1266;p79"/>
          <p:cNvSpPr txBox="1"/>
          <p:nvPr/>
        </p:nvSpPr>
        <p:spPr>
          <a:xfrm>
            <a:off x="373063" y="1897063"/>
            <a:ext cx="8243887" cy="1384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You copy the activations forward.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Subsequent layers at the same resolution figure out how to fuse things.</a:t>
            </a:r>
            <a:endParaRPr sz="1400" b="0" i="0" u="none" strike="noStrike" cap="none">
              <a:solidFill>
                <a:srgbClr val="000000"/>
              </a:solidFill>
              <a:latin typeface="Arial"/>
              <a:ea typeface="Arial"/>
              <a:cs typeface="Arial"/>
              <a:sym typeface="Arial"/>
            </a:endParaRPr>
          </a:p>
        </p:txBody>
      </p:sp>
      <p:sp>
        <p:nvSpPr>
          <p:cNvPr id="1267" name="Google Shape;1267;p79"/>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Result from Long et al. </a:t>
            </a:r>
            <a:r>
              <a:rPr lang="en-US" sz="1200" b="0" i="1" u="none" strike="noStrike" cap="none">
                <a:solidFill>
                  <a:schemeClr val="dk1"/>
                </a:solidFill>
                <a:latin typeface="Times New Roman"/>
                <a:ea typeface="Times New Roman"/>
                <a:cs typeface="Times New Roman"/>
                <a:sym typeface="Times New Roman"/>
              </a:rPr>
              <a:t>Fully Convolutional Networks For Semantic Segmentation</a:t>
            </a:r>
            <a:r>
              <a:rPr lang="en-US" sz="1200" b="0" i="0" u="none" strike="noStrike" cap="none">
                <a:solidFill>
                  <a:schemeClr val="dk1"/>
                </a:solidFill>
                <a:latin typeface="Times New Roman"/>
                <a:ea typeface="Times New Roman"/>
                <a:cs typeface="Times New Roman"/>
                <a:sym typeface="Times New Roman"/>
              </a:rPr>
              <a:t>. CVPR 2014</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6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80"/>
          <p:cNvSpPr/>
          <p:nvPr/>
        </p:nvSpPr>
        <p:spPr>
          <a:xfrm>
            <a:off x="1690688" y="1525588"/>
            <a:ext cx="506412" cy="1452562"/>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73" name="Google Shape;1273;p80"/>
          <p:cNvSpPr/>
          <p:nvPr/>
        </p:nvSpPr>
        <p:spPr>
          <a:xfrm>
            <a:off x="2058988" y="1525588"/>
            <a:ext cx="504825" cy="1452562"/>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74" name="Google Shape;1274;p80"/>
          <p:cNvSpPr/>
          <p:nvPr/>
        </p:nvSpPr>
        <p:spPr>
          <a:xfrm>
            <a:off x="2311400" y="1525588"/>
            <a:ext cx="504825" cy="1452562"/>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75" name="Google Shape;1275;p80"/>
          <p:cNvSpPr/>
          <p:nvPr/>
        </p:nvSpPr>
        <p:spPr>
          <a:xfrm>
            <a:off x="4951413" y="4179888"/>
            <a:ext cx="346075" cy="901700"/>
          </a:xfrm>
          <a:prstGeom prst="cube">
            <a:avLst>
              <a:gd name="adj" fmla="val 58129"/>
            </a:avLst>
          </a:prstGeom>
          <a:solidFill>
            <a:srgbClr val="ACACEA"/>
          </a:solidFill>
          <a:ln w="12700" cap="flat" cmpd="sng">
            <a:solidFill>
              <a:srgbClr val="838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76" name="Google Shape;1276;p80"/>
          <p:cNvSpPr/>
          <p:nvPr/>
        </p:nvSpPr>
        <p:spPr>
          <a:xfrm>
            <a:off x="5945188" y="2828925"/>
            <a:ext cx="417512" cy="1200150"/>
          </a:xfrm>
          <a:prstGeom prst="cube">
            <a:avLst>
              <a:gd name="adj" fmla="val 67261"/>
            </a:avLst>
          </a:prstGeom>
          <a:solidFill>
            <a:srgbClr val="ACACEA"/>
          </a:solidFill>
          <a:ln w="12700" cap="flat" cmpd="sng">
            <a:solidFill>
              <a:srgbClr val="838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77" name="Google Shape;1277;p80"/>
          <p:cNvSpPr/>
          <p:nvPr/>
        </p:nvSpPr>
        <p:spPr>
          <a:xfrm>
            <a:off x="7175500" y="1533525"/>
            <a:ext cx="504825" cy="1452563"/>
          </a:xfrm>
          <a:prstGeom prst="cube">
            <a:avLst>
              <a:gd name="adj" fmla="val 67261"/>
            </a:avLst>
          </a:prstGeom>
          <a:solidFill>
            <a:srgbClr val="ACACEA"/>
          </a:solidFill>
          <a:ln w="12700" cap="flat" cmpd="sng">
            <a:solidFill>
              <a:srgbClr val="838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78" name="Google Shape;1278;p80"/>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U-Net</a:t>
            </a:r>
            <a:endParaRPr/>
          </a:p>
        </p:txBody>
      </p:sp>
      <p:pic>
        <p:nvPicPr>
          <p:cNvPr id="1279" name="Google Shape;1279;p80" descr="http://www.robots.ox.ac.uk/~szheng/crf-rnn-res-voc12-val/2007_000129.jpg"/>
          <p:cNvPicPr preferRelativeResize="0"/>
          <p:nvPr/>
        </p:nvPicPr>
        <p:blipFill rotWithShape="1">
          <a:blip r:embed="rId3">
            <a:alphaModFix/>
          </a:blip>
          <a:srcRect r="66698"/>
          <a:stretch/>
        </p:blipFill>
        <p:spPr>
          <a:xfrm>
            <a:off x="327025" y="1314450"/>
            <a:ext cx="1250950" cy="1874838"/>
          </a:xfrm>
          <a:prstGeom prst="rect">
            <a:avLst/>
          </a:prstGeom>
          <a:noFill/>
          <a:ln>
            <a:noFill/>
          </a:ln>
        </p:spPr>
      </p:pic>
      <p:sp>
        <p:nvSpPr>
          <p:cNvPr id="1280" name="Google Shape;1280;p80"/>
          <p:cNvSpPr/>
          <p:nvPr/>
        </p:nvSpPr>
        <p:spPr>
          <a:xfrm>
            <a:off x="2830513" y="2828925"/>
            <a:ext cx="417512" cy="1200150"/>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81" name="Google Shape;1281;p80"/>
          <p:cNvSpPr/>
          <p:nvPr/>
        </p:nvSpPr>
        <p:spPr>
          <a:xfrm>
            <a:off x="3533775" y="4179888"/>
            <a:ext cx="344488" cy="901700"/>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82" name="Google Shape;1282;p80"/>
          <p:cNvSpPr/>
          <p:nvPr/>
        </p:nvSpPr>
        <p:spPr>
          <a:xfrm>
            <a:off x="4494213" y="5248275"/>
            <a:ext cx="285750" cy="677863"/>
          </a:xfrm>
          <a:prstGeom prst="cube">
            <a:avLst>
              <a:gd name="adj" fmla="val 49582"/>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83" name="Google Shape;1283;p80"/>
          <p:cNvSpPr/>
          <p:nvPr/>
        </p:nvSpPr>
        <p:spPr>
          <a:xfrm>
            <a:off x="5087938" y="4179888"/>
            <a:ext cx="344487" cy="901700"/>
          </a:xfrm>
          <a:prstGeom prst="cube">
            <a:avLst>
              <a:gd name="adj" fmla="val 58129"/>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84" name="Google Shape;1284;p80"/>
          <p:cNvSpPr/>
          <p:nvPr/>
        </p:nvSpPr>
        <p:spPr>
          <a:xfrm>
            <a:off x="3028950" y="2828925"/>
            <a:ext cx="417513" cy="1200150"/>
          </a:xfrm>
          <a:prstGeom prst="cube">
            <a:avLst>
              <a:gd name="adj" fmla="val 67261"/>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85" name="Google Shape;1285;p80"/>
          <p:cNvSpPr/>
          <p:nvPr/>
        </p:nvSpPr>
        <p:spPr>
          <a:xfrm>
            <a:off x="3792538" y="4179888"/>
            <a:ext cx="346075" cy="901700"/>
          </a:xfrm>
          <a:prstGeom prst="cube">
            <a:avLst>
              <a:gd name="adj" fmla="val 58129"/>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86" name="Google Shape;1286;p80"/>
          <p:cNvSpPr/>
          <p:nvPr/>
        </p:nvSpPr>
        <p:spPr>
          <a:xfrm>
            <a:off x="5318125" y="4179888"/>
            <a:ext cx="346075" cy="901700"/>
          </a:xfrm>
          <a:prstGeom prst="cube">
            <a:avLst>
              <a:gd name="adj" fmla="val 58129"/>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87" name="Google Shape;1287;p80"/>
          <p:cNvSpPr/>
          <p:nvPr/>
        </p:nvSpPr>
        <p:spPr>
          <a:xfrm>
            <a:off x="6064250" y="2828925"/>
            <a:ext cx="417513" cy="1200150"/>
          </a:xfrm>
          <a:prstGeom prst="cube">
            <a:avLst>
              <a:gd name="adj" fmla="val 6726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88" name="Google Shape;1288;p80"/>
          <p:cNvSpPr/>
          <p:nvPr/>
        </p:nvSpPr>
        <p:spPr>
          <a:xfrm>
            <a:off x="6338888" y="2828925"/>
            <a:ext cx="417512" cy="1200150"/>
          </a:xfrm>
          <a:prstGeom prst="cube">
            <a:avLst>
              <a:gd name="adj" fmla="val 6726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89" name="Google Shape;1289;p80"/>
          <p:cNvSpPr/>
          <p:nvPr/>
        </p:nvSpPr>
        <p:spPr>
          <a:xfrm>
            <a:off x="7337425" y="1525588"/>
            <a:ext cx="506413" cy="1452562"/>
          </a:xfrm>
          <a:prstGeom prst="cube">
            <a:avLst>
              <a:gd name="adj" fmla="val 6726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90" name="Google Shape;1290;p80"/>
          <p:cNvSpPr/>
          <p:nvPr/>
        </p:nvSpPr>
        <p:spPr>
          <a:xfrm>
            <a:off x="7616825" y="1525588"/>
            <a:ext cx="504825" cy="1452562"/>
          </a:xfrm>
          <a:prstGeom prst="cube">
            <a:avLst>
              <a:gd name="adj" fmla="val 67261"/>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291" name="Google Shape;1291;p80"/>
          <p:cNvSpPr/>
          <p:nvPr/>
        </p:nvSpPr>
        <p:spPr>
          <a:xfrm>
            <a:off x="8062913" y="1525588"/>
            <a:ext cx="504825" cy="1452562"/>
          </a:xfrm>
          <a:prstGeom prst="cube">
            <a:avLst>
              <a:gd name="adj" fmla="val 67261"/>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cxnSp>
        <p:nvCxnSpPr>
          <p:cNvPr id="1292" name="Google Shape;1292;p80"/>
          <p:cNvCxnSpPr/>
          <p:nvPr/>
        </p:nvCxnSpPr>
        <p:spPr>
          <a:xfrm>
            <a:off x="3063875" y="4179888"/>
            <a:ext cx="347663" cy="584200"/>
          </a:xfrm>
          <a:prstGeom prst="straightConnector1">
            <a:avLst/>
          </a:prstGeom>
          <a:noFill/>
          <a:ln w="76200" cap="flat" cmpd="sng">
            <a:solidFill>
              <a:schemeClr val="dk1"/>
            </a:solidFill>
            <a:prstDash val="solid"/>
            <a:miter lim="800000"/>
            <a:headEnd type="none" w="sm" len="sm"/>
            <a:tailEnd type="triangle" w="med" len="med"/>
          </a:ln>
        </p:spPr>
      </p:cxnSp>
      <p:cxnSp>
        <p:nvCxnSpPr>
          <p:cNvPr id="1293" name="Google Shape;1293;p80"/>
          <p:cNvCxnSpPr/>
          <p:nvPr/>
        </p:nvCxnSpPr>
        <p:spPr>
          <a:xfrm>
            <a:off x="2392363" y="3027363"/>
            <a:ext cx="347662" cy="585787"/>
          </a:xfrm>
          <a:prstGeom prst="straightConnector1">
            <a:avLst/>
          </a:prstGeom>
          <a:noFill/>
          <a:ln w="76200" cap="flat" cmpd="sng">
            <a:solidFill>
              <a:schemeClr val="dk1"/>
            </a:solidFill>
            <a:prstDash val="solid"/>
            <a:miter lim="800000"/>
            <a:headEnd type="none" w="sm" len="sm"/>
            <a:tailEnd type="triangle" w="med" len="med"/>
          </a:ln>
        </p:spPr>
      </p:cxnSp>
      <p:cxnSp>
        <p:nvCxnSpPr>
          <p:cNvPr id="1294" name="Google Shape;1294;p80"/>
          <p:cNvCxnSpPr/>
          <p:nvPr/>
        </p:nvCxnSpPr>
        <p:spPr>
          <a:xfrm>
            <a:off x="3967163" y="5183188"/>
            <a:ext cx="346075" cy="584200"/>
          </a:xfrm>
          <a:prstGeom prst="straightConnector1">
            <a:avLst/>
          </a:prstGeom>
          <a:noFill/>
          <a:ln w="76200" cap="flat" cmpd="sng">
            <a:solidFill>
              <a:schemeClr val="dk1"/>
            </a:solidFill>
            <a:prstDash val="solid"/>
            <a:miter lim="800000"/>
            <a:headEnd type="none" w="sm" len="sm"/>
            <a:tailEnd type="triangle" w="med" len="med"/>
          </a:ln>
        </p:spPr>
      </p:cxnSp>
      <p:cxnSp>
        <p:nvCxnSpPr>
          <p:cNvPr id="1295" name="Google Shape;1295;p80"/>
          <p:cNvCxnSpPr>
            <a:endCxn id="1283" idx="3"/>
          </p:cNvCxnSpPr>
          <p:nvPr/>
        </p:nvCxnSpPr>
        <p:spPr>
          <a:xfrm rot="10800000" flipH="1">
            <a:off x="4824958" y="5081588"/>
            <a:ext cx="335100" cy="660300"/>
          </a:xfrm>
          <a:prstGeom prst="straightConnector1">
            <a:avLst/>
          </a:prstGeom>
          <a:noFill/>
          <a:ln w="76200" cap="flat" cmpd="sng">
            <a:solidFill>
              <a:schemeClr val="dk1"/>
            </a:solidFill>
            <a:prstDash val="solid"/>
            <a:miter lim="800000"/>
            <a:headEnd type="none" w="sm" len="sm"/>
            <a:tailEnd type="triangle" w="med" len="med"/>
          </a:ln>
        </p:spPr>
      </p:cxnSp>
      <p:cxnSp>
        <p:nvCxnSpPr>
          <p:cNvPr id="1296" name="Google Shape;1296;p80"/>
          <p:cNvCxnSpPr>
            <a:endCxn id="1287" idx="3"/>
          </p:cNvCxnSpPr>
          <p:nvPr/>
        </p:nvCxnSpPr>
        <p:spPr>
          <a:xfrm rot="10800000" flipH="1">
            <a:off x="5664295" y="4029075"/>
            <a:ext cx="468300" cy="735000"/>
          </a:xfrm>
          <a:prstGeom prst="straightConnector1">
            <a:avLst/>
          </a:prstGeom>
          <a:noFill/>
          <a:ln w="76200" cap="flat" cmpd="sng">
            <a:solidFill>
              <a:schemeClr val="dk1"/>
            </a:solidFill>
            <a:prstDash val="solid"/>
            <a:miter lim="800000"/>
            <a:headEnd type="none" w="sm" len="sm"/>
            <a:tailEnd type="triangle" w="med" len="med"/>
          </a:ln>
        </p:spPr>
      </p:cxnSp>
      <p:cxnSp>
        <p:nvCxnSpPr>
          <p:cNvPr id="1297" name="Google Shape;1297;p80"/>
          <p:cNvCxnSpPr/>
          <p:nvPr/>
        </p:nvCxnSpPr>
        <p:spPr>
          <a:xfrm>
            <a:off x="4229100" y="4630738"/>
            <a:ext cx="685800" cy="0"/>
          </a:xfrm>
          <a:prstGeom prst="straightConnector1">
            <a:avLst/>
          </a:prstGeom>
          <a:noFill/>
          <a:ln w="76200" cap="flat" cmpd="sng">
            <a:solidFill>
              <a:srgbClr val="A5A5A5"/>
            </a:solidFill>
            <a:prstDash val="solid"/>
            <a:miter lim="800000"/>
            <a:headEnd type="none" w="sm" len="sm"/>
            <a:tailEnd type="triangle" w="med" len="med"/>
          </a:ln>
        </p:spPr>
      </p:cxnSp>
      <p:cxnSp>
        <p:nvCxnSpPr>
          <p:cNvPr id="1298" name="Google Shape;1298;p80"/>
          <p:cNvCxnSpPr/>
          <p:nvPr/>
        </p:nvCxnSpPr>
        <p:spPr>
          <a:xfrm>
            <a:off x="3279775" y="3438525"/>
            <a:ext cx="2619375" cy="0"/>
          </a:xfrm>
          <a:prstGeom prst="straightConnector1">
            <a:avLst/>
          </a:prstGeom>
          <a:noFill/>
          <a:ln w="76200" cap="flat" cmpd="sng">
            <a:solidFill>
              <a:srgbClr val="A5A5A5"/>
            </a:solidFill>
            <a:prstDash val="solid"/>
            <a:miter lim="800000"/>
            <a:headEnd type="none" w="sm" len="sm"/>
            <a:tailEnd type="triangle" w="med" len="med"/>
          </a:ln>
        </p:spPr>
      </p:cxnSp>
      <p:cxnSp>
        <p:nvCxnSpPr>
          <p:cNvPr id="1299" name="Google Shape;1299;p80"/>
          <p:cNvCxnSpPr/>
          <p:nvPr/>
        </p:nvCxnSpPr>
        <p:spPr>
          <a:xfrm>
            <a:off x="2678113" y="2259013"/>
            <a:ext cx="4384675" cy="0"/>
          </a:xfrm>
          <a:prstGeom prst="straightConnector1">
            <a:avLst/>
          </a:prstGeom>
          <a:noFill/>
          <a:ln w="76200" cap="flat" cmpd="sng">
            <a:solidFill>
              <a:srgbClr val="A5A5A5"/>
            </a:solidFill>
            <a:prstDash val="solid"/>
            <a:miter lim="800000"/>
            <a:headEnd type="none" w="sm" len="sm"/>
            <a:tailEnd type="triangle" w="med" len="med"/>
          </a:ln>
        </p:spPr>
      </p:cxnSp>
      <p:cxnSp>
        <p:nvCxnSpPr>
          <p:cNvPr id="1300" name="Google Shape;1300;p80"/>
          <p:cNvCxnSpPr>
            <a:endCxn id="1289" idx="3"/>
          </p:cNvCxnSpPr>
          <p:nvPr/>
        </p:nvCxnSpPr>
        <p:spPr>
          <a:xfrm rot="10800000" flipH="1">
            <a:off x="6661622" y="2978150"/>
            <a:ext cx="758700" cy="533400"/>
          </a:xfrm>
          <a:prstGeom prst="straightConnector1">
            <a:avLst/>
          </a:prstGeom>
          <a:noFill/>
          <a:ln w="76200" cap="flat" cmpd="sng">
            <a:solidFill>
              <a:schemeClr val="dk1"/>
            </a:solidFill>
            <a:prstDash val="solid"/>
            <a:miter lim="800000"/>
            <a:headEnd type="none" w="sm" len="sm"/>
            <a:tailEnd type="triangle" w="med" len="med"/>
          </a:ln>
        </p:spPr>
      </p:cxnSp>
      <p:sp>
        <p:nvSpPr>
          <p:cNvPr id="1301" name="Google Shape;1301;p80"/>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Ronneberger et al. “U-Net: Convolutional Networks for Biomedical Image Segmentation. MICCAI 2015 </a:t>
            </a:r>
            <a:endParaRPr sz="1400" b="0" i="0" u="none" strike="noStrike" cap="none">
              <a:solidFill>
                <a:srgbClr val="000000"/>
              </a:solidFill>
              <a:latin typeface="Arial"/>
              <a:ea typeface="Arial"/>
              <a:cs typeface="Arial"/>
              <a:sym typeface="Arial"/>
            </a:endParaRPr>
          </a:p>
        </p:txBody>
      </p:sp>
      <p:sp>
        <p:nvSpPr>
          <p:cNvPr id="1302" name="Google Shape;1302;p80"/>
          <p:cNvSpPr txBox="1"/>
          <p:nvPr/>
        </p:nvSpPr>
        <p:spPr>
          <a:xfrm>
            <a:off x="0" y="4105575"/>
            <a:ext cx="4319700" cy="2247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Extremely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popular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architecture, was originally used for biomedical image segmentation.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06"/>
        <p:cNvGrpSpPr/>
        <p:nvPr/>
      </p:nvGrpSpPr>
      <p:grpSpPr>
        <a:xfrm>
          <a:off x="0" y="0"/>
          <a:ext cx="0" cy="0"/>
          <a:chOff x="0" y="0"/>
          <a:chExt cx="0" cy="0"/>
        </a:xfrm>
      </p:grpSpPr>
      <p:sp>
        <p:nvSpPr>
          <p:cNvPr id="1307" name="Google Shape;1307;p81"/>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Evaluating Pixel Labels </a:t>
            </a:r>
            <a:endParaRPr/>
          </a:p>
        </p:txBody>
      </p:sp>
      <p:sp>
        <p:nvSpPr>
          <p:cNvPr id="1308" name="Google Shape;1308;p81"/>
          <p:cNvSpPr/>
          <p:nvPr/>
        </p:nvSpPr>
        <p:spPr>
          <a:xfrm>
            <a:off x="5668963" y="2613025"/>
            <a:ext cx="739775" cy="1933575"/>
          </a:xfrm>
          <a:prstGeom prst="cube">
            <a:avLst>
              <a:gd name="adj" fmla="val 67261"/>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309" name="Google Shape;1309;p81" descr="http://www.robots.ox.ac.uk/~szheng/crf-rnn-res-voc12-val/2007_000129.jpg"/>
          <p:cNvPicPr preferRelativeResize="0"/>
          <p:nvPr/>
        </p:nvPicPr>
        <p:blipFill rotWithShape="1">
          <a:blip r:embed="rId3">
            <a:alphaModFix/>
          </a:blip>
          <a:srcRect r="66698"/>
          <a:stretch/>
        </p:blipFill>
        <p:spPr>
          <a:xfrm>
            <a:off x="327025" y="2208213"/>
            <a:ext cx="1830388" cy="2743200"/>
          </a:xfrm>
          <a:prstGeom prst="rect">
            <a:avLst/>
          </a:prstGeom>
          <a:noFill/>
          <a:ln>
            <a:noFill/>
          </a:ln>
        </p:spPr>
      </p:pic>
      <p:pic>
        <p:nvPicPr>
          <p:cNvPr id="1310" name="Google Shape;1310;p81"/>
          <p:cNvPicPr preferRelativeResize="0"/>
          <p:nvPr/>
        </p:nvPicPr>
        <p:blipFill rotWithShape="1">
          <a:blip r:embed="rId4">
            <a:alphaModFix/>
          </a:blip>
          <a:srcRect/>
          <a:stretch/>
        </p:blipFill>
        <p:spPr>
          <a:xfrm>
            <a:off x="7056438" y="2208213"/>
            <a:ext cx="1833562" cy="2743200"/>
          </a:xfrm>
          <a:prstGeom prst="rect">
            <a:avLst/>
          </a:prstGeom>
          <a:noFill/>
          <a:ln>
            <a:noFill/>
          </a:ln>
        </p:spPr>
      </p:pic>
      <p:sp>
        <p:nvSpPr>
          <p:cNvPr id="1311" name="Google Shape;1311;p81"/>
          <p:cNvSpPr/>
          <p:nvPr/>
        </p:nvSpPr>
        <p:spPr>
          <a:xfrm>
            <a:off x="2449513" y="2613025"/>
            <a:ext cx="739775" cy="1933575"/>
          </a:xfrm>
          <a:prstGeom prst="cube">
            <a:avLst>
              <a:gd name="adj" fmla="val 67261"/>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cxnSp>
        <p:nvCxnSpPr>
          <p:cNvPr id="1312" name="Google Shape;1312;p81"/>
          <p:cNvCxnSpPr/>
          <p:nvPr/>
        </p:nvCxnSpPr>
        <p:spPr>
          <a:xfrm>
            <a:off x="3244850" y="3579813"/>
            <a:ext cx="371475" cy="0"/>
          </a:xfrm>
          <a:prstGeom prst="straightConnector1">
            <a:avLst/>
          </a:prstGeom>
          <a:noFill/>
          <a:ln w="76200" cap="flat" cmpd="sng">
            <a:solidFill>
              <a:schemeClr val="dk1"/>
            </a:solidFill>
            <a:prstDash val="solid"/>
            <a:miter lim="800000"/>
            <a:headEnd type="none" w="sm" len="sm"/>
            <a:tailEnd type="triangle" w="med" len="med"/>
          </a:ln>
        </p:spPr>
      </p:cxnSp>
      <p:sp>
        <p:nvSpPr>
          <p:cNvPr id="1313" name="Google Shape;1313;p81"/>
          <p:cNvSpPr/>
          <p:nvPr/>
        </p:nvSpPr>
        <p:spPr>
          <a:xfrm>
            <a:off x="3671888" y="3271838"/>
            <a:ext cx="1514475" cy="615950"/>
          </a:xfrm>
          <a:prstGeom prst="rect">
            <a:avLst/>
          </a:prstGeom>
          <a:solidFill>
            <a:srgbClr val="A5A5A5"/>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Times New Roman"/>
                <a:ea typeface="Times New Roman"/>
                <a:cs typeface="Times New Roman"/>
                <a:sym typeface="Times New Roman"/>
              </a:rPr>
              <a:t>CNN</a:t>
            </a:r>
            <a:endParaRPr sz="1400" b="0" i="0" u="none" strike="noStrike" cap="none">
              <a:solidFill>
                <a:srgbClr val="000000"/>
              </a:solidFill>
              <a:latin typeface="Arial"/>
              <a:ea typeface="Arial"/>
              <a:cs typeface="Arial"/>
              <a:sym typeface="Arial"/>
            </a:endParaRPr>
          </a:p>
        </p:txBody>
      </p:sp>
      <p:cxnSp>
        <p:nvCxnSpPr>
          <p:cNvPr id="1314" name="Google Shape;1314;p81"/>
          <p:cNvCxnSpPr/>
          <p:nvPr/>
        </p:nvCxnSpPr>
        <p:spPr>
          <a:xfrm>
            <a:off x="5241925" y="3579813"/>
            <a:ext cx="371475" cy="0"/>
          </a:xfrm>
          <a:prstGeom prst="straightConnector1">
            <a:avLst/>
          </a:prstGeom>
          <a:noFill/>
          <a:ln w="76200" cap="flat" cmpd="sng">
            <a:solidFill>
              <a:schemeClr val="dk1"/>
            </a:solidFill>
            <a:prstDash val="solid"/>
            <a:miter lim="800000"/>
            <a:headEnd type="none" w="sm" len="sm"/>
            <a:tailEnd type="triangle" w="med" len="med"/>
          </a:ln>
        </p:spPr>
      </p:cxnSp>
      <p:sp>
        <p:nvSpPr>
          <p:cNvPr id="1315" name="Google Shape;1315;p81"/>
          <p:cNvSpPr txBox="1"/>
          <p:nvPr/>
        </p:nvSpPr>
        <p:spPr>
          <a:xfrm>
            <a:off x="327025" y="1258888"/>
            <a:ext cx="1830388" cy="9540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Input Image</a:t>
            </a:r>
            <a:endParaRPr sz="1400" b="0" i="0" u="none" strike="noStrike" cap="none">
              <a:solidFill>
                <a:srgbClr val="000000"/>
              </a:solidFill>
              <a:latin typeface="Arial"/>
              <a:ea typeface="Arial"/>
              <a:cs typeface="Arial"/>
              <a:sym typeface="Arial"/>
            </a:endParaRPr>
          </a:p>
        </p:txBody>
      </p:sp>
      <p:sp>
        <p:nvSpPr>
          <p:cNvPr id="1316" name="Google Shape;1316;p81"/>
          <p:cNvSpPr txBox="1"/>
          <p:nvPr/>
        </p:nvSpPr>
        <p:spPr>
          <a:xfrm>
            <a:off x="7058025" y="1258888"/>
            <a:ext cx="1831975" cy="9540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Predicted Classes</a:t>
            </a:r>
            <a:endParaRPr sz="1400" b="0" i="0" u="none" strike="noStrike" cap="none">
              <a:solidFill>
                <a:srgbClr val="000000"/>
              </a:solidFill>
              <a:latin typeface="Arial"/>
              <a:ea typeface="Arial"/>
              <a:cs typeface="Arial"/>
              <a:sym typeface="Arial"/>
            </a:endParaRPr>
          </a:p>
        </p:txBody>
      </p:sp>
      <p:sp>
        <p:nvSpPr>
          <p:cNvPr id="1317" name="Google Shape;1317;p81"/>
          <p:cNvSpPr txBox="1"/>
          <p:nvPr/>
        </p:nvSpPr>
        <p:spPr>
          <a:xfrm>
            <a:off x="327025" y="5046663"/>
            <a:ext cx="8562975"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Times New Roman"/>
                <a:ea typeface="Times New Roman"/>
                <a:cs typeface="Times New Roman"/>
                <a:sym typeface="Times New Roman"/>
              </a:rPr>
              <a:t>How do we convert final HxWxF into labels?</a:t>
            </a:r>
            <a:endParaRPr sz="1400" b="0" i="0" u="none" strike="noStrike" cap="none">
              <a:solidFill>
                <a:srgbClr val="000000"/>
              </a:solidFill>
              <a:latin typeface="Arial"/>
              <a:ea typeface="Arial"/>
              <a:cs typeface="Arial"/>
              <a:sym typeface="Arial"/>
            </a:endParaRPr>
          </a:p>
        </p:txBody>
      </p:sp>
      <p:grpSp>
        <p:nvGrpSpPr>
          <p:cNvPr id="1318" name="Google Shape;1318;p81"/>
          <p:cNvGrpSpPr/>
          <p:nvPr/>
        </p:nvGrpSpPr>
        <p:grpSpPr>
          <a:xfrm>
            <a:off x="5311775" y="2176463"/>
            <a:ext cx="1285875" cy="2157412"/>
            <a:chOff x="5301479" y="2704620"/>
            <a:chExt cx="1169917" cy="1621816"/>
          </a:xfrm>
        </p:grpSpPr>
        <p:sp>
          <p:nvSpPr>
            <p:cNvPr id="1319" name="Google Shape;1319;p81"/>
            <p:cNvSpPr txBox="1"/>
            <p:nvPr/>
          </p:nvSpPr>
          <p:spPr>
            <a:xfrm>
              <a:off x="5301479" y="3864771"/>
              <a:ext cx="40255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1320" name="Google Shape;1320;p81"/>
            <p:cNvSpPr txBox="1"/>
            <p:nvPr/>
          </p:nvSpPr>
          <p:spPr>
            <a:xfrm>
              <a:off x="5502754" y="2901612"/>
              <a:ext cx="40255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1321" name="Google Shape;1321;p81"/>
            <p:cNvSpPr txBox="1"/>
            <p:nvPr/>
          </p:nvSpPr>
          <p:spPr>
            <a:xfrm>
              <a:off x="6068846" y="2704620"/>
              <a:ext cx="40255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p:txBody>
        </p:sp>
      </p:grpSp>
      <p:grpSp>
        <p:nvGrpSpPr>
          <p:cNvPr id="1322" name="Google Shape;1322;p81"/>
          <p:cNvGrpSpPr/>
          <p:nvPr/>
        </p:nvGrpSpPr>
        <p:grpSpPr>
          <a:xfrm>
            <a:off x="2062163" y="2103438"/>
            <a:ext cx="1285875" cy="2159000"/>
            <a:chOff x="5301479" y="2704620"/>
            <a:chExt cx="1169917" cy="1621816"/>
          </a:xfrm>
        </p:grpSpPr>
        <p:sp>
          <p:nvSpPr>
            <p:cNvPr id="1323" name="Google Shape;1323;p81"/>
            <p:cNvSpPr txBox="1"/>
            <p:nvPr/>
          </p:nvSpPr>
          <p:spPr>
            <a:xfrm>
              <a:off x="5301479" y="3864771"/>
              <a:ext cx="40255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H</a:t>
              </a:r>
              <a:endParaRPr sz="1400" b="0" i="0" u="none" strike="noStrike" cap="none">
                <a:solidFill>
                  <a:srgbClr val="000000"/>
                </a:solidFill>
                <a:latin typeface="Arial"/>
                <a:ea typeface="Arial"/>
                <a:cs typeface="Arial"/>
                <a:sym typeface="Arial"/>
              </a:endParaRPr>
            </a:p>
          </p:txBody>
        </p:sp>
        <p:sp>
          <p:nvSpPr>
            <p:cNvPr id="1324" name="Google Shape;1324;p81"/>
            <p:cNvSpPr txBox="1"/>
            <p:nvPr/>
          </p:nvSpPr>
          <p:spPr>
            <a:xfrm>
              <a:off x="5502754" y="2901612"/>
              <a:ext cx="40255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W</a:t>
              </a:r>
              <a:endParaRPr sz="1400" b="0" i="0" u="none" strike="noStrike" cap="none">
                <a:solidFill>
                  <a:srgbClr val="000000"/>
                </a:solidFill>
                <a:latin typeface="Arial"/>
                <a:ea typeface="Arial"/>
                <a:cs typeface="Arial"/>
                <a:sym typeface="Arial"/>
              </a:endParaRPr>
            </a:p>
          </p:txBody>
        </p:sp>
        <p:sp>
          <p:nvSpPr>
            <p:cNvPr id="1325" name="Google Shape;1325;p81"/>
            <p:cNvSpPr txBox="1"/>
            <p:nvPr/>
          </p:nvSpPr>
          <p:spPr>
            <a:xfrm>
              <a:off x="6068846" y="2704620"/>
              <a:ext cx="40255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p:txBody>
        </p:sp>
      </p:grpSp>
      <p:sp>
        <p:nvSpPr>
          <p:cNvPr id="1326" name="Google Shape;1326;p81"/>
          <p:cNvSpPr txBox="1"/>
          <p:nvPr/>
        </p:nvSpPr>
        <p:spPr>
          <a:xfrm>
            <a:off x="446088" y="5605463"/>
            <a:ext cx="8562975" cy="5222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argmax over labels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sp>
        <p:nvSpPr>
          <p:cNvPr id="1331" name="Google Shape;1331;p82"/>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Evaluating Semantic Segmentation</a:t>
            </a:r>
            <a:endParaRPr/>
          </a:p>
        </p:txBody>
      </p:sp>
      <p:sp>
        <p:nvSpPr>
          <p:cNvPr id="1332" name="Google Shape;1332;p82"/>
          <p:cNvSpPr txBox="1"/>
          <p:nvPr/>
        </p:nvSpPr>
        <p:spPr>
          <a:xfrm>
            <a:off x="323850" y="1428750"/>
            <a:ext cx="8243888"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Given predictions, how well did we do? </a:t>
            </a:r>
            <a:endParaRPr sz="1400" b="0" i="0" u="none" strike="noStrike" cap="none">
              <a:solidFill>
                <a:srgbClr val="000000"/>
              </a:solidFill>
              <a:latin typeface="Arial"/>
              <a:ea typeface="Arial"/>
              <a:cs typeface="Arial"/>
              <a:sym typeface="Arial"/>
            </a:endParaRPr>
          </a:p>
        </p:txBody>
      </p:sp>
      <p:pic>
        <p:nvPicPr>
          <p:cNvPr id="1333" name="Google Shape;1333;p82" descr="http://www.robots.ox.ac.uk/~szheng/crf-rnn-res-voc12-val/2007_000129.jpg"/>
          <p:cNvPicPr preferRelativeResize="0"/>
          <p:nvPr/>
        </p:nvPicPr>
        <p:blipFill rotWithShape="1">
          <a:blip r:embed="rId3">
            <a:alphaModFix/>
          </a:blip>
          <a:srcRect r="66698"/>
          <a:stretch/>
        </p:blipFill>
        <p:spPr>
          <a:xfrm>
            <a:off x="612775" y="2749550"/>
            <a:ext cx="2441575" cy="3657600"/>
          </a:xfrm>
          <a:prstGeom prst="rect">
            <a:avLst/>
          </a:prstGeom>
          <a:noFill/>
          <a:ln>
            <a:noFill/>
          </a:ln>
        </p:spPr>
      </p:pic>
      <p:pic>
        <p:nvPicPr>
          <p:cNvPr id="1334" name="Google Shape;1334;p82"/>
          <p:cNvPicPr preferRelativeResize="0"/>
          <p:nvPr/>
        </p:nvPicPr>
        <p:blipFill rotWithShape="1">
          <a:blip r:embed="rId4">
            <a:alphaModFix/>
          </a:blip>
          <a:srcRect/>
          <a:stretch/>
        </p:blipFill>
        <p:spPr>
          <a:xfrm>
            <a:off x="6086475" y="2749550"/>
            <a:ext cx="2444750" cy="3657600"/>
          </a:xfrm>
          <a:prstGeom prst="rect">
            <a:avLst/>
          </a:prstGeom>
          <a:noFill/>
          <a:ln>
            <a:noFill/>
          </a:ln>
        </p:spPr>
      </p:pic>
      <p:pic>
        <p:nvPicPr>
          <p:cNvPr id="1335" name="Google Shape;1335;p82"/>
          <p:cNvPicPr preferRelativeResize="0"/>
          <p:nvPr/>
        </p:nvPicPr>
        <p:blipFill rotWithShape="1">
          <a:blip r:embed="rId5">
            <a:alphaModFix/>
          </a:blip>
          <a:srcRect/>
          <a:stretch/>
        </p:blipFill>
        <p:spPr>
          <a:xfrm>
            <a:off x="3305175" y="2749550"/>
            <a:ext cx="2444750" cy="3657600"/>
          </a:xfrm>
          <a:prstGeom prst="rect">
            <a:avLst/>
          </a:prstGeom>
          <a:noFill/>
          <a:ln>
            <a:noFill/>
          </a:ln>
        </p:spPr>
      </p:pic>
      <p:sp>
        <p:nvSpPr>
          <p:cNvPr id="1336" name="Google Shape;1336;p82"/>
          <p:cNvSpPr txBox="1"/>
          <p:nvPr/>
        </p:nvSpPr>
        <p:spPr>
          <a:xfrm>
            <a:off x="612775" y="2227263"/>
            <a:ext cx="2441575" cy="4603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Input</a:t>
            </a:r>
            <a:endParaRPr sz="1400" b="0" i="0" u="none" strike="noStrike" cap="none">
              <a:solidFill>
                <a:srgbClr val="000000"/>
              </a:solidFill>
              <a:latin typeface="Arial"/>
              <a:ea typeface="Arial"/>
              <a:cs typeface="Arial"/>
              <a:sym typeface="Arial"/>
            </a:endParaRPr>
          </a:p>
        </p:txBody>
      </p:sp>
      <p:sp>
        <p:nvSpPr>
          <p:cNvPr id="1337" name="Google Shape;1337;p82"/>
          <p:cNvSpPr txBox="1"/>
          <p:nvPr/>
        </p:nvSpPr>
        <p:spPr>
          <a:xfrm>
            <a:off x="3307891" y="2226730"/>
            <a:ext cx="2441250" cy="461665"/>
          </a:xfrm>
          <a:prstGeom prst="rect">
            <a:avLst/>
          </a:prstGeom>
          <a:blipFill rotWithShape="1">
            <a:blip r:embed="rId6">
              <a:alphaModFix/>
            </a:blip>
            <a:stretch>
              <a:fillRect t="-10521" r="-747" b="-2894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
        <p:nvSpPr>
          <p:cNvPr id="1338" name="Google Shape;1338;p82"/>
          <p:cNvSpPr txBox="1"/>
          <p:nvPr/>
        </p:nvSpPr>
        <p:spPr>
          <a:xfrm>
            <a:off x="5967128" y="2226730"/>
            <a:ext cx="2685375" cy="461665"/>
          </a:xfrm>
          <a:prstGeom prst="rect">
            <a:avLst/>
          </a:prstGeom>
          <a:blipFill rotWithShape="1">
            <a:blip r:embed="rId7">
              <a:alphaModFix/>
            </a:blip>
            <a:stretch>
              <a:fillRect t="-10521" b="-2894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42"/>
        <p:cNvGrpSpPr/>
        <p:nvPr/>
      </p:nvGrpSpPr>
      <p:grpSpPr>
        <a:xfrm>
          <a:off x="0" y="0"/>
          <a:ext cx="0" cy="0"/>
          <a:chOff x="0" y="0"/>
          <a:chExt cx="0" cy="0"/>
        </a:xfrm>
      </p:grpSpPr>
      <p:sp>
        <p:nvSpPr>
          <p:cNvPr id="1343" name="Google Shape;1343;p83"/>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Evaluating Semantic Segmentation</a:t>
            </a:r>
            <a:endParaRPr/>
          </a:p>
        </p:txBody>
      </p:sp>
      <p:sp>
        <p:nvSpPr>
          <p:cNvPr id="1344" name="Google Shape;1344;p83"/>
          <p:cNvSpPr txBox="1"/>
          <p:nvPr/>
        </p:nvSpPr>
        <p:spPr>
          <a:xfrm>
            <a:off x="246563" y="2905780"/>
            <a:ext cx="4325437" cy="523220"/>
          </a:xfrm>
          <a:prstGeom prst="rect">
            <a:avLst/>
          </a:prstGeom>
          <a:blipFill rotWithShape="1">
            <a:blip r:embed="rId3">
              <a:alphaModFix/>
            </a:blip>
            <a:stretch>
              <a:fillRect t="-12786" b="-3138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grpSp>
        <p:nvGrpSpPr>
          <p:cNvPr id="1345" name="Google Shape;1345;p83"/>
          <p:cNvGrpSpPr/>
          <p:nvPr/>
        </p:nvGrpSpPr>
        <p:grpSpPr>
          <a:xfrm>
            <a:off x="4800600" y="2905125"/>
            <a:ext cx="1844675" cy="3584575"/>
            <a:chOff x="3600425" y="1924660"/>
            <a:chExt cx="1844912" cy="3583478"/>
          </a:xfrm>
        </p:grpSpPr>
        <p:pic>
          <p:nvPicPr>
            <p:cNvPr id="1346" name="Google Shape;1346;p83"/>
            <p:cNvPicPr preferRelativeResize="0"/>
            <p:nvPr/>
          </p:nvPicPr>
          <p:blipFill rotWithShape="1">
            <a:blip r:embed="rId4">
              <a:alphaModFix/>
            </a:blip>
            <a:srcRect/>
            <a:stretch/>
          </p:blipFill>
          <p:spPr>
            <a:xfrm>
              <a:off x="3609667" y="2760129"/>
              <a:ext cx="1835670" cy="2748009"/>
            </a:xfrm>
            <a:prstGeom prst="rect">
              <a:avLst/>
            </a:prstGeom>
            <a:noFill/>
            <a:ln>
              <a:noFill/>
            </a:ln>
          </p:spPr>
        </p:pic>
        <p:sp>
          <p:nvSpPr>
            <p:cNvPr id="1347" name="Google Shape;1347;p83"/>
            <p:cNvSpPr txBox="1"/>
            <p:nvPr/>
          </p:nvSpPr>
          <p:spPr>
            <a:xfrm>
              <a:off x="3600425" y="1924660"/>
              <a:ext cx="1834147" cy="830997"/>
            </a:xfrm>
            <a:prstGeom prst="rect">
              <a:avLst/>
            </a:prstGeom>
            <a:blipFill rotWithShape="1">
              <a:blip r:embed="rId5">
                <a:alphaModFix/>
              </a:blip>
              <a:stretch>
                <a:fillRect t="-5880" b="-16171"/>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grpSp>
      <p:grpSp>
        <p:nvGrpSpPr>
          <p:cNvPr id="1348" name="Google Shape;1348;p83"/>
          <p:cNvGrpSpPr/>
          <p:nvPr/>
        </p:nvGrpSpPr>
        <p:grpSpPr>
          <a:xfrm>
            <a:off x="6880225" y="2905125"/>
            <a:ext cx="2017713" cy="3584575"/>
            <a:chOff x="6301034" y="1924660"/>
            <a:chExt cx="2017562" cy="3583478"/>
          </a:xfrm>
        </p:grpSpPr>
        <p:pic>
          <p:nvPicPr>
            <p:cNvPr id="1349" name="Google Shape;1349;p83"/>
            <p:cNvPicPr preferRelativeResize="0"/>
            <p:nvPr/>
          </p:nvPicPr>
          <p:blipFill rotWithShape="1">
            <a:blip r:embed="rId6">
              <a:alphaModFix/>
            </a:blip>
            <a:srcRect/>
            <a:stretch/>
          </p:blipFill>
          <p:spPr>
            <a:xfrm>
              <a:off x="6390966" y="2760129"/>
              <a:ext cx="1835670" cy="2748009"/>
            </a:xfrm>
            <a:prstGeom prst="rect">
              <a:avLst/>
            </a:prstGeom>
            <a:noFill/>
            <a:ln>
              <a:noFill/>
            </a:ln>
          </p:spPr>
        </p:pic>
        <p:sp>
          <p:nvSpPr>
            <p:cNvPr id="1350" name="Google Shape;1350;p83"/>
            <p:cNvSpPr txBox="1"/>
            <p:nvPr/>
          </p:nvSpPr>
          <p:spPr>
            <a:xfrm>
              <a:off x="6301034" y="1924660"/>
              <a:ext cx="2017562" cy="830997"/>
            </a:xfrm>
            <a:prstGeom prst="rect">
              <a:avLst/>
            </a:prstGeom>
            <a:blipFill rotWithShape="1">
              <a:blip r:embed="rId7">
                <a:alphaModFix/>
              </a:blip>
              <a:stretch>
                <a:fillRect l="-1809" t="-5880" r="-1204" b="-16171"/>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grpSp>
      <p:sp>
        <p:nvSpPr>
          <p:cNvPr id="1351" name="Google Shape;1351;p83"/>
          <p:cNvSpPr txBox="1"/>
          <p:nvPr/>
        </p:nvSpPr>
        <p:spPr>
          <a:xfrm>
            <a:off x="239713" y="3727450"/>
            <a:ext cx="4325937" cy="9540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Intersection over union, averaged over classes</a:t>
            </a:r>
            <a:endParaRPr sz="1400" b="0" i="0" u="none" strike="noStrike" cap="none">
              <a:solidFill>
                <a:srgbClr val="000000"/>
              </a:solidFill>
              <a:latin typeface="Arial"/>
              <a:ea typeface="Arial"/>
              <a:cs typeface="Arial"/>
              <a:sym typeface="Arial"/>
            </a:endParaRPr>
          </a:p>
        </p:txBody>
      </p:sp>
      <p:grpSp>
        <p:nvGrpSpPr>
          <p:cNvPr id="1352" name="Google Shape;1352;p83"/>
          <p:cNvGrpSpPr/>
          <p:nvPr/>
        </p:nvGrpSpPr>
        <p:grpSpPr>
          <a:xfrm>
            <a:off x="463550" y="4830763"/>
            <a:ext cx="3952875" cy="1631950"/>
            <a:chOff x="464208" y="4585393"/>
            <a:chExt cx="3952573" cy="1631216"/>
          </a:xfrm>
        </p:grpSpPr>
        <p:grpSp>
          <p:nvGrpSpPr>
            <p:cNvPr id="1353" name="Google Shape;1353;p83"/>
            <p:cNvGrpSpPr/>
            <p:nvPr/>
          </p:nvGrpSpPr>
          <p:grpSpPr>
            <a:xfrm>
              <a:off x="464208" y="4692530"/>
              <a:ext cx="1416942" cy="1416942"/>
              <a:chOff x="1552031" y="3558270"/>
              <a:chExt cx="1714500" cy="1714500"/>
            </a:xfrm>
          </p:grpSpPr>
          <p:grpSp>
            <p:nvGrpSpPr>
              <p:cNvPr id="1354" name="Google Shape;1354;p83"/>
              <p:cNvGrpSpPr/>
              <p:nvPr/>
            </p:nvGrpSpPr>
            <p:grpSpPr>
              <a:xfrm>
                <a:off x="1552031" y="3558270"/>
                <a:ext cx="1714500" cy="1714500"/>
                <a:chOff x="246563" y="3549357"/>
                <a:chExt cx="1714500" cy="1714500"/>
              </a:xfrm>
            </p:grpSpPr>
            <p:sp>
              <p:nvSpPr>
                <p:cNvPr id="1355" name="Google Shape;1355;p83"/>
                <p:cNvSpPr/>
                <p:nvPr/>
              </p:nvSpPr>
              <p:spPr>
                <a:xfrm>
                  <a:off x="246563" y="3549357"/>
                  <a:ext cx="1143000" cy="1143000"/>
                </a:xfrm>
                <a:prstGeom prst="rect">
                  <a:avLst/>
                </a:prstGeom>
                <a:solidFill>
                  <a:schemeClr val="accen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356" name="Google Shape;1356;p83"/>
                <p:cNvSpPr/>
                <p:nvPr/>
              </p:nvSpPr>
              <p:spPr>
                <a:xfrm>
                  <a:off x="818063" y="4120857"/>
                  <a:ext cx="1143000" cy="1143000"/>
                </a:xfrm>
                <a:prstGeom prst="rect">
                  <a:avLst/>
                </a:prstGeom>
                <a:solidFill>
                  <a:schemeClr val="accen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357" name="Google Shape;1357;p83"/>
              <p:cNvSpPr/>
              <p:nvPr/>
            </p:nvSpPr>
            <p:spPr>
              <a:xfrm>
                <a:off x="2105201" y="4129438"/>
                <a:ext cx="589664" cy="57216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grpSp>
          <p:nvGrpSpPr>
            <p:cNvPr id="1358" name="Google Shape;1358;p83"/>
            <p:cNvGrpSpPr/>
            <p:nvPr/>
          </p:nvGrpSpPr>
          <p:grpSpPr>
            <a:xfrm>
              <a:off x="2999839" y="4692530"/>
              <a:ext cx="1416942" cy="1416942"/>
              <a:chOff x="1464653" y="5253873"/>
              <a:chExt cx="1416942" cy="1416942"/>
            </a:xfrm>
          </p:grpSpPr>
          <p:grpSp>
            <p:nvGrpSpPr>
              <p:cNvPr id="1359" name="Google Shape;1359;p83"/>
              <p:cNvGrpSpPr/>
              <p:nvPr/>
            </p:nvGrpSpPr>
            <p:grpSpPr>
              <a:xfrm>
                <a:off x="1464653" y="5253873"/>
                <a:ext cx="1416942" cy="1416942"/>
                <a:chOff x="246563" y="3549357"/>
                <a:chExt cx="1714500" cy="1714500"/>
              </a:xfrm>
            </p:grpSpPr>
            <p:sp>
              <p:nvSpPr>
                <p:cNvPr id="1360" name="Google Shape;1360;p83"/>
                <p:cNvSpPr/>
                <p:nvPr/>
              </p:nvSpPr>
              <p:spPr>
                <a:xfrm>
                  <a:off x="246563" y="3549357"/>
                  <a:ext cx="1143000" cy="1143000"/>
                </a:xfrm>
                <a:prstGeom prst="rect">
                  <a:avLst/>
                </a:prstGeom>
                <a:solidFill>
                  <a:schemeClr val="accen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sp>
              <p:nvSpPr>
                <p:cNvPr id="1361" name="Google Shape;1361;p83"/>
                <p:cNvSpPr/>
                <p:nvPr/>
              </p:nvSpPr>
              <p:spPr>
                <a:xfrm>
                  <a:off x="818063" y="4120857"/>
                  <a:ext cx="1143000" cy="1143000"/>
                </a:xfrm>
                <a:prstGeom prst="rect">
                  <a:avLst/>
                </a:prstGeom>
                <a:solidFill>
                  <a:schemeClr val="accen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362" name="Google Shape;1362;p83"/>
              <p:cNvSpPr/>
              <p:nvPr/>
            </p:nvSpPr>
            <p:spPr>
              <a:xfrm>
                <a:off x="1921231" y="5717979"/>
                <a:ext cx="487325" cy="4712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grpSp>
        <p:sp>
          <p:nvSpPr>
            <p:cNvPr id="1363" name="Google Shape;1363;p83"/>
            <p:cNvSpPr txBox="1"/>
            <p:nvPr/>
          </p:nvSpPr>
          <p:spPr>
            <a:xfrm>
              <a:off x="1779463" y="4585393"/>
              <a:ext cx="1317492" cy="16312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grpSp>
      <p:sp>
        <p:nvSpPr>
          <p:cNvPr id="1364" name="Google Shape;1364;p83"/>
          <p:cNvSpPr txBox="1"/>
          <p:nvPr/>
        </p:nvSpPr>
        <p:spPr>
          <a:xfrm>
            <a:off x="628650" y="1590675"/>
            <a:ext cx="7786688" cy="9540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Prediction and ground-truth are images where each pixel is one of F classes.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68"/>
        <p:cNvGrpSpPr/>
        <p:nvPr/>
      </p:nvGrpSpPr>
      <p:grpSpPr>
        <a:xfrm>
          <a:off x="0" y="0"/>
          <a:ext cx="0" cy="0"/>
          <a:chOff x="0" y="0"/>
          <a:chExt cx="0" cy="0"/>
        </a:xfrm>
      </p:grpSpPr>
      <p:sp>
        <p:nvSpPr>
          <p:cNvPr id="1369" name="Google Shape;1369;p84"/>
          <p:cNvSpPr txBox="1">
            <a:spLocks noGrp="1"/>
          </p:cNvSpPr>
          <p:nvPr>
            <p:ph type="title"/>
          </p:nvPr>
        </p:nvSpPr>
        <p:spPr>
          <a:xfrm>
            <a:off x="457200" y="21336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Aside.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73"/>
        <p:cNvGrpSpPr/>
        <p:nvPr/>
      </p:nvGrpSpPr>
      <p:grpSpPr>
        <a:xfrm>
          <a:off x="0" y="0"/>
          <a:ext cx="0" cy="0"/>
          <a:chOff x="0" y="0"/>
          <a:chExt cx="0" cy="0"/>
        </a:xfrm>
      </p:grpSpPr>
      <p:sp>
        <p:nvSpPr>
          <p:cNvPr id="1374" name="Google Shape;1374;p85"/>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Why “Transpose Convolution”?</a:t>
            </a:r>
            <a:endParaRPr/>
          </a:p>
        </p:txBody>
      </p:sp>
      <p:sp>
        <p:nvSpPr>
          <p:cNvPr id="1375" name="Google Shape;1375;p85"/>
          <p:cNvSpPr txBox="1"/>
          <p:nvPr/>
        </p:nvSpPr>
        <p:spPr>
          <a:xfrm flipH="1">
            <a:off x="339725" y="1522413"/>
            <a:ext cx="8267700" cy="10779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Can write convolution as matrix-multiply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Input: 4, Filter: 3, Stride: 1, Pad: 1</a:t>
            </a:r>
            <a:endParaRPr sz="1400" b="0" i="0" u="none" strike="noStrike" cap="none">
              <a:solidFill>
                <a:srgbClr val="000000"/>
              </a:solidFill>
              <a:latin typeface="Arial"/>
              <a:ea typeface="Arial"/>
              <a:cs typeface="Arial"/>
              <a:sym typeface="Arial"/>
            </a:endParaRPr>
          </a:p>
        </p:txBody>
      </p:sp>
      <p:sp>
        <p:nvSpPr>
          <p:cNvPr id="1376" name="Google Shape;1376;p85"/>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Example Credit: L. Fei-Fei, J. Johnson, S. Yeung</a:t>
            </a:r>
            <a:endParaRPr sz="1400" b="0" i="0" u="none" strike="noStrike" cap="none">
              <a:solidFill>
                <a:srgbClr val="000000"/>
              </a:solidFill>
              <a:latin typeface="Arial"/>
              <a:ea typeface="Arial"/>
              <a:cs typeface="Arial"/>
              <a:sym typeface="Arial"/>
            </a:endParaRPr>
          </a:p>
        </p:txBody>
      </p:sp>
      <p:grpSp>
        <p:nvGrpSpPr>
          <p:cNvPr id="1377" name="Google Shape;1377;p85"/>
          <p:cNvGrpSpPr/>
          <p:nvPr/>
        </p:nvGrpSpPr>
        <p:grpSpPr>
          <a:xfrm>
            <a:off x="1030288" y="4295775"/>
            <a:ext cx="2897187" cy="1939925"/>
            <a:chOff x="634531" y="3389468"/>
            <a:chExt cx="3505186" cy="2347656"/>
          </a:xfrm>
        </p:grpSpPr>
        <p:sp>
          <p:nvSpPr>
            <p:cNvPr id="1378" name="Google Shape;1378;p85"/>
            <p:cNvSpPr/>
            <p:nvPr/>
          </p:nvSpPr>
          <p:spPr>
            <a:xfrm>
              <a:off x="634531" y="3389468"/>
              <a:ext cx="585798" cy="585954"/>
            </a:xfrm>
            <a:prstGeom prst="rect">
              <a:avLst/>
            </a:prstGeom>
            <a:solidFill>
              <a:schemeClr val="accent6"/>
            </a:solidFill>
            <a:ln w="12700" cap="flat" cmpd="sng">
              <a:solidFill>
                <a:srgbClr val="1616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379" name="Google Shape;1379;p85"/>
            <p:cNvSpPr/>
            <p:nvPr/>
          </p:nvSpPr>
          <p:spPr>
            <a:xfrm>
              <a:off x="1220329" y="3389468"/>
              <a:ext cx="585799" cy="585954"/>
            </a:xfrm>
            <a:prstGeom prst="rect">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1380" name="Google Shape;1380;p85"/>
            <p:cNvSpPr/>
            <p:nvPr/>
          </p:nvSpPr>
          <p:spPr>
            <a:xfrm>
              <a:off x="1806128" y="3389468"/>
              <a:ext cx="587719" cy="585954"/>
            </a:xfrm>
            <a:prstGeom prst="rect">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p:txBody>
        </p:sp>
        <p:sp>
          <p:nvSpPr>
            <p:cNvPr id="1381" name="Google Shape;1381;p85"/>
            <p:cNvSpPr/>
            <p:nvPr/>
          </p:nvSpPr>
          <p:spPr>
            <a:xfrm>
              <a:off x="2388084" y="3389468"/>
              <a:ext cx="585799" cy="585954"/>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382" name="Google Shape;1382;p85"/>
            <p:cNvSpPr/>
            <p:nvPr/>
          </p:nvSpPr>
          <p:spPr>
            <a:xfrm>
              <a:off x="2973883" y="3389468"/>
              <a:ext cx="585798" cy="585954"/>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383" name="Google Shape;1383;p85"/>
            <p:cNvSpPr/>
            <p:nvPr/>
          </p:nvSpPr>
          <p:spPr>
            <a:xfrm>
              <a:off x="3553919" y="3389468"/>
              <a:ext cx="585798" cy="585954"/>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384" name="Google Shape;1384;p85"/>
            <p:cNvSpPr/>
            <p:nvPr/>
          </p:nvSpPr>
          <p:spPr>
            <a:xfrm>
              <a:off x="1220329" y="3977343"/>
              <a:ext cx="585799" cy="585954"/>
            </a:xfrm>
            <a:prstGeom prst="rect">
              <a:avLst/>
            </a:prstGeom>
            <a:solidFill>
              <a:schemeClr val="accent6"/>
            </a:solidFill>
            <a:ln w="12700" cap="flat" cmpd="sng">
              <a:solidFill>
                <a:srgbClr val="1616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385" name="Google Shape;1385;p85"/>
            <p:cNvSpPr/>
            <p:nvPr/>
          </p:nvSpPr>
          <p:spPr>
            <a:xfrm>
              <a:off x="1806128" y="3977343"/>
              <a:ext cx="587719" cy="585954"/>
            </a:xfrm>
            <a:prstGeom prst="rect">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1386" name="Google Shape;1386;p85"/>
            <p:cNvSpPr/>
            <p:nvPr/>
          </p:nvSpPr>
          <p:spPr>
            <a:xfrm>
              <a:off x="2388084" y="3977343"/>
              <a:ext cx="585799" cy="585954"/>
            </a:xfrm>
            <a:prstGeom prst="rect">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p:txBody>
        </p:sp>
        <p:sp>
          <p:nvSpPr>
            <p:cNvPr id="1387" name="Google Shape;1387;p85"/>
            <p:cNvSpPr/>
            <p:nvPr/>
          </p:nvSpPr>
          <p:spPr>
            <a:xfrm>
              <a:off x="2973883" y="3977343"/>
              <a:ext cx="585798" cy="585954"/>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388" name="Google Shape;1388;p85"/>
            <p:cNvSpPr/>
            <p:nvPr/>
          </p:nvSpPr>
          <p:spPr>
            <a:xfrm>
              <a:off x="3553919" y="3977343"/>
              <a:ext cx="585798" cy="585954"/>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389" name="Google Shape;1389;p85"/>
            <p:cNvSpPr/>
            <p:nvPr/>
          </p:nvSpPr>
          <p:spPr>
            <a:xfrm>
              <a:off x="634531" y="3977343"/>
              <a:ext cx="585798" cy="585954"/>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390" name="Google Shape;1390;p85"/>
            <p:cNvSpPr/>
            <p:nvPr/>
          </p:nvSpPr>
          <p:spPr>
            <a:xfrm>
              <a:off x="1806128" y="4561375"/>
              <a:ext cx="587719" cy="585954"/>
            </a:xfrm>
            <a:prstGeom prst="rect">
              <a:avLst/>
            </a:prstGeom>
            <a:solidFill>
              <a:schemeClr val="accent6"/>
            </a:solidFill>
            <a:ln w="12700" cap="flat" cmpd="sng">
              <a:solidFill>
                <a:srgbClr val="1616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391" name="Google Shape;1391;p85"/>
            <p:cNvSpPr/>
            <p:nvPr/>
          </p:nvSpPr>
          <p:spPr>
            <a:xfrm>
              <a:off x="2388084" y="4561375"/>
              <a:ext cx="585799" cy="585954"/>
            </a:xfrm>
            <a:prstGeom prst="rect">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1392" name="Google Shape;1392;p85"/>
            <p:cNvSpPr/>
            <p:nvPr/>
          </p:nvSpPr>
          <p:spPr>
            <a:xfrm>
              <a:off x="2973883" y="4561375"/>
              <a:ext cx="585798" cy="585954"/>
            </a:xfrm>
            <a:prstGeom prst="rect">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p:txBody>
        </p:sp>
        <p:sp>
          <p:nvSpPr>
            <p:cNvPr id="1393" name="Google Shape;1393;p85"/>
            <p:cNvSpPr/>
            <p:nvPr/>
          </p:nvSpPr>
          <p:spPr>
            <a:xfrm>
              <a:off x="3553919" y="4561375"/>
              <a:ext cx="585798" cy="585954"/>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394" name="Google Shape;1394;p85"/>
            <p:cNvSpPr/>
            <p:nvPr/>
          </p:nvSpPr>
          <p:spPr>
            <a:xfrm>
              <a:off x="634531" y="4561375"/>
              <a:ext cx="585798" cy="585954"/>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395" name="Google Shape;1395;p85"/>
            <p:cNvSpPr/>
            <p:nvPr/>
          </p:nvSpPr>
          <p:spPr>
            <a:xfrm>
              <a:off x="1220329" y="4561375"/>
              <a:ext cx="585799" cy="585954"/>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396" name="Google Shape;1396;p85"/>
            <p:cNvSpPr/>
            <p:nvPr/>
          </p:nvSpPr>
          <p:spPr>
            <a:xfrm>
              <a:off x="634531" y="5151171"/>
              <a:ext cx="585798" cy="585953"/>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397" name="Google Shape;1397;p85"/>
            <p:cNvSpPr/>
            <p:nvPr/>
          </p:nvSpPr>
          <p:spPr>
            <a:xfrm>
              <a:off x="2388084" y="5151171"/>
              <a:ext cx="585799" cy="585953"/>
            </a:xfrm>
            <a:prstGeom prst="rect">
              <a:avLst/>
            </a:prstGeom>
            <a:solidFill>
              <a:schemeClr val="accent6"/>
            </a:solidFill>
            <a:ln w="12700" cap="flat" cmpd="sng">
              <a:solidFill>
                <a:srgbClr val="1616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398" name="Google Shape;1398;p85"/>
            <p:cNvSpPr/>
            <p:nvPr/>
          </p:nvSpPr>
          <p:spPr>
            <a:xfrm>
              <a:off x="2973883" y="5151171"/>
              <a:ext cx="585798" cy="585953"/>
            </a:xfrm>
            <a:prstGeom prst="rect">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1399" name="Google Shape;1399;p85"/>
            <p:cNvSpPr/>
            <p:nvPr/>
          </p:nvSpPr>
          <p:spPr>
            <a:xfrm>
              <a:off x="3553919" y="5151171"/>
              <a:ext cx="585798" cy="585953"/>
            </a:xfrm>
            <a:prstGeom prst="rect">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p:txBody>
        </p:sp>
        <p:sp>
          <p:nvSpPr>
            <p:cNvPr id="1400" name="Google Shape;1400;p85"/>
            <p:cNvSpPr/>
            <p:nvPr/>
          </p:nvSpPr>
          <p:spPr>
            <a:xfrm>
              <a:off x="1220329" y="5151171"/>
              <a:ext cx="585799" cy="585953"/>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01" name="Google Shape;1401;p85"/>
            <p:cNvSpPr/>
            <p:nvPr/>
          </p:nvSpPr>
          <p:spPr>
            <a:xfrm>
              <a:off x="1806128" y="5151171"/>
              <a:ext cx="587719" cy="585953"/>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grpSp>
      <p:grpSp>
        <p:nvGrpSpPr>
          <p:cNvPr id="1402" name="Google Shape;1402;p85"/>
          <p:cNvGrpSpPr/>
          <p:nvPr/>
        </p:nvGrpSpPr>
        <p:grpSpPr>
          <a:xfrm>
            <a:off x="3946525" y="4071938"/>
            <a:ext cx="1370013" cy="2387600"/>
            <a:chOff x="3946549" y="4071161"/>
            <a:chExt cx="1370239" cy="2389135"/>
          </a:xfrm>
        </p:grpSpPr>
        <p:grpSp>
          <p:nvGrpSpPr>
            <p:cNvPr id="1403" name="Google Shape;1403;p85"/>
            <p:cNvGrpSpPr/>
            <p:nvPr/>
          </p:nvGrpSpPr>
          <p:grpSpPr>
            <a:xfrm>
              <a:off x="4916672" y="4071161"/>
              <a:ext cx="400116" cy="2389135"/>
              <a:chOff x="4865428" y="2935409"/>
              <a:chExt cx="585809" cy="3497933"/>
            </a:xfrm>
          </p:grpSpPr>
          <p:sp>
            <p:nvSpPr>
              <p:cNvPr id="1404" name="Google Shape;1404;p85"/>
              <p:cNvSpPr/>
              <p:nvPr/>
            </p:nvSpPr>
            <p:spPr>
              <a:xfrm>
                <a:off x="4865428" y="3514521"/>
                <a:ext cx="585809" cy="586090"/>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a</a:t>
                </a:r>
                <a:endParaRPr sz="1400" b="0" i="0" u="none" strike="noStrike" cap="none">
                  <a:solidFill>
                    <a:srgbClr val="000000"/>
                  </a:solidFill>
                  <a:latin typeface="Arial"/>
                  <a:ea typeface="Arial"/>
                  <a:cs typeface="Arial"/>
                  <a:sym typeface="Arial"/>
                </a:endParaRPr>
              </a:p>
            </p:txBody>
          </p:sp>
          <p:sp>
            <p:nvSpPr>
              <p:cNvPr id="1405" name="Google Shape;1405;p85"/>
              <p:cNvSpPr/>
              <p:nvPr/>
            </p:nvSpPr>
            <p:spPr>
              <a:xfrm>
                <a:off x="4865428" y="4100611"/>
                <a:ext cx="585809" cy="586090"/>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b</a:t>
                </a:r>
                <a:endParaRPr sz="1400" b="0" i="0" u="none" strike="noStrike" cap="none">
                  <a:solidFill>
                    <a:srgbClr val="000000"/>
                  </a:solidFill>
                  <a:latin typeface="Arial"/>
                  <a:ea typeface="Arial"/>
                  <a:cs typeface="Arial"/>
                  <a:sym typeface="Arial"/>
                </a:endParaRPr>
              </a:p>
            </p:txBody>
          </p:sp>
          <p:sp>
            <p:nvSpPr>
              <p:cNvPr id="1406" name="Google Shape;1406;p85"/>
              <p:cNvSpPr/>
              <p:nvPr/>
            </p:nvSpPr>
            <p:spPr>
              <a:xfrm>
                <a:off x="4865428" y="4686701"/>
                <a:ext cx="585809" cy="586090"/>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sp>
            <p:nvSpPr>
              <p:cNvPr id="1407" name="Google Shape;1407;p85"/>
              <p:cNvSpPr/>
              <p:nvPr/>
            </p:nvSpPr>
            <p:spPr>
              <a:xfrm>
                <a:off x="4865428" y="5265814"/>
                <a:ext cx="585809" cy="586090"/>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d</a:t>
                </a:r>
                <a:endParaRPr sz="1400" b="0" i="0" u="none" strike="noStrike" cap="none">
                  <a:solidFill>
                    <a:srgbClr val="000000"/>
                  </a:solidFill>
                  <a:latin typeface="Arial"/>
                  <a:ea typeface="Arial"/>
                  <a:cs typeface="Arial"/>
                  <a:sym typeface="Arial"/>
                </a:endParaRPr>
              </a:p>
            </p:txBody>
          </p:sp>
          <p:sp>
            <p:nvSpPr>
              <p:cNvPr id="1408" name="Google Shape;1408;p85"/>
              <p:cNvSpPr/>
              <p:nvPr/>
            </p:nvSpPr>
            <p:spPr>
              <a:xfrm>
                <a:off x="4865428" y="2935409"/>
                <a:ext cx="585809" cy="586090"/>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09" name="Google Shape;1409;p85"/>
              <p:cNvSpPr/>
              <p:nvPr/>
            </p:nvSpPr>
            <p:spPr>
              <a:xfrm>
                <a:off x="4865428" y="5847252"/>
                <a:ext cx="585809" cy="586090"/>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grpSp>
        <p:sp>
          <p:nvSpPr>
            <p:cNvPr id="1410" name="Google Shape;1410;p85"/>
            <p:cNvSpPr txBox="1"/>
            <p:nvPr/>
          </p:nvSpPr>
          <p:spPr>
            <a:xfrm>
              <a:off x="3946549" y="4727119"/>
              <a:ext cx="927847"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400"/>
                <a:buFont typeface="Arial"/>
                <a:buNone/>
              </a:pPr>
              <a:r>
                <a:rPr lang="en-US" sz="6400" b="0" i="0" u="none" strike="noStrike" cap="none">
                  <a:solidFill>
                    <a:schemeClr val="dk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grpSp>
      <p:grpSp>
        <p:nvGrpSpPr>
          <p:cNvPr id="1411" name="Google Shape;1411;p85"/>
          <p:cNvGrpSpPr/>
          <p:nvPr/>
        </p:nvGrpSpPr>
        <p:grpSpPr>
          <a:xfrm>
            <a:off x="5391150" y="4295775"/>
            <a:ext cx="2722563" cy="1939925"/>
            <a:chOff x="5391392" y="4295622"/>
            <a:chExt cx="2722132" cy="1940212"/>
          </a:xfrm>
        </p:grpSpPr>
        <p:grpSp>
          <p:nvGrpSpPr>
            <p:cNvPr id="1412" name="Google Shape;1412;p85"/>
            <p:cNvGrpSpPr/>
            <p:nvPr/>
          </p:nvGrpSpPr>
          <p:grpSpPr>
            <a:xfrm>
              <a:off x="6300886" y="4295622"/>
              <a:ext cx="1812638" cy="1940212"/>
              <a:chOff x="5862815" y="3780024"/>
              <a:chExt cx="2412622" cy="1940212"/>
            </a:xfrm>
          </p:grpSpPr>
          <p:sp>
            <p:nvSpPr>
              <p:cNvPr id="1413" name="Google Shape;1413;p85"/>
              <p:cNvSpPr/>
              <p:nvPr/>
            </p:nvSpPr>
            <p:spPr>
              <a:xfrm>
                <a:off x="5862815" y="3780024"/>
                <a:ext cx="2412622" cy="484260"/>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a</a:t>
                </a:r>
                <a:r>
                  <a:rPr lang="en-US" sz="2600" b="1" i="0" u="none" strike="noStrike" cap="none">
                    <a:solidFill>
                      <a:schemeClr val="accent4"/>
                    </a:solidFill>
                    <a:latin typeface="Times New Roman"/>
                    <a:ea typeface="Times New Roman"/>
                    <a:cs typeface="Times New Roman"/>
                    <a:sym typeface="Times New Roman"/>
                  </a:rPr>
                  <a:t>y</a:t>
                </a:r>
                <a:r>
                  <a:rPr lang="en-US" sz="2600" b="0" i="0" u="none" strike="noStrike" cap="none">
                    <a:solidFill>
                      <a:schemeClr val="dk1"/>
                    </a:solidFill>
                    <a:latin typeface="Times New Roman"/>
                    <a:ea typeface="Times New Roman"/>
                    <a:cs typeface="Times New Roman"/>
                    <a:sym typeface="Times New Roman"/>
                  </a:rPr>
                  <a:t>+</a:t>
                </a:r>
                <a:r>
                  <a:rPr lang="en-US" sz="2600" b="1" i="0" u="none" strike="noStrike" cap="none">
                    <a:solidFill>
                      <a:schemeClr val="accent1"/>
                    </a:solidFill>
                    <a:latin typeface="Times New Roman"/>
                    <a:ea typeface="Times New Roman"/>
                    <a:cs typeface="Times New Roman"/>
                    <a:sym typeface="Times New Roman"/>
                  </a:rPr>
                  <a:t>b</a:t>
                </a:r>
                <a:r>
                  <a:rPr lang="en-US" sz="2600" b="1" i="0" u="none" strike="noStrike" cap="none">
                    <a:solidFill>
                      <a:schemeClr val="accent2"/>
                    </a:solidFill>
                    <a:latin typeface="Times New Roman"/>
                    <a:ea typeface="Times New Roman"/>
                    <a:cs typeface="Times New Roman"/>
                    <a:sym typeface="Times New Roman"/>
                  </a:rPr>
                  <a:t>z</a:t>
                </a:r>
                <a:endParaRPr sz="2600" b="1" i="0" u="none" strike="noStrike" cap="none">
                  <a:solidFill>
                    <a:schemeClr val="accent2"/>
                  </a:solidFill>
                  <a:latin typeface="Times New Roman"/>
                  <a:ea typeface="Times New Roman"/>
                  <a:cs typeface="Times New Roman"/>
                  <a:sym typeface="Times New Roman"/>
                </a:endParaRPr>
              </a:p>
            </p:txBody>
          </p:sp>
          <p:sp>
            <p:nvSpPr>
              <p:cNvPr id="1414" name="Google Shape;1414;p85"/>
              <p:cNvSpPr/>
              <p:nvPr/>
            </p:nvSpPr>
            <p:spPr>
              <a:xfrm>
                <a:off x="5862815" y="4265871"/>
                <a:ext cx="2412622" cy="484260"/>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a</a:t>
                </a:r>
                <a:r>
                  <a:rPr lang="en-US" sz="2600" b="1" i="0" u="none" strike="noStrike" cap="none">
                    <a:solidFill>
                      <a:schemeClr val="accent6"/>
                    </a:solidFill>
                    <a:latin typeface="Times New Roman"/>
                    <a:ea typeface="Times New Roman"/>
                    <a:cs typeface="Times New Roman"/>
                    <a:sym typeface="Times New Roman"/>
                  </a:rPr>
                  <a:t>x</a:t>
                </a:r>
                <a:r>
                  <a:rPr lang="en-US" sz="2600" b="0" i="0" u="none" strike="noStrike" cap="none">
                    <a:solidFill>
                      <a:schemeClr val="dk1"/>
                    </a:solidFill>
                    <a:latin typeface="Times New Roman"/>
                    <a:ea typeface="Times New Roman"/>
                    <a:cs typeface="Times New Roman"/>
                    <a:sym typeface="Times New Roman"/>
                  </a:rPr>
                  <a:t>+</a:t>
                </a:r>
                <a:r>
                  <a:rPr lang="en-US" sz="2600" b="1" i="0" u="none" strike="noStrike" cap="none">
                    <a:solidFill>
                      <a:schemeClr val="accent1"/>
                    </a:solidFill>
                    <a:latin typeface="Times New Roman"/>
                    <a:ea typeface="Times New Roman"/>
                    <a:cs typeface="Times New Roman"/>
                    <a:sym typeface="Times New Roman"/>
                  </a:rPr>
                  <a:t>b</a:t>
                </a:r>
                <a:r>
                  <a:rPr lang="en-US" sz="2600" b="1" i="0" u="none" strike="noStrike" cap="none">
                    <a:solidFill>
                      <a:schemeClr val="accent4"/>
                    </a:solidFill>
                    <a:latin typeface="Times New Roman"/>
                    <a:ea typeface="Times New Roman"/>
                    <a:cs typeface="Times New Roman"/>
                    <a:sym typeface="Times New Roman"/>
                  </a:rPr>
                  <a:t>y</a:t>
                </a:r>
                <a:r>
                  <a:rPr lang="en-US" sz="2600" b="0" i="0" u="none" strike="noStrike" cap="none">
                    <a:solidFill>
                      <a:schemeClr val="dk1"/>
                    </a:solidFill>
                    <a:latin typeface="Times New Roman"/>
                    <a:ea typeface="Times New Roman"/>
                    <a:cs typeface="Times New Roman"/>
                    <a:sym typeface="Times New Roman"/>
                  </a:rPr>
                  <a:t>+</a:t>
                </a:r>
                <a:r>
                  <a:rPr lang="en-US" sz="2600" b="1" i="0" u="none" strike="noStrike" cap="none">
                    <a:solidFill>
                      <a:schemeClr val="accent1"/>
                    </a:solidFill>
                    <a:latin typeface="Times New Roman"/>
                    <a:ea typeface="Times New Roman"/>
                    <a:cs typeface="Times New Roman"/>
                    <a:sym typeface="Times New Roman"/>
                  </a:rPr>
                  <a:t>c</a:t>
                </a:r>
                <a:r>
                  <a:rPr lang="en-US" sz="2600" b="1" i="0" u="none" strike="noStrike" cap="none">
                    <a:solidFill>
                      <a:schemeClr val="accent2"/>
                    </a:solidFill>
                    <a:latin typeface="Times New Roman"/>
                    <a:ea typeface="Times New Roman"/>
                    <a:cs typeface="Times New Roman"/>
                    <a:sym typeface="Times New Roman"/>
                  </a:rPr>
                  <a:t>z</a:t>
                </a:r>
                <a:endParaRPr sz="2600" b="1" i="0" u="none" strike="noStrike" cap="none">
                  <a:solidFill>
                    <a:schemeClr val="accent2"/>
                  </a:solidFill>
                  <a:latin typeface="Times New Roman"/>
                  <a:ea typeface="Times New Roman"/>
                  <a:cs typeface="Times New Roman"/>
                  <a:sym typeface="Times New Roman"/>
                </a:endParaRPr>
              </a:p>
            </p:txBody>
          </p:sp>
          <p:sp>
            <p:nvSpPr>
              <p:cNvPr id="1415" name="Google Shape;1415;p85"/>
              <p:cNvSpPr/>
              <p:nvPr/>
            </p:nvSpPr>
            <p:spPr>
              <a:xfrm>
                <a:off x="5862815" y="4748542"/>
                <a:ext cx="2412622" cy="484260"/>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b</a:t>
                </a:r>
                <a:r>
                  <a:rPr lang="en-US" sz="2600" b="1" i="0" u="none" strike="noStrike" cap="none">
                    <a:solidFill>
                      <a:schemeClr val="accent6"/>
                    </a:solidFill>
                    <a:latin typeface="Times New Roman"/>
                    <a:ea typeface="Times New Roman"/>
                    <a:cs typeface="Times New Roman"/>
                    <a:sym typeface="Times New Roman"/>
                  </a:rPr>
                  <a:t>x</a:t>
                </a:r>
                <a:r>
                  <a:rPr lang="en-US" sz="2600" b="0" i="0" u="none" strike="noStrike" cap="none">
                    <a:solidFill>
                      <a:schemeClr val="dk1"/>
                    </a:solidFill>
                    <a:latin typeface="Times New Roman"/>
                    <a:ea typeface="Times New Roman"/>
                    <a:cs typeface="Times New Roman"/>
                    <a:sym typeface="Times New Roman"/>
                  </a:rPr>
                  <a:t>+</a:t>
                </a:r>
                <a:r>
                  <a:rPr lang="en-US" sz="2600" b="1" i="0" u="none" strike="noStrike" cap="none">
                    <a:solidFill>
                      <a:schemeClr val="accent1"/>
                    </a:solidFill>
                    <a:latin typeface="Times New Roman"/>
                    <a:ea typeface="Times New Roman"/>
                    <a:cs typeface="Times New Roman"/>
                    <a:sym typeface="Times New Roman"/>
                  </a:rPr>
                  <a:t>c</a:t>
                </a:r>
                <a:r>
                  <a:rPr lang="en-US" sz="2600" b="1" i="0" u="none" strike="noStrike" cap="none">
                    <a:solidFill>
                      <a:schemeClr val="accent4"/>
                    </a:solidFill>
                    <a:latin typeface="Times New Roman"/>
                    <a:ea typeface="Times New Roman"/>
                    <a:cs typeface="Times New Roman"/>
                    <a:sym typeface="Times New Roman"/>
                  </a:rPr>
                  <a:t>y</a:t>
                </a:r>
                <a:r>
                  <a:rPr lang="en-US" sz="2600" b="0" i="0" u="none" strike="noStrike" cap="none">
                    <a:solidFill>
                      <a:schemeClr val="dk1"/>
                    </a:solidFill>
                    <a:latin typeface="Times New Roman"/>
                    <a:ea typeface="Times New Roman"/>
                    <a:cs typeface="Times New Roman"/>
                    <a:sym typeface="Times New Roman"/>
                  </a:rPr>
                  <a:t>+</a:t>
                </a:r>
                <a:r>
                  <a:rPr lang="en-US" sz="2600" b="1" i="0" u="none" strike="noStrike" cap="none">
                    <a:solidFill>
                      <a:schemeClr val="accent1"/>
                    </a:solidFill>
                    <a:latin typeface="Times New Roman"/>
                    <a:ea typeface="Times New Roman"/>
                    <a:cs typeface="Times New Roman"/>
                    <a:sym typeface="Times New Roman"/>
                  </a:rPr>
                  <a:t>d</a:t>
                </a:r>
                <a:r>
                  <a:rPr lang="en-US" sz="2600" b="1" i="0" u="none" strike="noStrike" cap="none">
                    <a:solidFill>
                      <a:schemeClr val="accent2"/>
                    </a:solidFill>
                    <a:latin typeface="Times New Roman"/>
                    <a:ea typeface="Times New Roman"/>
                    <a:cs typeface="Times New Roman"/>
                    <a:sym typeface="Times New Roman"/>
                  </a:rPr>
                  <a:t>z</a:t>
                </a:r>
                <a:endParaRPr sz="2600" b="1" i="0" u="none" strike="noStrike" cap="none">
                  <a:solidFill>
                    <a:schemeClr val="accent2"/>
                  </a:solidFill>
                  <a:latin typeface="Times New Roman"/>
                  <a:ea typeface="Times New Roman"/>
                  <a:cs typeface="Times New Roman"/>
                  <a:sym typeface="Times New Roman"/>
                </a:endParaRPr>
              </a:p>
            </p:txBody>
          </p:sp>
          <p:sp>
            <p:nvSpPr>
              <p:cNvPr id="1416" name="Google Shape;1416;p85"/>
              <p:cNvSpPr/>
              <p:nvPr/>
            </p:nvSpPr>
            <p:spPr>
              <a:xfrm>
                <a:off x="5862815" y="5235977"/>
                <a:ext cx="2412622" cy="484259"/>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c</a:t>
                </a:r>
                <a:r>
                  <a:rPr lang="en-US" sz="2600" b="1" i="0" u="none" strike="noStrike" cap="none">
                    <a:solidFill>
                      <a:schemeClr val="accent6"/>
                    </a:solidFill>
                    <a:latin typeface="Times New Roman"/>
                    <a:ea typeface="Times New Roman"/>
                    <a:cs typeface="Times New Roman"/>
                    <a:sym typeface="Times New Roman"/>
                  </a:rPr>
                  <a:t>x</a:t>
                </a:r>
                <a:r>
                  <a:rPr lang="en-US" sz="2600" b="0" i="0" u="none" strike="noStrike" cap="none">
                    <a:solidFill>
                      <a:schemeClr val="dk1"/>
                    </a:solidFill>
                    <a:latin typeface="Times New Roman"/>
                    <a:ea typeface="Times New Roman"/>
                    <a:cs typeface="Times New Roman"/>
                    <a:sym typeface="Times New Roman"/>
                  </a:rPr>
                  <a:t>+</a:t>
                </a:r>
                <a:r>
                  <a:rPr lang="en-US" sz="2600" b="1" i="0" u="none" strike="noStrike" cap="none">
                    <a:solidFill>
                      <a:schemeClr val="accent1"/>
                    </a:solidFill>
                    <a:latin typeface="Times New Roman"/>
                    <a:ea typeface="Times New Roman"/>
                    <a:cs typeface="Times New Roman"/>
                    <a:sym typeface="Times New Roman"/>
                  </a:rPr>
                  <a:t>d</a:t>
                </a:r>
                <a:r>
                  <a:rPr lang="en-US" sz="2600" b="1" i="0" u="none" strike="noStrike" cap="none">
                    <a:solidFill>
                      <a:schemeClr val="accent4"/>
                    </a:solidFill>
                    <a:latin typeface="Times New Roman"/>
                    <a:ea typeface="Times New Roman"/>
                    <a:cs typeface="Times New Roman"/>
                    <a:sym typeface="Times New Roman"/>
                  </a:rPr>
                  <a:t>y</a:t>
                </a:r>
                <a:endParaRPr sz="2600" b="1" i="0" u="none" strike="noStrike" cap="none">
                  <a:solidFill>
                    <a:schemeClr val="accent4"/>
                  </a:solidFill>
                  <a:latin typeface="Times New Roman"/>
                  <a:ea typeface="Times New Roman"/>
                  <a:cs typeface="Times New Roman"/>
                  <a:sym typeface="Times New Roman"/>
                </a:endParaRPr>
              </a:p>
            </p:txBody>
          </p:sp>
        </p:grpSp>
        <p:sp>
          <p:nvSpPr>
            <p:cNvPr id="1417" name="Google Shape;1417;p85"/>
            <p:cNvSpPr txBox="1"/>
            <p:nvPr/>
          </p:nvSpPr>
          <p:spPr>
            <a:xfrm>
              <a:off x="5391392" y="4727119"/>
              <a:ext cx="927847"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400"/>
                <a:buFont typeface="Arial"/>
                <a:buNone/>
              </a:pPr>
              <a:r>
                <a:rPr lang="en-US" sz="64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grpSp>
      <p:grpSp>
        <p:nvGrpSpPr>
          <p:cNvPr id="1418" name="Google Shape;1418;p85"/>
          <p:cNvGrpSpPr/>
          <p:nvPr/>
        </p:nvGrpSpPr>
        <p:grpSpPr>
          <a:xfrm>
            <a:off x="1935163" y="2716213"/>
            <a:ext cx="5407025" cy="922337"/>
            <a:chOff x="1935351" y="2715987"/>
            <a:chExt cx="5406315" cy="923330"/>
          </a:xfrm>
        </p:grpSpPr>
        <p:grpSp>
          <p:nvGrpSpPr>
            <p:cNvPr id="1419" name="Google Shape;1419;p85"/>
            <p:cNvGrpSpPr/>
            <p:nvPr/>
          </p:nvGrpSpPr>
          <p:grpSpPr>
            <a:xfrm>
              <a:off x="1935351" y="2884443"/>
              <a:ext cx="2344429" cy="586417"/>
              <a:chOff x="1200698" y="2437407"/>
              <a:chExt cx="2344429" cy="586417"/>
            </a:xfrm>
          </p:grpSpPr>
          <p:sp>
            <p:nvSpPr>
              <p:cNvPr id="1420" name="Google Shape;1420;p85"/>
              <p:cNvSpPr/>
              <p:nvPr/>
            </p:nvSpPr>
            <p:spPr>
              <a:xfrm>
                <a:off x="1200698" y="2437407"/>
                <a:ext cx="585710" cy="586417"/>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a</a:t>
                </a:r>
                <a:endParaRPr sz="1400" b="0" i="0" u="none" strike="noStrike" cap="none">
                  <a:solidFill>
                    <a:srgbClr val="000000"/>
                  </a:solidFill>
                  <a:latin typeface="Arial"/>
                  <a:ea typeface="Arial"/>
                  <a:cs typeface="Arial"/>
                  <a:sym typeface="Arial"/>
                </a:endParaRPr>
              </a:p>
            </p:txBody>
          </p:sp>
          <p:sp>
            <p:nvSpPr>
              <p:cNvPr id="1421" name="Google Shape;1421;p85"/>
              <p:cNvSpPr/>
              <p:nvPr/>
            </p:nvSpPr>
            <p:spPr>
              <a:xfrm>
                <a:off x="1786408" y="2437407"/>
                <a:ext cx="587298" cy="586417"/>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b</a:t>
                </a:r>
                <a:endParaRPr sz="1400" b="0" i="0" u="none" strike="noStrike" cap="none">
                  <a:solidFill>
                    <a:srgbClr val="000000"/>
                  </a:solidFill>
                  <a:latin typeface="Arial"/>
                  <a:ea typeface="Arial"/>
                  <a:cs typeface="Arial"/>
                  <a:sym typeface="Arial"/>
                </a:endParaRPr>
              </a:p>
            </p:txBody>
          </p:sp>
          <p:sp>
            <p:nvSpPr>
              <p:cNvPr id="1422" name="Google Shape;1422;p85"/>
              <p:cNvSpPr/>
              <p:nvPr/>
            </p:nvSpPr>
            <p:spPr>
              <a:xfrm>
                <a:off x="2373706" y="2437407"/>
                <a:ext cx="585711" cy="586417"/>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sp>
            <p:nvSpPr>
              <p:cNvPr id="1423" name="Google Shape;1423;p85"/>
              <p:cNvSpPr/>
              <p:nvPr/>
            </p:nvSpPr>
            <p:spPr>
              <a:xfrm>
                <a:off x="2959417" y="2437407"/>
                <a:ext cx="585710" cy="586417"/>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d</a:t>
                </a:r>
                <a:endParaRPr sz="1400" b="0" i="0" u="none" strike="noStrike" cap="none">
                  <a:solidFill>
                    <a:srgbClr val="000000"/>
                  </a:solidFill>
                  <a:latin typeface="Arial"/>
                  <a:ea typeface="Arial"/>
                  <a:cs typeface="Arial"/>
                  <a:sym typeface="Arial"/>
                </a:endParaRPr>
              </a:p>
            </p:txBody>
          </p:sp>
        </p:grpSp>
        <p:grpSp>
          <p:nvGrpSpPr>
            <p:cNvPr id="1424" name="Google Shape;1424;p85"/>
            <p:cNvGrpSpPr/>
            <p:nvPr/>
          </p:nvGrpSpPr>
          <p:grpSpPr>
            <a:xfrm>
              <a:off x="5583192" y="2884573"/>
              <a:ext cx="1758474" cy="586158"/>
              <a:chOff x="3840198" y="2437537"/>
              <a:chExt cx="1758474" cy="586158"/>
            </a:xfrm>
          </p:grpSpPr>
          <p:sp>
            <p:nvSpPr>
              <p:cNvPr id="1425" name="Google Shape;1425;p85"/>
              <p:cNvSpPr/>
              <p:nvPr/>
            </p:nvSpPr>
            <p:spPr>
              <a:xfrm>
                <a:off x="3840198" y="2437537"/>
                <a:ext cx="586158" cy="586158"/>
              </a:xfrm>
              <a:prstGeom prst="rect">
                <a:avLst/>
              </a:prstGeom>
              <a:solidFill>
                <a:schemeClr val="accent6"/>
              </a:solidFill>
              <a:ln w="12700" cap="flat" cmpd="sng">
                <a:solidFill>
                  <a:srgbClr val="1616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426" name="Google Shape;1426;p85"/>
              <p:cNvSpPr/>
              <p:nvPr/>
            </p:nvSpPr>
            <p:spPr>
              <a:xfrm>
                <a:off x="4426356" y="2437537"/>
                <a:ext cx="586158" cy="586158"/>
              </a:xfrm>
              <a:prstGeom prst="rect">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1427" name="Google Shape;1427;p85"/>
              <p:cNvSpPr/>
              <p:nvPr/>
            </p:nvSpPr>
            <p:spPr>
              <a:xfrm>
                <a:off x="5012514" y="2437537"/>
                <a:ext cx="586158" cy="586158"/>
              </a:xfrm>
              <a:prstGeom prst="rect">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p:txBody>
          </p:sp>
        </p:grpSp>
        <p:sp>
          <p:nvSpPr>
            <p:cNvPr id="1428" name="Google Shape;1428;p85"/>
            <p:cNvSpPr txBox="1"/>
            <p:nvPr/>
          </p:nvSpPr>
          <p:spPr>
            <a:xfrm>
              <a:off x="4639040" y="2715987"/>
              <a:ext cx="585096" cy="92333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2"/>
        <p:cNvGrpSpPr/>
        <p:nvPr/>
      </p:nvGrpSpPr>
      <p:grpSpPr>
        <a:xfrm>
          <a:off x="0" y="0"/>
          <a:ext cx="0" cy="0"/>
          <a:chOff x="0" y="0"/>
          <a:chExt cx="0" cy="0"/>
        </a:xfrm>
      </p:grpSpPr>
      <p:sp>
        <p:nvSpPr>
          <p:cNvPr id="1433" name="Google Shape;1433;p86"/>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Why “Transpose Convolution”?</a:t>
            </a:r>
            <a:endParaRPr/>
          </a:p>
        </p:txBody>
      </p:sp>
      <p:grpSp>
        <p:nvGrpSpPr>
          <p:cNvPr id="1434" name="Google Shape;1434;p86"/>
          <p:cNvGrpSpPr/>
          <p:nvPr/>
        </p:nvGrpSpPr>
        <p:grpSpPr>
          <a:xfrm>
            <a:off x="1935163" y="2305050"/>
            <a:ext cx="5407025" cy="922338"/>
            <a:chOff x="1935351" y="2304675"/>
            <a:chExt cx="5406315" cy="923330"/>
          </a:xfrm>
        </p:grpSpPr>
        <p:grpSp>
          <p:nvGrpSpPr>
            <p:cNvPr id="1435" name="Google Shape;1435;p86"/>
            <p:cNvGrpSpPr/>
            <p:nvPr/>
          </p:nvGrpSpPr>
          <p:grpSpPr>
            <a:xfrm>
              <a:off x="1935351" y="2473131"/>
              <a:ext cx="2344429" cy="586418"/>
              <a:chOff x="1200698" y="2437407"/>
              <a:chExt cx="2344429" cy="586418"/>
            </a:xfrm>
          </p:grpSpPr>
          <p:sp>
            <p:nvSpPr>
              <p:cNvPr id="1436" name="Google Shape;1436;p86"/>
              <p:cNvSpPr/>
              <p:nvPr/>
            </p:nvSpPr>
            <p:spPr>
              <a:xfrm>
                <a:off x="1200698" y="2437407"/>
                <a:ext cx="585710" cy="586418"/>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a</a:t>
                </a:r>
                <a:endParaRPr sz="1400" b="0" i="0" u="none" strike="noStrike" cap="none">
                  <a:solidFill>
                    <a:srgbClr val="000000"/>
                  </a:solidFill>
                  <a:latin typeface="Arial"/>
                  <a:ea typeface="Arial"/>
                  <a:cs typeface="Arial"/>
                  <a:sym typeface="Arial"/>
                </a:endParaRPr>
              </a:p>
            </p:txBody>
          </p:sp>
          <p:sp>
            <p:nvSpPr>
              <p:cNvPr id="1437" name="Google Shape;1437;p86"/>
              <p:cNvSpPr/>
              <p:nvPr/>
            </p:nvSpPr>
            <p:spPr>
              <a:xfrm>
                <a:off x="1786408" y="2437407"/>
                <a:ext cx="587298" cy="586418"/>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b</a:t>
                </a:r>
                <a:endParaRPr sz="1400" b="0" i="0" u="none" strike="noStrike" cap="none">
                  <a:solidFill>
                    <a:srgbClr val="000000"/>
                  </a:solidFill>
                  <a:latin typeface="Arial"/>
                  <a:ea typeface="Arial"/>
                  <a:cs typeface="Arial"/>
                  <a:sym typeface="Arial"/>
                </a:endParaRPr>
              </a:p>
            </p:txBody>
          </p:sp>
          <p:sp>
            <p:nvSpPr>
              <p:cNvPr id="1438" name="Google Shape;1438;p86"/>
              <p:cNvSpPr/>
              <p:nvPr/>
            </p:nvSpPr>
            <p:spPr>
              <a:xfrm>
                <a:off x="2373706" y="2437407"/>
                <a:ext cx="585711" cy="586418"/>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sp>
            <p:nvSpPr>
              <p:cNvPr id="1439" name="Google Shape;1439;p86"/>
              <p:cNvSpPr/>
              <p:nvPr/>
            </p:nvSpPr>
            <p:spPr>
              <a:xfrm>
                <a:off x="2959417" y="2437407"/>
                <a:ext cx="585710" cy="586418"/>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d</a:t>
                </a:r>
                <a:endParaRPr sz="1400" b="0" i="0" u="none" strike="noStrike" cap="none">
                  <a:solidFill>
                    <a:srgbClr val="000000"/>
                  </a:solidFill>
                  <a:latin typeface="Arial"/>
                  <a:ea typeface="Arial"/>
                  <a:cs typeface="Arial"/>
                  <a:sym typeface="Arial"/>
                </a:endParaRPr>
              </a:p>
            </p:txBody>
          </p:sp>
        </p:grpSp>
        <p:grpSp>
          <p:nvGrpSpPr>
            <p:cNvPr id="1440" name="Google Shape;1440;p86"/>
            <p:cNvGrpSpPr/>
            <p:nvPr/>
          </p:nvGrpSpPr>
          <p:grpSpPr>
            <a:xfrm>
              <a:off x="5583192" y="2473261"/>
              <a:ext cx="1758474" cy="586158"/>
              <a:chOff x="3840198" y="2437537"/>
              <a:chExt cx="1758474" cy="586158"/>
            </a:xfrm>
          </p:grpSpPr>
          <p:sp>
            <p:nvSpPr>
              <p:cNvPr id="1441" name="Google Shape;1441;p86"/>
              <p:cNvSpPr/>
              <p:nvPr/>
            </p:nvSpPr>
            <p:spPr>
              <a:xfrm>
                <a:off x="3840198" y="2437537"/>
                <a:ext cx="586158" cy="586158"/>
              </a:xfrm>
              <a:prstGeom prst="rect">
                <a:avLst/>
              </a:prstGeom>
              <a:solidFill>
                <a:schemeClr val="accent6"/>
              </a:solidFill>
              <a:ln w="12700" cap="flat" cmpd="sng">
                <a:solidFill>
                  <a:srgbClr val="1616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442" name="Google Shape;1442;p86"/>
              <p:cNvSpPr/>
              <p:nvPr/>
            </p:nvSpPr>
            <p:spPr>
              <a:xfrm>
                <a:off x="4426356" y="2437537"/>
                <a:ext cx="586158" cy="586158"/>
              </a:xfrm>
              <a:prstGeom prst="rect">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1443" name="Google Shape;1443;p86"/>
              <p:cNvSpPr/>
              <p:nvPr/>
            </p:nvSpPr>
            <p:spPr>
              <a:xfrm>
                <a:off x="5012514" y="2437537"/>
                <a:ext cx="586158" cy="586158"/>
              </a:xfrm>
              <a:prstGeom prst="rect">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p:txBody>
          </p:sp>
        </p:grpSp>
        <p:sp>
          <p:nvSpPr>
            <p:cNvPr id="1444" name="Google Shape;1444;p86"/>
            <p:cNvSpPr txBox="1"/>
            <p:nvPr/>
          </p:nvSpPr>
          <p:spPr>
            <a:xfrm>
              <a:off x="4442255" y="2304675"/>
              <a:ext cx="978665" cy="92333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grpSp>
      <p:sp>
        <p:nvSpPr>
          <p:cNvPr id="1445" name="Google Shape;1445;p86"/>
          <p:cNvSpPr txBox="1"/>
          <p:nvPr/>
        </p:nvSpPr>
        <p:spPr>
          <a:xfrm>
            <a:off x="357188" y="6429375"/>
            <a:ext cx="8059737" cy="2778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Example Credit: L. Fei-Fei, J. Johnson, S. Yeung</a:t>
            </a:r>
            <a:endParaRPr sz="1400" b="0" i="0" u="none" strike="noStrike" cap="none">
              <a:solidFill>
                <a:srgbClr val="000000"/>
              </a:solidFill>
              <a:latin typeface="Arial"/>
              <a:ea typeface="Arial"/>
              <a:cs typeface="Arial"/>
              <a:sym typeface="Arial"/>
            </a:endParaRPr>
          </a:p>
        </p:txBody>
      </p:sp>
      <p:sp>
        <p:nvSpPr>
          <p:cNvPr id="1446" name="Google Shape;1446;p86"/>
          <p:cNvSpPr txBox="1"/>
          <p:nvPr/>
        </p:nvSpPr>
        <p:spPr>
          <a:xfrm flipH="1">
            <a:off x="23813" y="1522413"/>
            <a:ext cx="9096375" cy="5857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Transpose convolution is convolution transposed</a:t>
            </a:r>
            <a:endParaRPr sz="1400" b="0" i="0" u="none" strike="noStrike" cap="none">
              <a:solidFill>
                <a:srgbClr val="000000"/>
              </a:solidFill>
              <a:latin typeface="Arial"/>
              <a:ea typeface="Arial"/>
              <a:cs typeface="Arial"/>
              <a:sym typeface="Arial"/>
            </a:endParaRPr>
          </a:p>
        </p:txBody>
      </p:sp>
      <p:grpSp>
        <p:nvGrpSpPr>
          <p:cNvPr id="1447" name="Google Shape;1447;p86"/>
          <p:cNvGrpSpPr/>
          <p:nvPr/>
        </p:nvGrpSpPr>
        <p:grpSpPr>
          <a:xfrm flipH="1">
            <a:off x="827088" y="3416300"/>
            <a:ext cx="1939925" cy="2897188"/>
            <a:chOff x="1716334" y="3418250"/>
            <a:chExt cx="1940212" cy="2896848"/>
          </a:xfrm>
        </p:grpSpPr>
        <p:sp>
          <p:nvSpPr>
            <p:cNvPr id="1448" name="Google Shape;1448;p86"/>
            <p:cNvSpPr/>
            <p:nvPr/>
          </p:nvSpPr>
          <p:spPr>
            <a:xfrm>
              <a:off x="3172287" y="3418250"/>
              <a:ext cx="484259" cy="484131"/>
            </a:xfrm>
            <a:prstGeom prst="rect">
              <a:avLst/>
            </a:prstGeom>
            <a:solidFill>
              <a:schemeClr val="accent6"/>
            </a:solidFill>
            <a:ln w="12700" cap="flat" cmpd="sng">
              <a:solidFill>
                <a:srgbClr val="1616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449" name="Google Shape;1449;p86"/>
            <p:cNvSpPr/>
            <p:nvPr/>
          </p:nvSpPr>
          <p:spPr>
            <a:xfrm>
              <a:off x="3172287" y="3902381"/>
              <a:ext cx="484259" cy="484130"/>
            </a:xfrm>
            <a:prstGeom prst="rect">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1450" name="Google Shape;1450;p86"/>
            <p:cNvSpPr/>
            <p:nvPr/>
          </p:nvSpPr>
          <p:spPr>
            <a:xfrm>
              <a:off x="3172287" y="4386511"/>
              <a:ext cx="484259" cy="485718"/>
            </a:xfrm>
            <a:prstGeom prst="rect">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p:txBody>
        </p:sp>
        <p:sp>
          <p:nvSpPr>
            <p:cNvPr id="1451" name="Google Shape;1451;p86"/>
            <p:cNvSpPr/>
            <p:nvPr/>
          </p:nvSpPr>
          <p:spPr>
            <a:xfrm>
              <a:off x="3172287" y="4867468"/>
              <a:ext cx="484259" cy="484130"/>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52" name="Google Shape;1452;p86"/>
            <p:cNvSpPr/>
            <p:nvPr/>
          </p:nvSpPr>
          <p:spPr>
            <a:xfrm>
              <a:off x="3172287" y="5351598"/>
              <a:ext cx="484259" cy="484131"/>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53" name="Google Shape;1453;p86"/>
            <p:cNvSpPr/>
            <p:nvPr/>
          </p:nvSpPr>
          <p:spPr>
            <a:xfrm>
              <a:off x="3172287" y="5830967"/>
              <a:ext cx="484259" cy="484131"/>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54" name="Google Shape;1454;p86"/>
            <p:cNvSpPr/>
            <p:nvPr/>
          </p:nvSpPr>
          <p:spPr>
            <a:xfrm>
              <a:off x="2686441" y="3902381"/>
              <a:ext cx="484259" cy="484130"/>
            </a:xfrm>
            <a:prstGeom prst="rect">
              <a:avLst/>
            </a:prstGeom>
            <a:solidFill>
              <a:schemeClr val="accent6"/>
            </a:solidFill>
            <a:ln w="12700" cap="flat" cmpd="sng">
              <a:solidFill>
                <a:srgbClr val="1616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455" name="Google Shape;1455;p86"/>
            <p:cNvSpPr/>
            <p:nvPr/>
          </p:nvSpPr>
          <p:spPr>
            <a:xfrm>
              <a:off x="2686441" y="4386511"/>
              <a:ext cx="484259" cy="485718"/>
            </a:xfrm>
            <a:prstGeom prst="rect">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1456" name="Google Shape;1456;p86"/>
            <p:cNvSpPr/>
            <p:nvPr/>
          </p:nvSpPr>
          <p:spPr>
            <a:xfrm>
              <a:off x="2686441" y="4867468"/>
              <a:ext cx="484259" cy="484130"/>
            </a:xfrm>
            <a:prstGeom prst="rect">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p:txBody>
        </p:sp>
        <p:sp>
          <p:nvSpPr>
            <p:cNvPr id="1457" name="Google Shape;1457;p86"/>
            <p:cNvSpPr/>
            <p:nvPr/>
          </p:nvSpPr>
          <p:spPr>
            <a:xfrm>
              <a:off x="2686441" y="5351598"/>
              <a:ext cx="484259" cy="484131"/>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58" name="Google Shape;1458;p86"/>
            <p:cNvSpPr/>
            <p:nvPr/>
          </p:nvSpPr>
          <p:spPr>
            <a:xfrm>
              <a:off x="2686441" y="5830967"/>
              <a:ext cx="484259" cy="484131"/>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59" name="Google Shape;1459;p86"/>
            <p:cNvSpPr/>
            <p:nvPr/>
          </p:nvSpPr>
          <p:spPr>
            <a:xfrm>
              <a:off x="2686441" y="3418250"/>
              <a:ext cx="484259" cy="484131"/>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60" name="Google Shape;1460;p86"/>
            <p:cNvSpPr/>
            <p:nvPr/>
          </p:nvSpPr>
          <p:spPr>
            <a:xfrm>
              <a:off x="2203769" y="4386511"/>
              <a:ext cx="484259" cy="485718"/>
            </a:xfrm>
            <a:prstGeom prst="rect">
              <a:avLst/>
            </a:prstGeom>
            <a:solidFill>
              <a:schemeClr val="accent6"/>
            </a:solidFill>
            <a:ln w="12700" cap="flat" cmpd="sng">
              <a:solidFill>
                <a:srgbClr val="1616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461" name="Google Shape;1461;p86"/>
            <p:cNvSpPr/>
            <p:nvPr/>
          </p:nvSpPr>
          <p:spPr>
            <a:xfrm>
              <a:off x="2203769" y="4867468"/>
              <a:ext cx="484259" cy="484130"/>
            </a:xfrm>
            <a:prstGeom prst="rect">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1462" name="Google Shape;1462;p86"/>
            <p:cNvSpPr/>
            <p:nvPr/>
          </p:nvSpPr>
          <p:spPr>
            <a:xfrm>
              <a:off x="2203769" y="5351598"/>
              <a:ext cx="484259" cy="484131"/>
            </a:xfrm>
            <a:prstGeom prst="rect">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p:txBody>
        </p:sp>
        <p:sp>
          <p:nvSpPr>
            <p:cNvPr id="1463" name="Google Shape;1463;p86"/>
            <p:cNvSpPr/>
            <p:nvPr/>
          </p:nvSpPr>
          <p:spPr>
            <a:xfrm>
              <a:off x="2203769" y="5830967"/>
              <a:ext cx="484259" cy="484131"/>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64" name="Google Shape;1464;p86"/>
            <p:cNvSpPr/>
            <p:nvPr/>
          </p:nvSpPr>
          <p:spPr>
            <a:xfrm>
              <a:off x="2203769" y="3418250"/>
              <a:ext cx="484259" cy="484131"/>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65" name="Google Shape;1465;p86"/>
            <p:cNvSpPr/>
            <p:nvPr/>
          </p:nvSpPr>
          <p:spPr>
            <a:xfrm>
              <a:off x="2203769" y="3902381"/>
              <a:ext cx="484259" cy="484130"/>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66" name="Google Shape;1466;p86"/>
            <p:cNvSpPr/>
            <p:nvPr/>
          </p:nvSpPr>
          <p:spPr>
            <a:xfrm>
              <a:off x="1716334" y="3418250"/>
              <a:ext cx="484260" cy="484131"/>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67" name="Google Shape;1467;p86"/>
            <p:cNvSpPr/>
            <p:nvPr/>
          </p:nvSpPr>
          <p:spPr>
            <a:xfrm>
              <a:off x="1716334" y="4867468"/>
              <a:ext cx="484260" cy="484130"/>
            </a:xfrm>
            <a:prstGeom prst="rect">
              <a:avLst/>
            </a:prstGeom>
            <a:solidFill>
              <a:schemeClr val="accent6"/>
            </a:solidFill>
            <a:ln w="12700" cap="flat" cmpd="sng">
              <a:solidFill>
                <a:srgbClr val="1616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468" name="Google Shape;1468;p86"/>
            <p:cNvSpPr/>
            <p:nvPr/>
          </p:nvSpPr>
          <p:spPr>
            <a:xfrm>
              <a:off x="1716334" y="5351598"/>
              <a:ext cx="484260" cy="484131"/>
            </a:xfrm>
            <a:prstGeom prst="rect">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1469" name="Google Shape;1469;p86"/>
            <p:cNvSpPr/>
            <p:nvPr/>
          </p:nvSpPr>
          <p:spPr>
            <a:xfrm>
              <a:off x="1716334" y="5830967"/>
              <a:ext cx="484260" cy="484131"/>
            </a:xfrm>
            <a:prstGeom prst="rect">
              <a:avLst/>
            </a:prstGeom>
            <a:solidFill>
              <a:schemeClr val="accent2"/>
            </a:solidFill>
            <a:ln w="12700" cap="flat" cmpd="sng">
              <a:solidFill>
                <a:srgbClr val="1919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p:txBody>
        </p:sp>
        <p:sp>
          <p:nvSpPr>
            <p:cNvPr id="1470" name="Google Shape;1470;p86"/>
            <p:cNvSpPr/>
            <p:nvPr/>
          </p:nvSpPr>
          <p:spPr>
            <a:xfrm>
              <a:off x="1716334" y="3902381"/>
              <a:ext cx="484260" cy="484130"/>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471" name="Google Shape;1471;p86"/>
            <p:cNvSpPr/>
            <p:nvPr/>
          </p:nvSpPr>
          <p:spPr>
            <a:xfrm>
              <a:off x="1716334" y="4386511"/>
              <a:ext cx="484260" cy="485718"/>
            </a:xfrm>
            <a:prstGeom prst="rect">
              <a:avLst/>
            </a:prstGeom>
            <a:solidFill>
              <a:srgbClr val="59595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grpSp>
      <p:grpSp>
        <p:nvGrpSpPr>
          <p:cNvPr id="1472" name="Google Shape;1472;p86"/>
          <p:cNvGrpSpPr/>
          <p:nvPr/>
        </p:nvGrpSpPr>
        <p:grpSpPr>
          <a:xfrm>
            <a:off x="2762250" y="4067175"/>
            <a:ext cx="962025" cy="1597025"/>
            <a:chOff x="2762480" y="4067238"/>
            <a:chExt cx="962285" cy="1596220"/>
          </a:xfrm>
        </p:grpSpPr>
        <p:grpSp>
          <p:nvGrpSpPr>
            <p:cNvPr id="1473" name="Google Shape;1473;p86"/>
            <p:cNvGrpSpPr/>
            <p:nvPr/>
          </p:nvGrpSpPr>
          <p:grpSpPr>
            <a:xfrm>
              <a:off x="3324607" y="4067238"/>
              <a:ext cx="400158" cy="1596220"/>
              <a:chOff x="4916630" y="4466320"/>
              <a:chExt cx="400158" cy="1596220"/>
            </a:xfrm>
          </p:grpSpPr>
          <p:sp>
            <p:nvSpPr>
              <p:cNvPr id="1474" name="Google Shape;1474;p86"/>
              <p:cNvSpPr/>
              <p:nvPr/>
            </p:nvSpPr>
            <p:spPr>
              <a:xfrm>
                <a:off x="4916630" y="4466320"/>
                <a:ext cx="400158" cy="399848"/>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a</a:t>
                </a:r>
                <a:endParaRPr sz="1400" b="0" i="0" u="none" strike="noStrike" cap="none">
                  <a:solidFill>
                    <a:srgbClr val="000000"/>
                  </a:solidFill>
                  <a:latin typeface="Arial"/>
                  <a:ea typeface="Arial"/>
                  <a:cs typeface="Arial"/>
                  <a:sym typeface="Arial"/>
                </a:endParaRPr>
              </a:p>
            </p:txBody>
          </p:sp>
          <p:sp>
            <p:nvSpPr>
              <p:cNvPr id="1475" name="Google Shape;1475;p86"/>
              <p:cNvSpPr/>
              <p:nvPr/>
            </p:nvSpPr>
            <p:spPr>
              <a:xfrm>
                <a:off x="4916630" y="4866168"/>
                <a:ext cx="400158" cy="401436"/>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b</a:t>
                </a:r>
                <a:endParaRPr sz="1400" b="0" i="0" u="none" strike="noStrike" cap="none">
                  <a:solidFill>
                    <a:srgbClr val="000000"/>
                  </a:solidFill>
                  <a:latin typeface="Arial"/>
                  <a:ea typeface="Arial"/>
                  <a:cs typeface="Arial"/>
                  <a:sym typeface="Arial"/>
                </a:endParaRPr>
              </a:p>
            </p:txBody>
          </p:sp>
          <p:sp>
            <p:nvSpPr>
              <p:cNvPr id="1476" name="Google Shape;1476;p86"/>
              <p:cNvSpPr/>
              <p:nvPr/>
            </p:nvSpPr>
            <p:spPr>
              <a:xfrm>
                <a:off x="4916630" y="5267604"/>
                <a:ext cx="400158" cy="399848"/>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p:txBody>
          </p:sp>
          <p:sp>
            <p:nvSpPr>
              <p:cNvPr id="1477" name="Google Shape;1477;p86"/>
              <p:cNvSpPr/>
              <p:nvPr/>
            </p:nvSpPr>
            <p:spPr>
              <a:xfrm>
                <a:off x="4916630" y="5662692"/>
                <a:ext cx="400158" cy="399848"/>
              </a:xfrm>
              <a:prstGeom prst="rect">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lt1"/>
                    </a:solidFill>
                    <a:latin typeface="Times New Roman"/>
                    <a:ea typeface="Times New Roman"/>
                    <a:cs typeface="Times New Roman"/>
                    <a:sym typeface="Times New Roman"/>
                  </a:rPr>
                  <a:t>d</a:t>
                </a:r>
                <a:endParaRPr sz="1400" b="0" i="0" u="none" strike="noStrike" cap="none">
                  <a:solidFill>
                    <a:srgbClr val="000000"/>
                  </a:solidFill>
                  <a:latin typeface="Arial"/>
                  <a:ea typeface="Arial"/>
                  <a:cs typeface="Arial"/>
                  <a:sym typeface="Arial"/>
                </a:endParaRPr>
              </a:p>
            </p:txBody>
          </p:sp>
        </p:grpSp>
        <p:sp>
          <p:nvSpPr>
            <p:cNvPr id="1478" name="Google Shape;1478;p86"/>
            <p:cNvSpPr txBox="1"/>
            <p:nvPr/>
          </p:nvSpPr>
          <p:spPr>
            <a:xfrm>
              <a:off x="2762480" y="4326739"/>
              <a:ext cx="515527"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400"/>
                <a:buFont typeface="Arial"/>
                <a:buNone/>
              </a:pPr>
              <a:r>
                <a:rPr lang="en-US" sz="6400" b="0" i="0" u="none" strike="noStrike" cap="none">
                  <a:solidFill>
                    <a:schemeClr val="dk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grpSp>
      <p:grpSp>
        <p:nvGrpSpPr>
          <p:cNvPr id="1479" name="Google Shape;1479;p86"/>
          <p:cNvGrpSpPr/>
          <p:nvPr/>
        </p:nvGrpSpPr>
        <p:grpSpPr>
          <a:xfrm>
            <a:off x="3735388" y="3417888"/>
            <a:ext cx="2238375" cy="2895600"/>
            <a:chOff x="3734856" y="3417253"/>
            <a:chExt cx="2239636" cy="2896190"/>
          </a:xfrm>
        </p:grpSpPr>
        <p:sp>
          <p:nvSpPr>
            <p:cNvPr id="1480" name="Google Shape;1480;p86"/>
            <p:cNvSpPr txBox="1"/>
            <p:nvPr/>
          </p:nvSpPr>
          <p:spPr>
            <a:xfrm>
              <a:off x="3734856" y="4326739"/>
              <a:ext cx="633732"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400"/>
                <a:buFont typeface="Arial"/>
                <a:buNone/>
              </a:pPr>
              <a:r>
                <a:rPr lang="en-US" sz="64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grpSp>
          <p:nvGrpSpPr>
            <p:cNvPr id="1481" name="Google Shape;1481;p86"/>
            <p:cNvGrpSpPr/>
            <p:nvPr/>
          </p:nvGrpSpPr>
          <p:grpSpPr>
            <a:xfrm>
              <a:off x="4327326" y="3417253"/>
              <a:ext cx="1647166" cy="2896190"/>
              <a:chOff x="6301641" y="3415599"/>
              <a:chExt cx="1811883" cy="2896190"/>
            </a:xfrm>
          </p:grpSpPr>
          <p:sp>
            <p:nvSpPr>
              <p:cNvPr id="1482" name="Google Shape;1482;p86"/>
              <p:cNvSpPr/>
              <p:nvPr/>
            </p:nvSpPr>
            <p:spPr>
              <a:xfrm>
                <a:off x="6301641" y="3890358"/>
                <a:ext cx="1811883" cy="484287"/>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a</a:t>
                </a:r>
                <a:r>
                  <a:rPr lang="en-US" sz="2600" b="1" i="0" u="none" strike="noStrike" cap="none">
                    <a:solidFill>
                      <a:schemeClr val="accent4"/>
                    </a:solidFill>
                    <a:latin typeface="Times New Roman"/>
                    <a:ea typeface="Times New Roman"/>
                    <a:cs typeface="Times New Roman"/>
                    <a:sym typeface="Times New Roman"/>
                  </a:rPr>
                  <a:t>y</a:t>
                </a:r>
                <a:r>
                  <a:rPr lang="en-US" sz="2600" b="0" i="0" u="none" strike="noStrike" cap="none">
                    <a:solidFill>
                      <a:schemeClr val="dk1"/>
                    </a:solidFill>
                    <a:latin typeface="Times New Roman"/>
                    <a:ea typeface="Times New Roman"/>
                    <a:cs typeface="Times New Roman"/>
                    <a:sym typeface="Times New Roman"/>
                  </a:rPr>
                  <a:t>+</a:t>
                </a:r>
                <a:r>
                  <a:rPr lang="en-US" sz="2600" b="1" i="0" u="none" strike="noStrike" cap="none">
                    <a:solidFill>
                      <a:schemeClr val="accent1"/>
                    </a:solidFill>
                    <a:latin typeface="Times New Roman"/>
                    <a:ea typeface="Times New Roman"/>
                    <a:cs typeface="Times New Roman"/>
                    <a:sym typeface="Times New Roman"/>
                  </a:rPr>
                  <a:t>b</a:t>
                </a:r>
                <a:r>
                  <a:rPr lang="en-US" sz="2600" b="1" i="0" u="none" strike="noStrike" cap="none">
                    <a:solidFill>
                      <a:schemeClr val="accent6"/>
                    </a:solidFill>
                    <a:latin typeface="Times New Roman"/>
                    <a:ea typeface="Times New Roman"/>
                    <a:cs typeface="Times New Roman"/>
                    <a:sym typeface="Times New Roman"/>
                  </a:rPr>
                  <a:t>x</a:t>
                </a:r>
                <a:endParaRPr sz="2600" b="1" i="0" u="none" strike="noStrike" cap="none">
                  <a:solidFill>
                    <a:schemeClr val="accent6"/>
                  </a:solidFill>
                  <a:latin typeface="Times New Roman"/>
                  <a:ea typeface="Times New Roman"/>
                  <a:cs typeface="Times New Roman"/>
                  <a:sym typeface="Times New Roman"/>
                </a:endParaRPr>
              </a:p>
            </p:txBody>
          </p:sp>
          <p:sp>
            <p:nvSpPr>
              <p:cNvPr id="1483" name="Google Shape;1483;p86"/>
              <p:cNvSpPr/>
              <p:nvPr/>
            </p:nvSpPr>
            <p:spPr>
              <a:xfrm>
                <a:off x="6301641" y="4376232"/>
                <a:ext cx="1811883" cy="484287"/>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a</a:t>
                </a:r>
                <a:r>
                  <a:rPr lang="en-US" sz="2600" b="1" i="0" u="none" strike="noStrike" cap="none">
                    <a:solidFill>
                      <a:schemeClr val="accent2"/>
                    </a:solidFill>
                    <a:latin typeface="Times New Roman"/>
                    <a:ea typeface="Times New Roman"/>
                    <a:cs typeface="Times New Roman"/>
                    <a:sym typeface="Times New Roman"/>
                  </a:rPr>
                  <a:t>z</a:t>
                </a:r>
                <a:r>
                  <a:rPr lang="en-US" sz="2600" b="0" i="0" u="none" strike="noStrike" cap="none">
                    <a:solidFill>
                      <a:schemeClr val="dk1"/>
                    </a:solidFill>
                    <a:latin typeface="Times New Roman"/>
                    <a:ea typeface="Times New Roman"/>
                    <a:cs typeface="Times New Roman"/>
                    <a:sym typeface="Times New Roman"/>
                  </a:rPr>
                  <a:t>+</a:t>
                </a:r>
                <a:r>
                  <a:rPr lang="en-US" sz="2600" b="1" i="0" u="none" strike="noStrike" cap="none">
                    <a:solidFill>
                      <a:schemeClr val="accent1"/>
                    </a:solidFill>
                    <a:latin typeface="Times New Roman"/>
                    <a:ea typeface="Times New Roman"/>
                    <a:cs typeface="Times New Roman"/>
                    <a:sym typeface="Times New Roman"/>
                  </a:rPr>
                  <a:t>b</a:t>
                </a:r>
                <a:r>
                  <a:rPr lang="en-US" sz="2600" b="1" i="0" u="none" strike="noStrike" cap="none">
                    <a:solidFill>
                      <a:schemeClr val="accent4"/>
                    </a:solidFill>
                    <a:latin typeface="Times New Roman"/>
                    <a:ea typeface="Times New Roman"/>
                    <a:cs typeface="Times New Roman"/>
                    <a:sym typeface="Times New Roman"/>
                  </a:rPr>
                  <a:t>y</a:t>
                </a:r>
                <a:r>
                  <a:rPr lang="en-US" sz="2600" b="0" i="0" u="none" strike="noStrike" cap="none">
                    <a:solidFill>
                      <a:schemeClr val="dk1"/>
                    </a:solidFill>
                    <a:latin typeface="Times New Roman"/>
                    <a:ea typeface="Times New Roman"/>
                    <a:cs typeface="Times New Roman"/>
                    <a:sym typeface="Times New Roman"/>
                  </a:rPr>
                  <a:t>+</a:t>
                </a:r>
                <a:r>
                  <a:rPr lang="en-US" sz="2600" b="1" i="0" u="none" strike="noStrike" cap="none">
                    <a:solidFill>
                      <a:schemeClr val="accent1"/>
                    </a:solidFill>
                    <a:latin typeface="Times New Roman"/>
                    <a:ea typeface="Times New Roman"/>
                    <a:cs typeface="Times New Roman"/>
                    <a:sym typeface="Times New Roman"/>
                  </a:rPr>
                  <a:t>c</a:t>
                </a:r>
                <a:r>
                  <a:rPr lang="en-US" sz="2600" b="1" i="0" u="none" strike="noStrike" cap="none">
                    <a:solidFill>
                      <a:schemeClr val="accent6"/>
                    </a:solidFill>
                    <a:latin typeface="Times New Roman"/>
                    <a:ea typeface="Times New Roman"/>
                    <a:cs typeface="Times New Roman"/>
                    <a:sym typeface="Times New Roman"/>
                  </a:rPr>
                  <a:t>x</a:t>
                </a:r>
                <a:endParaRPr sz="2600" b="1" i="0" u="none" strike="noStrike" cap="none">
                  <a:solidFill>
                    <a:schemeClr val="accent6"/>
                  </a:solidFill>
                  <a:latin typeface="Times New Roman"/>
                  <a:ea typeface="Times New Roman"/>
                  <a:cs typeface="Times New Roman"/>
                  <a:sym typeface="Times New Roman"/>
                </a:endParaRPr>
              </a:p>
            </p:txBody>
          </p:sp>
          <p:sp>
            <p:nvSpPr>
              <p:cNvPr id="1484" name="Google Shape;1484;p86"/>
              <p:cNvSpPr/>
              <p:nvPr/>
            </p:nvSpPr>
            <p:spPr>
              <a:xfrm>
                <a:off x="6301641" y="4860518"/>
                <a:ext cx="1811883" cy="484286"/>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b</a:t>
                </a:r>
                <a:r>
                  <a:rPr lang="en-US" sz="2600" b="1" i="0" u="none" strike="noStrike" cap="none">
                    <a:solidFill>
                      <a:schemeClr val="accent2"/>
                    </a:solidFill>
                    <a:latin typeface="Times New Roman"/>
                    <a:ea typeface="Times New Roman"/>
                    <a:cs typeface="Times New Roman"/>
                    <a:sym typeface="Times New Roman"/>
                  </a:rPr>
                  <a:t>z</a:t>
                </a:r>
                <a:r>
                  <a:rPr lang="en-US" sz="2600" b="0" i="0" u="none" strike="noStrike" cap="none">
                    <a:solidFill>
                      <a:schemeClr val="dk1"/>
                    </a:solidFill>
                    <a:latin typeface="Times New Roman"/>
                    <a:ea typeface="Times New Roman"/>
                    <a:cs typeface="Times New Roman"/>
                    <a:sym typeface="Times New Roman"/>
                  </a:rPr>
                  <a:t>+</a:t>
                </a:r>
                <a:r>
                  <a:rPr lang="en-US" sz="2600" b="1" i="0" u="none" strike="noStrike" cap="none">
                    <a:solidFill>
                      <a:schemeClr val="accent1"/>
                    </a:solidFill>
                    <a:latin typeface="Times New Roman"/>
                    <a:ea typeface="Times New Roman"/>
                    <a:cs typeface="Times New Roman"/>
                    <a:sym typeface="Times New Roman"/>
                  </a:rPr>
                  <a:t>c</a:t>
                </a:r>
                <a:r>
                  <a:rPr lang="en-US" sz="2600" b="1" i="0" u="none" strike="noStrike" cap="none">
                    <a:solidFill>
                      <a:schemeClr val="accent4"/>
                    </a:solidFill>
                    <a:latin typeface="Times New Roman"/>
                    <a:ea typeface="Times New Roman"/>
                    <a:cs typeface="Times New Roman"/>
                    <a:sym typeface="Times New Roman"/>
                  </a:rPr>
                  <a:t>y</a:t>
                </a:r>
                <a:r>
                  <a:rPr lang="en-US" sz="2600" b="0" i="0" u="none" strike="noStrike" cap="none">
                    <a:solidFill>
                      <a:schemeClr val="dk1"/>
                    </a:solidFill>
                    <a:latin typeface="Times New Roman"/>
                    <a:ea typeface="Times New Roman"/>
                    <a:cs typeface="Times New Roman"/>
                    <a:sym typeface="Times New Roman"/>
                  </a:rPr>
                  <a:t>+</a:t>
                </a:r>
                <a:r>
                  <a:rPr lang="en-US" sz="2600" b="1" i="0" u="none" strike="noStrike" cap="none">
                    <a:solidFill>
                      <a:schemeClr val="accent1"/>
                    </a:solidFill>
                    <a:latin typeface="Times New Roman"/>
                    <a:ea typeface="Times New Roman"/>
                    <a:cs typeface="Times New Roman"/>
                    <a:sym typeface="Times New Roman"/>
                  </a:rPr>
                  <a:t>d</a:t>
                </a:r>
                <a:r>
                  <a:rPr lang="en-US" sz="2600" b="1" i="0" u="none" strike="noStrike" cap="none">
                    <a:solidFill>
                      <a:schemeClr val="accent6"/>
                    </a:solidFill>
                    <a:latin typeface="Times New Roman"/>
                    <a:ea typeface="Times New Roman"/>
                    <a:cs typeface="Times New Roman"/>
                    <a:sym typeface="Times New Roman"/>
                  </a:rPr>
                  <a:t>x</a:t>
                </a:r>
                <a:endParaRPr sz="2600" b="1" i="0" u="none" strike="noStrike" cap="none">
                  <a:solidFill>
                    <a:schemeClr val="accent6"/>
                  </a:solidFill>
                  <a:latin typeface="Times New Roman"/>
                  <a:ea typeface="Times New Roman"/>
                  <a:cs typeface="Times New Roman"/>
                  <a:sym typeface="Times New Roman"/>
                </a:endParaRPr>
              </a:p>
            </p:txBody>
          </p:sp>
          <p:sp>
            <p:nvSpPr>
              <p:cNvPr id="1485" name="Google Shape;1485;p86"/>
              <p:cNvSpPr/>
              <p:nvPr/>
            </p:nvSpPr>
            <p:spPr>
              <a:xfrm>
                <a:off x="6301641" y="5346392"/>
                <a:ext cx="1811883" cy="484286"/>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c</a:t>
                </a:r>
                <a:r>
                  <a:rPr lang="en-US" sz="2600" b="1" i="0" u="none" strike="noStrike" cap="none">
                    <a:solidFill>
                      <a:schemeClr val="accent2"/>
                    </a:solidFill>
                    <a:latin typeface="Times New Roman"/>
                    <a:ea typeface="Times New Roman"/>
                    <a:cs typeface="Times New Roman"/>
                    <a:sym typeface="Times New Roman"/>
                  </a:rPr>
                  <a:t>z</a:t>
                </a:r>
                <a:r>
                  <a:rPr lang="en-US" sz="2600" b="0" i="0" u="none" strike="noStrike" cap="none">
                    <a:solidFill>
                      <a:schemeClr val="dk1"/>
                    </a:solidFill>
                    <a:latin typeface="Times New Roman"/>
                    <a:ea typeface="Times New Roman"/>
                    <a:cs typeface="Times New Roman"/>
                    <a:sym typeface="Times New Roman"/>
                  </a:rPr>
                  <a:t>+</a:t>
                </a:r>
                <a:r>
                  <a:rPr lang="en-US" sz="2600" b="1" i="0" u="none" strike="noStrike" cap="none">
                    <a:solidFill>
                      <a:schemeClr val="accent1"/>
                    </a:solidFill>
                    <a:latin typeface="Times New Roman"/>
                    <a:ea typeface="Times New Roman"/>
                    <a:cs typeface="Times New Roman"/>
                    <a:sym typeface="Times New Roman"/>
                  </a:rPr>
                  <a:t>d</a:t>
                </a:r>
                <a:r>
                  <a:rPr lang="en-US" sz="2600" b="1" i="0" u="none" strike="noStrike" cap="none">
                    <a:solidFill>
                      <a:schemeClr val="accent4"/>
                    </a:solidFill>
                    <a:latin typeface="Times New Roman"/>
                    <a:ea typeface="Times New Roman"/>
                    <a:cs typeface="Times New Roman"/>
                    <a:sym typeface="Times New Roman"/>
                  </a:rPr>
                  <a:t>y</a:t>
                </a:r>
                <a:endParaRPr sz="2600" b="1" i="0" u="none" strike="noStrike" cap="none">
                  <a:solidFill>
                    <a:schemeClr val="accent4"/>
                  </a:solidFill>
                  <a:latin typeface="Times New Roman"/>
                  <a:ea typeface="Times New Roman"/>
                  <a:cs typeface="Times New Roman"/>
                  <a:sym typeface="Times New Roman"/>
                </a:endParaRPr>
              </a:p>
            </p:txBody>
          </p:sp>
          <p:sp>
            <p:nvSpPr>
              <p:cNvPr id="1486" name="Google Shape;1486;p86"/>
              <p:cNvSpPr/>
              <p:nvPr/>
            </p:nvSpPr>
            <p:spPr>
              <a:xfrm>
                <a:off x="6301641" y="3415599"/>
                <a:ext cx="1811883" cy="484286"/>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a</a:t>
                </a:r>
                <a:r>
                  <a:rPr lang="en-US" sz="2600" b="1" i="0" u="none" strike="noStrike" cap="none">
                    <a:solidFill>
                      <a:schemeClr val="accent6"/>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487" name="Google Shape;1487;p86"/>
              <p:cNvSpPr/>
              <p:nvPr/>
            </p:nvSpPr>
            <p:spPr>
              <a:xfrm>
                <a:off x="6301641" y="5827502"/>
                <a:ext cx="1811883" cy="484287"/>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d</a:t>
                </a:r>
                <a:r>
                  <a:rPr lang="en-US" sz="2600" b="1" i="0" u="none" strike="noStrike" cap="none">
                    <a:solidFill>
                      <a:schemeClr val="accent2"/>
                    </a:solidFill>
                    <a:latin typeface="Times New Roman"/>
                    <a:ea typeface="Times New Roman"/>
                    <a:cs typeface="Times New Roman"/>
                    <a:sym typeface="Times New Roman"/>
                  </a:rPr>
                  <a:t>z</a:t>
                </a:r>
                <a:endParaRPr sz="2600" b="1" i="0" u="none" strike="noStrike" cap="none">
                  <a:solidFill>
                    <a:schemeClr val="accent2"/>
                  </a:solidFill>
                  <a:latin typeface="Times New Roman"/>
                  <a:ea typeface="Times New Roman"/>
                  <a:cs typeface="Times New Roman"/>
                  <a:sym typeface="Times New Roman"/>
                </a:endParaRPr>
              </a:p>
            </p:txBody>
          </p:sp>
        </p:grpSp>
      </p:grpSp>
      <p:grpSp>
        <p:nvGrpSpPr>
          <p:cNvPr id="1488" name="Google Shape;1488;p86"/>
          <p:cNvGrpSpPr/>
          <p:nvPr/>
        </p:nvGrpSpPr>
        <p:grpSpPr>
          <a:xfrm>
            <a:off x="6659563" y="3419475"/>
            <a:ext cx="2360612" cy="2484438"/>
            <a:chOff x="6380277" y="3419850"/>
            <a:chExt cx="2360803" cy="2483396"/>
          </a:xfrm>
        </p:grpSpPr>
        <p:sp>
          <p:nvSpPr>
            <p:cNvPr id="1489" name="Google Shape;1489;p86"/>
            <p:cNvSpPr/>
            <p:nvPr/>
          </p:nvSpPr>
          <p:spPr>
            <a:xfrm>
              <a:off x="6380277" y="3895900"/>
              <a:ext cx="741422" cy="483985"/>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a</a:t>
              </a:r>
              <a:r>
                <a:rPr lang="en-US" sz="2600" b="1" i="0" u="none" strike="noStrike" cap="none">
                  <a:solidFill>
                    <a:schemeClr val="accent4"/>
                  </a:solidFill>
                  <a:latin typeface="Times New Roman"/>
                  <a:ea typeface="Times New Roman"/>
                  <a:cs typeface="Times New Roman"/>
                  <a:sym typeface="Times New Roman"/>
                </a:rPr>
                <a:t>y+</a:t>
              </a:r>
              <a:endParaRPr sz="2600" b="1" i="0" u="none" strike="noStrike" cap="none">
                <a:solidFill>
                  <a:schemeClr val="accent6"/>
                </a:solidFill>
                <a:latin typeface="Times New Roman"/>
                <a:ea typeface="Times New Roman"/>
                <a:cs typeface="Times New Roman"/>
                <a:sym typeface="Times New Roman"/>
              </a:endParaRPr>
            </a:p>
          </p:txBody>
        </p:sp>
        <p:sp>
          <p:nvSpPr>
            <p:cNvPr id="1490" name="Google Shape;1490;p86"/>
            <p:cNvSpPr/>
            <p:nvPr/>
          </p:nvSpPr>
          <p:spPr>
            <a:xfrm>
              <a:off x="6380277" y="4381472"/>
              <a:ext cx="741422" cy="483985"/>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a</a:t>
              </a:r>
              <a:r>
                <a:rPr lang="en-US" sz="2600" b="1" i="0" u="none" strike="noStrike" cap="none">
                  <a:solidFill>
                    <a:schemeClr val="accent2"/>
                  </a:solidFill>
                  <a:latin typeface="Times New Roman"/>
                  <a:ea typeface="Times New Roman"/>
                  <a:cs typeface="Times New Roman"/>
                  <a:sym typeface="Times New Roman"/>
                </a:rPr>
                <a:t>z+</a:t>
              </a:r>
              <a:endParaRPr sz="2600" b="1" i="0" u="none" strike="noStrike" cap="none">
                <a:solidFill>
                  <a:schemeClr val="accent6"/>
                </a:solidFill>
                <a:latin typeface="Times New Roman"/>
                <a:ea typeface="Times New Roman"/>
                <a:cs typeface="Times New Roman"/>
                <a:sym typeface="Times New Roman"/>
              </a:endParaRPr>
            </a:p>
          </p:txBody>
        </p:sp>
        <p:sp>
          <p:nvSpPr>
            <p:cNvPr id="1491" name="Google Shape;1491;p86"/>
            <p:cNvSpPr/>
            <p:nvPr/>
          </p:nvSpPr>
          <p:spPr>
            <a:xfrm>
              <a:off x="6380277" y="3419850"/>
              <a:ext cx="741422" cy="483985"/>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a</a:t>
              </a:r>
              <a:r>
                <a:rPr lang="en-US" sz="2600" b="1" i="0" u="none" strike="noStrike" cap="none">
                  <a:solidFill>
                    <a:schemeClr val="accent6"/>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492" name="Google Shape;1492;p86"/>
            <p:cNvSpPr/>
            <p:nvPr/>
          </p:nvSpPr>
          <p:spPr>
            <a:xfrm>
              <a:off x="7121699" y="3895900"/>
              <a:ext cx="739835" cy="483985"/>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b</a:t>
              </a:r>
              <a:r>
                <a:rPr lang="en-US" sz="2600" b="1" i="0" u="none" strike="noStrike" cap="none">
                  <a:solidFill>
                    <a:schemeClr val="accent6"/>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1493" name="Google Shape;1493;p86"/>
            <p:cNvSpPr/>
            <p:nvPr/>
          </p:nvSpPr>
          <p:spPr>
            <a:xfrm>
              <a:off x="7121699" y="4381472"/>
              <a:ext cx="739835" cy="483985"/>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b</a:t>
              </a:r>
              <a:r>
                <a:rPr lang="en-US" sz="2600" b="1" i="0" u="none" strike="noStrike" cap="none">
                  <a:solidFill>
                    <a:schemeClr val="accent4"/>
                  </a:solidFill>
                  <a:latin typeface="Times New Roman"/>
                  <a:ea typeface="Times New Roman"/>
                  <a:cs typeface="Times New Roman"/>
                  <a:sym typeface="Times New Roman"/>
                </a:rPr>
                <a:t>y+</a:t>
              </a:r>
              <a:endParaRPr sz="2600" b="1" i="0" u="none" strike="noStrike" cap="none">
                <a:solidFill>
                  <a:schemeClr val="accent6"/>
                </a:solidFill>
                <a:latin typeface="Times New Roman"/>
                <a:ea typeface="Times New Roman"/>
                <a:cs typeface="Times New Roman"/>
                <a:sym typeface="Times New Roman"/>
              </a:endParaRPr>
            </a:p>
          </p:txBody>
        </p:sp>
        <p:sp>
          <p:nvSpPr>
            <p:cNvPr id="1494" name="Google Shape;1494;p86"/>
            <p:cNvSpPr/>
            <p:nvPr/>
          </p:nvSpPr>
          <p:spPr>
            <a:xfrm>
              <a:off x="7121699" y="4863869"/>
              <a:ext cx="739835" cy="483985"/>
            </a:xfrm>
            <a:prstGeom prst="rect">
              <a:avLst/>
            </a:prstGeom>
            <a:solidFill>
              <a:srgbClr val="D8D8D8"/>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accent1"/>
                  </a:solidFill>
                  <a:latin typeface="Times New Roman"/>
                  <a:ea typeface="Times New Roman"/>
                  <a:cs typeface="Times New Roman"/>
                  <a:sym typeface="Times New Roman"/>
                </a:rPr>
                <a:t>b</a:t>
              </a:r>
              <a:r>
                <a:rPr lang="en-US" sz="2600" b="1" i="0" u="none" strike="noStrike" cap="none">
                  <a:solidFill>
                    <a:schemeClr val="accent2"/>
                  </a:solidFill>
                  <a:latin typeface="Times New Roman"/>
                  <a:ea typeface="Times New Roman"/>
                  <a:cs typeface="Times New Roman"/>
                  <a:sym typeface="Times New Roman"/>
                </a:rPr>
                <a:t>z+</a:t>
              </a:r>
              <a:endParaRPr sz="2600" b="1" i="0" u="none" strike="noStrike" cap="none">
                <a:solidFill>
                  <a:schemeClr val="accent6"/>
                </a:solidFill>
                <a:latin typeface="Times New Roman"/>
                <a:ea typeface="Times New Roman"/>
                <a:cs typeface="Times New Roman"/>
                <a:sym typeface="Times New Roman"/>
              </a:endParaRPr>
            </a:p>
          </p:txBody>
        </p:sp>
        <p:sp>
          <p:nvSpPr>
            <p:cNvPr id="1495" name="Google Shape;1495;p86"/>
            <p:cNvSpPr txBox="1"/>
            <p:nvPr/>
          </p:nvSpPr>
          <p:spPr>
            <a:xfrm>
              <a:off x="7861605" y="4238708"/>
              <a:ext cx="86524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1496" name="Google Shape;1496;p86"/>
            <p:cNvSpPr txBox="1"/>
            <p:nvPr/>
          </p:nvSpPr>
          <p:spPr>
            <a:xfrm>
              <a:off x="7839991" y="4747686"/>
              <a:ext cx="86524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1497" name="Google Shape;1497;p86"/>
            <p:cNvSpPr txBox="1"/>
            <p:nvPr/>
          </p:nvSpPr>
          <p:spPr>
            <a:xfrm>
              <a:off x="7875840" y="5318471"/>
              <a:ext cx="86524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01"/>
        <p:cNvGrpSpPr/>
        <p:nvPr/>
      </p:nvGrpSpPr>
      <p:grpSpPr>
        <a:xfrm>
          <a:off x="0" y="0"/>
          <a:ext cx="0" cy="0"/>
          <a:chOff x="0" y="0"/>
          <a:chExt cx="0" cy="0"/>
        </a:xfrm>
      </p:grpSpPr>
      <p:sp>
        <p:nvSpPr>
          <p:cNvPr id="1502" name="Google Shape;1502;p87"/>
          <p:cNvSpPr txBox="1">
            <a:spLocks noGrp="1"/>
          </p:cNvSpPr>
          <p:nvPr>
            <p:ph type="title"/>
          </p:nvPr>
        </p:nvSpPr>
        <p:spPr>
          <a:xfrm>
            <a:off x="685800" y="3009900"/>
            <a:ext cx="77724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Performance Metrics for Segmentation -  see materials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06"/>
        <p:cNvGrpSpPr/>
        <p:nvPr/>
      </p:nvGrpSpPr>
      <p:grpSpPr>
        <a:xfrm>
          <a:off x="0" y="0"/>
          <a:ext cx="0" cy="0"/>
          <a:chOff x="0" y="0"/>
          <a:chExt cx="0" cy="0"/>
        </a:xfrm>
      </p:grpSpPr>
      <p:sp>
        <p:nvSpPr>
          <p:cNvPr id="1507" name="Google Shape;1507;p88"/>
          <p:cNvSpPr txBox="1">
            <a:spLocks noGrp="1"/>
          </p:cNvSpPr>
          <p:nvPr>
            <p:ph type="title"/>
          </p:nvPr>
        </p:nvSpPr>
        <p:spPr>
          <a:xfrm>
            <a:off x="2468563" y="1804988"/>
            <a:ext cx="4205287" cy="1055687"/>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mAP for Object Detection</a:t>
            </a:r>
            <a:endParaRPr/>
          </a:p>
        </p:txBody>
      </p:sp>
      <p:sp>
        <p:nvSpPr>
          <p:cNvPr id="1508" name="Google Shape;1508;p88"/>
          <p:cNvSpPr txBox="1"/>
          <p:nvPr/>
        </p:nvSpPr>
        <p:spPr>
          <a:xfrm>
            <a:off x="1633538" y="3222625"/>
            <a:ext cx="5876925" cy="679673"/>
          </a:xfrm>
          <a:prstGeom prst="rect">
            <a:avLst/>
          </a:prstGeom>
          <a:noFill/>
          <a:ln>
            <a:noFill/>
          </a:ln>
        </p:spPr>
        <p:txBody>
          <a:bodyPr spcFirstLastPara="1" wrap="square" lIns="0" tIns="9525" rIns="0" bIns="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0" i="0" u="none" strike="noStrike" cap="none">
                <a:solidFill>
                  <a:srgbClr val="222222"/>
                </a:solidFill>
                <a:latin typeface="Helvetica Neue"/>
                <a:ea typeface="Helvetica Neue"/>
                <a:cs typeface="Helvetica Neue"/>
                <a:sym typeface="Helvetica Neue"/>
              </a:rPr>
              <a:t>Source: Karel Hora</a:t>
            </a:r>
            <a:endParaRPr sz="1500" b="0" i="0" u="none" strike="noStrike" cap="none">
              <a:solidFill>
                <a:schemeClr val="dk1"/>
              </a:solidFill>
              <a:latin typeface="Helvetica Neue"/>
              <a:ea typeface="Helvetica Neue"/>
              <a:cs typeface="Helvetica Neue"/>
              <a:sym typeface="Helvetica Neue"/>
            </a:endParaRPr>
          </a:p>
          <a:p>
            <a:pPr marL="0" marR="0" lvl="0" indent="0" algn="ctr" rtl="0">
              <a:lnSpc>
                <a:spcPct val="115000"/>
              </a:lnSpc>
              <a:spcBef>
                <a:spcPts val="0"/>
              </a:spcBef>
              <a:spcAft>
                <a:spcPts val="0"/>
              </a:spcAft>
              <a:buClr>
                <a:srgbClr val="000000"/>
              </a:buClr>
              <a:buSzPts val="1500"/>
              <a:buFont typeface="Arial"/>
              <a:buNone/>
            </a:pPr>
            <a:r>
              <a:rPr lang="en-US" sz="1500" b="0" i="0" u="none" strike="noStrike" cap="none">
                <a:solidFill>
                  <a:srgbClr val="222222"/>
                </a:solidFill>
                <a:latin typeface="Helvetica Neue"/>
                <a:ea typeface="Helvetica Neue"/>
                <a:cs typeface="Helvetica Neue"/>
                <a:sym typeface="Helvetica Neue"/>
              </a:rPr>
              <a:t>Brno University of Technology / Czech Technical University in Prague</a:t>
            </a:r>
            <a:endParaRPr sz="1500" b="0" i="0" u="none" strike="noStrike" cap="none">
              <a:solidFill>
                <a:schemeClr val="dk1"/>
              </a:solidFill>
              <a:latin typeface="Helvetica Neue"/>
              <a:ea typeface="Helvetica Neue"/>
              <a:cs typeface="Helvetica Neue"/>
              <a:sym typeface="Helvetica Neue"/>
            </a:endParaRPr>
          </a:p>
          <a:p>
            <a:pPr marL="0" marR="0" lvl="0" indent="0" algn="ctr" rtl="0">
              <a:lnSpc>
                <a:spcPct val="115000"/>
              </a:lnSpc>
              <a:spcBef>
                <a:spcPts val="0"/>
              </a:spcBef>
              <a:spcAft>
                <a:spcPts val="0"/>
              </a:spcAft>
              <a:buClr>
                <a:srgbClr val="000000"/>
              </a:buClr>
              <a:buSzPts val="1500"/>
              <a:buFont typeface="Arial"/>
              <a:buNone/>
            </a:pPr>
            <a:r>
              <a:rPr lang="en-US" sz="1500" b="0" i="0" u="sng" strike="noStrike" cap="none">
                <a:solidFill>
                  <a:srgbClr val="222222"/>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horak@feec.vutbr.cz</a:t>
            </a:r>
            <a:endParaRPr sz="1500" b="0" i="0" u="none" strike="noStrike" cap="none">
              <a:solidFill>
                <a:schemeClr val="dk1"/>
              </a:solidFill>
              <a:latin typeface="Courier New"/>
              <a:ea typeface="Courier New"/>
              <a:cs typeface="Courier New"/>
              <a:sym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12"/>
        <p:cNvGrpSpPr/>
        <p:nvPr/>
      </p:nvGrpSpPr>
      <p:grpSpPr>
        <a:xfrm>
          <a:off x="0" y="0"/>
          <a:ext cx="0" cy="0"/>
          <a:chOff x="0" y="0"/>
          <a:chExt cx="0" cy="0"/>
        </a:xfrm>
      </p:grpSpPr>
      <p:sp>
        <p:nvSpPr>
          <p:cNvPr id="1513" name="Google Shape;1513;p89"/>
          <p:cNvSpPr txBox="1">
            <a:spLocks noGrp="1"/>
          </p:cNvSpPr>
          <p:nvPr>
            <p:ph type="title"/>
          </p:nvPr>
        </p:nvSpPr>
        <p:spPr>
          <a:xfrm>
            <a:off x="381000" y="47625"/>
            <a:ext cx="7208838" cy="531813"/>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mAP for Object Detection</a:t>
            </a:r>
            <a:endParaRPr/>
          </a:p>
        </p:txBody>
      </p:sp>
      <p:sp>
        <p:nvSpPr>
          <p:cNvPr id="1514" name="Google Shape;1514;p89"/>
          <p:cNvSpPr txBox="1"/>
          <p:nvPr/>
        </p:nvSpPr>
        <p:spPr>
          <a:xfrm>
            <a:off x="125413" y="1622425"/>
            <a:ext cx="8893175" cy="2087110"/>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mAP stands for mean Average Precision.</a:t>
            </a:r>
            <a:endParaRPr sz="1400" b="0" i="0" u="none" strike="noStrike" cap="none">
              <a:solidFill>
                <a:srgbClr val="000000"/>
              </a:solidFill>
              <a:latin typeface="Arial"/>
              <a:ea typeface="Arial"/>
              <a:cs typeface="Arial"/>
              <a:sym typeface="Arial"/>
            </a:endParaRPr>
          </a:p>
          <a:p>
            <a:pPr marL="223838"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rgbClr val="222222"/>
                </a:solidFill>
                <a:latin typeface="Helvetica Neue"/>
                <a:ea typeface="Helvetica Neue"/>
                <a:cs typeface="Helvetica Neue"/>
                <a:sym typeface="Helvetica Neue"/>
              </a:rPr>
              <a:t>AP is a popular metric in measuring the accuracy of object detectors like Faster R-CNN, SSD, etc.</a:t>
            </a:r>
            <a:endParaRPr sz="1500" b="0" i="0" u="none" strike="noStrike" cap="none">
              <a:solidFill>
                <a:schemeClr val="dk1"/>
              </a:solidFill>
              <a:latin typeface="Helvetica Neue"/>
              <a:ea typeface="Helvetica Neue"/>
              <a:cs typeface="Helvetica Neue"/>
              <a:sym typeface="Helvetica Neue"/>
            </a:endParaRPr>
          </a:p>
          <a:p>
            <a:pPr marL="223838" marR="0" lvl="0" indent="-119063" algn="l" rtl="0">
              <a:lnSpc>
                <a:spcPct val="100000"/>
              </a:lnSpc>
              <a:spcBef>
                <a:spcPts val="25"/>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rgbClr val="222222"/>
                </a:solidFill>
                <a:latin typeface="Helvetica Neue"/>
                <a:ea typeface="Helvetica Neue"/>
                <a:cs typeface="Helvetica Neue"/>
                <a:sym typeface="Helvetica Neue"/>
              </a:rPr>
              <a:t>Average	precision	computes	the	average	precision	value	for	recall	value	over	0	to	1.	It	sounds  complicated but actually pretty simple as we illustrate it with an example.</a:t>
            </a:r>
            <a:endParaRPr sz="1500" b="0" i="0" u="none" strike="noStrike" cap="none">
              <a:solidFill>
                <a:schemeClr val="dk1"/>
              </a:solidFill>
              <a:latin typeface="Helvetica Neue"/>
              <a:ea typeface="Helvetica Neue"/>
              <a:cs typeface="Helvetica Neue"/>
              <a:sym typeface="Helvetica Neue"/>
            </a:endParaRPr>
          </a:p>
          <a:p>
            <a:pPr marL="223838"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rgbClr val="222222"/>
                </a:solidFill>
                <a:latin typeface="Helvetica Neue"/>
                <a:ea typeface="Helvetica Neue"/>
                <a:cs typeface="Helvetica Neue"/>
                <a:sym typeface="Helvetica Neue"/>
              </a:rPr>
              <a:t>But before that, we will do a quick recap on precision, recall, and IoU first.</a:t>
            </a:r>
            <a:endParaRPr sz="1500" b="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18"/>
        <p:cNvGrpSpPr/>
        <p:nvPr/>
      </p:nvGrpSpPr>
      <p:grpSpPr>
        <a:xfrm>
          <a:off x="0" y="0"/>
          <a:ext cx="0" cy="0"/>
          <a:chOff x="0" y="0"/>
          <a:chExt cx="0" cy="0"/>
        </a:xfrm>
      </p:grpSpPr>
      <p:sp>
        <p:nvSpPr>
          <p:cNvPr id="1519" name="Google Shape;1519;p90"/>
          <p:cNvSpPr txBox="1">
            <a:spLocks noGrp="1"/>
          </p:cNvSpPr>
          <p:nvPr>
            <p:ph type="title"/>
          </p:nvPr>
        </p:nvSpPr>
        <p:spPr>
          <a:xfrm>
            <a:off x="263525" y="295275"/>
            <a:ext cx="6365875" cy="531813"/>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Precision &amp; recall</a:t>
            </a:r>
            <a:endParaRPr/>
          </a:p>
        </p:txBody>
      </p:sp>
      <p:sp>
        <p:nvSpPr>
          <p:cNvPr id="1520" name="Google Shape;1520;p90"/>
          <p:cNvSpPr txBox="1"/>
          <p:nvPr/>
        </p:nvSpPr>
        <p:spPr>
          <a:xfrm>
            <a:off x="125413" y="1622425"/>
            <a:ext cx="8893175" cy="1174750"/>
          </a:xfrm>
          <a:prstGeom prst="rect">
            <a:avLst/>
          </a:prstGeom>
          <a:noFill/>
          <a:ln>
            <a:noFill/>
          </a:ln>
        </p:spPr>
        <p:txBody>
          <a:bodyPr spcFirstLastPara="1" wrap="square" lIns="0" tIns="9525" rIns="0" bIns="0" anchor="t" anchorCtr="0">
            <a:spAutoFit/>
          </a:bodyPr>
          <a:lstStyle/>
          <a:p>
            <a:pPr marL="222250" marR="0" lvl="0" indent="-214312" algn="l" rtl="0">
              <a:lnSpc>
                <a:spcPct val="100000"/>
              </a:lnSpc>
              <a:spcBef>
                <a:spcPts val="0"/>
              </a:spcBef>
              <a:spcAft>
                <a:spcPts val="0"/>
              </a:spcAft>
              <a:buClr>
                <a:srgbClr val="0070C0"/>
              </a:buClr>
              <a:buSzPts val="1500"/>
              <a:buFont typeface="Calibri"/>
              <a:buChar char="●"/>
            </a:pPr>
            <a:r>
              <a:rPr lang="en-US" sz="1500" b="1" i="0" u="none" strike="noStrike" cap="none">
                <a:solidFill>
                  <a:schemeClr val="dk1"/>
                </a:solidFill>
                <a:latin typeface="Arial"/>
                <a:ea typeface="Arial"/>
                <a:cs typeface="Arial"/>
                <a:sym typeface="Arial"/>
              </a:rPr>
              <a:t>Precision </a:t>
            </a:r>
            <a:r>
              <a:rPr lang="en-US" sz="1500" b="0" i="0" u="none" strike="noStrike" cap="none">
                <a:solidFill>
                  <a:schemeClr val="dk1"/>
                </a:solidFill>
                <a:latin typeface="Helvetica Neue"/>
                <a:ea typeface="Helvetica Neue"/>
                <a:cs typeface="Helvetica Neue"/>
                <a:sym typeface="Helvetica Neue"/>
              </a:rPr>
              <a:t>measures how accurate is your predictions. i.e. the percentage of your predictions are  correct.</a:t>
            </a:r>
            <a:endParaRPr sz="1400" b="0" i="0" u="none" strike="noStrike" cap="none">
              <a:solidFill>
                <a:srgbClr val="000000"/>
              </a:solidFill>
              <a:latin typeface="Arial"/>
              <a:ea typeface="Arial"/>
              <a:cs typeface="Arial"/>
              <a:sym typeface="Arial"/>
            </a:endParaRPr>
          </a:p>
          <a:p>
            <a:pPr marL="222250"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2250" marR="0" lvl="0" indent="-214312" algn="l" rtl="0">
              <a:lnSpc>
                <a:spcPct val="100000"/>
              </a:lnSpc>
              <a:spcBef>
                <a:spcPts val="0"/>
              </a:spcBef>
              <a:spcAft>
                <a:spcPts val="0"/>
              </a:spcAft>
              <a:buClr>
                <a:srgbClr val="0070C0"/>
              </a:buClr>
              <a:buSzPts val="1500"/>
              <a:buFont typeface="Calibri"/>
              <a:buChar char="●"/>
            </a:pPr>
            <a:r>
              <a:rPr lang="en-US" sz="1500" b="1" i="0" u="none" strike="noStrike" cap="none">
                <a:solidFill>
                  <a:srgbClr val="222222"/>
                </a:solidFill>
                <a:latin typeface="Arial"/>
                <a:ea typeface="Arial"/>
                <a:cs typeface="Arial"/>
                <a:sym typeface="Arial"/>
              </a:rPr>
              <a:t>Recall </a:t>
            </a:r>
            <a:r>
              <a:rPr lang="en-US" sz="1500" b="0" i="0" u="none" strike="noStrike" cap="none">
                <a:solidFill>
                  <a:srgbClr val="222222"/>
                </a:solidFill>
                <a:latin typeface="Helvetica Neue"/>
                <a:ea typeface="Helvetica Neue"/>
                <a:cs typeface="Helvetica Neue"/>
                <a:sym typeface="Helvetica Neue"/>
              </a:rPr>
              <a:t>measures how good you find all the positives. For example, we can find 80% of the possible  positive cases in our top K predictions.</a:t>
            </a:r>
            <a:endParaRPr sz="1500" b="0" i="0" u="none" strike="noStrike" cap="none">
              <a:solidFill>
                <a:schemeClr val="dk1"/>
              </a:solidFill>
              <a:latin typeface="Helvetica Neue"/>
              <a:ea typeface="Helvetica Neue"/>
              <a:cs typeface="Helvetica Neue"/>
              <a:sym typeface="Helvetica Neue"/>
            </a:endParaRPr>
          </a:p>
        </p:txBody>
      </p:sp>
      <p:sp>
        <p:nvSpPr>
          <p:cNvPr id="1521" name="Google Shape;1521;p90"/>
          <p:cNvSpPr txBox="1"/>
          <p:nvPr/>
        </p:nvSpPr>
        <p:spPr>
          <a:xfrm>
            <a:off x="125413" y="4594225"/>
            <a:ext cx="4927600" cy="239713"/>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1" i="0" u="none" strike="noStrike" cap="none">
                <a:solidFill>
                  <a:srgbClr val="222222"/>
                </a:solidFill>
                <a:latin typeface="Arial"/>
                <a:ea typeface="Arial"/>
                <a:cs typeface="Arial"/>
                <a:sym typeface="Arial"/>
              </a:rPr>
              <a:t>F1 score </a:t>
            </a:r>
            <a:r>
              <a:rPr lang="en-US" sz="1500" b="0" i="0" u="none" strike="noStrike" cap="none">
                <a:solidFill>
                  <a:srgbClr val="222222"/>
                </a:solidFill>
                <a:latin typeface="Helvetica Neue"/>
                <a:ea typeface="Helvetica Neue"/>
                <a:cs typeface="Helvetica Neue"/>
                <a:sym typeface="Helvetica Neue"/>
              </a:rPr>
              <a:t>is a measure combining Precision and Recall.</a:t>
            </a:r>
            <a:endParaRPr sz="1500" b="0" i="0" u="none" strike="noStrike" cap="none">
              <a:solidFill>
                <a:schemeClr val="dk1"/>
              </a:solidFill>
              <a:latin typeface="Helvetica Neue"/>
              <a:ea typeface="Helvetica Neue"/>
              <a:cs typeface="Helvetica Neue"/>
              <a:sym typeface="Helvetica Neue"/>
            </a:endParaRPr>
          </a:p>
        </p:txBody>
      </p:sp>
      <p:pic>
        <p:nvPicPr>
          <p:cNvPr id="1522" name="Google Shape;1522;p90"/>
          <p:cNvPicPr preferRelativeResize="0"/>
          <p:nvPr/>
        </p:nvPicPr>
        <p:blipFill rotWithShape="1">
          <a:blip r:embed="rId3">
            <a:alphaModFix/>
          </a:blip>
          <a:srcRect/>
          <a:stretch/>
        </p:blipFill>
        <p:spPr>
          <a:xfrm>
            <a:off x="2095500" y="3009900"/>
            <a:ext cx="4953000" cy="1352550"/>
          </a:xfrm>
          <a:prstGeom prst="rect">
            <a:avLst/>
          </a:prstGeom>
          <a:noFill/>
          <a:ln>
            <a:noFill/>
          </a:ln>
        </p:spPr>
      </p:pic>
      <p:pic>
        <p:nvPicPr>
          <p:cNvPr id="1523" name="Google Shape;1523;p90"/>
          <p:cNvPicPr preferRelativeResize="0"/>
          <p:nvPr/>
        </p:nvPicPr>
        <p:blipFill rotWithShape="1">
          <a:blip r:embed="rId4">
            <a:alphaModFix/>
          </a:blip>
          <a:srcRect/>
          <a:stretch/>
        </p:blipFill>
        <p:spPr>
          <a:xfrm>
            <a:off x="3467100" y="5194300"/>
            <a:ext cx="2209800" cy="4762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27"/>
        <p:cNvGrpSpPr/>
        <p:nvPr/>
      </p:nvGrpSpPr>
      <p:grpSpPr>
        <a:xfrm>
          <a:off x="0" y="0"/>
          <a:ext cx="0" cy="0"/>
          <a:chOff x="0" y="0"/>
          <a:chExt cx="0" cy="0"/>
        </a:xfrm>
      </p:grpSpPr>
      <p:sp>
        <p:nvSpPr>
          <p:cNvPr id="1528" name="Google Shape;1528;p91"/>
          <p:cNvSpPr txBox="1">
            <a:spLocks noGrp="1"/>
          </p:cNvSpPr>
          <p:nvPr>
            <p:ph type="title"/>
          </p:nvPr>
        </p:nvSpPr>
        <p:spPr>
          <a:xfrm>
            <a:off x="381000" y="395288"/>
            <a:ext cx="7086600" cy="533400"/>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IoU (Intersection over union)</a:t>
            </a:r>
            <a:endParaRPr/>
          </a:p>
        </p:txBody>
      </p:sp>
      <p:sp>
        <p:nvSpPr>
          <p:cNvPr id="1529" name="Google Shape;1529;p91"/>
          <p:cNvSpPr txBox="1"/>
          <p:nvPr/>
        </p:nvSpPr>
        <p:spPr>
          <a:xfrm>
            <a:off x="125413" y="938212"/>
            <a:ext cx="8893175" cy="2155825"/>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1" i="0" u="none" strike="noStrike" cap="none">
                <a:solidFill>
                  <a:schemeClr val="dk1"/>
                </a:solidFill>
                <a:latin typeface="Arial"/>
                <a:ea typeface="Arial"/>
                <a:cs typeface="Arial"/>
                <a:sym typeface="Arial"/>
              </a:rPr>
              <a:t>IoU </a:t>
            </a:r>
            <a:r>
              <a:rPr lang="en-US" sz="1500" b="0" i="0" u="none" strike="noStrike" cap="none">
                <a:solidFill>
                  <a:schemeClr val="dk1"/>
                </a:solidFill>
                <a:latin typeface="Helvetica Neue"/>
                <a:ea typeface="Helvetica Neue"/>
                <a:cs typeface="Helvetica Neue"/>
                <a:sym typeface="Helvetica Neue"/>
              </a:rPr>
              <a:t>measures the overlap between two boundaries.</a:t>
            </a:r>
            <a:endParaRPr sz="1400" b="0" i="0" u="none" strike="noStrike" cap="none">
              <a:solidFill>
                <a:srgbClr val="000000"/>
              </a:solidFill>
              <a:latin typeface="Arial"/>
              <a:ea typeface="Arial"/>
              <a:cs typeface="Arial"/>
              <a:sym typeface="Arial"/>
            </a:endParaRPr>
          </a:p>
          <a:p>
            <a:pPr marL="223838"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We use that to measure how much our predicted boundary overlaps with the ground truth (the real  object boundary).</a:t>
            </a:r>
            <a:endParaRPr sz="1400" b="0" i="0" u="none" strike="noStrike" cap="none">
              <a:solidFill>
                <a:srgbClr val="000000"/>
              </a:solidFill>
              <a:latin typeface="Arial"/>
              <a:ea typeface="Arial"/>
              <a:cs typeface="Arial"/>
              <a:sym typeface="Arial"/>
            </a:endParaRPr>
          </a:p>
          <a:p>
            <a:pPr marL="223838" marR="0" lvl="0" indent="-119063" algn="l" rtl="0">
              <a:lnSpc>
                <a:spcPct val="100000"/>
              </a:lnSpc>
              <a:spcBef>
                <a:spcPts val="25"/>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800"/>
              <a:buFont typeface="Calibri"/>
              <a:buChar char="●"/>
            </a:pPr>
            <a:r>
              <a:rPr lang="en-US" sz="18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chemeClr val="dk1"/>
                </a:solidFill>
                <a:latin typeface="Helvetica Neue"/>
                <a:ea typeface="Helvetica Neue"/>
                <a:cs typeface="Helvetica Neue"/>
                <a:sym typeface="Helvetica Neue"/>
              </a:rPr>
              <a:t>In some datasets, we predefine an IoU  threshold (say 0.5) in classifying whether  the prediction is a true positive or a false  positive.</a:t>
            </a:r>
            <a:endParaRPr sz="1400" b="0" i="0" u="none" strike="noStrike" cap="none">
              <a:solidFill>
                <a:srgbClr val="000000"/>
              </a:solidFill>
              <a:latin typeface="Arial"/>
              <a:ea typeface="Arial"/>
              <a:cs typeface="Arial"/>
              <a:sym typeface="Arial"/>
            </a:endParaRPr>
          </a:p>
        </p:txBody>
      </p:sp>
      <p:pic>
        <p:nvPicPr>
          <p:cNvPr id="1530" name="Google Shape;1530;p91"/>
          <p:cNvPicPr preferRelativeResize="0"/>
          <p:nvPr/>
        </p:nvPicPr>
        <p:blipFill rotWithShape="1">
          <a:blip r:embed="rId3">
            <a:alphaModFix/>
          </a:blip>
          <a:srcRect/>
          <a:stretch/>
        </p:blipFill>
        <p:spPr>
          <a:xfrm>
            <a:off x="4083050" y="3052762"/>
            <a:ext cx="5022850" cy="34099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34"/>
        <p:cNvGrpSpPr/>
        <p:nvPr/>
      </p:nvGrpSpPr>
      <p:grpSpPr>
        <a:xfrm>
          <a:off x="0" y="0"/>
          <a:ext cx="0" cy="0"/>
          <a:chOff x="0" y="0"/>
          <a:chExt cx="0" cy="0"/>
        </a:xfrm>
      </p:grpSpPr>
      <p:sp>
        <p:nvSpPr>
          <p:cNvPr id="1535" name="Google Shape;1535;p92"/>
          <p:cNvSpPr txBox="1">
            <a:spLocks noGrp="1"/>
          </p:cNvSpPr>
          <p:nvPr>
            <p:ph type="title"/>
          </p:nvPr>
        </p:nvSpPr>
        <p:spPr>
          <a:xfrm>
            <a:off x="144463" y="219075"/>
            <a:ext cx="5829300" cy="531813"/>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Average Precision</a:t>
            </a:r>
            <a:endParaRPr/>
          </a:p>
        </p:txBody>
      </p:sp>
      <p:sp>
        <p:nvSpPr>
          <p:cNvPr id="1536" name="Google Shape;1536;p92"/>
          <p:cNvSpPr txBox="1"/>
          <p:nvPr/>
        </p:nvSpPr>
        <p:spPr>
          <a:xfrm>
            <a:off x="125413" y="1622425"/>
            <a:ext cx="8893175" cy="1406525"/>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Let us create an over-simplified example in demonstrating the calculation of the average precision.</a:t>
            </a:r>
            <a:endParaRPr sz="1400" b="0" i="0" u="none" strike="noStrike" cap="none">
              <a:solidFill>
                <a:srgbClr val="000000"/>
              </a:solidFill>
              <a:latin typeface="Arial"/>
              <a:ea typeface="Arial"/>
              <a:cs typeface="Arial"/>
              <a:sym typeface="Arial"/>
            </a:endParaRPr>
          </a:p>
          <a:p>
            <a:pPr marL="223838"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just"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In this example, the whole dataset contains five apples only. We collect all the predictions made for  apples in all the images and rank it in descending order according to the predicted confidence level.  The second column indicates whether the prediction is correct or not. In this example, the prediction  is correct if IoU </a:t>
            </a:r>
            <a:r>
              <a:rPr lang="en-US" sz="1500" b="0" i="0" u="none" strike="noStrike" cap="none">
                <a:solidFill>
                  <a:schemeClr val="dk1"/>
                </a:solidFill>
                <a:latin typeface="SimSun-ExtB"/>
                <a:ea typeface="SimSun-ExtB"/>
                <a:cs typeface="SimSun-ExtB"/>
                <a:sym typeface="SimSun-ExtB"/>
              </a:rPr>
              <a:t>≥ </a:t>
            </a:r>
            <a:r>
              <a:rPr lang="en-US" sz="1500" b="0" i="0" u="none" strike="noStrike" cap="none">
                <a:solidFill>
                  <a:schemeClr val="dk1"/>
                </a:solidFill>
                <a:latin typeface="Helvetica Neue"/>
                <a:ea typeface="Helvetica Neue"/>
                <a:cs typeface="Helvetica Neue"/>
                <a:sym typeface="Helvetica Neue"/>
              </a:rPr>
              <a:t>0.5.</a:t>
            </a:r>
            <a:endParaRPr sz="1400" b="0" i="0" u="none" strike="noStrike" cap="none">
              <a:solidFill>
                <a:srgbClr val="000000"/>
              </a:solidFill>
              <a:latin typeface="Arial"/>
              <a:ea typeface="Arial"/>
              <a:cs typeface="Arial"/>
              <a:sym typeface="Arial"/>
            </a:endParaRPr>
          </a:p>
        </p:txBody>
      </p:sp>
      <p:pic>
        <p:nvPicPr>
          <p:cNvPr id="1537" name="Google Shape;1537;p92"/>
          <p:cNvPicPr preferRelativeResize="0"/>
          <p:nvPr/>
        </p:nvPicPr>
        <p:blipFill rotWithShape="1">
          <a:blip r:embed="rId3">
            <a:alphaModFix/>
          </a:blip>
          <a:srcRect/>
          <a:stretch/>
        </p:blipFill>
        <p:spPr>
          <a:xfrm>
            <a:off x="2882900" y="2889250"/>
            <a:ext cx="5295900" cy="2997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41"/>
        <p:cNvGrpSpPr/>
        <p:nvPr/>
      </p:nvGrpSpPr>
      <p:grpSpPr>
        <a:xfrm>
          <a:off x="0" y="0"/>
          <a:ext cx="0" cy="0"/>
          <a:chOff x="0" y="0"/>
          <a:chExt cx="0" cy="0"/>
        </a:xfrm>
      </p:grpSpPr>
      <p:sp>
        <p:nvSpPr>
          <p:cNvPr id="1542" name="Google Shape;1542;p93"/>
          <p:cNvSpPr txBox="1">
            <a:spLocks noGrp="1"/>
          </p:cNvSpPr>
          <p:nvPr>
            <p:ph type="title"/>
          </p:nvPr>
        </p:nvSpPr>
        <p:spPr>
          <a:xfrm>
            <a:off x="514350" y="228600"/>
            <a:ext cx="5829300" cy="533400"/>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Average Precision</a:t>
            </a:r>
            <a:endParaRPr/>
          </a:p>
        </p:txBody>
      </p:sp>
      <p:sp>
        <p:nvSpPr>
          <p:cNvPr id="1543" name="Google Shape;1543;p93"/>
          <p:cNvSpPr txBox="1"/>
          <p:nvPr/>
        </p:nvSpPr>
        <p:spPr>
          <a:xfrm>
            <a:off x="125413" y="1622425"/>
            <a:ext cx="8893175" cy="1890713"/>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Let us take the row with rank #3 and demonstrate how precision and recall are calculated first.</a:t>
            </a:r>
            <a:endParaRPr sz="1500" b="0" i="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15"/>
              </a:spcBef>
              <a:spcAft>
                <a:spcPts val="0"/>
              </a:spcAft>
              <a:buClr>
                <a:srgbClr val="0070C0"/>
              </a:buClr>
              <a:buSzPts val="1575"/>
              <a:buFont typeface="Calibri"/>
              <a:buNone/>
            </a:pPr>
            <a:endParaRPr sz="1575"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500"/>
              <a:buFont typeface="Calibri"/>
              <a:buChar char="●"/>
            </a:pPr>
            <a:r>
              <a:rPr lang="en-US" sz="1500" b="1" i="0" u="none" strike="noStrike" cap="none">
                <a:solidFill>
                  <a:schemeClr val="dk1"/>
                </a:solidFill>
                <a:latin typeface="Arial"/>
                <a:ea typeface="Arial"/>
                <a:cs typeface="Arial"/>
                <a:sym typeface="Arial"/>
              </a:rPr>
              <a:t>Precision </a:t>
            </a:r>
            <a:r>
              <a:rPr lang="en-US" sz="1500" b="0" i="0" u="none" strike="noStrike" cap="none">
                <a:solidFill>
                  <a:schemeClr val="dk1"/>
                </a:solidFill>
                <a:latin typeface="Helvetica Neue"/>
                <a:ea typeface="Helvetica Neue"/>
                <a:cs typeface="Helvetica Neue"/>
                <a:sym typeface="Helvetica Neue"/>
              </a:rPr>
              <a:t>is the proportion of TP = 2/3 = 0.67.</a:t>
            </a:r>
            <a:endParaRPr sz="1500" b="0" i="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19"/>
              </a:spcBef>
              <a:spcAft>
                <a:spcPts val="0"/>
              </a:spcAft>
              <a:buClr>
                <a:srgbClr val="0070C0"/>
              </a:buClr>
              <a:buSzPts val="1575"/>
              <a:buFont typeface="Calibri"/>
              <a:buNone/>
            </a:pPr>
            <a:endParaRPr sz="1575"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500"/>
              <a:buFont typeface="Calibri"/>
              <a:buChar char="●"/>
            </a:pPr>
            <a:r>
              <a:rPr lang="en-US" sz="1500" b="1" i="0" u="none" strike="noStrike" cap="none">
                <a:solidFill>
                  <a:schemeClr val="dk1"/>
                </a:solidFill>
                <a:latin typeface="Arial"/>
                <a:ea typeface="Arial"/>
                <a:cs typeface="Arial"/>
                <a:sym typeface="Arial"/>
              </a:rPr>
              <a:t>Recall </a:t>
            </a:r>
            <a:r>
              <a:rPr lang="en-US" sz="1500" b="0" i="0" u="none" strike="noStrike" cap="none">
                <a:solidFill>
                  <a:schemeClr val="dk1"/>
                </a:solidFill>
                <a:latin typeface="Helvetica Neue"/>
                <a:ea typeface="Helvetica Neue"/>
                <a:cs typeface="Helvetica Neue"/>
                <a:sym typeface="Helvetica Neue"/>
              </a:rPr>
              <a:t>is the proportion of TP out of the possible positives = 2/5 = 0.4.</a:t>
            </a:r>
            <a:endParaRPr sz="1500" b="0" i="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15"/>
              </a:spcBef>
              <a:spcAft>
                <a:spcPts val="0"/>
              </a:spcAft>
              <a:buClr>
                <a:srgbClr val="0070C0"/>
              </a:buClr>
              <a:buSzPts val="1575"/>
              <a:buFont typeface="Calibri"/>
              <a:buNone/>
            </a:pPr>
            <a:endParaRPr sz="1575"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4"/>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Recall values increase as we go down the prediction ranking. However, precision has a zigzag pattern</a:t>
            </a:r>
            <a:endParaRPr sz="1500" b="0" i="0" u="none" strike="noStrike" cap="none">
              <a:solidFill>
                <a:schemeClr val="dk1"/>
              </a:solidFill>
              <a:latin typeface="Helvetica Neue"/>
              <a:ea typeface="Helvetica Neue"/>
              <a:cs typeface="Helvetica Neue"/>
              <a:sym typeface="Helvetica Neue"/>
            </a:endParaRPr>
          </a:p>
          <a:p>
            <a:pPr marL="223361"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Helvetica Neue"/>
                <a:ea typeface="Helvetica Neue"/>
                <a:cs typeface="Helvetica Neue"/>
                <a:sym typeface="Helvetica Neue"/>
              </a:rPr>
              <a:t>— it goes down with false positives and goes up again with true positives.</a:t>
            </a:r>
            <a:endParaRPr sz="1500" b="0" i="0" u="none" strike="noStrike" cap="none">
              <a:solidFill>
                <a:schemeClr val="dk1"/>
              </a:solidFill>
              <a:latin typeface="Helvetica Neue"/>
              <a:ea typeface="Helvetica Neue"/>
              <a:cs typeface="Helvetica Neue"/>
              <a:sym typeface="Helvetica Neue"/>
            </a:endParaRPr>
          </a:p>
        </p:txBody>
      </p:sp>
      <p:pic>
        <p:nvPicPr>
          <p:cNvPr id="1544" name="Google Shape;1544;p93"/>
          <p:cNvPicPr preferRelativeResize="0"/>
          <p:nvPr/>
        </p:nvPicPr>
        <p:blipFill rotWithShape="1">
          <a:blip r:embed="rId3">
            <a:alphaModFix/>
          </a:blip>
          <a:srcRect/>
          <a:stretch/>
        </p:blipFill>
        <p:spPr>
          <a:xfrm>
            <a:off x="1504950" y="3613150"/>
            <a:ext cx="5829300" cy="22415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48"/>
        <p:cNvGrpSpPr/>
        <p:nvPr/>
      </p:nvGrpSpPr>
      <p:grpSpPr>
        <a:xfrm>
          <a:off x="0" y="0"/>
          <a:ext cx="0" cy="0"/>
          <a:chOff x="0" y="0"/>
          <a:chExt cx="0" cy="0"/>
        </a:xfrm>
      </p:grpSpPr>
      <p:sp>
        <p:nvSpPr>
          <p:cNvPr id="1549" name="Google Shape;1549;p94"/>
          <p:cNvSpPr txBox="1">
            <a:spLocks noGrp="1"/>
          </p:cNvSpPr>
          <p:nvPr>
            <p:ph type="title"/>
          </p:nvPr>
        </p:nvSpPr>
        <p:spPr>
          <a:xfrm>
            <a:off x="508000" y="196850"/>
            <a:ext cx="5829300" cy="533400"/>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Average Precision</a:t>
            </a:r>
            <a:endParaRPr/>
          </a:p>
        </p:txBody>
      </p:sp>
      <p:sp>
        <p:nvSpPr>
          <p:cNvPr id="1550" name="Google Shape;1550;p94"/>
          <p:cNvSpPr txBox="1"/>
          <p:nvPr/>
        </p:nvSpPr>
        <p:spPr>
          <a:xfrm>
            <a:off x="125413" y="1622425"/>
            <a:ext cx="6594475" cy="239713"/>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Let us plot the precision against the recall value to see this zig-zag pattern.</a:t>
            </a:r>
            <a:endParaRPr sz="1500" b="0" i="0" u="none" strike="noStrike" cap="none">
              <a:solidFill>
                <a:schemeClr val="dk1"/>
              </a:solidFill>
              <a:latin typeface="Helvetica Neue"/>
              <a:ea typeface="Helvetica Neue"/>
              <a:cs typeface="Helvetica Neue"/>
              <a:sym typeface="Helvetica Neue"/>
            </a:endParaRPr>
          </a:p>
        </p:txBody>
      </p:sp>
      <p:sp>
        <p:nvSpPr>
          <p:cNvPr id="1551" name="Google Shape;1551;p94"/>
          <p:cNvSpPr txBox="1"/>
          <p:nvPr/>
        </p:nvSpPr>
        <p:spPr>
          <a:xfrm>
            <a:off x="125413" y="2765425"/>
            <a:ext cx="3119437" cy="933450"/>
          </a:xfrm>
          <a:prstGeom prst="rect">
            <a:avLst/>
          </a:prstGeom>
          <a:noFill/>
          <a:ln>
            <a:noFill/>
          </a:ln>
        </p:spPr>
        <p:txBody>
          <a:bodyPr spcFirstLastPara="1" wrap="square" lIns="0" tIns="9525" rIns="0" bIns="0" anchor="t" anchorCtr="0">
            <a:spAutoFit/>
          </a:bodyPr>
          <a:lstStyle/>
          <a:p>
            <a:pPr marL="206375" marR="0" lvl="0" indent="-196850"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The general definition for the  Average Precision (AP) is finding  the area under the precision-recall  curve.</a:t>
            </a:r>
            <a:endParaRPr sz="1400" b="0" i="0" u="none" strike="noStrike" cap="none">
              <a:solidFill>
                <a:srgbClr val="000000"/>
              </a:solidFill>
              <a:latin typeface="Arial"/>
              <a:ea typeface="Arial"/>
              <a:cs typeface="Arial"/>
              <a:sym typeface="Arial"/>
            </a:endParaRPr>
          </a:p>
        </p:txBody>
      </p:sp>
      <p:pic>
        <p:nvPicPr>
          <p:cNvPr id="1552" name="Google Shape;1552;p94"/>
          <p:cNvPicPr preferRelativeResize="0"/>
          <p:nvPr/>
        </p:nvPicPr>
        <p:blipFill rotWithShape="1">
          <a:blip r:embed="rId3">
            <a:alphaModFix/>
          </a:blip>
          <a:srcRect/>
          <a:stretch/>
        </p:blipFill>
        <p:spPr>
          <a:xfrm>
            <a:off x="3492500" y="2616200"/>
            <a:ext cx="5213350" cy="2489200"/>
          </a:xfrm>
          <a:prstGeom prst="rect">
            <a:avLst/>
          </a:prstGeom>
          <a:noFill/>
          <a:ln>
            <a:noFill/>
          </a:ln>
        </p:spPr>
      </p:pic>
      <p:pic>
        <p:nvPicPr>
          <p:cNvPr id="1553" name="Google Shape;1553;p94"/>
          <p:cNvPicPr preferRelativeResize="0"/>
          <p:nvPr/>
        </p:nvPicPr>
        <p:blipFill rotWithShape="1">
          <a:blip r:embed="rId4">
            <a:alphaModFix/>
          </a:blip>
          <a:srcRect/>
          <a:stretch/>
        </p:blipFill>
        <p:spPr>
          <a:xfrm>
            <a:off x="984250" y="4051300"/>
            <a:ext cx="1282700" cy="4826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57"/>
        <p:cNvGrpSpPr/>
        <p:nvPr/>
      </p:nvGrpSpPr>
      <p:grpSpPr>
        <a:xfrm>
          <a:off x="0" y="0"/>
          <a:ext cx="0" cy="0"/>
          <a:chOff x="0" y="0"/>
          <a:chExt cx="0" cy="0"/>
        </a:xfrm>
      </p:grpSpPr>
      <p:sp>
        <p:nvSpPr>
          <p:cNvPr id="1558" name="Google Shape;1558;p95"/>
          <p:cNvSpPr txBox="1">
            <a:spLocks noGrp="1"/>
          </p:cNvSpPr>
          <p:nvPr>
            <p:ph type="title"/>
          </p:nvPr>
        </p:nvSpPr>
        <p:spPr>
          <a:xfrm>
            <a:off x="144463" y="152400"/>
            <a:ext cx="5829300" cy="533400"/>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Average Precision</a:t>
            </a:r>
            <a:endParaRPr/>
          </a:p>
        </p:txBody>
      </p:sp>
      <p:sp>
        <p:nvSpPr>
          <p:cNvPr id="1559" name="Google Shape;1559;p95"/>
          <p:cNvSpPr txBox="1"/>
          <p:nvPr/>
        </p:nvSpPr>
        <p:spPr>
          <a:xfrm>
            <a:off x="125413" y="1622425"/>
            <a:ext cx="8893175" cy="1417638"/>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Precision and recall are always between 0 and 1. Therefore, AP falls within 0 and 1 also.</a:t>
            </a:r>
            <a:endParaRPr sz="1400" b="0" i="0" u="none" strike="noStrike" cap="none">
              <a:solidFill>
                <a:srgbClr val="000000"/>
              </a:solidFill>
              <a:latin typeface="Arial"/>
              <a:ea typeface="Arial"/>
              <a:cs typeface="Arial"/>
              <a:sym typeface="Arial"/>
            </a:endParaRPr>
          </a:p>
          <a:p>
            <a:pPr marL="223838"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Before calculating AP for the object detection, we often smooth out the zigzag pattern first.</a:t>
            </a:r>
            <a:endParaRPr sz="1400" b="0" i="0" u="none" strike="noStrike" cap="none">
              <a:solidFill>
                <a:srgbClr val="000000"/>
              </a:solidFill>
              <a:latin typeface="Arial"/>
              <a:ea typeface="Arial"/>
              <a:cs typeface="Arial"/>
              <a:sym typeface="Arial"/>
            </a:endParaRPr>
          </a:p>
          <a:p>
            <a:pPr marL="223838" marR="0" lvl="0" indent="-119063" algn="l" rtl="0">
              <a:lnSpc>
                <a:spcPct val="100000"/>
              </a:lnSpc>
              <a:spcBef>
                <a:spcPts val="25"/>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Graphically, at each recall level, we replace each precision value with the maximum precision value to  the right of that recall level.</a:t>
            </a:r>
            <a:endParaRPr sz="1400" b="0" i="0" u="none" strike="noStrike" cap="none">
              <a:solidFill>
                <a:srgbClr val="000000"/>
              </a:solidFill>
              <a:latin typeface="Arial"/>
              <a:ea typeface="Arial"/>
              <a:cs typeface="Arial"/>
              <a:sym typeface="Arial"/>
            </a:endParaRPr>
          </a:p>
        </p:txBody>
      </p:sp>
      <p:pic>
        <p:nvPicPr>
          <p:cNvPr id="1560" name="Google Shape;1560;p95"/>
          <p:cNvPicPr preferRelativeResize="0"/>
          <p:nvPr/>
        </p:nvPicPr>
        <p:blipFill rotWithShape="1">
          <a:blip r:embed="rId3">
            <a:alphaModFix/>
          </a:blip>
          <a:srcRect/>
          <a:stretch/>
        </p:blipFill>
        <p:spPr>
          <a:xfrm>
            <a:off x="2686050" y="3086100"/>
            <a:ext cx="6248400" cy="27495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64"/>
        <p:cNvGrpSpPr/>
        <p:nvPr/>
      </p:nvGrpSpPr>
      <p:grpSpPr>
        <a:xfrm>
          <a:off x="0" y="0"/>
          <a:ext cx="0" cy="0"/>
          <a:chOff x="0" y="0"/>
          <a:chExt cx="0" cy="0"/>
        </a:xfrm>
      </p:grpSpPr>
      <p:sp>
        <p:nvSpPr>
          <p:cNvPr id="1565" name="Google Shape;1565;p96"/>
          <p:cNvSpPr txBox="1">
            <a:spLocks noGrp="1"/>
          </p:cNvSpPr>
          <p:nvPr>
            <p:ph type="title"/>
          </p:nvPr>
        </p:nvSpPr>
        <p:spPr>
          <a:xfrm>
            <a:off x="163513" y="182563"/>
            <a:ext cx="5829300" cy="531812"/>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Average Precision</a:t>
            </a:r>
            <a:endParaRPr/>
          </a:p>
        </p:txBody>
      </p:sp>
      <p:sp>
        <p:nvSpPr>
          <p:cNvPr id="1566" name="Google Shape;1566;p96"/>
          <p:cNvSpPr txBox="1"/>
          <p:nvPr/>
        </p:nvSpPr>
        <p:spPr>
          <a:xfrm>
            <a:off x="125413" y="1622425"/>
            <a:ext cx="8893200" cy="1630800"/>
          </a:xfrm>
          <a:prstGeom prst="rect">
            <a:avLst/>
          </a:prstGeom>
          <a:noFill/>
          <a:ln>
            <a:noFill/>
          </a:ln>
        </p:spPr>
        <p:txBody>
          <a:bodyPr spcFirstLastPara="1" wrap="square" lIns="0" tIns="9525" rIns="0" bIns="0" anchor="t" anchorCtr="0">
            <a:spAutoFit/>
          </a:bodyPr>
          <a:lstStyle/>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So	 the	orange</a:t>
            </a:r>
            <a:r>
              <a:rPr lang="en-US" sz="1500">
                <a:solidFill>
                  <a:schemeClr val="dk1"/>
                </a:solidFill>
                <a:latin typeface="Helvetica Neue"/>
                <a:ea typeface="Helvetica Neue"/>
                <a:cs typeface="Helvetica Neue"/>
                <a:sym typeface="Helvetica Neue"/>
              </a:rPr>
              <a:t> </a:t>
            </a:r>
            <a:r>
              <a:rPr lang="en-US" sz="1500" b="0" i="0" u="none" strike="noStrike" cap="none">
                <a:solidFill>
                  <a:schemeClr val="dk1"/>
                </a:solidFill>
                <a:latin typeface="Helvetica Neue"/>
                <a:ea typeface="Helvetica Neue"/>
                <a:cs typeface="Helvetica Neue"/>
                <a:sym typeface="Helvetica Neue"/>
              </a:rPr>
              <a:t>line</a:t>
            </a:r>
            <a:r>
              <a:rPr lang="en-US" sz="1500">
                <a:solidFill>
                  <a:schemeClr val="dk1"/>
                </a:solidFill>
                <a:latin typeface="Helvetica Neue"/>
                <a:ea typeface="Helvetica Neue"/>
                <a:cs typeface="Helvetica Neue"/>
                <a:sym typeface="Helvetica Neue"/>
              </a:rPr>
              <a:t> </a:t>
            </a:r>
            <a:r>
              <a:rPr lang="en-US" sz="1500" b="0" i="0" u="none" strike="noStrike" cap="none">
                <a:solidFill>
                  <a:schemeClr val="dk1"/>
                </a:solidFill>
                <a:latin typeface="Helvetica Neue"/>
                <a:ea typeface="Helvetica Neue"/>
                <a:cs typeface="Helvetica Neue"/>
                <a:sym typeface="Helvetica Neue"/>
              </a:rPr>
              <a:t>is</a:t>
            </a:r>
            <a:r>
              <a:rPr lang="en-US" sz="1500">
                <a:solidFill>
                  <a:schemeClr val="dk1"/>
                </a:solidFill>
                <a:latin typeface="Helvetica Neue"/>
                <a:ea typeface="Helvetica Neue"/>
                <a:cs typeface="Helvetica Neue"/>
                <a:sym typeface="Helvetica Neue"/>
              </a:rPr>
              <a:t> </a:t>
            </a:r>
            <a:r>
              <a:rPr lang="en-US" sz="1500" b="0" i="0" u="none" strike="noStrike" cap="none">
                <a:solidFill>
                  <a:schemeClr val="dk1"/>
                </a:solidFill>
                <a:latin typeface="Helvetica Neue"/>
                <a:ea typeface="Helvetica Neue"/>
                <a:cs typeface="Helvetica Neue"/>
                <a:sym typeface="Helvetica Neue"/>
              </a:rPr>
              <a:t>transformed	into	the</a:t>
            </a:r>
            <a:r>
              <a:rPr lang="en-US" sz="1500">
                <a:solidFill>
                  <a:schemeClr val="dk1"/>
                </a:solidFill>
                <a:latin typeface="Helvetica Neue"/>
                <a:ea typeface="Helvetica Neue"/>
                <a:cs typeface="Helvetica Neue"/>
                <a:sym typeface="Helvetica Neue"/>
              </a:rPr>
              <a:t> </a:t>
            </a:r>
            <a:r>
              <a:rPr lang="en-US" sz="1500" b="0" i="0" u="none" strike="noStrike" cap="none">
                <a:solidFill>
                  <a:schemeClr val="dk1"/>
                </a:solidFill>
                <a:latin typeface="Helvetica Neue"/>
                <a:ea typeface="Helvetica Neue"/>
                <a:cs typeface="Helvetica Neue"/>
                <a:sym typeface="Helvetica Neue"/>
              </a:rPr>
              <a:t>green</a:t>
            </a:r>
            <a:r>
              <a:rPr lang="en-US" sz="1500">
                <a:solidFill>
                  <a:schemeClr val="dk1"/>
                </a:solidFill>
                <a:latin typeface="Helvetica Neue"/>
                <a:ea typeface="Helvetica Neue"/>
                <a:cs typeface="Helvetica Neue"/>
                <a:sym typeface="Helvetica Neue"/>
              </a:rPr>
              <a:t> </a:t>
            </a:r>
            <a:r>
              <a:rPr lang="en-US" sz="1500" b="0" i="0" u="none" strike="noStrike" cap="none">
                <a:solidFill>
                  <a:schemeClr val="dk1"/>
                </a:solidFill>
                <a:latin typeface="Helvetica Neue"/>
                <a:ea typeface="Helvetica Neue"/>
                <a:cs typeface="Helvetica Neue"/>
                <a:sym typeface="Helvetica Neue"/>
              </a:rPr>
              <a:t>line</a:t>
            </a:r>
            <a:r>
              <a:rPr lang="en-US" sz="1500">
                <a:solidFill>
                  <a:schemeClr val="dk1"/>
                </a:solidFill>
                <a:latin typeface="Helvetica Neue"/>
                <a:ea typeface="Helvetica Neue"/>
                <a:cs typeface="Helvetica Neue"/>
                <a:sym typeface="Helvetica Neue"/>
              </a:rPr>
              <a:t> </a:t>
            </a:r>
            <a:r>
              <a:rPr lang="en-US" sz="1500" b="0" i="0" u="none" strike="noStrike" cap="none">
                <a:solidFill>
                  <a:schemeClr val="dk1"/>
                </a:solidFill>
                <a:latin typeface="Helvetica Neue"/>
                <a:ea typeface="Helvetica Neue"/>
                <a:cs typeface="Helvetica Neue"/>
                <a:sym typeface="Helvetica Neue"/>
              </a:rPr>
              <a:t>and</a:t>
            </a:r>
            <a:r>
              <a:rPr lang="en-US" sz="1500">
                <a:solidFill>
                  <a:schemeClr val="dk1"/>
                </a:solidFill>
                <a:latin typeface="Helvetica Neue"/>
                <a:ea typeface="Helvetica Neue"/>
                <a:cs typeface="Helvetica Neue"/>
                <a:sym typeface="Helvetica Neue"/>
              </a:rPr>
              <a:t> </a:t>
            </a:r>
            <a:r>
              <a:rPr lang="en-US" sz="1500" b="0" i="0" u="none" strike="noStrike" cap="none">
                <a:solidFill>
                  <a:schemeClr val="dk1"/>
                </a:solidFill>
                <a:latin typeface="Helvetica Neue"/>
                <a:ea typeface="Helvetica Neue"/>
                <a:cs typeface="Helvetica Neue"/>
                <a:sym typeface="Helvetica Neue"/>
              </a:rPr>
              <a:t>the</a:t>
            </a:r>
            <a:r>
              <a:rPr lang="en-US" sz="1500">
                <a:solidFill>
                  <a:schemeClr val="dk1"/>
                </a:solidFill>
                <a:latin typeface="Helvetica Neue"/>
                <a:ea typeface="Helvetica Neue"/>
                <a:cs typeface="Helvetica Neue"/>
                <a:sym typeface="Helvetica Neue"/>
              </a:rPr>
              <a:t> </a:t>
            </a:r>
            <a:r>
              <a:rPr lang="en-US" sz="1500" b="0" i="0" u="none" strike="noStrike" cap="none">
                <a:solidFill>
                  <a:schemeClr val="dk1"/>
                </a:solidFill>
                <a:latin typeface="Helvetica Neue"/>
                <a:ea typeface="Helvetica Neue"/>
                <a:cs typeface="Helvetica Neue"/>
                <a:sym typeface="Helvetica Neue"/>
              </a:rPr>
              <a:t>curve</a:t>
            </a:r>
            <a:r>
              <a:rPr lang="en-US" sz="1500">
                <a:solidFill>
                  <a:schemeClr val="dk1"/>
                </a:solidFill>
                <a:latin typeface="Helvetica Neue"/>
                <a:ea typeface="Helvetica Neue"/>
                <a:cs typeface="Helvetica Neue"/>
                <a:sym typeface="Helvetica Neue"/>
              </a:rPr>
              <a:t> </a:t>
            </a:r>
            <a:r>
              <a:rPr lang="en-US" sz="1500" b="0" i="0" u="none" strike="noStrike" cap="none">
                <a:solidFill>
                  <a:schemeClr val="dk1"/>
                </a:solidFill>
                <a:latin typeface="Helvetica Neue"/>
                <a:ea typeface="Helvetica Neue"/>
                <a:cs typeface="Helvetica Neue"/>
                <a:sym typeface="Helvetica Neue"/>
              </a:rPr>
              <a:t>will	decrease	monotonically  instead of the zigzag pattern.</a:t>
            </a:r>
            <a:endParaRPr sz="1400" b="0" i="0" u="none" strike="noStrike" cap="none">
              <a:solidFill>
                <a:srgbClr val="000000"/>
              </a:solidFill>
              <a:latin typeface="Arial"/>
              <a:ea typeface="Arial"/>
              <a:cs typeface="Arial"/>
              <a:sym typeface="Arial"/>
            </a:endParaRPr>
          </a:p>
          <a:p>
            <a:pPr marL="222250"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The calculated AP value will be less </a:t>
            </a:r>
            <a:r>
              <a:rPr lang="en-US" sz="1500">
                <a:solidFill>
                  <a:schemeClr val="dk1"/>
                </a:solidFill>
                <a:latin typeface="Helvetica Neue"/>
                <a:ea typeface="Helvetica Neue"/>
                <a:cs typeface="Helvetica Neue"/>
                <a:sym typeface="Helvetica Neue"/>
              </a:rPr>
              <a:t>susceptible</a:t>
            </a:r>
            <a:r>
              <a:rPr lang="en-US" sz="1500" b="0" i="0" u="none" strike="noStrike" cap="none">
                <a:solidFill>
                  <a:schemeClr val="dk1"/>
                </a:solidFill>
                <a:latin typeface="Helvetica Neue"/>
                <a:ea typeface="Helvetica Neue"/>
                <a:cs typeface="Helvetica Neue"/>
                <a:sym typeface="Helvetica Neue"/>
              </a:rPr>
              <a:t> to small variations in the ranking.</a:t>
            </a:r>
            <a:endParaRPr sz="1400" b="0" i="0" u="none" strike="noStrike" cap="none">
              <a:solidFill>
                <a:srgbClr val="000000"/>
              </a:solidFill>
              <a:latin typeface="Arial"/>
              <a:ea typeface="Arial"/>
              <a:cs typeface="Arial"/>
              <a:sym typeface="Arial"/>
            </a:endParaRPr>
          </a:p>
          <a:p>
            <a:pPr marL="222250" marR="0" lvl="0" indent="-119063" algn="l" rtl="0">
              <a:lnSpc>
                <a:spcPct val="100000"/>
              </a:lnSpc>
              <a:spcBef>
                <a:spcPts val="25"/>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Mathematically, we replace the precision value for recall </a:t>
            </a:r>
            <a:r>
              <a:rPr lang="en-US" sz="1500" b="0" i="0" u="none" strike="noStrike" cap="none">
                <a:solidFill>
                  <a:schemeClr val="dk1"/>
                </a:solidFill>
                <a:latin typeface="SimSun-ExtB"/>
                <a:ea typeface="SimSun-ExtB"/>
                <a:cs typeface="SimSun-ExtB"/>
                <a:sym typeface="SimSun-ExtB"/>
              </a:rPr>
              <a:t>ȓ </a:t>
            </a:r>
            <a:r>
              <a:rPr lang="en-US" sz="1500" b="0" i="0" u="none" strike="noStrike" cap="none">
                <a:solidFill>
                  <a:schemeClr val="dk1"/>
                </a:solidFill>
                <a:latin typeface="Helvetica Neue"/>
                <a:ea typeface="Helvetica Neue"/>
                <a:cs typeface="Helvetica Neue"/>
                <a:sym typeface="Helvetica Neue"/>
              </a:rPr>
              <a:t>with the maximum precision for any recall</a:t>
            </a:r>
            <a:endParaRPr sz="1400" b="0" i="0" u="none" strike="noStrike" cap="none">
              <a:solidFill>
                <a:srgbClr val="000000"/>
              </a:solidFill>
              <a:latin typeface="Arial"/>
              <a:ea typeface="Arial"/>
              <a:cs typeface="Arial"/>
              <a:sym typeface="Arial"/>
            </a:endParaRPr>
          </a:p>
          <a:p>
            <a:pPr marL="222250" marR="0" lvl="0" indent="-214313"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SimSun-ExtB"/>
                <a:ea typeface="SimSun-ExtB"/>
                <a:cs typeface="SimSun-ExtB"/>
                <a:sym typeface="SimSun-ExtB"/>
              </a:rPr>
              <a:t>≥ ȓ</a:t>
            </a:r>
            <a:r>
              <a:rPr lang="en-US" sz="1500" b="0" i="0" u="none" strike="noStrike" cap="none">
                <a:solidFill>
                  <a:schemeClr val="dk1"/>
                </a:solidFill>
                <a:latin typeface="Helvetica Neue"/>
                <a:ea typeface="Helvetica Neue"/>
                <a:cs typeface="Helvetica Neue"/>
                <a:sym typeface="Helvetica Neue"/>
              </a:rPr>
              <a:t>.</a:t>
            </a:r>
            <a:endParaRPr sz="1400" b="0" i="0" u="none" strike="noStrike" cap="none">
              <a:solidFill>
                <a:srgbClr val="000000"/>
              </a:solidFill>
              <a:latin typeface="Arial"/>
              <a:ea typeface="Arial"/>
              <a:cs typeface="Arial"/>
              <a:sym typeface="Arial"/>
            </a:endParaRPr>
          </a:p>
        </p:txBody>
      </p:sp>
      <p:pic>
        <p:nvPicPr>
          <p:cNvPr id="1567" name="Google Shape;1567;p96"/>
          <p:cNvPicPr preferRelativeResize="0"/>
          <p:nvPr/>
        </p:nvPicPr>
        <p:blipFill rotWithShape="1">
          <a:blip r:embed="rId3">
            <a:alphaModFix/>
          </a:blip>
          <a:srcRect/>
          <a:stretch/>
        </p:blipFill>
        <p:spPr>
          <a:xfrm>
            <a:off x="3429000" y="3302000"/>
            <a:ext cx="5270500" cy="2520950"/>
          </a:xfrm>
          <a:prstGeom prst="rect">
            <a:avLst/>
          </a:prstGeom>
          <a:noFill/>
          <a:ln>
            <a:noFill/>
          </a:ln>
        </p:spPr>
      </p:pic>
      <p:pic>
        <p:nvPicPr>
          <p:cNvPr id="1568" name="Google Shape;1568;p96"/>
          <p:cNvPicPr preferRelativeResize="0"/>
          <p:nvPr/>
        </p:nvPicPr>
        <p:blipFill rotWithShape="1">
          <a:blip r:embed="rId4">
            <a:alphaModFix/>
          </a:blip>
          <a:srcRect/>
          <a:stretch/>
        </p:blipFill>
        <p:spPr>
          <a:xfrm>
            <a:off x="996950" y="4445000"/>
            <a:ext cx="1212850" cy="2413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72"/>
        <p:cNvGrpSpPr/>
        <p:nvPr/>
      </p:nvGrpSpPr>
      <p:grpSpPr>
        <a:xfrm>
          <a:off x="0" y="0"/>
          <a:ext cx="0" cy="0"/>
          <a:chOff x="0" y="0"/>
          <a:chExt cx="0" cy="0"/>
        </a:xfrm>
      </p:grpSpPr>
      <p:sp>
        <p:nvSpPr>
          <p:cNvPr id="1573" name="Google Shape;1573;p97"/>
          <p:cNvSpPr txBox="1">
            <a:spLocks noGrp="1"/>
          </p:cNvSpPr>
          <p:nvPr>
            <p:ph type="title"/>
          </p:nvPr>
        </p:nvSpPr>
        <p:spPr>
          <a:xfrm>
            <a:off x="317600" y="236525"/>
            <a:ext cx="5638800" cy="533100"/>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Interpolated AP</a:t>
            </a:r>
            <a:endParaRPr/>
          </a:p>
        </p:txBody>
      </p:sp>
      <p:sp>
        <p:nvSpPr>
          <p:cNvPr id="1574" name="Google Shape;1574;p97"/>
          <p:cNvSpPr txBox="1"/>
          <p:nvPr/>
        </p:nvSpPr>
        <p:spPr>
          <a:xfrm>
            <a:off x="125413" y="1622425"/>
            <a:ext cx="8893175" cy="1417638"/>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1" i="0" u="none" strike="noStrike" cap="none">
                <a:solidFill>
                  <a:schemeClr val="dk1"/>
                </a:solidFill>
                <a:latin typeface="Arial"/>
                <a:ea typeface="Arial"/>
                <a:cs typeface="Arial"/>
                <a:sym typeface="Arial"/>
              </a:rPr>
              <a:t>PASCAL VOC </a:t>
            </a:r>
            <a:r>
              <a:rPr lang="en-US" sz="1500" b="0" i="0" u="none" strike="noStrike" cap="none">
                <a:solidFill>
                  <a:schemeClr val="dk1"/>
                </a:solidFill>
                <a:latin typeface="Helvetica Neue"/>
                <a:ea typeface="Helvetica Neue"/>
                <a:cs typeface="Helvetica Neue"/>
                <a:sym typeface="Helvetica Neue"/>
              </a:rPr>
              <a:t>is a popular dataset for object detection.</a:t>
            </a:r>
            <a:endParaRPr sz="1400" b="0" i="0" u="none" strike="noStrike" cap="none">
              <a:solidFill>
                <a:srgbClr val="000000"/>
              </a:solidFill>
              <a:latin typeface="Arial"/>
              <a:ea typeface="Arial"/>
              <a:cs typeface="Arial"/>
              <a:sym typeface="Arial"/>
            </a:endParaRPr>
          </a:p>
          <a:p>
            <a:pPr marL="223838"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For the PASCAL VOC challenge, a prediction is positive if IoU </a:t>
            </a:r>
            <a:r>
              <a:rPr lang="en-US" sz="1500" b="0" i="0" u="none" strike="noStrike" cap="none">
                <a:solidFill>
                  <a:schemeClr val="dk1"/>
                </a:solidFill>
                <a:latin typeface="SimSun-ExtB"/>
                <a:ea typeface="SimSun-ExtB"/>
                <a:cs typeface="SimSun-ExtB"/>
                <a:sym typeface="SimSun-ExtB"/>
              </a:rPr>
              <a:t>≥ </a:t>
            </a:r>
            <a:r>
              <a:rPr lang="en-US" sz="1500" b="0" i="0" u="none" strike="noStrike" cap="none">
                <a:solidFill>
                  <a:schemeClr val="dk1"/>
                </a:solidFill>
                <a:latin typeface="Helvetica Neue"/>
                <a:ea typeface="Helvetica Neue"/>
                <a:cs typeface="Helvetica Neue"/>
                <a:sym typeface="Helvetica Neue"/>
              </a:rPr>
              <a:t>0.5. Also, if multiple detections of the  same object are detected, it counts the first one as a positive while the rest as negatives.</a:t>
            </a:r>
            <a:endParaRPr sz="1400" b="0" i="0" u="none" strike="noStrike" cap="none">
              <a:solidFill>
                <a:srgbClr val="000000"/>
              </a:solidFill>
              <a:latin typeface="Arial"/>
              <a:ea typeface="Arial"/>
              <a:cs typeface="Arial"/>
              <a:sym typeface="Arial"/>
            </a:endParaRPr>
          </a:p>
          <a:p>
            <a:pPr marL="223838" marR="0" lvl="0" indent="-119063" algn="l" rtl="0">
              <a:lnSpc>
                <a:spcPct val="100000"/>
              </a:lnSpc>
              <a:spcBef>
                <a:spcPts val="25"/>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In Pascal VOC2008, an average for the 11-point interpolated AP is calculated.</a:t>
            </a:r>
            <a:endParaRPr sz="1400" b="0" i="0" u="none" strike="noStrike" cap="none">
              <a:solidFill>
                <a:srgbClr val="000000"/>
              </a:solidFill>
              <a:latin typeface="Arial"/>
              <a:ea typeface="Arial"/>
              <a:cs typeface="Arial"/>
              <a:sym typeface="Arial"/>
            </a:endParaRPr>
          </a:p>
        </p:txBody>
      </p:sp>
      <p:pic>
        <p:nvPicPr>
          <p:cNvPr id="1575" name="Google Shape;1575;p97"/>
          <p:cNvPicPr preferRelativeResize="0"/>
          <p:nvPr/>
        </p:nvPicPr>
        <p:blipFill rotWithShape="1">
          <a:blip r:embed="rId3">
            <a:alphaModFix/>
          </a:blip>
          <a:srcRect/>
          <a:stretch/>
        </p:blipFill>
        <p:spPr>
          <a:xfrm>
            <a:off x="1720850" y="3448050"/>
            <a:ext cx="5670550" cy="22606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79"/>
        <p:cNvGrpSpPr/>
        <p:nvPr/>
      </p:nvGrpSpPr>
      <p:grpSpPr>
        <a:xfrm>
          <a:off x="0" y="0"/>
          <a:ext cx="0" cy="0"/>
          <a:chOff x="0" y="0"/>
          <a:chExt cx="0" cy="0"/>
        </a:xfrm>
      </p:grpSpPr>
      <p:sp>
        <p:nvSpPr>
          <p:cNvPr id="1580" name="Google Shape;1580;p98"/>
          <p:cNvSpPr txBox="1">
            <a:spLocks noGrp="1"/>
          </p:cNvSpPr>
          <p:nvPr>
            <p:ph type="title"/>
          </p:nvPr>
        </p:nvSpPr>
        <p:spPr>
          <a:xfrm>
            <a:off x="125413" y="215763"/>
            <a:ext cx="5399100" cy="533100"/>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Interpolated AP</a:t>
            </a:r>
            <a:endParaRPr/>
          </a:p>
        </p:txBody>
      </p:sp>
      <p:sp>
        <p:nvSpPr>
          <p:cNvPr id="1581" name="Google Shape;1581;p98"/>
          <p:cNvSpPr txBox="1"/>
          <p:nvPr/>
        </p:nvSpPr>
        <p:spPr>
          <a:xfrm>
            <a:off x="125413" y="1622425"/>
            <a:ext cx="7740650" cy="714375"/>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First, we divide the recall value from 0 to 1.0 into 11 points — 0, 0.1, 0.2, …, 0.9 and 1.0.</a:t>
            </a:r>
            <a:endParaRPr sz="1500" b="0" i="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15"/>
              </a:spcBef>
              <a:spcAft>
                <a:spcPts val="0"/>
              </a:spcAft>
              <a:buClr>
                <a:srgbClr val="0070C0"/>
              </a:buClr>
              <a:buSzPts val="1575"/>
              <a:buFont typeface="Calibri"/>
              <a:buNone/>
            </a:pPr>
            <a:endParaRPr sz="1575"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Next, we compute the average of maximum precision value for these 11 recall values.</a:t>
            </a:r>
            <a:endParaRPr sz="1500" b="0" i="0" u="none" strike="noStrike" cap="none">
              <a:solidFill>
                <a:schemeClr val="dk1"/>
              </a:solidFill>
              <a:latin typeface="Helvetica Neue"/>
              <a:ea typeface="Helvetica Neue"/>
              <a:cs typeface="Helvetica Neue"/>
              <a:sym typeface="Helvetica Neue"/>
            </a:endParaRPr>
          </a:p>
        </p:txBody>
      </p:sp>
      <p:sp>
        <p:nvSpPr>
          <p:cNvPr id="1582" name="Google Shape;1582;p98"/>
          <p:cNvSpPr txBox="1"/>
          <p:nvPr/>
        </p:nvSpPr>
        <p:spPr>
          <a:xfrm>
            <a:off x="125413" y="5508625"/>
            <a:ext cx="4751387" cy="239713"/>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In our example, AP = (5 × 1.0 + 4 × 0.57 + 2 × 0.5)/11</a:t>
            </a:r>
            <a:endParaRPr sz="1500" b="0" i="0" u="none" strike="noStrike" cap="none">
              <a:solidFill>
                <a:schemeClr val="dk1"/>
              </a:solidFill>
              <a:latin typeface="Helvetica Neue"/>
              <a:ea typeface="Helvetica Neue"/>
              <a:cs typeface="Helvetica Neue"/>
              <a:sym typeface="Helvetica Neue"/>
            </a:endParaRPr>
          </a:p>
        </p:txBody>
      </p:sp>
      <p:pic>
        <p:nvPicPr>
          <p:cNvPr id="1583" name="Google Shape;1583;p98"/>
          <p:cNvPicPr preferRelativeResize="0"/>
          <p:nvPr/>
        </p:nvPicPr>
        <p:blipFill rotWithShape="1">
          <a:blip r:embed="rId3">
            <a:alphaModFix/>
          </a:blip>
          <a:srcRect/>
          <a:stretch/>
        </p:blipFill>
        <p:spPr>
          <a:xfrm>
            <a:off x="1720850" y="3098800"/>
            <a:ext cx="5670550" cy="2260600"/>
          </a:xfrm>
          <a:prstGeom prst="rect">
            <a:avLst/>
          </a:prstGeom>
          <a:noFill/>
          <a:ln>
            <a:noFill/>
          </a:ln>
        </p:spPr>
      </p:pic>
      <p:pic>
        <p:nvPicPr>
          <p:cNvPr id="1584" name="Google Shape;1584;p98"/>
          <p:cNvPicPr preferRelativeResize="0"/>
          <p:nvPr/>
        </p:nvPicPr>
        <p:blipFill rotWithShape="1">
          <a:blip r:embed="rId4">
            <a:alphaModFix/>
          </a:blip>
          <a:srcRect/>
          <a:stretch/>
        </p:blipFill>
        <p:spPr>
          <a:xfrm>
            <a:off x="2895600" y="2533650"/>
            <a:ext cx="3397250" cy="3937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88"/>
        <p:cNvGrpSpPr/>
        <p:nvPr/>
      </p:nvGrpSpPr>
      <p:grpSpPr>
        <a:xfrm>
          <a:off x="0" y="0"/>
          <a:ext cx="0" cy="0"/>
          <a:chOff x="0" y="0"/>
          <a:chExt cx="0" cy="0"/>
        </a:xfrm>
      </p:grpSpPr>
      <p:sp>
        <p:nvSpPr>
          <p:cNvPr id="1589" name="Google Shape;1589;p99"/>
          <p:cNvSpPr txBox="1">
            <a:spLocks noGrp="1"/>
          </p:cNvSpPr>
          <p:nvPr>
            <p:ph type="title"/>
          </p:nvPr>
        </p:nvSpPr>
        <p:spPr>
          <a:xfrm>
            <a:off x="214688" y="216163"/>
            <a:ext cx="5932500" cy="533100"/>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Interpolated AP</a:t>
            </a:r>
            <a:endParaRPr/>
          </a:p>
        </p:txBody>
      </p:sp>
      <p:sp>
        <p:nvSpPr>
          <p:cNvPr id="1590" name="Google Shape;1590;p99"/>
          <p:cNvSpPr txBox="1"/>
          <p:nvPr/>
        </p:nvSpPr>
        <p:spPr>
          <a:xfrm>
            <a:off x="125413" y="1622425"/>
            <a:ext cx="8893175" cy="3541713"/>
          </a:xfrm>
          <a:prstGeom prst="rect">
            <a:avLst/>
          </a:prstGeom>
          <a:noFill/>
          <a:ln>
            <a:noFill/>
          </a:ln>
        </p:spPr>
        <p:txBody>
          <a:bodyPr spcFirstLastPara="1" wrap="square" lIns="0" tIns="9525" rIns="0" bIns="0" anchor="t" anchorCtr="0">
            <a:spAutoFit/>
          </a:bodyPr>
          <a:lstStyle/>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When AP</a:t>
            </a:r>
            <a:r>
              <a:rPr lang="en-US" sz="1500" b="0" i="0" u="none" strike="noStrike" cap="none">
                <a:solidFill>
                  <a:schemeClr val="dk1"/>
                </a:solidFill>
                <a:latin typeface="SimSun-ExtB"/>
                <a:ea typeface="SimSun-ExtB"/>
                <a:cs typeface="SimSun-ExtB"/>
                <a:sym typeface="SimSun-ExtB"/>
              </a:rPr>
              <a:t>ᵣ </a:t>
            </a:r>
            <a:r>
              <a:rPr lang="en-US" sz="1500" b="0" i="0" u="none" strike="noStrike" cap="none">
                <a:solidFill>
                  <a:schemeClr val="dk1"/>
                </a:solidFill>
                <a:latin typeface="Helvetica Neue"/>
                <a:ea typeface="Helvetica Neue"/>
                <a:cs typeface="Helvetica Neue"/>
                <a:sym typeface="Helvetica Neue"/>
              </a:rPr>
              <a:t>turns extremely small, we can assume the remaining terms to be zero. i.e. we do not  necessarily make predictions until the recall reaches 100%.</a:t>
            </a:r>
            <a:endParaRPr sz="1400" b="0" i="0" u="none" strike="noStrike" cap="none">
              <a:solidFill>
                <a:srgbClr val="000000"/>
              </a:solidFill>
              <a:latin typeface="Arial"/>
              <a:ea typeface="Arial"/>
              <a:cs typeface="Arial"/>
              <a:sym typeface="Arial"/>
            </a:endParaRPr>
          </a:p>
          <a:p>
            <a:pPr marL="222250"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If the possible maximum precision levels drop to a negligible level, we can stop.</a:t>
            </a:r>
            <a:endParaRPr sz="1400" b="0" i="0" u="none" strike="noStrike" cap="none">
              <a:solidFill>
                <a:srgbClr val="000000"/>
              </a:solidFill>
              <a:latin typeface="Arial"/>
              <a:ea typeface="Arial"/>
              <a:cs typeface="Arial"/>
              <a:sym typeface="Arial"/>
            </a:endParaRPr>
          </a:p>
          <a:p>
            <a:pPr marL="222250" marR="0" lvl="0" indent="-119063" algn="l" rtl="0">
              <a:lnSpc>
                <a:spcPct val="100000"/>
              </a:lnSpc>
              <a:spcBef>
                <a:spcPts val="25"/>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For 20 different classes in PASCAL VOC, we compute an AP for every class and also provide an  average for those 20 AP results.</a:t>
            </a:r>
            <a:endParaRPr sz="1400" b="0" i="0" u="none" strike="noStrike" cap="none">
              <a:solidFill>
                <a:srgbClr val="000000"/>
              </a:solidFill>
              <a:latin typeface="Arial"/>
              <a:ea typeface="Arial"/>
              <a:cs typeface="Arial"/>
              <a:sym typeface="Arial"/>
            </a:endParaRPr>
          </a:p>
          <a:p>
            <a:pPr marL="222250"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However, this interpolated method is an approximation which suffers two issues:</a:t>
            </a:r>
            <a:endParaRPr sz="1400" b="0" i="0" u="none" strike="noStrike" cap="none">
              <a:solidFill>
                <a:srgbClr val="000000"/>
              </a:solidFill>
              <a:latin typeface="Arial"/>
              <a:ea typeface="Arial"/>
              <a:cs typeface="Arial"/>
              <a:sym typeface="Arial"/>
            </a:endParaRPr>
          </a:p>
          <a:p>
            <a:pPr marL="222250" marR="0" lvl="0" indent="-214313" algn="l" rtl="0">
              <a:lnSpc>
                <a:spcPct val="100000"/>
              </a:lnSpc>
              <a:spcBef>
                <a:spcPts val="13"/>
              </a:spcBef>
              <a:spcAft>
                <a:spcPts val="0"/>
              </a:spcAft>
              <a:buClr>
                <a:srgbClr val="000000"/>
              </a:buClr>
              <a:buSzPts val="1500"/>
              <a:buFont typeface="Arial"/>
              <a:buNone/>
            </a:pPr>
            <a:endParaRPr sz="1500" b="0" i="0" u="none" strike="noStrike" cap="none">
              <a:solidFill>
                <a:schemeClr val="dk1"/>
              </a:solidFill>
              <a:latin typeface="Helvetica Neue"/>
              <a:ea typeface="Helvetica Neue"/>
              <a:cs typeface="Helvetica Neue"/>
              <a:sym typeface="Helvetica Neue"/>
            </a:endParaRPr>
          </a:p>
          <a:p>
            <a:pPr marL="222250" marR="0" lvl="0" indent="-214312" algn="l" rtl="0">
              <a:lnSpc>
                <a:spcPct val="100000"/>
              </a:lnSpc>
              <a:spcBef>
                <a:spcPts val="0"/>
              </a:spcBef>
              <a:spcAft>
                <a:spcPts val="0"/>
              </a:spcAft>
              <a:buClr>
                <a:srgbClr val="0070C0"/>
              </a:buClr>
              <a:buSzPts val="1500"/>
              <a:buFont typeface="Helvetica Neue"/>
              <a:buAutoNum type="arabicPeriod"/>
            </a:pPr>
            <a:r>
              <a:rPr lang="en-US" sz="1500" b="0" i="0" u="none" strike="noStrike" cap="none">
                <a:solidFill>
                  <a:schemeClr val="dk1"/>
                </a:solidFill>
                <a:latin typeface="Helvetica Neue"/>
                <a:ea typeface="Helvetica Neue"/>
                <a:cs typeface="Helvetica Neue"/>
                <a:sym typeface="Helvetica Neue"/>
              </a:rPr>
              <a:t>It is less precise.</a:t>
            </a:r>
            <a:endParaRPr sz="1400" b="0" i="0" u="none" strike="noStrike" cap="none">
              <a:solidFill>
                <a:srgbClr val="000000"/>
              </a:solidFill>
              <a:latin typeface="Arial"/>
              <a:ea typeface="Arial"/>
              <a:cs typeface="Arial"/>
              <a:sym typeface="Arial"/>
            </a:endParaRPr>
          </a:p>
          <a:p>
            <a:pPr marL="222250" marR="0" lvl="0" indent="-214312" algn="l" rtl="0">
              <a:lnSpc>
                <a:spcPct val="100000"/>
              </a:lnSpc>
              <a:spcBef>
                <a:spcPts val="0"/>
              </a:spcBef>
              <a:spcAft>
                <a:spcPts val="0"/>
              </a:spcAft>
              <a:buClr>
                <a:srgbClr val="0070C0"/>
              </a:buClr>
              <a:buSzPts val="1500"/>
              <a:buFont typeface="Helvetica Neue"/>
              <a:buAutoNum type="arabicPeriod"/>
            </a:pPr>
            <a:r>
              <a:rPr lang="en-US" sz="1500" b="0" i="0" u="none" strike="noStrike" cap="none">
                <a:solidFill>
                  <a:schemeClr val="dk1"/>
                </a:solidFill>
                <a:latin typeface="Helvetica Neue"/>
                <a:ea typeface="Helvetica Neue"/>
                <a:cs typeface="Helvetica Neue"/>
                <a:sym typeface="Helvetica Neue"/>
              </a:rPr>
              <a:t>Second, it lost the capability in measuring the difference for methods with low AP.</a:t>
            </a:r>
            <a:endParaRPr sz="1400" b="0" i="0" u="none" strike="noStrike" cap="none">
              <a:solidFill>
                <a:srgbClr val="000000"/>
              </a:solidFill>
              <a:latin typeface="Arial"/>
              <a:ea typeface="Arial"/>
              <a:cs typeface="Arial"/>
              <a:sym typeface="Arial"/>
            </a:endParaRPr>
          </a:p>
          <a:p>
            <a:pPr marL="222250" marR="0" lvl="0" indent="-214313" algn="l" rtl="0">
              <a:lnSpc>
                <a:spcPct val="100000"/>
              </a:lnSpc>
              <a:spcBef>
                <a:spcPts val="0"/>
              </a:spcBef>
              <a:spcAft>
                <a:spcPts val="0"/>
              </a:spcAft>
              <a:buClr>
                <a:srgbClr val="000000"/>
              </a:buClr>
              <a:buSzPts val="1700"/>
              <a:buFont typeface="Arial"/>
              <a:buNone/>
            </a:pPr>
            <a:endParaRPr sz="1700" b="0" i="0" u="none" strike="noStrike" cap="none">
              <a:solidFill>
                <a:schemeClr val="dk1"/>
              </a:solidFill>
              <a:latin typeface="Helvetica Neue"/>
              <a:ea typeface="Helvetica Neue"/>
              <a:cs typeface="Helvetica Neue"/>
              <a:sym typeface="Helvetica Neue"/>
            </a:endParaRPr>
          </a:p>
          <a:p>
            <a:pPr marL="222250" marR="0" lvl="0" indent="-214313" algn="l" rtl="0">
              <a:lnSpc>
                <a:spcPct val="100000"/>
              </a:lnSpc>
              <a:spcBef>
                <a:spcPts val="38"/>
              </a:spcBef>
              <a:spcAft>
                <a:spcPts val="0"/>
              </a:spcAft>
              <a:buClr>
                <a:srgbClr val="000000"/>
              </a:buClr>
              <a:buSzPts val="1400"/>
              <a:buFont typeface="Arial"/>
              <a:buNone/>
            </a:pPr>
            <a:endParaRPr sz="1400" b="0" i="0" u="none" strike="noStrike" cap="none">
              <a:solidFill>
                <a:schemeClr val="dk1"/>
              </a:solidFill>
              <a:latin typeface="Helvetica Neue"/>
              <a:ea typeface="Helvetica Neue"/>
              <a:cs typeface="Helvetica Neue"/>
              <a:sym typeface="Helvetica Neue"/>
            </a:endParaRPr>
          </a:p>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Therefore, a different AP calculation is adopted after 2008 for PASCAL VOC.</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94"/>
        <p:cNvGrpSpPr/>
        <p:nvPr/>
      </p:nvGrpSpPr>
      <p:grpSpPr>
        <a:xfrm>
          <a:off x="0" y="0"/>
          <a:ext cx="0" cy="0"/>
          <a:chOff x="0" y="0"/>
          <a:chExt cx="0" cy="0"/>
        </a:xfrm>
      </p:grpSpPr>
      <p:sp>
        <p:nvSpPr>
          <p:cNvPr id="1595" name="Google Shape;1595;p100"/>
          <p:cNvSpPr txBox="1">
            <a:spLocks noGrp="1"/>
          </p:cNvSpPr>
          <p:nvPr>
            <p:ph type="title"/>
          </p:nvPr>
        </p:nvSpPr>
        <p:spPr>
          <a:xfrm>
            <a:off x="349250" y="314325"/>
            <a:ext cx="6965950" cy="531813"/>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AP (Area under curve AUC)</a:t>
            </a:r>
            <a:endParaRPr/>
          </a:p>
        </p:txBody>
      </p:sp>
      <p:sp>
        <p:nvSpPr>
          <p:cNvPr id="1596" name="Google Shape;1596;p100"/>
          <p:cNvSpPr txBox="1"/>
          <p:nvPr/>
        </p:nvSpPr>
        <p:spPr>
          <a:xfrm>
            <a:off x="125413" y="1622425"/>
            <a:ext cx="8893175" cy="1174750"/>
          </a:xfrm>
          <a:prstGeom prst="rect">
            <a:avLst/>
          </a:prstGeom>
          <a:noFill/>
          <a:ln>
            <a:noFill/>
          </a:ln>
        </p:spPr>
        <p:txBody>
          <a:bodyPr spcFirstLastPara="1" wrap="square" lIns="0" tIns="9525" rIns="0" bIns="0" anchor="t" anchorCtr="0">
            <a:spAutoFit/>
          </a:bodyPr>
          <a:lstStyle/>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For later Pascal VOC competitions, VOC2010–2012 samples the curve at all unique recall values (r</a:t>
            </a:r>
            <a:r>
              <a:rPr lang="en-US" sz="1500" b="0" i="0" u="none" strike="noStrike" cap="none">
                <a:solidFill>
                  <a:schemeClr val="dk1"/>
                </a:solidFill>
                <a:latin typeface="SimSun-ExtB"/>
                <a:ea typeface="SimSun-ExtB"/>
                <a:cs typeface="SimSun-ExtB"/>
                <a:sym typeface="SimSun-ExtB"/>
              </a:rPr>
              <a:t>₁</a:t>
            </a:r>
            <a:r>
              <a:rPr lang="en-US" sz="1500" b="0" i="0" u="none" strike="noStrike" cap="none">
                <a:solidFill>
                  <a:schemeClr val="dk1"/>
                </a:solidFill>
                <a:latin typeface="Helvetica Neue"/>
                <a:ea typeface="Helvetica Neue"/>
                <a:cs typeface="Helvetica Neue"/>
                <a:sym typeface="Helvetica Neue"/>
              </a:rPr>
              <a:t>,  r</a:t>
            </a:r>
            <a:r>
              <a:rPr lang="en-US" sz="1500" b="0" i="0" u="none" strike="noStrike" cap="none">
                <a:solidFill>
                  <a:schemeClr val="dk1"/>
                </a:solidFill>
                <a:latin typeface="SimSun-ExtB"/>
                <a:ea typeface="SimSun-ExtB"/>
                <a:cs typeface="SimSun-ExtB"/>
                <a:sym typeface="SimSun-ExtB"/>
              </a:rPr>
              <a:t>₂</a:t>
            </a:r>
            <a:r>
              <a:rPr lang="en-US" sz="1500" b="0" i="0" u="none" strike="noStrike" cap="none">
                <a:solidFill>
                  <a:schemeClr val="dk1"/>
                </a:solidFill>
                <a:latin typeface="Helvetica Neue"/>
                <a:ea typeface="Helvetica Neue"/>
                <a:cs typeface="Helvetica Neue"/>
                <a:sym typeface="Helvetica Neue"/>
              </a:rPr>
              <a:t>, …), whenever the maximum precision value drops.</a:t>
            </a:r>
            <a:endParaRPr sz="1400" b="0" i="0" u="none" strike="noStrike" cap="none">
              <a:solidFill>
                <a:srgbClr val="000000"/>
              </a:solidFill>
              <a:latin typeface="Arial"/>
              <a:ea typeface="Arial"/>
              <a:cs typeface="Arial"/>
              <a:sym typeface="Arial"/>
            </a:endParaRPr>
          </a:p>
          <a:p>
            <a:pPr marL="222250"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With this change, we are measuring the exact area under the precision-recall curve after the zigzags  are removed.</a:t>
            </a:r>
            <a:endParaRPr sz="1400" b="0" i="0" u="none" strike="noStrike" cap="none">
              <a:solidFill>
                <a:srgbClr val="000000"/>
              </a:solidFill>
              <a:latin typeface="Arial"/>
              <a:ea typeface="Arial"/>
              <a:cs typeface="Arial"/>
              <a:sym typeface="Arial"/>
            </a:endParaRPr>
          </a:p>
        </p:txBody>
      </p:sp>
      <p:pic>
        <p:nvPicPr>
          <p:cNvPr id="1597" name="Google Shape;1597;p100"/>
          <p:cNvPicPr preferRelativeResize="0"/>
          <p:nvPr/>
        </p:nvPicPr>
        <p:blipFill rotWithShape="1">
          <a:blip r:embed="rId3">
            <a:alphaModFix/>
          </a:blip>
          <a:srcRect/>
          <a:stretch/>
        </p:blipFill>
        <p:spPr>
          <a:xfrm>
            <a:off x="2559050" y="2578100"/>
            <a:ext cx="6584950" cy="34226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601"/>
        <p:cNvGrpSpPr/>
        <p:nvPr/>
      </p:nvGrpSpPr>
      <p:grpSpPr>
        <a:xfrm>
          <a:off x="0" y="0"/>
          <a:ext cx="0" cy="0"/>
          <a:chOff x="0" y="0"/>
          <a:chExt cx="0" cy="0"/>
        </a:xfrm>
      </p:grpSpPr>
      <p:sp>
        <p:nvSpPr>
          <p:cNvPr id="1602" name="Google Shape;1602;p101"/>
          <p:cNvSpPr txBox="1">
            <a:spLocks noGrp="1"/>
          </p:cNvSpPr>
          <p:nvPr>
            <p:ph type="title"/>
          </p:nvPr>
        </p:nvSpPr>
        <p:spPr>
          <a:xfrm>
            <a:off x="165088" y="262575"/>
            <a:ext cx="5999100" cy="533100"/>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AP (Area under curve AUC)</a:t>
            </a:r>
            <a:endParaRPr/>
          </a:p>
        </p:txBody>
      </p:sp>
      <p:sp>
        <p:nvSpPr>
          <p:cNvPr id="1603" name="Google Shape;1603;p101"/>
          <p:cNvSpPr txBox="1"/>
          <p:nvPr/>
        </p:nvSpPr>
        <p:spPr>
          <a:xfrm>
            <a:off x="125413" y="1622425"/>
            <a:ext cx="8893175" cy="944563"/>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No approximation or interpolation is needed.</a:t>
            </a:r>
            <a:endParaRPr sz="1400" b="0" i="0" u="none" strike="noStrike" cap="none">
              <a:solidFill>
                <a:srgbClr val="000000"/>
              </a:solidFill>
              <a:latin typeface="Arial"/>
              <a:ea typeface="Arial"/>
              <a:cs typeface="Arial"/>
              <a:sym typeface="Arial"/>
            </a:endParaRPr>
          </a:p>
          <a:p>
            <a:pPr marL="223838"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Instead of sampling 11 points, we sample p(r</a:t>
            </a:r>
            <a:r>
              <a:rPr lang="en-US" sz="1500" b="0" i="0" u="none" strike="noStrike" cap="none">
                <a:solidFill>
                  <a:schemeClr val="dk1"/>
                </a:solidFill>
                <a:latin typeface="SimSun-ExtB"/>
                <a:ea typeface="SimSun-ExtB"/>
                <a:cs typeface="SimSun-ExtB"/>
                <a:sym typeface="SimSun-ExtB"/>
              </a:rPr>
              <a:t>ᵢ</a:t>
            </a:r>
            <a:r>
              <a:rPr lang="en-US" sz="1500" b="0" i="0" u="none" strike="noStrike" cap="none">
                <a:solidFill>
                  <a:schemeClr val="dk1"/>
                </a:solidFill>
                <a:latin typeface="Helvetica Neue"/>
                <a:ea typeface="Helvetica Neue"/>
                <a:cs typeface="Helvetica Neue"/>
                <a:sym typeface="Helvetica Neue"/>
              </a:rPr>
              <a:t>) whenever it drops and computes AP as the sum of the  rectangular blocks.</a:t>
            </a:r>
            <a:endParaRPr sz="1400" b="0" i="0" u="none" strike="noStrike" cap="none">
              <a:solidFill>
                <a:srgbClr val="000000"/>
              </a:solidFill>
              <a:latin typeface="Arial"/>
              <a:ea typeface="Arial"/>
              <a:cs typeface="Arial"/>
              <a:sym typeface="Arial"/>
            </a:endParaRPr>
          </a:p>
        </p:txBody>
      </p:sp>
      <p:grpSp>
        <p:nvGrpSpPr>
          <p:cNvPr id="1604" name="Google Shape;1604;p101"/>
          <p:cNvGrpSpPr/>
          <p:nvPr/>
        </p:nvGrpSpPr>
        <p:grpSpPr>
          <a:xfrm>
            <a:off x="165100" y="2328862"/>
            <a:ext cx="8832692" cy="3671540"/>
            <a:chOff x="220133" y="1962613"/>
            <a:chExt cx="11777134" cy="4895386"/>
          </a:xfrm>
        </p:grpSpPr>
        <p:pic>
          <p:nvPicPr>
            <p:cNvPr id="1605" name="Google Shape;1605;p101"/>
            <p:cNvPicPr preferRelativeResize="0"/>
            <p:nvPr/>
          </p:nvPicPr>
          <p:blipFill rotWithShape="1">
            <a:blip r:embed="rId3">
              <a:alphaModFix/>
            </a:blip>
            <a:srcRect/>
            <a:stretch/>
          </p:blipFill>
          <p:spPr>
            <a:xfrm>
              <a:off x="220133" y="2294466"/>
              <a:ext cx="8779933" cy="4563533"/>
            </a:xfrm>
            <a:prstGeom prst="rect">
              <a:avLst/>
            </a:prstGeom>
            <a:noFill/>
            <a:ln>
              <a:noFill/>
            </a:ln>
          </p:spPr>
        </p:pic>
        <p:sp>
          <p:nvSpPr>
            <p:cNvPr id="1606" name="Google Shape;1606;p101"/>
            <p:cNvSpPr/>
            <p:nvPr/>
          </p:nvSpPr>
          <p:spPr>
            <a:xfrm>
              <a:off x="5932449" y="1962613"/>
              <a:ext cx="3602354" cy="1940560"/>
            </a:xfrm>
            <a:custGeom>
              <a:avLst/>
              <a:gdLst/>
              <a:ahLst/>
              <a:cxnLst/>
              <a:rect l="l" t="t" r="r" b="b"/>
              <a:pathLst>
                <a:path w="3602354" h="1940560" extrusionOk="0">
                  <a:moveTo>
                    <a:pt x="1800920" y="0"/>
                  </a:moveTo>
                  <a:lnTo>
                    <a:pt x="1739007" y="562"/>
                  </a:lnTo>
                  <a:lnTo>
                    <a:pt x="1677618" y="2238"/>
                  </a:lnTo>
                  <a:lnTo>
                    <a:pt x="1616787" y="5008"/>
                  </a:lnTo>
                  <a:lnTo>
                    <a:pt x="1556546" y="8856"/>
                  </a:lnTo>
                  <a:lnTo>
                    <a:pt x="1496930" y="13762"/>
                  </a:lnTo>
                  <a:lnTo>
                    <a:pt x="1437972" y="19710"/>
                  </a:lnTo>
                  <a:lnTo>
                    <a:pt x="1379706" y="26680"/>
                  </a:lnTo>
                  <a:lnTo>
                    <a:pt x="1322164" y="34654"/>
                  </a:lnTo>
                  <a:lnTo>
                    <a:pt x="1265382" y="43616"/>
                  </a:lnTo>
                  <a:lnTo>
                    <a:pt x="1209391" y="53546"/>
                  </a:lnTo>
                  <a:lnTo>
                    <a:pt x="1154226" y="64426"/>
                  </a:lnTo>
                  <a:lnTo>
                    <a:pt x="1099921" y="76239"/>
                  </a:lnTo>
                  <a:lnTo>
                    <a:pt x="1046508" y="88967"/>
                  </a:lnTo>
                  <a:lnTo>
                    <a:pt x="994022" y="102590"/>
                  </a:lnTo>
                  <a:lnTo>
                    <a:pt x="942495" y="117092"/>
                  </a:lnTo>
                  <a:lnTo>
                    <a:pt x="891961" y="132454"/>
                  </a:lnTo>
                  <a:lnTo>
                    <a:pt x="842455" y="148659"/>
                  </a:lnTo>
                  <a:lnTo>
                    <a:pt x="794009" y="165687"/>
                  </a:lnTo>
                  <a:lnTo>
                    <a:pt x="746656" y="183521"/>
                  </a:lnTo>
                  <a:lnTo>
                    <a:pt x="700431" y="202144"/>
                  </a:lnTo>
                  <a:lnTo>
                    <a:pt x="655368" y="221536"/>
                  </a:lnTo>
                  <a:lnTo>
                    <a:pt x="611498" y="241680"/>
                  </a:lnTo>
                  <a:lnTo>
                    <a:pt x="568857" y="262558"/>
                  </a:lnTo>
                  <a:lnTo>
                    <a:pt x="527477" y="284152"/>
                  </a:lnTo>
                  <a:lnTo>
                    <a:pt x="487392" y="306443"/>
                  </a:lnTo>
                  <a:lnTo>
                    <a:pt x="448636" y="329414"/>
                  </a:lnTo>
                  <a:lnTo>
                    <a:pt x="411242" y="353046"/>
                  </a:lnTo>
                  <a:lnTo>
                    <a:pt x="375244" y="377322"/>
                  </a:lnTo>
                  <a:lnTo>
                    <a:pt x="340675" y="402224"/>
                  </a:lnTo>
                  <a:lnTo>
                    <a:pt x="307569" y="427732"/>
                  </a:lnTo>
                  <a:lnTo>
                    <a:pt x="275958" y="453830"/>
                  </a:lnTo>
                  <a:lnTo>
                    <a:pt x="245878" y="480500"/>
                  </a:lnTo>
                  <a:lnTo>
                    <a:pt x="217361" y="507722"/>
                  </a:lnTo>
                  <a:lnTo>
                    <a:pt x="190441" y="535479"/>
                  </a:lnTo>
                  <a:lnTo>
                    <a:pt x="141525" y="592527"/>
                  </a:lnTo>
                  <a:lnTo>
                    <a:pt x="99399" y="651499"/>
                  </a:lnTo>
                  <a:lnTo>
                    <a:pt x="64330" y="712250"/>
                  </a:lnTo>
                  <a:lnTo>
                    <a:pt x="36588" y="774636"/>
                  </a:lnTo>
                  <a:lnTo>
                    <a:pt x="16440" y="838512"/>
                  </a:lnTo>
                  <a:lnTo>
                    <a:pt x="4154" y="903733"/>
                  </a:lnTo>
                  <a:lnTo>
                    <a:pt x="0" y="970156"/>
                  </a:lnTo>
                  <a:lnTo>
                    <a:pt x="1044" y="1003509"/>
                  </a:lnTo>
                  <a:lnTo>
                    <a:pt x="9297" y="1069349"/>
                  </a:lnTo>
                  <a:lnTo>
                    <a:pt x="25548" y="1133916"/>
                  </a:lnTo>
                  <a:lnTo>
                    <a:pt x="49526" y="1197064"/>
                  </a:lnTo>
                  <a:lnTo>
                    <a:pt x="80965" y="1258651"/>
                  </a:lnTo>
                  <a:lnTo>
                    <a:pt x="119596" y="1318530"/>
                  </a:lnTo>
                  <a:lnTo>
                    <a:pt x="165151" y="1376558"/>
                  </a:lnTo>
                  <a:lnTo>
                    <a:pt x="217361" y="1432590"/>
                  </a:lnTo>
                  <a:lnTo>
                    <a:pt x="245878" y="1459812"/>
                  </a:lnTo>
                  <a:lnTo>
                    <a:pt x="275958" y="1486481"/>
                  </a:lnTo>
                  <a:lnTo>
                    <a:pt x="307569" y="1512579"/>
                  </a:lnTo>
                  <a:lnTo>
                    <a:pt x="340675" y="1538088"/>
                  </a:lnTo>
                  <a:lnTo>
                    <a:pt x="375244" y="1562989"/>
                  </a:lnTo>
                  <a:lnTo>
                    <a:pt x="411242" y="1587265"/>
                  </a:lnTo>
                  <a:lnTo>
                    <a:pt x="448636" y="1610898"/>
                  </a:lnTo>
                  <a:lnTo>
                    <a:pt x="487392" y="1633868"/>
                  </a:lnTo>
                  <a:lnTo>
                    <a:pt x="527477" y="1656160"/>
                  </a:lnTo>
                  <a:lnTo>
                    <a:pt x="568857" y="1677753"/>
                  </a:lnTo>
                  <a:lnTo>
                    <a:pt x="611498" y="1698631"/>
                  </a:lnTo>
                  <a:lnTo>
                    <a:pt x="655368" y="1718775"/>
                  </a:lnTo>
                  <a:lnTo>
                    <a:pt x="700431" y="1738168"/>
                  </a:lnTo>
                  <a:lnTo>
                    <a:pt x="746656" y="1756790"/>
                  </a:lnTo>
                  <a:lnTo>
                    <a:pt x="794009" y="1774624"/>
                  </a:lnTo>
                  <a:lnTo>
                    <a:pt x="842455" y="1791653"/>
                  </a:lnTo>
                  <a:lnTo>
                    <a:pt x="891961" y="1807857"/>
                  </a:lnTo>
                  <a:lnTo>
                    <a:pt x="942495" y="1823219"/>
                  </a:lnTo>
                  <a:lnTo>
                    <a:pt x="994022" y="1837721"/>
                  </a:lnTo>
                  <a:lnTo>
                    <a:pt x="1046508" y="1851345"/>
                  </a:lnTo>
                  <a:lnTo>
                    <a:pt x="1099921" y="1864072"/>
                  </a:lnTo>
                  <a:lnTo>
                    <a:pt x="1154226" y="1875885"/>
                  </a:lnTo>
                  <a:lnTo>
                    <a:pt x="1209391" y="1886766"/>
                  </a:lnTo>
                  <a:lnTo>
                    <a:pt x="1265382" y="1896696"/>
                  </a:lnTo>
                  <a:lnTo>
                    <a:pt x="1322164" y="1905657"/>
                  </a:lnTo>
                  <a:lnTo>
                    <a:pt x="1379706" y="1913632"/>
                  </a:lnTo>
                  <a:lnTo>
                    <a:pt x="1437972" y="1920602"/>
                  </a:lnTo>
                  <a:lnTo>
                    <a:pt x="1496930" y="1926549"/>
                  </a:lnTo>
                  <a:lnTo>
                    <a:pt x="1556546" y="1931455"/>
                  </a:lnTo>
                  <a:lnTo>
                    <a:pt x="1616787" y="1935303"/>
                  </a:lnTo>
                  <a:lnTo>
                    <a:pt x="1677618" y="1938074"/>
                  </a:lnTo>
                  <a:lnTo>
                    <a:pt x="1739007" y="1939749"/>
                  </a:lnTo>
                  <a:lnTo>
                    <a:pt x="1800920" y="1940312"/>
                  </a:lnTo>
                  <a:lnTo>
                    <a:pt x="1862834" y="1939749"/>
                  </a:lnTo>
                  <a:lnTo>
                    <a:pt x="1924223" y="1938074"/>
                  </a:lnTo>
                  <a:lnTo>
                    <a:pt x="1985054" y="1935303"/>
                  </a:lnTo>
                  <a:lnTo>
                    <a:pt x="2045295" y="1931455"/>
                  </a:lnTo>
                  <a:lnTo>
                    <a:pt x="2104911" y="1926549"/>
                  </a:lnTo>
                  <a:lnTo>
                    <a:pt x="2163869" y="1920602"/>
                  </a:lnTo>
                  <a:lnTo>
                    <a:pt x="2222136" y="1913632"/>
                  </a:lnTo>
                  <a:lnTo>
                    <a:pt x="2279677" y="1905657"/>
                  </a:lnTo>
                  <a:lnTo>
                    <a:pt x="2336460" y="1896696"/>
                  </a:lnTo>
                  <a:lnTo>
                    <a:pt x="2392450" y="1886766"/>
                  </a:lnTo>
                  <a:lnTo>
                    <a:pt x="2447615" y="1875885"/>
                  </a:lnTo>
                  <a:lnTo>
                    <a:pt x="2501921" y="1864072"/>
                  </a:lnTo>
                  <a:lnTo>
                    <a:pt x="2555334" y="1851345"/>
                  </a:lnTo>
                  <a:lnTo>
                    <a:pt x="2607820" y="1837721"/>
                  </a:lnTo>
                  <a:lnTo>
                    <a:pt x="2659347" y="1823219"/>
                  </a:lnTo>
                  <a:lnTo>
                    <a:pt x="2709880" y="1807857"/>
                  </a:lnTo>
                  <a:lnTo>
                    <a:pt x="2759387" y="1791653"/>
                  </a:lnTo>
                  <a:lnTo>
                    <a:pt x="2807833" y="1774624"/>
                  </a:lnTo>
                  <a:lnTo>
                    <a:pt x="2855186" y="1756790"/>
                  </a:lnTo>
                  <a:lnTo>
                    <a:pt x="2901410" y="1738168"/>
                  </a:lnTo>
                  <a:lnTo>
                    <a:pt x="2946474" y="1718775"/>
                  </a:lnTo>
                  <a:lnTo>
                    <a:pt x="2990344" y="1698631"/>
                  </a:lnTo>
                  <a:lnTo>
                    <a:pt x="3032985" y="1677753"/>
                  </a:lnTo>
                  <a:lnTo>
                    <a:pt x="3074365" y="1656160"/>
                  </a:lnTo>
                  <a:lnTo>
                    <a:pt x="3114450" y="1633868"/>
                  </a:lnTo>
                  <a:lnTo>
                    <a:pt x="3153206" y="1610898"/>
                  </a:lnTo>
                  <a:lnTo>
                    <a:pt x="3190600" y="1587265"/>
                  </a:lnTo>
                  <a:lnTo>
                    <a:pt x="3226598" y="1562989"/>
                  </a:lnTo>
                  <a:lnTo>
                    <a:pt x="3261167" y="1538088"/>
                  </a:lnTo>
                  <a:lnTo>
                    <a:pt x="3294274" y="1512579"/>
                  </a:lnTo>
                  <a:lnTo>
                    <a:pt x="3325884" y="1486481"/>
                  </a:lnTo>
                  <a:lnTo>
                    <a:pt x="3355964" y="1459812"/>
                  </a:lnTo>
                  <a:lnTo>
                    <a:pt x="3384481" y="1432590"/>
                  </a:lnTo>
                  <a:lnTo>
                    <a:pt x="3411401" y="1404832"/>
                  </a:lnTo>
                  <a:lnTo>
                    <a:pt x="3460317" y="1347784"/>
                  </a:lnTo>
                  <a:lnTo>
                    <a:pt x="3502444" y="1288813"/>
                  </a:lnTo>
                  <a:lnTo>
                    <a:pt x="3537512" y="1228062"/>
                  </a:lnTo>
                  <a:lnTo>
                    <a:pt x="3565254" y="1165676"/>
                  </a:lnTo>
                  <a:lnTo>
                    <a:pt x="3585402" y="1101801"/>
                  </a:lnTo>
                  <a:lnTo>
                    <a:pt x="3597688" y="1036579"/>
                  </a:lnTo>
                  <a:lnTo>
                    <a:pt x="3601843" y="970156"/>
                  </a:lnTo>
                  <a:lnTo>
                    <a:pt x="3600798" y="936804"/>
                  </a:lnTo>
                  <a:lnTo>
                    <a:pt x="3592545" y="870963"/>
                  </a:lnTo>
                  <a:lnTo>
                    <a:pt x="3576294" y="806397"/>
                  </a:lnTo>
                  <a:lnTo>
                    <a:pt x="3552316" y="743248"/>
                  </a:lnTo>
                  <a:lnTo>
                    <a:pt x="3520877" y="681661"/>
                  </a:lnTo>
                  <a:lnTo>
                    <a:pt x="3482246" y="621782"/>
                  </a:lnTo>
                  <a:lnTo>
                    <a:pt x="3436691" y="563754"/>
                  </a:lnTo>
                  <a:lnTo>
                    <a:pt x="3384481" y="507722"/>
                  </a:lnTo>
                  <a:lnTo>
                    <a:pt x="3355964" y="480500"/>
                  </a:lnTo>
                  <a:lnTo>
                    <a:pt x="3325884" y="453830"/>
                  </a:lnTo>
                  <a:lnTo>
                    <a:pt x="3294274" y="427732"/>
                  </a:lnTo>
                  <a:lnTo>
                    <a:pt x="3261167" y="402224"/>
                  </a:lnTo>
                  <a:lnTo>
                    <a:pt x="3226598" y="377322"/>
                  </a:lnTo>
                  <a:lnTo>
                    <a:pt x="3190600" y="353046"/>
                  </a:lnTo>
                  <a:lnTo>
                    <a:pt x="3153206" y="329414"/>
                  </a:lnTo>
                  <a:lnTo>
                    <a:pt x="3114450" y="306443"/>
                  </a:lnTo>
                  <a:lnTo>
                    <a:pt x="3074365" y="284152"/>
                  </a:lnTo>
                  <a:lnTo>
                    <a:pt x="3032985" y="262558"/>
                  </a:lnTo>
                  <a:lnTo>
                    <a:pt x="2990344" y="241680"/>
                  </a:lnTo>
                  <a:lnTo>
                    <a:pt x="2946474" y="221536"/>
                  </a:lnTo>
                  <a:lnTo>
                    <a:pt x="2901410" y="202144"/>
                  </a:lnTo>
                  <a:lnTo>
                    <a:pt x="2855186" y="183521"/>
                  </a:lnTo>
                  <a:lnTo>
                    <a:pt x="2807833" y="165687"/>
                  </a:lnTo>
                  <a:lnTo>
                    <a:pt x="2759387" y="148659"/>
                  </a:lnTo>
                  <a:lnTo>
                    <a:pt x="2709880" y="132454"/>
                  </a:lnTo>
                  <a:lnTo>
                    <a:pt x="2659347" y="117092"/>
                  </a:lnTo>
                  <a:lnTo>
                    <a:pt x="2607820" y="102590"/>
                  </a:lnTo>
                  <a:lnTo>
                    <a:pt x="2555334" y="88967"/>
                  </a:lnTo>
                  <a:lnTo>
                    <a:pt x="2501921" y="76239"/>
                  </a:lnTo>
                  <a:lnTo>
                    <a:pt x="2447615" y="64426"/>
                  </a:lnTo>
                  <a:lnTo>
                    <a:pt x="2392450" y="53546"/>
                  </a:lnTo>
                  <a:lnTo>
                    <a:pt x="2336460" y="43616"/>
                  </a:lnTo>
                  <a:lnTo>
                    <a:pt x="2279677" y="34654"/>
                  </a:lnTo>
                  <a:lnTo>
                    <a:pt x="2222136" y="26680"/>
                  </a:lnTo>
                  <a:lnTo>
                    <a:pt x="2163869" y="19710"/>
                  </a:lnTo>
                  <a:lnTo>
                    <a:pt x="2104911" y="13762"/>
                  </a:lnTo>
                  <a:lnTo>
                    <a:pt x="2045295" y="8856"/>
                  </a:lnTo>
                  <a:lnTo>
                    <a:pt x="1985054" y="5008"/>
                  </a:lnTo>
                  <a:lnTo>
                    <a:pt x="1924223" y="2238"/>
                  </a:lnTo>
                  <a:lnTo>
                    <a:pt x="1862834" y="562"/>
                  </a:lnTo>
                  <a:lnTo>
                    <a:pt x="1800920" y="0"/>
                  </a:lnTo>
                  <a:close/>
                </a:path>
              </a:pathLst>
            </a:custGeom>
            <a:solidFill>
              <a:srgbClr val="0070C0">
                <a:alpha val="2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607" name="Google Shape;1607;p101"/>
            <p:cNvSpPr/>
            <p:nvPr/>
          </p:nvSpPr>
          <p:spPr>
            <a:xfrm>
              <a:off x="5932449" y="1962613"/>
              <a:ext cx="3602354" cy="1940560"/>
            </a:xfrm>
            <a:custGeom>
              <a:avLst/>
              <a:gdLst/>
              <a:ahLst/>
              <a:cxnLst/>
              <a:rect l="l" t="t" r="r" b="b"/>
              <a:pathLst>
                <a:path w="3602354" h="1940560" extrusionOk="0">
                  <a:moveTo>
                    <a:pt x="0" y="970156"/>
                  </a:moveTo>
                  <a:lnTo>
                    <a:pt x="4154" y="903733"/>
                  </a:lnTo>
                  <a:lnTo>
                    <a:pt x="16440" y="838511"/>
                  </a:lnTo>
                  <a:lnTo>
                    <a:pt x="36588" y="774635"/>
                  </a:lnTo>
                  <a:lnTo>
                    <a:pt x="64330" y="712250"/>
                  </a:lnTo>
                  <a:lnTo>
                    <a:pt x="99399" y="651499"/>
                  </a:lnTo>
                  <a:lnTo>
                    <a:pt x="141525" y="592527"/>
                  </a:lnTo>
                  <a:lnTo>
                    <a:pt x="190441" y="535479"/>
                  </a:lnTo>
                  <a:lnTo>
                    <a:pt x="217361" y="507722"/>
                  </a:lnTo>
                  <a:lnTo>
                    <a:pt x="245878" y="480499"/>
                  </a:lnTo>
                  <a:lnTo>
                    <a:pt x="275959" y="453830"/>
                  </a:lnTo>
                  <a:lnTo>
                    <a:pt x="307569" y="427732"/>
                  </a:lnTo>
                  <a:lnTo>
                    <a:pt x="340675" y="402223"/>
                  </a:lnTo>
                  <a:lnTo>
                    <a:pt x="375244" y="377322"/>
                  </a:lnTo>
                  <a:lnTo>
                    <a:pt x="411243" y="353046"/>
                  </a:lnTo>
                  <a:lnTo>
                    <a:pt x="448637" y="329414"/>
                  </a:lnTo>
                  <a:lnTo>
                    <a:pt x="487393" y="306443"/>
                  </a:lnTo>
                  <a:lnTo>
                    <a:pt x="527477" y="284152"/>
                  </a:lnTo>
                  <a:lnTo>
                    <a:pt x="568857" y="262558"/>
                  </a:lnTo>
                  <a:lnTo>
                    <a:pt x="611498" y="241680"/>
                  </a:lnTo>
                  <a:lnTo>
                    <a:pt x="655368" y="221536"/>
                  </a:lnTo>
                  <a:lnTo>
                    <a:pt x="700432" y="202144"/>
                  </a:lnTo>
                  <a:lnTo>
                    <a:pt x="746657" y="183521"/>
                  </a:lnTo>
                  <a:lnTo>
                    <a:pt x="794009" y="165687"/>
                  </a:lnTo>
                  <a:lnTo>
                    <a:pt x="842455" y="148659"/>
                  </a:lnTo>
                  <a:lnTo>
                    <a:pt x="891962" y="132454"/>
                  </a:lnTo>
                  <a:lnTo>
                    <a:pt x="942495" y="117092"/>
                  </a:lnTo>
                  <a:lnTo>
                    <a:pt x="994022" y="102590"/>
                  </a:lnTo>
                  <a:lnTo>
                    <a:pt x="1046509" y="88966"/>
                  </a:lnTo>
                  <a:lnTo>
                    <a:pt x="1099921" y="76239"/>
                  </a:lnTo>
                  <a:lnTo>
                    <a:pt x="1154227" y="64426"/>
                  </a:lnTo>
                  <a:lnTo>
                    <a:pt x="1209392" y="53546"/>
                  </a:lnTo>
                  <a:lnTo>
                    <a:pt x="1265382" y="43616"/>
                  </a:lnTo>
                  <a:lnTo>
                    <a:pt x="1322165" y="34654"/>
                  </a:lnTo>
                  <a:lnTo>
                    <a:pt x="1379706" y="26680"/>
                  </a:lnTo>
                  <a:lnTo>
                    <a:pt x="1437973" y="19710"/>
                  </a:lnTo>
                  <a:lnTo>
                    <a:pt x="1496931" y="13762"/>
                  </a:lnTo>
                  <a:lnTo>
                    <a:pt x="1556547" y="8856"/>
                  </a:lnTo>
                  <a:lnTo>
                    <a:pt x="1616788" y="5008"/>
                  </a:lnTo>
                  <a:lnTo>
                    <a:pt x="1677619" y="2238"/>
                  </a:lnTo>
                  <a:lnTo>
                    <a:pt x="1739008" y="562"/>
                  </a:lnTo>
                  <a:lnTo>
                    <a:pt x="1800922" y="0"/>
                  </a:lnTo>
                  <a:lnTo>
                    <a:pt x="1862835" y="562"/>
                  </a:lnTo>
                  <a:lnTo>
                    <a:pt x="1924224" y="2238"/>
                  </a:lnTo>
                  <a:lnTo>
                    <a:pt x="1985055" y="5008"/>
                  </a:lnTo>
                  <a:lnTo>
                    <a:pt x="2045296" y="8856"/>
                  </a:lnTo>
                  <a:lnTo>
                    <a:pt x="2104912" y="13762"/>
                  </a:lnTo>
                  <a:lnTo>
                    <a:pt x="2163870" y="19710"/>
                  </a:lnTo>
                  <a:lnTo>
                    <a:pt x="2222137" y="26680"/>
                  </a:lnTo>
                  <a:lnTo>
                    <a:pt x="2279678" y="34654"/>
                  </a:lnTo>
                  <a:lnTo>
                    <a:pt x="2336461" y="43616"/>
                  </a:lnTo>
                  <a:lnTo>
                    <a:pt x="2392451" y="53546"/>
                  </a:lnTo>
                  <a:lnTo>
                    <a:pt x="2447616" y="64426"/>
                  </a:lnTo>
                  <a:lnTo>
                    <a:pt x="2501922" y="76239"/>
                  </a:lnTo>
                  <a:lnTo>
                    <a:pt x="2555335" y="88966"/>
                  </a:lnTo>
                  <a:lnTo>
                    <a:pt x="2607821" y="102590"/>
                  </a:lnTo>
                  <a:lnTo>
                    <a:pt x="2659348" y="117092"/>
                  </a:lnTo>
                  <a:lnTo>
                    <a:pt x="2709881" y="132454"/>
                  </a:lnTo>
                  <a:lnTo>
                    <a:pt x="2759388" y="148659"/>
                  </a:lnTo>
                  <a:lnTo>
                    <a:pt x="2807834" y="165687"/>
                  </a:lnTo>
                  <a:lnTo>
                    <a:pt x="2855187" y="183521"/>
                  </a:lnTo>
                  <a:lnTo>
                    <a:pt x="2901411" y="202144"/>
                  </a:lnTo>
                  <a:lnTo>
                    <a:pt x="2946475" y="221536"/>
                  </a:lnTo>
                  <a:lnTo>
                    <a:pt x="2990345" y="241680"/>
                  </a:lnTo>
                  <a:lnTo>
                    <a:pt x="3032986" y="262558"/>
                  </a:lnTo>
                  <a:lnTo>
                    <a:pt x="3074366" y="284152"/>
                  </a:lnTo>
                  <a:lnTo>
                    <a:pt x="3114451" y="306443"/>
                  </a:lnTo>
                  <a:lnTo>
                    <a:pt x="3153207" y="329414"/>
                  </a:lnTo>
                  <a:lnTo>
                    <a:pt x="3190601" y="353046"/>
                  </a:lnTo>
                  <a:lnTo>
                    <a:pt x="3226599" y="377322"/>
                  </a:lnTo>
                  <a:lnTo>
                    <a:pt x="3261168" y="402223"/>
                  </a:lnTo>
                  <a:lnTo>
                    <a:pt x="3294274" y="427732"/>
                  </a:lnTo>
                  <a:lnTo>
                    <a:pt x="3325885" y="453830"/>
                  </a:lnTo>
                  <a:lnTo>
                    <a:pt x="3355965" y="480499"/>
                  </a:lnTo>
                  <a:lnTo>
                    <a:pt x="3384482" y="507722"/>
                  </a:lnTo>
                  <a:lnTo>
                    <a:pt x="3411402" y="535479"/>
                  </a:lnTo>
                  <a:lnTo>
                    <a:pt x="3460318" y="592527"/>
                  </a:lnTo>
                  <a:lnTo>
                    <a:pt x="3502444" y="651499"/>
                  </a:lnTo>
                  <a:lnTo>
                    <a:pt x="3537513" y="712250"/>
                  </a:lnTo>
                  <a:lnTo>
                    <a:pt x="3565255" y="774635"/>
                  </a:lnTo>
                  <a:lnTo>
                    <a:pt x="3585403" y="838511"/>
                  </a:lnTo>
                  <a:lnTo>
                    <a:pt x="3597689" y="903733"/>
                  </a:lnTo>
                  <a:lnTo>
                    <a:pt x="3601844" y="970156"/>
                  </a:lnTo>
                  <a:lnTo>
                    <a:pt x="3600799" y="1003508"/>
                  </a:lnTo>
                  <a:lnTo>
                    <a:pt x="3592546" y="1069348"/>
                  </a:lnTo>
                  <a:lnTo>
                    <a:pt x="3576295" y="1133915"/>
                  </a:lnTo>
                  <a:lnTo>
                    <a:pt x="3552317" y="1197064"/>
                  </a:lnTo>
                  <a:lnTo>
                    <a:pt x="3520878" y="1258650"/>
                  </a:lnTo>
                  <a:lnTo>
                    <a:pt x="3482247" y="1318529"/>
                  </a:lnTo>
                  <a:lnTo>
                    <a:pt x="3436692" y="1376557"/>
                  </a:lnTo>
                  <a:lnTo>
                    <a:pt x="3384482" y="1432589"/>
                  </a:lnTo>
                  <a:lnTo>
                    <a:pt x="3355965" y="1459812"/>
                  </a:lnTo>
                  <a:lnTo>
                    <a:pt x="3325885" y="1486481"/>
                  </a:lnTo>
                  <a:lnTo>
                    <a:pt x="3294274" y="1512579"/>
                  </a:lnTo>
                  <a:lnTo>
                    <a:pt x="3261168" y="1538087"/>
                  </a:lnTo>
                  <a:lnTo>
                    <a:pt x="3226599" y="1562989"/>
                  </a:lnTo>
                  <a:lnTo>
                    <a:pt x="3190601" y="1587265"/>
                  </a:lnTo>
                  <a:lnTo>
                    <a:pt x="3153207" y="1610897"/>
                  </a:lnTo>
                  <a:lnTo>
                    <a:pt x="3114451" y="1633868"/>
                  </a:lnTo>
                  <a:lnTo>
                    <a:pt x="3074366" y="1656159"/>
                  </a:lnTo>
                  <a:lnTo>
                    <a:pt x="3032986" y="1677753"/>
                  </a:lnTo>
                  <a:lnTo>
                    <a:pt x="2990345" y="1698631"/>
                  </a:lnTo>
                  <a:lnTo>
                    <a:pt x="2946475" y="1718775"/>
                  </a:lnTo>
                  <a:lnTo>
                    <a:pt x="2901411" y="1738167"/>
                  </a:lnTo>
                  <a:lnTo>
                    <a:pt x="2855187" y="1756790"/>
                  </a:lnTo>
                  <a:lnTo>
                    <a:pt x="2807834" y="1774624"/>
                  </a:lnTo>
                  <a:lnTo>
                    <a:pt x="2759388" y="1791652"/>
                  </a:lnTo>
                  <a:lnTo>
                    <a:pt x="2709881" y="1807857"/>
                  </a:lnTo>
                  <a:lnTo>
                    <a:pt x="2659348" y="1823219"/>
                  </a:lnTo>
                  <a:lnTo>
                    <a:pt x="2607821" y="1837721"/>
                  </a:lnTo>
                  <a:lnTo>
                    <a:pt x="2555335" y="1851344"/>
                  </a:lnTo>
                  <a:lnTo>
                    <a:pt x="2501922" y="1864072"/>
                  </a:lnTo>
                  <a:lnTo>
                    <a:pt x="2447616" y="1875885"/>
                  </a:lnTo>
                  <a:lnTo>
                    <a:pt x="2392451" y="1886765"/>
                  </a:lnTo>
                  <a:lnTo>
                    <a:pt x="2336461" y="1896695"/>
                  </a:lnTo>
                  <a:lnTo>
                    <a:pt x="2279678" y="1905657"/>
                  </a:lnTo>
                  <a:lnTo>
                    <a:pt x="2222137" y="1913631"/>
                  </a:lnTo>
                  <a:lnTo>
                    <a:pt x="2163870" y="1920601"/>
                  </a:lnTo>
                  <a:lnTo>
                    <a:pt x="2104912" y="1926549"/>
                  </a:lnTo>
                  <a:lnTo>
                    <a:pt x="2045296" y="1931455"/>
                  </a:lnTo>
                  <a:lnTo>
                    <a:pt x="1985055" y="1935303"/>
                  </a:lnTo>
                  <a:lnTo>
                    <a:pt x="1924224" y="1938073"/>
                  </a:lnTo>
                  <a:lnTo>
                    <a:pt x="1862835" y="1939749"/>
                  </a:lnTo>
                  <a:lnTo>
                    <a:pt x="1800922" y="1940312"/>
                  </a:lnTo>
                  <a:lnTo>
                    <a:pt x="1739008" y="1939749"/>
                  </a:lnTo>
                  <a:lnTo>
                    <a:pt x="1677619" y="1938073"/>
                  </a:lnTo>
                  <a:lnTo>
                    <a:pt x="1616788" y="1935303"/>
                  </a:lnTo>
                  <a:lnTo>
                    <a:pt x="1556547" y="1931455"/>
                  </a:lnTo>
                  <a:lnTo>
                    <a:pt x="1496931" y="1926549"/>
                  </a:lnTo>
                  <a:lnTo>
                    <a:pt x="1437973" y="1920601"/>
                  </a:lnTo>
                  <a:lnTo>
                    <a:pt x="1379706" y="1913631"/>
                  </a:lnTo>
                  <a:lnTo>
                    <a:pt x="1322165" y="1905657"/>
                  </a:lnTo>
                  <a:lnTo>
                    <a:pt x="1265382" y="1896695"/>
                  </a:lnTo>
                  <a:lnTo>
                    <a:pt x="1209392" y="1886765"/>
                  </a:lnTo>
                  <a:lnTo>
                    <a:pt x="1154227" y="1875885"/>
                  </a:lnTo>
                  <a:lnTo>
                    <a:pt x="1099921" y="1864072"/>
                  </a:lnTo>
                  <a:lnTo>
                    <a:pt x="1046509" y="1851344"/>
                  </a:lnTo>
                  <a:lnTo>
                    <a:pt x="994022" y="1837721"/>
                  </a:lnTo>
                  <a:lnTo>
                    <a:pt x="942495" y="1823219"/>
                  </a:lnTo>
                  <a:lnTo>
                    <a:pt x="891962" y="1807857"/>
                  </a:lnTo>
                  <a:lnTo>
                    <a:pt x="842455" y="1791652"/>
                  </a:lnTo>
                  <a:lnTo>
                    <a:pt x="794009" y="1774624"/>
                  </a:lnTo>
                  <a:lnTo>
                    <a:pt x="746657" y="1756790"/>
                  </a:lnTo>
                  <a:lnTo>
                    <a:pt x="700432" y="1738167"/>
                  </a:lnTo>
                  <a:lnTo>
                    <a:pt x="655368" y="1718775"/>
                  </a:lnTo>
                  <a:lnTo>
                    <a:pt x="611498" y="1698631"/>
                  </a:lnTo>
                  <a:lnTo>
                    <a:pt x="568857" y="1677753"/>
                  </a:lnTo>
                  <a:lnTo>
                    <a:pt x="527477" y="1656159"/>
                  </a:lnTo>
                  <a:lnTo>
                    <a:pt x="487393" y="1633868"/>
                  </a:lnTo>
                  <a:lnTo>
                    <a:pt x="448637" y="1610897"/>
                  </a:lnTo>
                  <a:lnTo>
                    <a:pt x="411243" y="1587265"/>
                  </a:lnTo>
                  <a:lnTo>
                    <a:pt x="375244" y="1562989"/>
                  </a:lnTo>
                  <a:lnTo>
                    <a:pt x="340675" y="1538087"/>
                  </a:lnTo>
                  <a:lnTo>
                    <a:pt x="307569" y="1512579"/>
                  </a:lnTo>
                  <a:lnTo>
                    <a:pt x="275959" y="1486481"/>
                  </a:lnTo>
                  <a:lnTo>
                    <a:pt x="245878" y="1459812"/>
                  </a:lnTo>
                  <a:lnTo>
                    <a:pt x="217361" y="1432589"/>
                  </a:lnTo>
                  <a:lnTo>
                    <a:pt x="190441" y="1404832"/>
                  </a:lnTo>
                  <a:lnTo>
                    <a:pt x="141525" y="1347784"/>
                  </a:lnTo>
                  <a:lnTo>
                    <a:pt x="99399" y="1288812"/>
                  </a:lnTo>
                  <a:lnTo>
                    <a:pt x="64330" y="1228061"/>
                  </a:lnTo>
                  <a:lnTo>
                    <a:pt x="36588" y="1165676"/>
                  </a:lnTo>
                  <a:lnTo>
                    <a:pt x="16440" y="1101800"/>
                  </a:lnTo>
                  <a:lnTo>
                    <a:pt x="4154" y="1036578"/>
                  </a:lnTo>
                  <a:lnTo>
                    <a:pt x="0" y="970156"/>
                  </a:lnTo>
                  <a:close/>
                </a:path>
              </a:pathLst>
            </a:custGeom>
            <a:noFill/>
            <a:ln w="12700"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pic>
          <p:nvPicPr>
            <p:cNvPr id="1608" name="Google Shape;1608;p101"/>
            <p:cNvPicPr preferRelativeResize="0"/>
            <p:nvPr/>
          </p:nvPicPr>
          <p:blipFill rotWithShape="1">
            <a:blip r:embed="rId4">
              <a:alphaModFix/>
            </a:blip>
            <a:srcRect/>
            <a:stretch/>
          </p:blipFill>
          <p:spPr>
            <a:xfrm>
              <a:off x="9025467" y="4106333"/>
              <a:ext cx="2971800" cy="999066"/>
            </a:xfrm>
            <a:prstGeom prst="rect">
              <a:avLst/>
            </a:prstGeom>
            <a:noFill/>
            <a:ln>
              <a:noFill/>
            </a:ln>
          </p:spPr>
        </p:pic>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sp>
        <p:nvSpPr>
          <p:cNvPr id="1613" name="Google Shape;1613;p102"/>
          <p:cNvSpPr txBox="1">
            <a:spLocks noGrp="1"/>
          </p:cNvSpPr>
          <p:nvPr>
            <p:ph type="title"/>
          </p:nvPr>
        </p:nvSpPr>
        <p:spPr>
          <a:xfrm>
            <a:off x="125413" y="318538"/>
            <a:ext cx="4065600" cy="533100"/>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COCO mAP</a:t>
            </a:r>
            <a:endParaRPr/>
          </a:p>
        </p:txBody>
      </p:sp>
      <p:sp>
        <p:nvSpPr>
          <p:cNvPr id="1614" name="Google Shape;1614;p102"/>
          <p:cNvSpPr txBox="1"/>
          <p:nvPr/>
        </p:nvSpPr>
        <p:spPr>
          <a:xfrm>
            <a:off x="125413" y="1622425"/>
            <a:ext cx="8893175" cy="2122488"/>
          </a:xfrm>
          <a:prstGeom prst="rect">
            <a:avLst/>
          </a:prstGeom>
          <a:noFill/>
          <a:ln>
            <a:noFill/>
          </a:ln>
        </p:spPr>
        <p:txBody>
          <a:bodyPr spcFirstLastPara="1" wrap="square" lIns="0" tIns="9525" rIns="0" bIns="0" anchor="t" anchorCtr="0">
            <a:spAutoFit/>
          </a:bodyPr>
          <a:lstStyle/>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Latest research papers tend to give results for the COCO dataset only. In COCO mAP, a 101-point  interpolated AP definition is used in the calculation.</a:t>
            </a:r>
            <a:endParaRPr sz="1400" b="0" i="0" u="none" strike="noStrike" cap="none">
              <a:solidFill>
                <a:srgbClr val="000000"/>
              </a:solidFill>
              <a:latin typeface="Arial"/>
              <a:ea typeface="Arial"/>
              <a:cs typeface="Arial"/>
              <a:sym typeface="Arial"/>
            </a:endParaRPr>
          </a:p>
          <a:p>
            <a:pPr marL="222250"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For COCO, AP is the average over multiple IoU (the minimum IoU to consider a positive match).</a:t>
            </a:r>
            <a:endParaRPr sz="1400" b="0" i="0" u="none" strike="noStrike" cap="none">
              <a:solidFill>
                <a:srgbClr val="000000"/>
              </a:solidFill>
              <a:latin typeface="Arial"/>
              <a:ea typeface="Arial"/>
              <a:cs typeface="Arial"/>
              <a:sym typeface="Arial"/>
            </a:endParaRPr>
          </a:p>
          <a:p>
            <a:pPr marL="222250" marR="0" lvl="0" indent="-119063" algn="l" rtl="0">
              <a:lnSpc>
                <a:spcPct val="100000"/>
              </a:lnSpc>
              <a:spcBef>
                <a:spcPts val="25"/>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2250" marR="0" lvl="0" indent="-214312" algn="l" rtl="0">
              <a:lnSpc>
                <a:spcPct val="100000"/>
              </a:lnSpc>
              <a:spcBef>
                <a:spcPts val="0"/>
              </a:spcBef>
              <a:spcAft>
                <a:spcPts val="0"/>
              </a:spcAft>
              <a:buClr>
                <a:srgbClr val="0070C0"/>
              </a:buClr>
              <a:buSzPts val="1500"/>
              <a:buFont typeface="Calibri"/>
              <a:buChar char="●"/>
            </a:pPr>
            <a:r>
              <a:rPr lang="en-US" sz="1500" b="1" i="0" u="none" strike="noStrike" cap="none">
                <a:solidFill>
                  <a:schemeClr val="dk1"/>
                </a:solidFill>
                <a:latin typeface="Arial"/>
                <a:ea typeface="Arial"/>
                <a:cs typeface="Arial"/>
                <a:sym typeface="Arial"/>
              </a:rPr>
              <a:t>AP@[.5:.95] </a:t>
            </a:r>
            <a:r>
              <a:rPr lang="en-US" sz="1500" b="0" i="0" u="none" strike="noStrike" cap="none">
                <a:solidFill>
                  <a:schemeClr val="dk1"/>
                </a:solidFill>
                <a:latin typeface="Helvetica Neue"/>
                <a:ea typeface="Helvetica Neue"/>
                <a:cs typeface="Helvetica Neue"/>
                <a:sym typeface="Helvetica Neue"/>
              </a:rPr>
              <a:t>corresponds to the average AP for IoU from 0.5 to 0.95 with a step size of 0.05.</a:t>
            </a:r>
            <a:endParaRPr sz="1400" b="0" i="0" u="none" strike="noStrike" cap="none">
              <a:solidFill>
                <a:srgbClr val="000000"/>
              </a:solidFill>
              <a:latin typeface="Arial"/>
              <a:ea typeface="Arial"/>
              <a:cs typeface="Arial"/>
              <a:sym typeface="Arial"/>
            </a:endParaRPr>
          </a:p>
          <a:p>
            <a:pPr marL="222250"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2250" marR="0" lvl="0" indent="-214312"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For the COCO competition, AP is the average over 10 IoU levels on 80 categories (AP@[.50:.05:.95]:  start from 0.5 to 0.95 with a step size of 0.05).</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618"/>
        <p:cNvGrpSpPr/>
        <p:nvPr/>
      </p:nvGrpSpPr>
      <p:grpSpPr>
        <a:xfrm>
          <a:off x="0" y="0"/>
          <a:ext cx="0" cy="0"/>
          <a:chOff x="0" y="0"/>
          <a:chExt cx="0" cy="0"/>
        </a:xfrm>
      </p:grpSpPr>
      <p:sp>
        <p:nvSpPr>
          <p:cNvPr id="1619" name="Google Shape;1619;p103"/>
          <p:cNvSpPr txBox="1">
            <a:spLocks noGrp="1"/>
          </p:cNvSpPr>
          <p:nvPr>
            <p:ph type="title"/>
          </p:nvPr>
        </p:nvSpPr>
        <p:spPr>
          <a:xfrm>
            <a:off x="125413" y="340538"/>
            <a:ext cx="3341700" cy="533100"/>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COCO mAP</a:t>
            </a:r>
            <a:endParaRPr/>
          </a:p>
        </p:txBody>
      </p:sp>
      <p:sp>
        <p:nvSpPr>
          <p:cNvPr id="1620" name="Google Shape;1620;p103"/>
          <p:cNvSpPr txBox="1"/>
          <p:nvPr/>
        </p:nvSpPr>
        <p:spPr>
          <a:xfrm>
            <a:off x="125413" y="1622425"/>
            <a:ext cx="6169025" cy="239713"/>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The following are some other metrics collected for the COCO dataset:</a:t>
            </a:r>
            <a:endParaRPr sz="1500" b="0" i="0" u="none" strike="noStrike" cap="none">
              <a:solidFill>
                <a:schemeClr val="dk1"/>
              </a:solidFill>
              <a:latin typeface="Helvetica Neue"/>
              <a:ea typeface="Helvetica Neue"/>
              <a:cs typeface="Helvetica Neue"/>
              <a:sym typeface="Helvetica Neue"/>
            </a:endParaRPr>
          </a:p>
        </p:txBody>
      </p:sp>
      <p:pic>
        <p:nvPicPr>
          <p:cNvPr id="1621" name="Google Shape;1621;p103"/>
          <p:cNvPicPr preferRelativeResize="0"/>
          <p:nvPr/>
        </p:nvPicPr>
        <p:blipFill rotWithShape="1">
          <a:blip r:embed="rId3">
            <a:alphaModFix/>
          </a:blip>
          <a:srcRect/>
          <a:stretch/>
        </p:blipFill>
        <p:spPr>
          <a:xfrm>
            <a:off x="1308100" y="2247900"/>
            <a:ext cx="6527800" cy="33337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25"/>
        <p:cNvGrpSpPr/>
        <p:nvPr/>
      </p:nvGrpSpPr>
      <p:grpSpPr>
        <a:xfrm>
          <a:off x="0" y="0"/>
          <a:ext cx="0" cy="0"/>
          <a:chOff x="0" y="0"/>
          <a:chExt cx="0" cy="0"/>
        </a:xfrm>
      </p:grpSpPr>
      <p:sp>
        <p:nvSpPr>
          <p:cNvPr id="1626" name="Google Shape;1626;p104"/>
          <p:cNvSpPr txBox="1">
            <a:spLocks noGrp="1"/>
          </p:cNvSpPr>
          <p:nvPr>
            <p:ph type="title"/>
          </p:nvPr>
        </p:nvSpPr>
        <p:spPr>
          <a:xfrm>
            <a:off x="125413" y="350163"/>
            <a:ext cx="4446600" cy="533100"/>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COCO mAP</a:t>
            </a:r>
            <a:endParaRPr/>
          </a:p>
        </p:txBody>
      </p:sp>
      <p:sp>
        <p:nvSpPr>
          <p:cNvPr id="1627" name="Google Shape;1627;p104"/>
          <p:cNvSpPr txBox="1"/>
          <p:nvPr/>
        </p:nvSpPr>
        <p:spPr>
          <a:xfrm>
            <a:off x="125413" y="1622425"/>
            <a:ext cx="4354512" cy="239713"/>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Example: the AP result for the YOLOv3 detector:</a:t>
            </a:r>
            <a:endParaRPr sz="1500" b="0" i="0" u="none" strike="noStrike" cap="none">
              <a:solidFill>
                <a:schemeClr val="dk1"/>
              </a:solidFill>
              <a:latin typeface="Helvetica Neue"/>
              <a:ea typeface="Helvetica Neue"/>
              <a:cs typeface="Helvetica Neue"/>
              <a:sym typeface="Helvetica Neue"/>
            </a:endParaRPr>
          </a:p>
        </p:txBody>
      </p:sp>
      <p:sp>
        <p:nvSpPr>
          <p:cNvPr id="1628" name="Google Shape;1628;p104"/>
          <p:cNvSpPr txBox="1"/>
          <p:nvPr/>
        </p:nvSpPr>
        <p:spPr>
          <a:xfrm>
            <a:off x="125413" y="5051425"/>
            <a:ext cx="4364037" cy="239713"/>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For clarity, AP@.75 means the AP with IoU=0.75.</a:t>
            </a:r>
            <a:endParaRPr sz="1500" b="0" i="0" u="none" strike="noStrike" cap="none">
              <a:solidFill>
                <a:schemeClr val="dk1"/>
              </a:solidFill>
              <a:latin typeface="Helvetica Neue"/>
              <a:ea typeface="Helvetica Neue"/>
              <a:cs typeface="Helvetica Neue"/>
              <a:sym typeface="Helvetica Neue"/>
            </a:endParaRPr>
          </a:p>
        </p:txBody>
      </p:sp>
      <p:pic>
        <p:nvPicPr>
          <p:cNvPr id="1629" name="Google Shape;1629;p104"/>
          <p:cNvPicPr preferRelativeResize="0"/>
          <p:nvPr/>
        </p:nvPicPr>
        <p:blipFill rotWithShape="1">
          <a:blip r:embed="rId3">
            <a:alphaModFix/>
          </a:blip>
          <a:srcRect/>
          <a:stretch/>
        </p:blipFill>
        <p:spPr>
          <a:xfrm>
            <a:off x="1403350" y="2178050"/>
            <a:ext cx="6388100" cy="24511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633"/>
        <p:cNvGrpSpPr/>
        <p:nvPr/>
      </p:nvGrpSpPr>
      <p:grpSpPr>
        <a:xfrm>
          <a:off x="0" y="0"/>
          <a:ext cx="0" cy="0"/>
          <a:chOff x="0" y="0"/>
          <a:chExt cx="0" cy="0"/>
        </a:xfrm>
      </p:grpSpPr>
      <p:sp>
        <p:nvSpPr>
          <p:cNvPr id="1634" name="Google Shape;1634;p105"/>
          <p:cNvSpPr txBox="1">
            <a:spLocks noGrp="1"/>
          </p:cNvSpPr>
          <p:nvPr>
            <p:ph type="title"/>
          </p:nvPr>
        </p:nvSpPr>
        <p:spPr>
          <a:xfrm>
            <a:off x="367650" y="305738"/>
            <a:ext cx="3657600" cy="533100"/>
          </a:xfrm>
          <a:prstGeom prst="rect">
            <a:avLst/>
          </a:prstGeom>
          <a:noFill/>
          <a:ln>
            <a:noFill/>
          </a:ln>
        </p:spPr>
        <p:txBody>
          <a:bodyPr spcFirstLastPara="1" wrap="square" lIns="0" tIns="9525" rIns="0" bIns="0" anchor="ctr" anchorCtr="0">
            <a:spAutoFit/>
          </a:bodyPr>
          <a:lstStyle/>
          <a:p>
            <a:pPr marL="9525" lvl="0" indent="0" algn="l" rtl="0">
              <a:lnSpc>
                <a:spcPct val="100000"/>
              </a:lnSpc>
              <a:spcBef>
                <a:spcPts val="0"/>
              </a:spcBef>
              <a:spcAft>
                <a:spcPts val="0"/>
              </a:spcAft>
              <a:buSzPts val="1400"/>
              <a:buNone/>
            </a:pPr>
            <a:r>
              <a:rPr lang="en-US"/>
              <a:t>COCO mAP</a:t>
            </a:r>
            <a:endParaRPr/>
          </a:p>
        </p:txBody>
      </p:sp>
      <p:sp>
        <p:nvSpPr>
          <p:cNvPr id="1635" name="Google Shape;1635;p105"/>
          <p:cNvSpPr txBox="1"/>
          <p:nvPr/>
        </p:nvSpPr>
        <p:spPr>
          <a:xfrm>
            <a:off x="125413" y="1622425"/>
            <a:ext cx="8893175" cy="3678238"/>
          </a:xfrm>
          <a:prstGeom prst="rect">
            <a:avLst/>
          </a:prstGeom>
          <a:noFill/>
          <a:ln>
            <a:noFill/>
          </a:ln>
        </p:spPr>
        <p:txBody>
          <a:bodyPr spcFirstLastPara="1" wrap="square" lIns="0" tIns="9525" rIns="0" bIns="0" anchor="t" anchorCtr="0">
            <a:spAutoFit/>
          </a:bodyPr>
          <a:lstStyle/>
          <a:p>
            <a:pPr marL="223838" marR="0" lvl="0" indent="-214313" algn="l" rtl="0">
              <a:lnSpc>
                <a:spcPct val="100000"/>
              </a:lnSpc>
              <a:spcBef>
                <a:spcPts val="0"/>
              </a:spcBef>
              <a:spcAft>
                <a:spcPts val="0"/>
              </a:spcAft>
              <a:buClr>
                <a:srgbClr val="0070C0"/>
              </a:buClr>
              <a:buSzPts val="1500"/>
              <a:buFont typeface="Calibri"/>
              <a:buChar char="●"/>
            </a:pPr>
            <a:r>
              <a:rPr lang="en-US" sz="1500" b="1" i="0" u="none" strike="noStrike" cap="none">
                <a:solidFill>
                  <a:schemeClr val="dk1"/>
                </a:solidFill>
                <a:latin typeface="Arial"/>
                <a:ea typeface="Arial"/>
                <a:cs typeface="Arial"/>
                <a:sym typeface="Arial"/>
              </a:rPr>
              <a:t>mAP </a:t>
            </a:r>
            <a:r>
              <a:rPr lang="en-US" sz="1500" b="0" i="0" u="none" strike="noStrike" cap="none">
                <a:solidFill>
                  <a:schemeClr val="dk1"/>
                </a:solidFill>
                <a:latin typeface="Helvetica Neue"/>
                <a:ea typeface="Helvetica Neue"/>
                <a:cs typeface="Helvetica Neue"/>
                <a:sym typeface="Helvetica Neue"/>
              </a:rPr>
              <a:t>(mean average precision) is the average of AP.</a:t>
            </a:r>
            <a:endParaRPr sz="1400" b="0" i="0" u="none" strike="noStrike" cap="none">
              <a:solidFill>
                <a:srgbClr val="000000"/>
              </a:solidFill>
              <a:latin typeface="Arial"/>
              <a:ea typeface="Arial"/>
              <a:cs typeface="Arial"/>
              <a:sym typeface="Arial"/>
            </a:endParaRPr>
          </a:p>
          <a:p>
            <a:pPr marL="223838" marR="0" lvl="0" indent="-119063" algn="l" rtl="0">
              <a:lnSpc>
                <a:spcPct val="100000"/>
              </a:lnSpc>
              <a:spcBef>
                <a:spcPts val="13"/>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just"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In some context, we compute the AP for each class and average them. But in some context, they  mean the same thing. For example, under the COCO context, there is no difference between AP and  mAP. Here is the direct quote from COCO:</a:t>
            </a:r>
            <a:endParaRPr sz="1400" b="0" i="0" u="none" strike="noStrike" cap="none">
              <a:solidFill>
                <a:srgbClr val="000000"/>
              </a:solidFill>
              <a:latin typeface="Arial"/>
              <a:ea typeface="Arial"/>
              <a:cs typeface="Arial"/>
              <a:sym typeface="Arial"/>
            </a:endParaRPr>
          </a:p>
          <a:p>
            <a:pPr marL="223838" marR="0" lvl="0" indent="-106363" algn="l" rtl="0">
              <a:lnSpc>
                <a:spcPct val="100000"/>
              </a:lnSpc>
              <a:spcBef>
                <a:spcPts val="0"/>
              </a:spcBef>
              <a:spcAft>
                <a:spcPts val="0"/>
              </a:spcAft>
              <a:buClr>
                <a:srgbClr val="0070C0"/>
              </a:buClr>
              <a:buSzPts val="1700"/>
              <a:buFont typeface="Calibri"/>
              <a:buNone/>
            </a:pPr>
            <a:endParaRPr sz="1700" b="0" i="0" u="none" strike="noStrike" cap="none">
              <a:solidFill>
                <a:schemeClr val="dk1"/>
              </a:solidFill>
              <a:latin typeface="Helvetica Neue"/>
              <a:ea typeface="Helvetica Neue"/>
              <a:cs typeface="Helvetica Neue"/>
              <a:sym typeface="Helvetica Neue"/>
            </a:endParaRPr>
          </a:p>
          <a:p>
            <a:pPr marL="223838" marR="0" lvl="0" indent="-214313" algn="l" rtl="0">
              <a:lnSpc>
                <a:spcPct val="102000"/>
              </a:lnSpc>
              <a:spcBef>
                <a:spcPts val="1525"/>
              </a:spcBef>
              <a:spcAft>
                <a:spcPts val="0"/>
              </a:spcAft>
              <a:buClr>
                <a:srgbClr val="000000"/>
              </a:buClr>
              <a:buSzPts val="1300"/>
              <a:buFont typeface="Arial"/>
              <a:buNone/>
            </a:pPr>
            <a:r>
              <a:rPr lang="en-US" sz="1300" b="0" i="1" u="none" strike="noStrike" cap="none">
                <a:solidFill>
                  <a:schemeClr val="dk1"/>
                </a:solidFill>
                <a:latin typeface="Calibri"/>
                <a:ea typeface="Calibri"/>
                <a:cs typeface="Calibri"/>
                <a:sym typeface="Calibri"/>
              </a:rPr>
              <a:t>„AP is averaged over all categories. Traditionally, this is called “mean average precision” (mAP). We make no distinction  between AP and mAP (and likewise AR and mAR) and assume the difference is clear from context.“</a:t>
            </a:r>
            <a:endParaRPr sz="1300" b="0" i="0" u="none" strike="noStrike" cap="none">
              <a:solidFill>
                <a:schemeClr val="dk1"/>
              </a:solidFill>
              <a:latin typeface="Calibri"/>
              <a:ea typeface="Calibri"/>
              <a:cs typeface="Calibri"/>
              <a:sym typeface="Calibri"/>
            </a:endParaRPr>
          </a:p>
          <a:p>
            <a:pPr marL="223838" marR="0" lvl="0" indent="-214313"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223838" marR="0" lvl="0" indent="-214313" algn="l" rtl="0">
              <a:lnSpc>
                <a:spcPct val="100000"/>
              </a:lnSpc>
              <a:spcBef>
                <a:spcPts val="13"/>
              </a:spcBef>
              <a:spcAft>
                <a:spcPts val="0"/>
              </a:spcAft>
              <a:buClr>
                <a:srgbClr val="000000"/>
              </a:buClr>
              <a:buSzPts val="1300"/>
              <a:buFont typeface="Arial"/>
              <a:buNone/>
            </a:pPr>
            <a:endParaRPr sz="1300" b="0" i="0" u="none" strike="noStrike" cap="none">
              <a:solidFill>
                <a:schemeClr val="dk1"/>
              </a:solidFill>
              <a:latin typeface="Calibri"/>
              <a:ea typeface="Calibri"/>
              <a:cs typeface="Calibri"/>
              <a:sym typeface="Calibri"/>
            </a:endParaRPr>
          </a:p>
          <a:p>
            <a:pPr marL="223838" marR="0" lvl="0" indent="-214313" algn="l"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In ImageNet, the AUC method is used.</a:t>
            </a:r>
            <a:endParaRPr sz="1400" b="0" i="0" u="none" strike="noStrike" cap="none">
              <a:solidFill>
                <a:srgbClr val="000000"/>
              </a:solidFill>
              <a:latin typeface="Arial"/>
              <a:ea typeface="Arial"/>
              <a:cs typeface="Arial"/>
              <a:sym typeface="Arial"/>
            </a:endParaRPr>
          </a:p>
          <a:p>
            <a:pPr marL="223838" marR="0" lvl="0" indent="-119063" algn="l" rtl="0">
              <a:lnSpc>
                <a:spcPct val="100000"/>
              </a:lnSpc>
              <a:spcBef>
                <a:spcPts val="25"/>
              </a:spcBef>
              <a:spcAft>
                <a:spcPts val="0"/>
              </a:spcAft>
              <a:buClr>
                <a:srgbClr val="0070C0"/>
              </a:buClr>
              <a:buSzPts val="1500"/>
              <a:buFont typeface="Calibri"/>
              <a:buNone/>
            </a:pPr>
            <a:endParaRPr sz="1500" b="0" i="0" u="none" strike="noStrike" cap="none">
              <a:solidFill>
                <a:schemeClr val="dk1"/>
              </a:solidFill>
              <a:latin typeface="Helvetica Neue"/>
              <a:ea typeface="Helvetica Neue"/>
              <a:cs typeface="Helvetica Neue"/>
              <a:sym typeface="Helvetica Neue"/>
            </a:endParaRPr>
          </a:p>
          <a:p>
            <a:pPr marL="223838" marR="0" lvl="0" indent="-214313" algn="just" rtl="0">
              <a:lnSpc>
                <a:spcPct val="100000"/>
              </a:lnSpc>
              <a:spcBef>
                <a:spcPts val="0"/>
              </a:spcBef>
              <a:spcAft>
                <a:spcPts val="0"/>
              </a:spcAft>
              <a:buClr>
                <a:srgbClr val="0070C0"/>
              </a:buClr>
              <a:buSzPts val="1500"/>
              <a:buFont typeface="Calibri"/>
              <a:buChar char="●"/>
            </a:pPr>
            <a:r>
              <a:rPr lang="en-US" sz="1500" b="0" i="0" u="none" strike="noStrike" cap="none">
                <a:solidFill>
                  <a:schemeClr val="dk1"/>
                </a:solidFill>
                <a:latin typeface="Helvetica Neue"/>
                <a:ea typeface="Helvetica Neue"/>
                <a:cs typeface="Helvetica Neue"/>
                <a:sym typeface="Helvetica Neue"/>
              </a:rPr>
              <a:t>To summarize: even all of them follow the same principle in measurement AP, the exact calculation  may vary according to the datasets. Fortunately, development kits are available in calculating this  metric.</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F4D0F-BF2F-F354-FF5E-9C0A48202340}"/>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25CAEF96-7360-716D-B5B3-0EED52860885}"/>
              </a:ext>
            </a:extLst>
          </p:cNvPr>
          <p:cNvSpPr>
            <a:spLocks noGrp="1"/>
          </p:cNvSpPr>
          <p:nvPr>
            <p:ph type="body" idx="1"/>
          </p:nvPr>
        </p:nvSpPr>
        <p:spPr/>
        <p:txBody>
          <a:bodyPr/>
          <a:lstStyle/>
          <a:p>
            <a:r>
              <a:rPr lang="en-US" sz="1100" b="1" dirty="0"/>
              <a:t>Understanding CNNs and Semantic Segmentation:</a:t>
            </a:r>
            <a:endParaRPr lang="en-US" sz="1100" dirty="0"/>
          </a:p>
          <a:p>
            <a:pPr lvl="1"/>
            <a:r>
              <a:rPr lang="en-US" sz="1100" dirty="0"/>
              <a:t>We explored the structure and functionality of Convolutional Neural Networks (CNNs) and their application in semantic segmentation.</a:t>
            </a:r>
          </a:p>
          <a:p>
            <a:pPr lvl="1"/>
            <a:r>
              <a:rPr lang="en-US" sz="1100" dirty="0"/>
              <a:t>We learned how CNNs transform input images into feature maps and how semantic segmentation assigns class labels to each pixel.</a:t>
            </a:r>
          </a:p>
          <a:p>
            <a:r>
              <a:rPr lang="en-US" sz="1100" b="1" dirty="0"/>
              <a:t>Techniques for </a:t>
            </a:r>
            <a:r>
              <a:rPr lang="en-US" sz="1100" b="1" dirty="0" err="1"/>
              <a:t>Upsampling</a:t>
            </a:r>
            <a:r>
              <a:rPr lang="en-US" sz="1100" b="1" dirty="0"/>
              <a:t> and </a:t>
            </a:r>
            <a:r>
              <a:rPr lang="en-US" sz="1100" b="1" dirty="0" err="1"/>
              <a:t>Downsampling</a:t>
            </a:r>
            <a:r>
              <a:rPr lang="en-US" sz="1100" b="1" dirty="0"/>
              <a:t>:</a:t>
            </a:r>
            <a:endParaRPr lang="en-US" sz="1100" dirty="0"/>
          </a:p>
          <a:p>
            <a:pPr lvl="1"/>
            <a:r>
              <a:rPr lang="en-US" sz="1100" dirty="0"/>
              <a:t>We discussed the importance of </a:t>
            </a:r>
            <a:r>
              <a:rPr lang="en-US" sz="1100" dirty="0" err="1"/>
              <a:t>downsampling</a:t>
            </a:r>
            <a:r>
              <a:rPr lang="en-US" sz="1100" dirty="0"/>
              <a:t> and </a:t>
            </a:r>
            <a:r>
              <a:rPr lang="en-US" sz="1100" dirty="0" err="1"/>
              <a:t>upsampling</a:t>
            </a:r>
            <a:r>
              <a:rPr lang="en-US" sz="1100" dirty="0"/>
              <a:t> in encoder-decoder architectures, using techniques like pooling, </a:t>
            </a:r>
            <a:r>
              <a:rPr lang="en-US" sz="1100" dirty="0" err="1"/>
              <a:t>unpooling</a:t>
            </a:r>
            <a:r>
              <a:rPr lang="en-US" sz="1100" dirty="0"/>
              <a:t>, and transpose convolution.</a:t>
            </a:r>
          </a:p>
          <a:p>
            <a:r>
              <a:rPr lang="en-US" sz="1100" b="1" dirty="0"/>
              <a:t>Evaluating Model Performance:</a:t>
            </a:r>
            <a:endParaRPr lang="en-US" sz="1100" dirty="0"/>
          </a:p>
          <a:p>
            <a:pPr lvl="1"/>
            <a:r>
              <a:rPr lang="en-US" sz="1100" dirty="0"/>
              <a:t>We covered various metrics for evaluating semantic segmentation, including accuracy and Intersection over Union (</a:t>
            </a:r>
            <a:r>
              <a:rPr lang="en-US" sz="1100" dirty="0" err="1"/>
              <a:t>IoU</a:t>
            </a:r>
            <a:r>
              <a:rPr lang="en-US" sz="1100" dirty="0"/>
              <a:t>).</a:t>
            </a:r>
          </a:p>
          <a:p>
            <a:pPr lvl="1"/>
            <a:r>
              <a:rPr lang="en-US" sz="1100" dirty="0"/>
              <a:t>We also delved into object detection metrics, focusing on Average Precision (AP) and mean Average Precision (</a:t>
            </a:r>
            <a:r>
              <a:rPr lang="en-US" sz="1100" dirty="0" err="1"/>
              <a:t>mAP</a:t>
            </a:r>
            <a:r>
              <a:rPr lang="en-US" sz="1100" dirty="0"/>
              <a:t>).</a:t>
            </a:r>
          </a:p>
          <a:p>
            <a:r>
              <a:rPr lang="en-US" sz="1100" b="1" dirty="0"/>
              <a:t>Precision-Recall Trade-offs:</a:t>
            </a:r>
            <a:endParaRPr lang="en-US" sz="1100" dirty="0"/>
          </a:p>
          <a:p>
            <a:pPr lvl="1"/>
            <a:r>
              <a:rPr lang="en-US" sz="1100" dirty="0"/>
              <a:t>We examined the precision-recall curve and how Average Precision is calculated as the area under this curve.</a:t>
            </a:r>
          </a:p>
          <a:p>
            <a:pPr lvl="1"/>
            <a:r>
              <a:rPr lang="en-US" sz="1100" dirty="0"/>
              <a:t>We learned about smoothing techniques to handle the zig-zag pattern in precision-recall plots.</a:t>
            </a:r>
          </a:p>
          <a:p>
            <a:r>
              <a:rPr lang="en-US" sz="1100" b="1" dirty="0"/>
              <a:t>Dataset-Specific Metrics:</a:t>
            </a:r>
            <a:endParaRPr lang="en-US" sz="1100" dirty="0"/>
          </a:p>
          <a:p>
            <a:pPr lvl="1"/>
            <a:r>
              <a:rPr lang="en-US" sz="1100" dirty="0"/>
              <a:t>We explored how different datasets, like PASCAL VOC and COCO, use specific metrics and evaluation criteria.</a:t>
            </a:r>
          </a:p>
          <a:p>
            <a:pPr lvl="1"/>
            <a:r>
              <a:rPr lang="en-US" sz="1100" dirty="0"/>
              <a:t>We discussed the significance of </a:t>
            </a:r>
            <a:r>
              <a:rPr lang="en-US" sz="1100" dirty="0" err="1"/>
              <a:t>mAP</a:t>
            </a:r>
            <a:r>
              <a:rPr lang="en-US" sz="1100" dirty="0"/>
              <a:t> in the COCO dataset and how it provides a comprehensive evaluation across multiple </a:t>
            </a:r>
            <a:r>
              <a:rPr lang="en-US" sz="1100" dirty="0" err="1"/>
              <a:t>IoU</a:t>
            </a:r>
            <a:r>
              <a:rPr lang="en-US" sz="1100" dirty="0"/>
              <a:t> thresholds.</a:t>
            </a:r>
          </a:p>
          <a:p>
            <a:r>
              <a:rPr lang="en-US" sz="1100" b="1" dirty="0"/>
              <a:t>Practical Applications and Tools:</a:t>
            </a:r>
            <a:endParaRPr lang="en-US" sz="1100" dirty="0"/>
          </a:p>
          <a:p>
            <a:pPr lvl="1"/>
            <a:r>
              <a:rPr lang="en-US" sz="1100" dirty="0"/>
              <a:t>We highlighted the practical applications of these techniques and metrics in real-world scenarios.</a:t>
            </a:r>
          </a:p>
          <a:p>
            <a:pPr lvl="1"/>
            <a:r>
              <a:rPr lang="en-US" sz="1100" dirty="0"/>
              <a:t>We noted the availability of development kits and tools to facilitate the calculation of these metrics.</a:t>
            </a:r>
          </a:p>
          <a:p>
            <a:endParaRPr lang="en-US" sz="1100" dirty="0"/>
          </a:p>
        </p:txBody>
      </p:sp>
    </p:spTree>
    <p:extLst>
      <p:ext uri="{BB962C8B-B14F-4D97-AF65-F5344CB8AC3E}">
        <p14:creationId xmlns:p14="http://schemas.microsoft.com/office/powerpoint/2010/main" val="19471935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639"/>
        <p:cNvGrpSpPr/>
        <p:nvPr/>
      </p:nvGrpSpPr>
      <p:grpSpPr>
        <a:xfrm>
          <a:off x="0" y="0"/>
          <a:ext cx="0" cy="0"/>
          <a:chOff x="0" y="0"/>
          <a:chExt cx="0" cy="0"/>
        </a:xfrm>
      </p:grpSpPr>
      <p:sp>
        <p:nvSpPr>
          <p:cNvPr id="1640" name="Google Shape;1640;g28fa4b45176_0_531"/>
          <p:cNvSpPr txBox="1">
            <a:spLocks noGrp="1"/>
          </p:cNvSpPr>
          <p:nvPr>
            <p:ph type="title"/>
          </p:nvPr>
        </p:nvSpPr>
        <p:spPr>
          <a:xfrm>
            <a:off x="3493293" y="2809875"/>
            <a:ext cx="5022000" cy="1909800"/>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chemeClr val="dk1"/>
              </a:buClr>
              <a:buSzPts val="3600"/>
              <a:buFont typeface="Calibri"/>
              <a:buNone/>
            </a:pPr>
            <a:br>
              <a:rPr lang="en-US" sz="3600"/>
            </a:br>
            <a:r>
              <a:rPr lang="en-US" sz="3600"/>
              <a:t>Thank you</a:t>
            </a:r>
            <a:endParaRPr sz="3600"/>
          </a:p>
        </p:txBody>
      </p:sp>
      <p:sp>
        <p:nvSpPr>
          <p:cNvPr id="1641" name="Google Shape;1641;g28fa4b45176_0_531"/>
          <p:cNvSpPr txBox="1">
            <a:spLocks noGrp="1"/>
          </p:cNvSpPr>
          <p:nvPr>
            <p:ph type="sldNum" idx="12"/>
          </p:nvPr>
        </p:nvSpPr>
        <p:spPr>
          <a:xfrm>
            <a:off x="7243763" y="6356350"/>
            <a:ext cx="12717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55</a:t>
            </a:fld>
            <a:endParaRPr/>
          </a:p>
        </p:txBody>
      </p:sp>
      <p:sp>
        <p:nvSpPr>
          <p:cNvPr id="1642" name="Google Shape;1642;g28fa4b45176_0_531"/>
          <p:cNvSpPr txBox="1"/>
          <p:nvPr/>
        </p:nvSpPr>
        <p:spPr>
          <a:xfrm>
            <a:off x="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chemeClr val="dk1"/>
                </a:solidFill>
              </a:rPr>
              <a:t>CV 12: Semantic Segmentation and CV Metrics</a:t>
            </a:r>
            <a:endParaRPr sz="800">
              <a:solidFill>
                <a:schemeClr val="dk1"/>
              </a:solidFill>
            </a:endParaRPr>
          </a:p>
        </p:txBody>
      </p:sp>
    </p:spTree>
  </p:cSld>
  <p:clrMapOvr>
    <a:masterClrMapping/>
  </p:clrMapOvr>
</p:sld>
</file>

<file path=ppt/theme/theme1.xml><?xml version="1.0" encoding="utf-8"?>
<a:theme xmlns:a="http://schemas.openxmlformats.org/drawingml/2006/main"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Presentatio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92</TotalTime>
  <Words>5962</Words>
  <Application>Microsoft Office PowerPoint</Application>
  <PresentationFormat>On-screen Show (4:3)</PresentationFormat>
  <Paragraphs>727</Paragraphs>
  <Slides>55</Slides>
  <Notes>53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55</vt:i4>
      </vt:variant>
    </vt:vector>
  </HeadingPairs>
  <TitlesOfParts>
    <vt:vector size="64" baseType="lpstr">
      <vt:lpstr>Arial</vt:lpstr>
      <vt:lpstr>Helvetica Neue</vt:lpstr>
      <vt:lpstr>Courier New</vt:lpstr>
      <vt:lpstr>SimSun-ExtB</vt:lpstr>
      <vt:lpstr>Times New Roman</vt:lpstr>
      <vt:lpstr>Calibri</vt:lpstr>
      <vt:lpstr>Office Theme</vt:lpstr>
      <vt:lpstr>Blank Presentation</vt:lpstr>
      <vt:lpstr>Office Theme</vt:lpstr>
      <vt:lpstr>Aakash Goel https://www.linkedin.com/in/goelaakash123/</vt:lpstr>
      <vt:lpstr>Convolutional Neural Network (CNN)</vt:lpstr>
      <vt:lpstr>CNN</vt:lpstr>
      <vt:lpstr>Now</vt:lpstr>
      <vt:lpstr>Semantic Segmentation</vt:lpstr>
      <vt:lpstr>Semantic Segmentation</vt:lpstr>
      <vt:lpstr>Semantic Segmentation</vt:lpstr>
      <vt:lpstr>Semantic Segmentation</vt:lpstr>
      <vt:lpstr>Encoder-Decoder</vt:lpstr>
      <vt:lpstr>Where Do We Get Parameters?</vt:lpstr>
      <vt:lpstr>Where Do We Get Parameters?</vt:lpstr>
      <vt:lpstr>Where Do We Get Parameters?</vt:lpstr>
      <vt:lpstr>How Do We Upsample?</vt:lpstr>
      <vt:lpstr>Recall: Pooling</vt:lpstr>
      <vt:lpstr>Now: Unpooling</vt:lpstr>
      <vt:lpstr>Recall: Convolution</vt:lpstr>
      <vt:lpstr>Recall: Convolution</vt:lpstr>
      <vt:lpstr>PowerPoint Presentation</vt:lpstr>
      <vt:lpstr>Recall: Convolution</vt:lpstr>
      <vt:lpstr>Transpose Convolution</vt:lpstr>
      <vt:lpstr>Transpose Convolution</vt:lpstr>
      <vt:lpstr>Putting it Together</vt:lpstr>
      <vt:lpstr>Putting It Together – Block Sizes</vt:lpstr>
      <vt:lpstr>Putting It Together – Block Sizes</vt:lpstr>
      <vt:lpstr>Missing Details</vt:lpstr>
      <vt:lpstr>Missing Details</vt:lpstr>
      <vt:lpstr>Missing Details</vt:lpstr>
      <vt:lpstr>U-Net</vt:lpstr>
      <vt:lpstr>Evaluating Pixel Labels </vt:lpstr>
      <vt:lpstr>Evaluating Semantic Segmentation</vt:lpstr>
      <vt:lpstr>Evaluating Semantic Segmentation</vt:lpstr>
      <vt:lpstr>Aside.</vt:lpstr>
      <vt:lpstr>Why “Transpose Convolution”?</vt:lpstr>
      <vt:lpstr>Why “Transpose Convolution”?</vt:lpstr>
      <vt:lpstr>Performance Metrics for Segmentation -  see materials </vt:lpstr>
      <vt:lpstr>mAP for Object Detection</vt:lpstr>
      <vt:lpstr>mAP for Object Detection</vt:lpstr>
      <vt:lpstr>Precision &amp; recall</vt:lpstr>
      <vt:lpstr>IoU (Intersection over union)</vt:lpstr>
      <vt:lpstr>Average Precision</vt:lpstr>
      <vt:lpstr>Average Precision</vt:lpstr>
      <vt:lpstr>Average Precision</vt:lpstr>
      <vt:lpstr>Average Precision</vt:lpstr>
      <vt:lpstr>Average Precision</vt:lpstr>
      <vt:lpstr>Interpolated AP</vt:lpstr>
      <vt:lpstr>Interpolated AP</vt:lpstr>
      <vt:lpstr>Interpolated AP</vt:lpstr>
      <vt:lpstr>AP (Area under curve AUC)</vt:lpstr>
      <vt:lpstr>AP (Area under curve AUC)</vt:lpstr>
      <vt:lpstr>COCO mAP</vt:lpstr>
      <vt:lpstr>COCO mAP</vt:lpstr>
      <vt:lpstr>COCO mAP</vt:lpstr>
      <vt:lpstr>COCO mAP</vt:lpstr>
      <vt:lpstr>Summary</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Steve Seitz</dc:creator>
  <cp:lastModifiedBy>Aakash Goel (MSTIC DS&amp;AI)</cp:lastModifiedBy>
  <cp:revision>7</cp:revision>
  <dcterms:created xsi:type="dcterms:W3CDTF">1998-05-10T17:20:27Z</dcterms:created>
  <dcterms:modified xsi:type="dcterms:W3CDTF">2025-08-16T21:21:25Z</dcterms:modified>
</cp:coreProperties>
</file>