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670" r:id="rId2"/>
  </p:sldMasterIdLst>
  <p:notesMasterIdLst>
    <p:notesMasterId r:id="rId26"/>
  </p:notesMasterIdLst>
  <p:sldIdLst>
    <p:sldId id="315" r:id="rId3"/>
    <p:sldId id="317" r:id="rId4"/>
    <p:sldId id="428" r:id="rId5"/>
    <p:sldId id="429" r:id="rId6"/>
    <p:sldId id="430" r:id="rId7"/>
    <p:sldId id="426" r:id="rId8"/>
    <p:sldId id="427" r:id="rId9"/>
    <p:sldId id="369" r:id="rId10"/>
    <p:sldId id="320" r:id="rId11"/>
    <p:sldId id="322" r:id="rId12"/>
    <p:sldId id="325" r:id="rId13"/>
    <p:sldId id="326" r:id="rId14"/>
    <p:sldId id="328" r:id="rId15"/>
    <p:sldId id="333" r:id="rId16"/>
    <p:sldId id="334" r:id="rId17"/>
    <p:sldId id="335" r:id="rId18"/>
    <p:sldId id="437" r:id="rId19"/>
    <p:sldId id="438" r:id="rId20"/>
    <p:sldId id="439" r:id="rId21"/>
    <p:sldId id="440" r:id="rId22"/>
    <p:sldId id="441" r:id="rId23"/>
    <p:sldId id="443" r:id="rId24"/>
    <p:sldId id="419" r:id="rId25"/>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7" autoAdjust="0"/>
    <p:restoredTop sz="95696" autoAdjust="0"/>
  </p:normalViewPr>
  <p:slideViewPr>
    <p:cSldViewPr>
      <p:cViewPr varScale="1">
        <p:scale>
          <a:sx n="115" d="100"/>
          <a:sy n="115" d="100"/>
        </p:scale>
        <p:origin x="542" y="302"/>
      </p:cViewPr>
      <p:guideLst>
        <p:guide orient="horz" pos="2880"/>
        <p:guide pos="2160"/>
      </p:guideLst>
    </p:cSldViewPr>
  </p:slideViewPr>
  <p:notesTextViewPr>
    <p:cViewPr>
      <p:scale>
        <a:sx n="100" d="100"/>
        <a:sy n="100" d="100"/>
      </p:scale>
      <p:origin x="0" y="0"/>
    </p:cViewPr>
  </p:notesTextViewPr>
  <p:sorterViewPr>
    <p:cViewPr varScale="1">
      <p:scale>
        <a:sx n="100" d="100"/>
        <a:sy n="100" d="100"/>
      </p:scale>
      <p:origin x="0" y="-468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51966F2-D852-4790-88BA-F937A7B6C53D}" type="datetimeFigureOut">
              <a:rPr lang="en-IN" smtClean="0"/>
              <a:t>03-01-2026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2477C2E1-0CBE-46AD-AE44-0D86F64F6CD7}" type="slidenum">
              <a:rPr lang="en-IN" smtClean="0"/>
              <a:t>‹#›</a:t>
            </a:fld>
            <a:endParaRPr lang="en-IN"/>
          </a:p>
        </p:txBody>
      </p:sp>
    </p:spTree>
    <p:extLst>
      <p:ext uri="{BB962C8B-B14F-4D97-AF65-F5344CB8AC3E}">
        <p14:creationId xmlns:p14="http://schemas.microsoft.com/office/powerpoint/2010/main" val="3743461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br>
              <a:rPr dirty="0"/>
            </a:br>
            <a:br>
              <a:rPr dirty="0"/>
            </a:br>
            <a:r>
              <a:rPr sz="1100" dirty="0"/>
              <a:t>We’re learning how to replace many raw variables with a few informative summaries.</a:t>
            </a:r>
            <a:br>
              <a:rPr dirty="0"/>
            </a:br>
            <a:br>
              <a:rPr dirty="0"/>
            </a:br>
            <a:r>
              <a:rPr sz="1100" dirty="0"/>
              <a:t>Example: 200 CAN/telematics features → 10 components representing ‘drive style’, ‘load’, ‘thermal regime’, and ‘road roughness’. Then cluster vehicles or detect anomalies.</a:t>
            </a:r>
            <a:br>
              <a:rPr dirty="0"/>
            </a:br>
            <a:br>
              <a:rPr dirty="0"/>
            </a:br>
            <a:r>
              <a:rPr sz="1100" dirty="0"/>
              <a:t>Engage: Quick ask: In your work, what is the ‘latent thing’ you wish you could measure directly—quality, health, stress, or driver behavior?</a:t>
            </a:r>
            <a:endParaRPr dirty="0"/>
          </a:p>
        </p:txBody>
      </p:sp>
      <p:sp>
        <p:nvSpPr>
          <p:cNvPr id="434" name="Google Shape;4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452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360"/>
              </a:spcBef>
              <a:spcAft>
                <a:spcPts val="0"/>
              </a:spcAft>
              <a:buClrTx/>
              <a:buSzTx/>
              <a:buFontTx/>
              <a:buNone/>
              <a:tabLst/>
              <a:defRPr/>
            </a:pPr>
            <a:r>
              <a:rPr sz="1100" dirty="0"/>
              <a:t>We’re learning how to replace many raw variables with a few informative summaries.</a:t>
            </a:r>
            <a:br>
              <a:rPr dirty="0"/>
            </a:br>
            <a:br>
              <a:rPr dirty="0"/>
            </a:br>
            <a:r>
              <a:rPr sz="1100" dirty="0"/>
              <a:t>Imagine you’re looking at a vehicle with 300 dials on the dashboard. No driver can use that.</a:t>
            </a:r>
            <a:br>
              <a:rPr dirty="0"/>
            </a:br>
            <a:r>
              <a:rPr sz="1100" dirty="0"/>
              <a:t>Factor/component analysis builds a new dashboard with maybe 5–20 needles that summarize the car’s state.</a:t>
            </a:r>
            <a:br>
              <a:rPr dirty="0"/>
            </a:br>
            <a:r>
              <a:rPr sz="1100" dirty="0"/>
              <a:t>Those needles are weighted mixes of many sensors—so the ‘needle’ moves when the underlying phenomenon changes.</a:t>
            </a:r>
            <a:br>
              <a:rPr dirty="0"/>
            </a:br>
            <a:endParaRPr dirty="0"/>
          </a:p>
        </p:txBody>
      </p:sp>
      <p:sp>
        <p:nvSpPr>
          <p:cNvPr id="447" name="Google Shape;4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6228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FCDF5C-E1D3-47CD-BF56-551A58961B8F}" type="slidenum">
              <a:rPr lang="en-US"/>
              <a:pPr/>
              <a:t>3</a:t>
            </a:fld>
            <a:endParaRPr lang="en-US"/>
          </a:p>
        </p:txBody>
      </p:sp>
      <p:sp>
        <p:nvSpPr>
          <p:cNvPr id="642050"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6420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dirty="0"/>
            </a:br>
            <a:endParaRPr dirty="0"/>
          </a:p>
        </p:txBody>
      </p:sp>
    </p:spTree>
    <p:extLst>
      <p:ext uri="{BB962C8B-B14F-4D97-AF65-F5344CB8AC3E}">
        <p14:creationId xmlns:p14="http://schemas.microsoft.com/office/powerpoint/2010/main" val="3775224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1CD745-E7E6-4B6D-8632-99BA2404060F}" type="slidenum">
              <a:rPr lang="en-US"/>
              <a:pPr/>
              <a:t>4</a:t>
            </a:fld>
            <a:endParaRPr lang="en-US"/>
          </a:p>
        </p:txBody>
      </p:sp>
      <p:sp>
        <p:nvSpPr>
          <p:cNvPr id="631810"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6318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Intuition behind why PCA / factor analysis works at all.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first idea is </a:t>
            </a:r>
            <a:r>
              <a:rPr lang="en-US" sz="1200" b="1" i="0" kern="1200" dirty="0">
                <a:solidFill>
                  <a:schemeClr val="tx1"/>
                </a:solidFill>
                <a:effectLst/>
                <a:latin typeface="+mn-lt"/>
                <a:ea typeface="+mn-ea"/>
                <a:cs typeface="+mn-cs"/>
              </a:rPr>
              <a:t>variance</a:t>
            </a:r>
            <a:r>
              <a:rPr lang="en-US" sz="1200" b="0" i="0" kern="1200" dirty="0">
                <a:solidFill>
                  <a:schemeClr val="tx1"/>
                </a:solidFill>
                <a:effectLst/>
                <a:latin typeface="+mn-lt"/>
                <a:ea typeface="+mn-ea"/>
                <a:cs typeface="+mn-cs"/>
              </a:rPr>
              <a:t>: the parts of the data where values change a lot are often where the </a:t>
            </a:r>
            <a:r>
              <a:rPr lang="en-US" sz="1200" b="1" i="0" kern="1200" dirty="0">
                <a:solidFill>
                  <a:schemeClr val="tx1"/>
                </a:solidFill>
                <a:effectLst/>
                <a:latin typeface="+mn-lt"/>
                <a:ea typeface="+mn-ea"/>
                <a:cs typeface="+mn-cs"/>
              </a:rPr>
              <a:t>signal lives</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If a feature hardly changes across vehicles or parts, it can’t help you tell anything apart. But if it changes strongly across conditions—like load, road, temperature, or defect severity—then it helps us </a:t>
            </a:r>
            <a:r>
              <a:rPr lang="en-US" sz="1200" b="1" i="0" kern="1200" dirty="0">
                <a:solidFill>
                  <a:schemeClr val="tx1"/>
                </a:solidFill>
                <a:effectLst/>
                <a:latin typeface="+mn-lt"/>
                <a:ea typeface="+mn-ea"/>
                <a:cs typeface="+mn-cs"/>
              </a:rPr>
              <a:t>discriminate</a:t>
            </a:r>
            <a:r>
              <a:rPr lang="en-US" sz="1200" b="0" i="0" kern="1200" dirty="0">
                <a:solidFill>
                  <a:schemeClr val="tx1"/>
                </a:solidFill>
                <a:effectLst/>
                <a:latin typeface="+mn-lt"/>
                <a:ea typeface="+mn-ea"/>
                <a:cs typeface="+mn-cs"/>
              </a:rPr>
              <a:t> between cases and observe the underlying phenomenon</a:t>
            </a: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second idea is </a:t>
            </a:r>
            <a:r>
              <a:rPr lang="en-US" sz="1200" b="1" i="0" kern="1200" dirty="0">
                <a:solidFill>
                  <a:schemeClr val="tx1"/>
                </a:solidFill>
                <a:effectLst/>
                <a:latin typeface="+mn-lt"/>
                <a:ea typeface="+mn-ea"/>
                <a:cs typeface="+mn-cs"/>
              </a:rPr>
              <a:t>correlation</a:t>
            </a:r>
            <a:r>
              <a:rPr lang="en-US" sz="1200" b="0" i="0" kern="1200" dirty="0">
                <a:solidFill>
                  <a:schemeClr val="tx1"/>
                </a:solidFill>
                <a:effectLst/>
                <a:latin typeface="+mn-lt"/>
                <a:ea typeface="+mn-ea"/>
                <a:cs typeface="+mn-cs"/>
              </a:rPr>
              <a:t>. If two variables are highly correlated, it usually means they’re reacting to the same underlying cause.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For example, in fleet telematics, speed and RPM can be correlated; in manufacturing, two dimensions might move together due to the same fixture misalignment; in EVs, temperature rise and internal resistance indicators can rise together.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If two variables are basically telling the same story, keeping both is like asking the same question twice.</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We’re building a compressed but useful representation.</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Variance tells us where differences exist; differences are where learning happens.</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Signal is repeatable structure; noise is random wiggle.</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Correlation is a clue that two sensors are reacting to the same hidden knob.</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Instead of two overlapping features, I’ll make one clean summary feature.</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Simpler often generalizes better.</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Keep the big, unique directions; drop the small, repetitive ones.</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We’re building a compressed but useful representation.</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313207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78E831-4828-4757-B50F-20E53A0210C1}" type="slidenum">
              <a:rPr lang="en-US"/>
              <a:pPr/>
              <a:t>5</a:t>
            </a:fld>
            <a:endParaRPr lang="en-US"/>
          </a:p>
        </p:txBody>
      </p:sp>
      <p:sp>
        <p:nvSpPr>
          <p:cNvPr id="633858"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6338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288790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3295E2-2195-457C-A5AA-6736994AF62E}" type="slidenum">
              <a:rPr lang="en-US"/>
              <a:pPr/>
              <a:t>6</a:t>
            </a:fld>
            <a:endParaRPr lang="en-US"/>
          </a:p>
        </p:txBody>
      </p:sp>
      <p:sp>
        <p:nvSpPr>
          <p:cNvPr id="625666"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6256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fontAlgn="t"/>
            <a:r>
              <a:rPr lang="en-US" sz="1200" b="0" i="0" kern="1200" dirty="0">
                <a:solidFill>
                  <a:schemeClr val="tx1"/>
                </a:solidFill>
                <a:effectLst/>
                <a:latin typeface="+mn-lt"/>
                <a:ea typeface="+mn-ea"/>
                <a:cs typeface="+mn-cs"/>
              </a:rPr>
              <a:t>we often want to study phenomena we </a:t>
            </a:r>
            <a:r>
              <a:rPr lang="en-US" sz="1200" b="1" i="0" kern="1200" dirty="0">
                <a:solidFill>
                  <a:schemeClr val="tx1"/>
                </a:solidFill>
                <a:effectLst/>
                <a:latin typeface="+mn-lt"/>
                <a:ea typeface="+mn-ea"/>
                <a:cs typeface="+mn-cs"/>
              </a:rPr>
              <a:t>cannot directly observe</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In psychology examples they mention personality or intelligence; in engineering and automotive we have similar ‘latent’ concepts:</a:t>
            </a:r>
          </a:p>
          <a:p>
            <a:pPr fontAlgn="t"/>
            <a:r>
              <a:rPr lang="en-US" sz="1200" b="0" i="0" kern="1200" dirty="0">
                <a:solidFill>
                  <a:schemeClr val="tx1"/>
                </a:solidFill>
                <a:effectLst/>
                <a:latin typeface="+mn-lt"/>
                <a:ea typeface="+mn-ea"/>
                <a:cs typeface="+mn-cs"/>
              </a:rPr>
              <a:t>‘assembly quality’ isn’t a single sensor</a:t>
            </a:r>
          </a:p>
          <a:p>
            <a:pPr fontAlgn="t"/>
            <a:r>
              <a:rPr lang="en-US" sz="1200" b="0" i="0" kern="1200" dirty="0">
                <a:solidFill>
                  <a:schemeClr val="tx1"/>
                </a:solidFill>
                <a:effectLst/>
                <a:latin typeface="+mn-lt"/>
                <a:ea typeface="+mn-ea"/>
                <a:cs typeface="+mn-cs"/>
              </a:rPr>
              <a:t>‘driver aggressiveness’ isn’t one variable</a:t>
            </a:r>
          </a:p>
          <a:p>
            <a:pPr fontAlgn="t"/>
            <a:r>
              <a:rPr lang="en-US" sz="1200" b="0" i="0" kern="1200" dirty="0">
                <a:solidFill>
                  <a:schemeClr val="tx1"/>
                </a:solidFill>
                <a:effectLst/>
                <a:latin typeface="+mn-lt"/>
                <a:ea typeface="+mn-ea"/>
                <a:cs typeface="+mn-cs"/>
              </a:rPr>
              <a:t>‘battery health’ isn’t one measurement</a:t>
            </a:r>
          </a:p>
          <a:p>
            <a:pPr fontAlgn="t"/>
            <a:r>
              <a:rPr lang="en-US" sz="1200" b="0" i="0" kern="1200" dirty="0">
                <a:solidFill>
                  <a:schemeClr val="tx1"/>
                </a:solidFill>
                <a:effectLst/>
                <a:latin typeface="+mn-lt"/>
                <a:ea typeface="+mn-ea"/>
                <a:cs typeface="+mn-cs"/>
              </a:rPr>
              <a:t>‘ride comfort’ isn’t captured by one number</a:t>
            </a:r>
          </a:p>
          <a:p>
            <a:pPr fontAlgn="t"/>
            <a:r>
              <a:rPr lang="en-US" sz="1200" b="0" i="0" kern="1200" dirty="0">
                <a:solidFill>
                  <a:schemeClr val="tx1"/>
                </a:solidFill>
                <a:effectLst/>
                <a:latin typeface="+mn-lt"/>
                <a:ea typeface="+mn-ea"/>
                <a:cs typeface="+mn-cs"/>
              </a:rPr>
              <a:t>Instead, these are underlying factors that govern many observed variables.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So, we want to identify these latent factors and work with them rather than raw signals.</a:t>
            </a:r>
          </a:p>
          <a:p>
            <a:endParaRPr lang="en-US" dirty="0"/>
          </a:p>
        </p:txBody>
      </p:sp>
    </p:spTree>
    <p:extLst>
      <p:ext uri="{BB962C8B-B14F-4D97-AF65-F5344CB8AC3E}">
        <p14:creationId xmlns:p14="http://schemas.microsoft.com/office/powerpoint/2010/main" val="2034187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2F7DC7-D0C6-4D99-B4FD-764C9E42C093}" type="slidenum">
              <a:rPr lang="en-US"/>
              <a:pPr/>
              <a:t>7</a:t>
            </a:fld>
            <a:endParaRPr lang="en-US"/>
          </a:p>
        </p:txBody>
      </p:sp>
      <p:sp>
        <p:nvSpPr>
          <p:cNvPr id="640002"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6400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fontAlgn="t"/>
            <a:r>
              <a:rPr lang="en-US" sz="1200" b="0" i="0" kern="1200" dirty="0">
                <a:solidFill>
                  <a:schemeClr val="tx1"/>
                </a:solidFill>
                <a:effectLst/>
                <a:latin typeface="+mn-lt"/>
                <a:ea typeface="+mn-ea"/>
                <a:cs typeface="+mn-cs"/>
              </a:rPr>
              <a:t>we often have </a:t>
            </a:r>
            <a:r>
              <a:rPr lang="en-US" sz="1200" b="1" i="0" kern="1200" dirty="0">
                <a:solidFill>
                  <a:schemeClr val="tx1"/>
                </a:solidFill>
                <a:effectLst/>
                <a:latin typeface="+mn-lt"/>
                <a:ea typeface="+mn-ea"/>
                <a:cs typeface="+mn-cs"/>
              </a:rPr>
              <a:t>too many observations and too many dimensions</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Too many dimensions makes it hard to reason about the data, hard to visualize, and it can make models fragile because noise and redundancy increase.</a:t>
            </a:r>
          </a:p>
          <a:p>
            <a:pPr fontAlgn="t"/>
            <a:r>
              <a:rPr lang="en-US" sz="1200" b="0" i="0" kern="1200" dirty="0">
                <a:solidFill>
                  <a:schemeClr val="tx1"/>
                </a:solidFill>
                <a:effectLst/>
                <a:latin typeface="+mn-lt"/>
                <a:ea typeface="+mn-ea"/>
                <a:cs typeface="+mn-cs"/>
              </a:rPr>
              <a:t>Dimensionality reduction gives us a smaller set of factors that still retains most information.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helps in three direct ways:</a:t>
            </a:r>
          </a:p>
          <a:p>
            <a:pPr fontAlgn="t"/>
            <a:r>
              <a:rPr lang="en-US" sz="1200" b="1" i="0" kern="1200" dirty="0">
                <a:solidFill>
                  <a:schemeClr val="tx1"/>
                </a:solidFill>
                <a:effectLst/>
                <a:latin typeface="+mn-lt"/>
                <a:ea typeface="+mn-ea"/>
                <a:cs typeface="+mn-cs"/>
              </a:rPr>
              <a:t>Reasoning</a:t>
            </a:r>
            <a:r>
              <a:rPr lang="en-US" sz="1200" b="0" i="0" kern="1200" dirty="0">
                <a:solidFill>
                  <a:schemeClr val="tx1"/>
                </a:solidFill>
                <a:effectLst/>
                <a:latin typeface="+mn-lt"/>
                <a:ea typeface="+mn-ea"/>
                <a:cs typeface="+mn-cs"/>
              </a:rPr>
              <a:t>: we can understand what’s driving variation.</a:t>
            </a:r>
          </a:p>
          <a:p>
            <a:pPr fontAlgn="t"/>
            <a:r>
              <a:rPr lang="en-US" sz="1200" b="1" i="0" kern="1200" dirty="0">
                <a:solidFill>
                  <a:schemeClr val="tx1"/>
                </a:solidFill>
                <a:effectLst/>
                <a:latin typeface="+mn-lt"/>
                <a:ea typeface="+mn-ea"/>
                <a:cs typeface="+mn-cs"/>
              </a:rPr>
              <a:t>Visualization</a:t>
            </a:r>
            <a:r>
              <a:rPr lang="en-US" sz="1200" b="0" i="0" kern="1200" dirty="0">
                <a:solidFill>
                  <a:schemeClr val="tx1"/>
                </a:solidFill>
                <a:effectLst/>
                <a:latin typeface="+mn-lt"/>
                <a:ea typeface="+mn-ea"/>
                <a:cs typeface="+mn-cs"/>
              </a:rPr>
              <a:t>: we can plot 2D/3D and see clusters, drift, and anomalies.</a:t>
            </a:r>
          </a:p>
          <a:p>
            <a:pPr fontAlgn="t"/>
            <a:r>
              <a:rPr lang="en-US" sz="1200" b="1" i="0" kern="1200" dirty="0">
                <a:solidFill>
                  <a:schemeClr val="tx1"/>
                </a:solidFill>
                <a:effectLst/>
                <a:latin typeface="+mn-lt"/>
                <a:ea typeface="+mn-ea"/>
                <a:cs typeface="+mn-cs"/>
              </a:rPr>
              <a:t>Modeling</a:t>
            </a:r>
            <a:r>
              <a:rPr lang="en-US" sz="1200" b="0" i="0" kern="1200" dirty="0">
                <a:solidFill>
                  <a:schemeClr val="tx1"/>
                </a:solidFill>
                <a:effectLst/>
                <a:latin typeface="+mn-lt"/>
                <a:ea typeface="+mn-ea"/>
                <a:cs typeface="+mn-cs"/>
              </a:rPr>
              <a:t>: we can build better classification, clustering, and pattern recognition in reduced space—often faster and sometimes more accurate.</a:t>
            </a:r>
          </a:p>
          <a:p>
            <a:pPr fontAlgn="t"/>
            <a:r>
              <a:rPr lang="en-US" sz="1200" b="0" i="0" kern="1200" dirty="0">
                <a:solidFill>
                  <a:schemeClr val="tx1"/>
                </a:solidFill>
                <a:effectLst/>
                <a:latin typeface="+mn-lt"/>
                <a:ea typeface="+mn-ea"/>
                <a:cs typeface="+mn-cs"/>
              </a:rPr>
              <a:t>A crucial line at the bottom: ‘combinations of observed variables may be more effective bases for insights even if physical meaning is obscure.’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That’s a mature point: in industry, sometimes the component is not directly interpretable, but if it improves separation of normal vs abnormal, or improves predictive power, it’s still valuable.</a:t>
            </a:r>
          </a:p>
          <a:p>
            <a:endParaRPr lang="en-US" dirty="0"/>
          </a:p>
        </p:txBody>
      </p:sp>
    </p:spTree>
    <p:extLst>
      <p:ext uri="{BB962C8B-B14F-4D97-AF65-F5344CB8AC3E}">
        <p14:creationId xmlns:p14="http://schemas.microsoft.com/office/powerpoint/2010/main" val="3398877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fontAlgn="t"/>
            <a:r>
              <a:rPr lang="en-US" sz="1200" b="0" i="0" kern="1200" dirty="0">
                <a:solidFill>
                  <a:schemeClr val="tx1"/>
                </a:solidFill>
                <a:effectLst/>
                <a:latin typeface="+mn-lt"/>
                <a:ea typeface="+mn-ea"/>
                <a:cs typeface="+mn-cs"/>
              </a:rPr>
              <a:t>Many real datasets have hundreds or thousands of features, but a lot of that is redundancy. PCA finds a new coordinate system where:</a:t>
            </a:r>
          </a:p>
          <a:p>
            <a:pPr fontAlgn="t"/>
            <a:r>
              <a:rPr lang="en-US" sz="1200" b="0" i="0" kern="1200" dirty="0">
                <a:solidFill>
                  <a:schemeClr val="tx1"/>
                </a:solidFill>
                <a:effectLst/>
                <a:latin typeface="+mn-lt"/>
                <a:ea typeface="+mn-ea"/>
                <a:cs typeface="+mn-cs"/>
              </a:rPr>
              <a:t>the first axis captures the biggest variation in the data,</a:t>
            </a:r>
          </a:p>
          <a:p>
            <a:pPr fontAlgn="t"/>
            <a:r>
              <a:rPr lang="en-US" sz="1200" b="0" i="0" kern="1200" dirty="0">
                <a:solidFill>
                  <a:schemeClr val="tx1"/>
                </a:solidFill>
                <a:effectLst/>
                <a:latin typeface="+mn-lt"/>
                <a:ea typeface="+mn-ea"/>
                <a:cs typeface="+mn-cs"/>
              </a:rPr>
              <a:t>the second captures the next biggest variation, and so on.</a:t>
            </a:r>
          </a:p>
          <a:p>
            <a:pPr fontAlgn="t"/>
            <a:r>
              <a:rPr lang="en-US" sz="1200" b="0" i="0" kern="1200" dirty="0">
                <a:solidFill>
                  <a:schemeClr val="tx1"/>
                </a:solidFill>
                <a:effectLst/>
                <a:latin typeface="+mn-lt"/>
                <a:ea typeface="+mn-ea"/>
                <a:cs typeface="+mn-cs"/>
              </a:rPr>
              <a:t>PCA helps in three concrete ways:</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1) Reduce dimensions</a:t>
            </a:r>
            <a:r>
              <a:rPr lang="en-US" sz="1200" b="0" i="0" kern="1200" dirty="0">
                <a:solidFill>
                  <a:schemeClr val="tx1"/>
                </a:solidFill>
                <a:effectLst/>
                <a:latin typeface="+mn-lt"/>
                <a:ea typeface="+mn-ea"/>
                <a:cs typeface="+mn-cs"/>
              </a:rPr>
              <a:t> — instead of 200 features, keep 5–20 components.</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2) Find patterns</a:t>
            </a:r>
            <a:r>
              <a:rPr lang="en-US" sz="1200" b="0" i="0" kern="1200" dirty="0">
                <a:solidFill>
                  <a:schemeClr val="tx1"/>
                </a:solidFill>
                <a:effectLst/>
                <a:latin typeface="+mn-lt"/>
                <a:ea typeface="+mn-ea"/>
                <a:cs typeface="+mn-cs"/>
              </a:rPr>
              <a:t> — the reduced space often reveals natural groupings.</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3) Visualize</a:t>
            </a:r>
            <a:r>
              <a:rPr lang="en-US" sz="1200" b="0" i="0" kern="1200" dirty="0">
                <a:solidFill>
                  <a:schemeClr val="tx1"/>
                </a:solidFill>
                <a:effectLst/>
                <a:latin typeface="+mn-lt"/>
                <a:ea typeface="+mn-ea"/>
                <a:cs typeface="+mn-cs"/>
              </a:rPr>
              <a:t> — plot points in 2D/3D to check structure, anomalies, or separation.</a:t>
            </a:r>
          </a:p>
          <a:p>
            <a:pPr fontAlgn="t"/>
            <a:r>
              <a:rPr lang="en-US" sz="1200" b="0" i="0" kern="1200" dirty="0">
                <a:solidFill>
                  <a:schemeClr val="tx1"/>
                </a:solidFill>
                <a:effectLst/>
                <a:latin typeface="+mn-lt"/>
                <a:ea typeface="+mn-ea"/>
                <a:cs typeface="+mn-cs"/>
              </a:rPr>
              <a:t>Imagine:</a:t>
            </a:r>
          </a:p>
          <a:p>
            <a:pPr fontAlgn="t"/>
            <a:r>
              <a:rPr lang="en-US" sz="1200" b="0" i="0" kern="1200" dirty="0">
                <a:solidFill>
                  <a:schemeClr val="tx1"/>
                </a:solidFill>
                <a:effectLst/>
                <a:latin typeface="+mn-lt"/>
                <a:ea typeface="+mn-ea"/>
                <a:cs typeface="+mn-cs"/>
              </a:rPr>
              <a:t>a cluster of vehicles with a certain failure mode,</a:t>
            </a:r>
          </a:p>
          <a:p>
            <a:pPr fontAlgn="t"/>
            <a:r>
              <a:rPr lang="en-US" sz="1200" b="0" i="0" kern="1200" dirty="0">
                <a:solidFill>
                  <a:schemeClr val="tx1"/>
                </a:solidFill>
                <a:effectLst/>
                <a:latin typeface="+mn-lt"/>
                <a:ea typeface="+mn-ea"/>
                <a:cs typeface="+mn-cs"/>
              </a:rPr>
              <a:t>a cluster of driving behavior types,</a:t>
            </a:r>
          </a:p>
          <a:p>
            <a:pPr fontAlgn="t"/>
            <a:r>
              <a:rPr lang="en-US" sz="1200" b="0" i="0" kern="1200" dirty="0">
                <a:solidFill>
                  <a:schemeClr val="tx1"/>
                </a:solidFill>
                <a:effectLst/>
                <a:latin typeface="+mn-lt"/>
                <a:ea typeface="+mn-ea"/>
                <a:cs typeface="+mn-cs"/>
              </a:rPr>
              <a:t>or parts from a supplier batch drifting over time.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PCA helps you see these shapes quickly before you build any supervised model.</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PCA is linear. If the real structure is curved or nonlinear, PCA might not separate it well — that’s where Kernel PCA or manifold methods like LLE come later</a:t>
            </a:r>
          </a:p>
          <a:p>
            <a:pPr fontAlgn="t"/>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dirty="0"/>
              <a:t>PCA finds the directions that capture the most variation, then projects data onto them.</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dirty="0"/>
            </a:br>
            <a:r>
              <a:rPr sz="1100" dirty="0"/>
              <a:t>Quick ask: Which variables in your datasets are obviously redundant or strongly correlated—and what single summary would you replace them with?</a:t>
            </a:r>
            <a:br>
              <a:rPr dirty="0"/>
            </a:br>
            <a:endParaRPr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10</a:t>
            </a:fld>
            <a:endParaRPr lang="en-US"/>
          </a:p>
        </p:txBody>
      </p:sp>
    </p:spTree>
    <p:extLst>
      <p:ext uri="{BB962C8B-B14F-4D97-AF65-F5344CB8AC3E}">
        <p14:creationId xmlns:p14="http://schemas.microsoft.com/office/powerpoint/2010/main" val="1133589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Eigenvectors give candidate directions; eigenvalues tell how important each direction is—like an ‘importance score’ for variance.</a:t>
            </a:r>
          </a:p>
          <a:p>
            <a:endParaRPr lang="en-US" dirty="0"/>
          </a:p>
          <a:p>
            <a:pPr fontAlgn="t"/>
            <a:r>
              <a:rPr lang="en-US" sz="1200" b="0" i="0" kern="1200" dirty="0">
                <a:solidFill>
                  <a:schemeClr val="tx1"/>
                </a:solidFill>
                <a:effectLst/>
                <a:latin typeface="+mn-lt"/>
                <a:ea typeface="+mn-ea"/>
                <a:cs typeface="+mn-cs"/>
              </a:rPr>
              <a:t>Suppose each trip is represented by 100 features: speed stats, braking stats, throttle variance, acceleration jerk, idle time, etc.</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PCA might compress this into 3 components:</a:t>
            </a:r>
          </a:p>
          <a:p>
            <a:pPr fontAlgn="t"/>
            <a:r>
              <a:rPr lang="en-US" sz="1200" b="0" i="0" kern="1200" dirty="0">
                <a:solidFill>
                  <a:schemeClr val="tx1"/>
                </a:solidFill>
                <a:effectLst/>
                <a:latin typeface="+mn-lt"/>
                <a:ea typeface="+mn-ea"/>
                <a:cs typeface="+mn-cs"/>
              </a:rPr>
              <a:t>Component 1: ‘Aggressive vs smooth’</a:t>
            </a:r>
          </a:p>
          <a:p>
            <a:pPr fontAlgn="t"/>
            <a:r>
              <a:rPr lang="en-US" sz="1200" b="0" i="0" kern="1200" dirty="0">
                <a:solidFill>
                  <a:schemeClr val="tx1"/>
                </a:solidFill>
                <a:effectLst/>
                <a:latin typeface="+mn-lt"/>
                <a:ea typeface="+mn-ea"/>
                <a:cs typeface="+mn-cs"/>
              </a:rPr>
              <a:t>Component 2: ‘City stop-go vs highway cruising’</a:t>
            </a:r>
          </a:p>
          <a:p>
            <a:pPr fontAlgn="t"/>
            <a:r>
              <a:rPr lang="en-US" sz="1200" b="0" i="0" kern="1200" dirty="0">
                <a:solidFill>
                  <a:schemeClr val="tx1"/>
                </a:solidFill>
                <a:effectLst/>
                <a:latin typeface="+mn-lt"/>
                <a:ea typeface="+mn-ea"/>
                <a:cs typeface="+mn-cs"/>
              </a:rPr>
              <a:t>Component 3: ‘Load/grade/traffic stress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fontAlgn="t"/>
            <a:r>
              <a:rPr lang="en-US" sz="1200" b="1" i="0" kern="1200" dirty="0">
                <a:solidFill>
                  <a:schemeClr val="tx1"/>
                </a:solidFill>
                <a:effectLst/>
                <a:latin typeface="+mn-lt"/>
                <a:ea typeface="+mn-ea"/>
                <a:cs typeface="+mn-cs"/>
              </a:rPr>
              <a:t>variance</a:t>
            </a:r>
            <a:r>
              <a:rPr lang="en-US" sz="1200" b="0" i="0" kern="1200" dirty="0">
                <a:solidFill>
                  <a:schemeClr val="tx1"/>
                </a:solidFill>
                <a:effectLst/>
                <a:latin typeface="+mn-lt"/>
                <a:ea typeface="+mn-ea"/>
                <a:cs typeface="+mn-cs"/>
              </a:rPr>
              <a:t> is the simplest: it tells us how much a </a:t>
            </a:r>
            <a:r>
              <a:rPr lang="en-US" sz="1200" b="1" i="0" kern="1200" dirty="0">
                <a:solidFill>
                  <a:schemeClr val="tx1"/>
                </a:solidFill>
                <a:effectLst/>
                <a:latin typeface="+mn-lt"/>
                <a:ea typeface="+mn-ea"/>
                <a:cs typeface="+mn-cs"/>
              </a:rPr>
              <a:t>single variable</a:t>
            </a:r>
            <a:r>
              <a:rPr lang="en-US" sz="1200" b="0" i="0" kern="1200" dirty="0">
                <a:solidFill>
                  <a:schemeClr val="tx1"/>
                </a:solidFill>
                <a:effectLst/>
                <a:latin typeface="+mn-lt"/>
                <a:ea typeface="+mn-ea"/>
                <a:cs typeface="+mn-cs"/>
              </a:rPr>
              <a:t> changes around its mean.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If a signal barely changes—like a sensor stuck near a constant value—its variance is small, and it usually doesn’t help much for discrimination.</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Now </a:t>
            </a:r>
            <a:r>
              <a:rPr lang="en-US" sz="1200" b="1" i="0" kern="1200" dirty="0">
                <a:solidFill>
                  <a:schemeClr val="tx1"/>
                </a:solidFill>
                <a:effectLst/>
                <a:latin typeface="+mn-lt"/>
                <a:ea typeface="+mn-ea"/>
                <a:cs typeface="+mn-cs"/>
              </a:rPr>
              <a:t>covariance</a:t>
            </a:r>
            <a:r>
              <a:rPr lang="en-US" sz="1200" b="0" i="0" kern="1200" dirty="0">
                <a:solidFill>
                  <a:schemeClr val="tx1"/>
                </a:solidFill>
                <a:effectLst/>
                <a:latin typeface="+mn-lt"/>
                <a:ea typeface="+mn-ea"/>
                <a:cs typeface="+mn-cs"/>
              </a:rPr>
              <a:t> extends this idea to </a:t>
            </a:r>
            <a:r>
              <a:rPr lang="en-US" sz="1200" b="1" i="0" kern="1200" dirty="0">
                <a:solidFill>
                  <a:schemeClr val="tx1"/>
                </a:solidFill>
                <a:effectLst/>
                <a:latin typeface="+mn-lt"/>
                <a:ea typeface="+mn-ea"/>
                <a:cs typeface="+mn-cs"/>
              </a:rPr>
              <a:t>two variables together</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answers: </a:t>
            </a:r>
            <a:r>
              <a:rPr lang="en-US" sz="1200" b="0" i="1" kern="1200" dirty="0">
                <a:solidFill>
                  <a:schemeClr val="tx1"/>
                </a:solidFill>
                <a:effectLst/>
                <a:latin typeface="+mn-lt"/>
                <a:ea typeface="+mn-ea"/>
                <a:cs typeface="+mn-cs"/>
              </a:rPr>
              <a:t>when variable X moves away from its mean, does variable Y also move away from its mean in a consistent way?</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So, covariance is basically: </a:t>
            </a:r>
            <a:r>
              <a:rPr lang="en-US" sz="1200" b="1" i="0" kern="1200" dirty="0">
                <a:solidFill>
                  <a:schemeClr val="tx1"/>
                </a:solidFill>
                <a:effectLst/>
                <a:latin typeface="+mn-lt"/>
                <a:ea typeface="+mn-ea"/>
                <a:cs typeface="+mn-cs"/>
              </a:rPr>
              <a:t>do two variables ‘dance together’?</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If covariance is </a:t>
            </a:r>
            <a:r>
              <a:rPr lang="en-US" sz="1200" b="1" i="0" kern="1200" dirty="0">
                <a:solidFill>
                  <a:schemeClr val="tx1"/>
                </a:solidFill>
                <a:effectLst/>
                <a:latin typeface="+mn-lt"/>
                <a:ea typeface="+mn-ea"/>
                <a:cs typeface="+mn-cs"/>
              </a:rPr>
              <a:t>positive</a:t>
            </a:r>
            <a:r>
              <a:rPr lang="en-US" sz="1200" b="0" i="0" kern="1200" dirty="0">
                <a:solidFill>
                  <a:schemeClr val="tx1"/>
                </a:solidFill>
                <a:effectLst/>
                <a:latin typeface="+mn-lt"/>
                <a:ea typeface="+mn-ea"/>
                <a:cs typeface="+mn-cs"/>
              </a:rPr>
              <a:t>, when X goes up, Y tends to go up too.</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If covariance is </a:t>
            </a:r>
            <a:r>
              <a:rPr lang="en-US" sz="1200" b="1" i="0" kern="1200" dirty="0">
                <a:solidFill>
                  <a:schemeClr val="tx1"/>
                </a:solidFill>
                <a:effectLst/>
                <a:latin typeface="+mn-lt"/>
                <a:ea typeface="+mn-ea"/>
                <a:cs typeface="+mn-cs"/>
              </a:rPr>
              <a:t>negative</a:t>
            </a:r>
            <a:r>
              <a:rPr lang="en-US" sz="1200" b="0" i="0" kern="1200" dirty="0">
                <a:solidFill>
                  <a:schemeClr val="tx1"/>
                </a:solidFill>
                <a:effectLst/>
                <a:latin typeface="+mn-lt"/>
                <a:ea typeface="+mn-ea"/>
                <a:cs typeface="+mn-cs"/>
              </a:rPr>
              <a:t>, when X goes up, Y tends to go down.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If covariance is near </a:t>
            </a:r>
            <a:r>
              <a:rPr lang="en-US" sz="1200" b="1" i="0" kern="1200" dirty="0">
                <a:solidFill>
                  <a:schemeClr val="tx1"/>
                </a:solidFill>
                <a:effectLst/>
                <a:latin typeface="+mn-lt"/>
                <a:ea typeface="+mn-ea"/>
                <a:cs typeface="+mn-cs"/>
              </a:rPr>
              <a:t>zero</a:t>
            </a:r>
            <a:r>
              <a:rPr lang="en-US" sz="1200" b="0" i="0" kern="1200" dirty="0">
                <a:solidFill>
                  <a:schemeClr val="tx1"/>
                </a:solidFill>
                <a:effectLst/>
                <a:latin typeface="+mn-lt"/>
                <a:ea typeface="+mn-ea"/>
                <a:cs typeface="+mn-cs"/>
              </a:rPr>
              <a:t>, then there’s no strong linear co-movement—at least not linearly.</a:t>
            </a: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covariance of a variable with itself</a:t>
            </a:r>
            <a:r>
              <a:rPr lang="en-US" sz="1200" b="0" i="0" kern="1200" dirty="0">
                <a:solidFill>
                  <a:schemeClr val="tx1"/>
                </a:solidFill>
                <a:effectLst/>
                <a:latin typeface="+mn-lt"/>
                <a:ea typeface="+mn-ea"/>
                <a:cs typeface="+mn-cs"/>
              </a:rPr>
              <a:t> is just </a:t>
            </a:r>
            <a:r>
              <a:rPr lang="en-US" sz="1200" b="1" i="0" kern="1200" dirty="0">
                <a:solidFill>
                  <a:schemeClr val="tx1"/>
                </a:solidFill>
                <a:effectLst/>
                <a:latin typeface="+mn-lt"/>
                <a:ea typeface="+mn-ea"/>
                <a:cs typeface="+mn-cs"/>
              </a:rPr>
              <a:t>variance</a:t>
            </a:r>
            <a:r>
              <a:rPr lang="en-US" sz="1200" b="0" i="0" kern="1200" dirty="0">
                <a:solidFill>
                  <a:schemeClr val="tx1"/>
                </a:solidFill>
                <a:effectLst/>
                <a:latin typeface="+mn-lt"/>
                <a:ea typeface="+mn-ea"/>
                <a:cs typeface="+mn-cs"/>
              </a:rPr>
              <a:t>—because it’s measuring how that one variable varies from its mean</a:t>
            </a:r>
          </a:p>
          <a:p>
            <a:pPr fontAlgn="t"/>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100" dirty="0"/>
              <a:t>PCA creates a new coordinate system and represents each sample by its projections onto the top K directions.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fontAlgn="t"/>
            <a:r>
              <a:rPr lang="en-US" sz="1200" b="0" i="0" kern="1200" dirty="0">
                <a:solidFill>
                  <a:schemeClr val="tx1"/>
                </a:solidFill>
                <a:effectLst/>
                <a:latin typeface="+mn-lt"/>
                <a:ea typeface="+mn-ea"/>
                <a:cs typeface="+mn-cs"/>
              </a:rPr>
              <a:t>We want each component to capture something </a:t>
            </a:r>
            <a:r>
              <a:rPr lang="en-US" sz="1200" b="1" i="0" kern="1200" dirty="0">
                <a:solidFill>
                  <a:schemeClr val="tx1"/>
                </a:solidFill>
                <a:effectLst/>
                <a:latin typeface="+mn-lt"/>
                <a:ea typeface="+mn-ea"/>
                <a:cs typeface="+mn-cs"/>
              </a:rPr>
              <a:t>new</a:t>
            </a:r>
            <a:r>
              <a:rPr lang="en-US" sz="1200" b="0" i="0" kern="1200" dirty="0">
                <a:solidFill>
                  <a:schemeClr val="tx1"/>
                </a:solidFill>
                <a:effectLst/>
                <a:latin typeface="+mn-lt"/>
                <a:ea typeface="+mn-ea"/>
                <a:cs typeface="+mn-cs"/>
              </a:rPr>
              <a:t>, not a repeat of previous components.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That’s why PCA forces basis vectors to be </a:t>
            </a:r>
            <a:r>
              <a:rPr lang="en-US" sz="1200" b="1" i="0" kern="1200" dirty="0">
                <a:solidFill>
                  <a:schemeClr val="tx1"/>
                </a:solidFill>
                <a:effectLst/>
                <a:latin typeface="+mn-lt"/>
                <a:ea typeface="+mn-ea"/>
                <a:cs typeface="+mn-cs"/>
              </a:rPr>
              <a:t>orthogonal</a:t>
            </a:r>
            <a:r>
              <a:rPr lang="en-US" sz="1200" b="0" i="0" kern="1200" dirty="0">
                <a:solidFill>
                  <a:schemeClr val="tx1"/>
                </a:solidFill>
                <a:effectLst/>
                <a:latin typeface="+mn-lt"/>
                <a:ea typeface="+mn-ea"/>
                <a:cs typeface="+mn-cs"/>
              </a:rPr>
              <a:t>: component 2 must not reuse the information already captured by component 1.</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pPr fontAlgn="t"/>
                <a:r>
                  <a:rPr lang="en-US" sz="1200" b="0" i="0" kern="1200" dirty="0">
                    <a:solidFill>
                      <a:schemeClr val="tx1"/>
                    </a:solidFill>
                    <a:effectLst/>
                    <a:latin typeface="+mn-lt"/>
                    <a:ea typeface="+mn-ea"/>
                    <a:cs typeface="+mn-cs"/>
                  </a:rPr>
                  <a:t>First, we compute the empirical mean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𝜇</m:t>
                        </m:r>
                      </m:e>
                      <m:sub>
                        <m:r>
                          <a:rPr lang="ar-AE" sz="1200" i="0" kern="1200">
                            <a:solidFill>
                              <a:schemeClr val="tx1"/>
                            </a:solidFill>
                            <a:latin typeface="Cambria Math" panose="02040503050406030204" pitchFamily="18" charset="0"/>
                            <a:ea typeface="+mn-ea"/>
                            <a:cs typeface="+mn-cs"/>
                          </a:rPr>
                          <m:t>0</m:t>
                        </m:r>
                      </m:sub>
                    </m:sSub>
                  </m:oMath>
                </a14:m>
                <a:r>
                  <a:rPr lang="ar-AE"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basically the ‘average vehicle’ or ‘average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we subtract it so PCA focuses on </a:t>
                </a:r>
                <a:r>
                  <a:rPr lang="en-US" sz="1200" b="1" i="0" kern="1200" dirty="0">
                    <a:solidFill>
                      <a:schemeClr val="tx1"/>
                    </a:solidFill>
                    <a:effectLst/>
                    <a:latin typeface="+mn-lt"/>
                    <a:ea typeface="+mn-ea"/>
                    <a:cs typeface="+mn-cs"/>
                  </a:rPr>
                  <a:t>variation</a:t>
                </a:r>
                <a:r>
                  <a:rPr lang="en-US" sz="1200" b="0" i="0" kern="1200" dirty="0">
                    <a:solidFill>
                      <a:schemeClr val="tx1"/>
                    </a:solidFill>
                    <a:effectLst/>
                    <a:latin typeface="+mn-lt"/>
                    <a:ea typeface="+mn-ea"/>
                    <a:cs typeface="+mn-cs"/>
                  </a:rPr>
                  <a:t>, not absolute levels.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After centering, projecting is just one matrix multiplication: </a:t>
                </a:r>
                <a14:m>
                  <m:oMath xmlns:m="http://schemas.openxmlformats.org/officeDocument/2006/math">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𝑈</m:t>
                        </m:r>
                      </m:e>
                      <m:sup>
                        <m:r>
                          <a:rPr lang="ar-AE" sz="1200" i="1" kern="1200">
                            <a:solidFill>
                              <a:schemeClr val="tx1"/>
                            </a:solidFill>
                            <a:latin typeface="Cambria Math" panose="02040503050406030204" pitchFamily="18" charset="0"/>
                            <a:ea typeface="+mn-ea"/>
                            <a:cs typeface="+mn-cs"/>
                          </a:rPr>
                          <m:t>𝑇</m:t>
                        </m:r>
                      </m:sup>
                    </m:sSup>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𝜇</m:t>
                            </m:r>
                          </m:e>
                          <m:sub>
                            <m:r>
                              <a:rPr lang="ar-AE" sz="1200" i="0" kern="1200">
                                <a:solidFill>
                                  <a:schemeClr val="tx1"/>
                                </a:solidFill>
                                <a:latin typeface="Cambria Math" panose="02040503050406030204" pitchFamily="18" charset="0"/>
                                <a:ea typeface="+mn-ea"/>
                                <a:cs typeface="+mn-cs"/>
                              </a:rPr>
                              <m:t>0</m:t>
                            </m:r>
                          </m:sub>
                        </m:sSub>
                      </m:e>
                    </m:d>
                  </m:oMath>
                </a14:m>
                <a:endParaRPr lang="ar-AE" sz="1200" b="0" i="0" kern="1200" dirty="0">
                  <a:solidFill>
                    <a:schemeClr val="tx1"/>
                  </a:solidFill>
                  <a:effectLst/>
                  <a:latin typeface="+mn-lt"/>
                  <a:ea typeface="+mn-ea"/>
                  <a:cs typeface="+mn-cs"/>
                </a:endParaRPr>
              </a:p>
            </p:txBody>
          </p:sp>
        </mc:Choice>
        <mc:Fallback xmlns="">
          <p:sp>
            <p:nvSpPr>
              <p:cNvPr id="3" name="Notes Placeholder 2"/>
              <p:cNvSpPr>
                <a:spLocks noGrp="1"/>
              </p:cNvSpPr>
              <p:nvPr>
                <p:ph type="body" sz="quarter" idx="3"/>
              </p:nvPr>
            </p:nvSpPr>
            <p:spPr/>
            <p:txBody>
              <a:bodyPr/>
              <a:lstStyle/>
              <a:p>
                <a:pPr fontAlgn="t"/>
                <a:r>
                  <a:rPr lang="en-US" sz="1200" b="0" i="0" kern="1200" dirty="0">
                    <a:solidFill>
                      <a:schemeClr val="tx1"/>
                    </a:solidFill>
                    <a:effectLst/>
                    <a:latin typeface="+mn-lt"/>
                    <a:ea typeface="+mn-ea"/>
                    <a:cs typeface="+mn-cs"/>
                  </a:rPr>
                  <a:t>First, we compute the empirical mean </a:t>
                </a:r>
                <a:r>
                  <a:rPr lang="ar-AE" sz="1200" i="0" kern="1200">
                    <a:solidFill>
                      <a:schemeClr val="tx1"/>
                    </a:solidFill>
                    <a:latin typeface="+mn-lt"/>
                    <a:ea typeface="+mn-ea"/>
                    <a:cs typeface="+mn-cs"/>
                  </a:rPr>
                  <a:t>𝜇_0</a:t>
                </a:r>
                <a:r>
                  <a:rPr lang="ar-AE"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basically the ‘average vehicle’ or ‘average part.’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we subtract it so PCA focuses on </a:t>
                </a:r>
                <a:r>
                  <a:rPr lang="en-US" sz="1200" b="1" i="0" kern="1200" dirty="0">
                    <a:solidFill>
                      <a:schemeClr val="tx1"/>
                    </a:solidFill>
                    <a:effectLst/>
                    <a:latin typeface="+mn-lt"/>
                    <a:ea typeface="+mn-ea"/>
                    <a:cs typeface="+mn-cs"/>
                  </a:rPr>
                  <a:t>variation</a:t>
                </a:r>
                <a:r>
                  <a:rPr lang="en-US" sz="1200" b="0" i="0" kern="1200" dirty="0">
                    <a:solidFill>
                      <a:schemeClr val="tx1"/>
                    </a:solidFill>
                    <a:effectLst/>
                    <a:latin typeface="+mn-lt"/>
                    <a:ea typeface="+mn-ea"/>
                    <a:cs typeface="+mn-cs"/>
                  </a:rPr>
                  <a:t>, not absolute levels.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After centering, projecting is just one matrix multiplication: </a:t>
                </a:r>
                <a:r>
                  <a:rPr lang="ar-AE" sz="1200" i="0" kern="1200">
                    <a:solidFill>
                      <a:schemeClr val="tx1"/>
                    </a:solidFill>
                    <a:latin typeface="+mn-lt"/>
                    <a:ea typeface="+mn-ea"/>
                    <a:cs typeface="+mn-cs"/>
                  </a:rPr>
                  <a:t>𝑈^𝑇 (𝑥−𝜇_0 )</a:t>
                </a:r>
                <a:endParaRPr lang="ar-AE" sz="1200" b="0" i="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DC91BD-F345-4EDF-9D55-524653BC8E75}" type="slidenum">
              <a:rPr lang="en-US"/>
              <a:pPr/>
              <a:t>17</a:t>
            </a:fld>
            <a:endParaRPr lang="en-US"/>
          </a:p>
        </p:txBody>
      </p:sp>
      <p:sp>
        <p:nvSpPr>
          <p:cNvPr id="742402"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742403" name="Rectangle 3"/>
              <p:cNvSpPr>
                <a:spLocks noGrp="1" noChangeArrowheads="1"/>
              </p:cNvSpPr>
              <p:nvPr>
                <p:ph type="body" idx="1"/>
              </p:nvPr>
            </p:nvSpPr>
            <p:spPr/>
            <p:txBody>
              <a:bodyPr/>
              <a:lstStyle/>
              <a:p>
                <a:pPr fontAlgn="t"/>
                <a:r>
                  <a:rPr lang="en-US" sz="1200" b="0" i="0" kern="1200" dirty="0">
                    <a:solidFill>
                      <a:schemeClr val="tx1"/>
                    </a:solidFill>
                    <a:effectLst/>
                    <a:latin typeface="+mn-lt"/>
                    <a:ea typeface="+mn-ea"/>
                    <a:cs typeface="+mn-cs"/>
                  </a:rPr>
                  <a:t>Projection of </a:t>
                </a:r>
                <a14:m>
                  <m:oMath xmlns:m="http://schemas.openxmlformats.org/officeDocument/2006/math">
                    <m:r>
                      <a:rPr lang="en-US" sz="1200" i="1" kern="1200">
                        <a:solidFill>
                          <a:schemeClr val="tx1"/>
                        </a:solidFill>
                        <a:latin typeface="Cambria Math" panose="02040503050406030204" pitchFamily="18" charset="0"/>
                        <a:ea typeface="+mn-ea"/>
                        <a:cs typeface="+mn-cs"/>
                      </a:rPr>
                      <m:t>𝑥</m:t>
                    </m:r>
                  </m:oMath>
                </a14:m>
                <a:r>
                  <a:rPr lang="en-US" sz="1200" b="0" i="0" kern="1200" dirty="0">
                    <a:solidFill>
                      <a:schemeClr val="tx1"/>
                    </a:solidFill>
                    <a:effectLst/>
                    <a:latin typeface="+mn-lt"/>
                    <a:ea typeface="+mn-ea"/>
                    <a:cs typeface="+mn-cs"/>
                  </a:rPr>
                  <a:t>onto direction </a:t>
                </a:r>
                <a14:m>
                  <m:oMath xmlns:m="http://schemas.openxmlformats.org/officeDocument/2006/math">
                    <m:r>
                      <a:rPr lang="en-US" sz="1200" i="1" kern="1200">
                        <a:solidFill>
                          <a:schemeClr val="tx1"/>
                        </a:solidFill>
                        <a:latin typeface="Cambria Math" panose="02040503050406030204" pitchFamily="18" charset="0"/>
                        <a:ea typeface="+mn-ea"/>
                        <a:cs typeface="+mn-cs"/>
                      </a:rPr>
                      <m:t>𝑢</m:t>
                    </m:r>
                  </m:oMath>
                </a14:m>
                <a:r>
                  <a:rPr lang="en-US" sz="1200" b="0" i="0" kern="1200" dirty="0">
                    <a:solidFill>
                      <a:schemeClr val="tx1"/>
                    </a:solidFill>
                    <a:effectLst/>
                    <a:latin typeface="+mn-lt"/>
                    <a:ea typeface="+mn-ea"/>
                    <a:cs typeface="+mn-cs"/>
                  </a:rPr>
                  <a:t>is </a:t>
                </a:r>
                <a14:m>
                  <m:oMath xmlns:m="http://schemas.openxmlformats.org/officeDocument/2006/math">
                    <m:r>
                      <a:rPr lang="en-US" sz="1200" i="1" kern="1200">
                        <a:solidFill>
                          <a:schemeClr val="tx1"/>
                        </a:solidFill>
                        <a:latin typeface="Cambria Math" panose="02040503050406030204" pitchFamily="18" charset="0"/>
                        <a:ea typeface="+mn-ea"/>
                        <a:cs typeface="+mn-cs"/>
                      </a:rPr>
                      <m:t>𝑢</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𝑥</m:t>
                    </m:r>
                  </m:oMath>
                </a14:m>
                <a:r>
                  <a:rPr lang="en-US" sz="1200" b="0" i="0" kern="1200" dirty="0">
                    <a:solidFill>
                      <a:schemeClr val="tx1"/>
                    </a:solidFill>
                    <a:effectLst/>
                    <a:latin typeface="+mn-lt"/>
                    <a:ea typeface="+mn-ea"/>
                    <a:cs typeface="+mn-cs"/>
                  </a:rPr>
                  <a:t>. </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Largest eigenvector = first principal component</a:t>
                </a:r>
                <a:r>
                  <a:rPr lang="en-US" sz="1200" b="0" i="0" kern="1200" dirty="0">
                    <a:solidFill>
                      <a:schemeClr val="tx1"/>
                    </a:solidFill>
                    <a:effectLst/>
                    <a:latin typeface="+mn-lt"/>
                    <a:ea typeface="+mn-ea"/>
                    <a:cs typeface="+mn-cs"/>
                  </a:rPr>
                  <a:t>. </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Eigenvalue = variance captured</a:t>
                </a:r>
                <a:r>
                  <a:rPr lang="en-US" sz="1200" b="0" i="0" kern="1200" dirty="0">
                    <a:solidFill>
                      <a:schemeClr val="tx1"/>
                    </a:solidFill>
                    <a:effectLst/>
                    <a:latin typeface="+mn-lt"/>
                    <a:ea typeface="+mn-ea"/>
                    <a:cs typeface="+mn-cs"/>
                  </a:rPr>
                  <a:t> along that component.</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why does PCA pick those axes?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PCA is literally asking: </a:t>
                </a:r>
                <a:r>
                  <a:rPr lang="en-US" sz="1200" b="0" i="1" kern="1200" dirty="0">
                    <a:solidFill>
                      <a:schemeClr val="tx1"/>
                    </a:solidFill>
                    <a:effectLst/>
                    <a:latin typeface="+mn-lt"/>
                    <a:ea typeface="+mn-ea"/>
                    <a:cs typeface="+mn-cs"/>
                  </a:rPr>
                  <a:t>which direction gives the biggest spread when I project data onto it?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Because bigger spread usually means better discrimination and more signal.</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So: eigenvector gives the direction, eigenvalue tells the importance.”</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mc:Choice>
        <mc:Fallback xmlns="">
          <p:sp>
            <p:nvSpPr>
              <p:cNvPr id="742403" name="Rectangle 3"/>
              <p:cNvSpPr>
                <a:spLocks noGrp="1" noChangeArrowheads="1"/>
              </p:cNvSpPr>
              <p:nvPr>
                <p:ph type="body" idx="1"/>
              </p:nvPr>
            </p:nvSpPr>
            <p:spPr/>
            <p:txBody>
              <a:bodyPr/>
              <a:lstStyle/>
              <a:p>
                <a:pPr fontAlgn="t"/>
                <a:r>
                  <a:rPr lang="en-US" sz="1200" b="0" i="0" kern="1200" dirty="0">
                    <a:solidFill>
                      <a:schemeClr val="tx1"/>
                    </a:solidFill>
                    <a:effectLst/>
                    <a:latin typeface="+mn-lt"/>
                    <a:ea typeface="+mn-ea"/>
                    <a:cs typeface="+mn-cs"/>
                  </a:rPr>
                  <a:t>Projection of </a:t>
                </a:r>
                <a:r>
                  <a:rPr lang="en-US" sz="1200" i="0" kern="1200">
                    <a:solidFill>
                      <a:schemeClr val="tx1"/>
                    </a:solidFill>
                    <a:latin typeface="+mn-lt"/>
                    <a:ea typeface="+mn-ea"/>
                    <a:cs typeface="+mn-cs"/>
                  </a:rPr>
                  <a:t>𝑥</a:t>
                </a:r>
                <a:r>
                  <a:rPr lang="en-US" sz="1200" b="0" i="0" kern="1200" dirty="0">
                    <a:solidFill>
                      <a:schemeClr val="tx1"/>
                    </a:solidFill>
                    <a:effectLst/>
                    <a:latin typeface="+mn-lt"/>
                    <a:ea typeface="+mn-ea"/>
                    <a:cs typeface="+mn-cs"/>
                  </a:rPr>
                  <a:t>onto direction </a:t>
                </a:r>
                <a:r>
                  <a:rPr lang="en-US" sz="1200" i="0" kern="1200">
                    <a:solidFill>
                      <a:schemeClr val="tx1"/>
                    </a:solidFill>
                    <a:latin typeface="+mn-lt"/>
                    <a:ea typeface="+mn-ea"/>
                    <a:cs typeface="+mn-cs"/>
                  </a:rPr>
                  <a:t>𝑢</a:t>
                </a:r>
                <a:r>
                  <a:rPr lang="en-US" sz="1200" b="0" i="0" kern="1200" dirty="0">
                    <a:solidFill>
                      <a:schemeClr val="tx1"/>
                    </a:solidFill>
                    <a:effectLst/>
                    <a:latin typeface="+mn-lt"/>
                    <a:ea typeface="+mn-ea"/>
                    <a:cs typeface="+mn-cs"/>
                  </a:rPr>
                  <a:t>is </a:t>
                </a:r>
                <a:r>
                  <a:rPr lang="en-US" sz="1200" i="0" kern="1200">
                    <a:solidFill>
                      <a:schemeClr val="tx1"/>
                    </a:solidFill>
                    <a:latin typeface="+mn-lt"/>
                    <a:ea typeface="+mn-ea"/>
                    <a:cs typeface="+mn-cs"/>
                  </a:rPr>
                  <a:t>𝑢⋅𝑥</a:t>
                </a:r>
                <a:r>
                  <a:rPr lang="en-US" sz="1200" b="0" i="0" kern="1200" dirty="0">
                    <a:solidFill>
                      <a:schemeClr val="tx1"/>
                    </a:solidFill>
                    <a:effectLst/>
                    <a:latin typeface="+mn-lt"/>
                    <a:ea typeface="+mn-ea"/>
                    <a:cs typeface="+mn-cs"/>
                  </a:rPr>
                  <a:t>. </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Largest eigenvector = first principal component</a:t>
                </a:r>
                <a:r>
                  <a:rPr lang="en-US" sz="1200" b="0" i="0" kern="1200" dirty="0">
                    <a:solidFill>
                      <a:schemeClr val="tx1"/>
                    </a:solidFill>
                    <a:effectLst/>
                    <a:latin typeface="+mn-lt"/>
                    <a:ea typeface="+mn-ea"/>
                    <a:cs typeface="+mn-cs"/>
                  </a:rPr>
                  <a:t>. </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Eigenvalue = variance captured</a:t>
                </a:r>
                <a:r>
                  <a:rPr lang="en-US" sz="1200" b="0" i="0" kern="1200" dirty="0">
                    <a:solidFill>
                      <a:schemeClr val="tx1"/>
                    </a:solidFill>
                    <a:effectLst/>
                    <a:latin typeface="+mn-lt"/>
                    <a:ea typeface="+mn-ea"/>
                    <a:cs typeface="+mn-cs"/>
                  </a:rPr>
                  <a:t> along that component.</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why does PCA pick those axes?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PCA is literally asking: </a:t>
                </a:r>
                <a:r>
                  <a:rPr lang="en-US" sz="1200" b="0" i="1" kern="1200" dirty="0">
                    <a:solidFill>
                      <a:schemeClr val="tx1"/>
                    </a:solidFill>
                    <a:effectLst/>
                    <a:latin typeface="+mn-lt"/>
                    <a:ea typeface="+mn-ea"/>
                    <a:cs typeface="+mn-cs"/>
                  </a:rPr>
                  <a:t>which direction gives the biggest spread when I project data onto it?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Because bigger spread usually means better discrimination and more signal.</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So: eigenvector gives the direction, eigenvalue tells the importance.”</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p:txBody>
          </p:sp>
        </mc:Fallback>
      </mc:AlternateContent>
    </p:spTree>
    <p:extLst>
      <p:ext uri="{BB962C8B-B14F-4D97-AF65-F5344CB8AC3E}">
        <p14:creationId xmlns:p14="http://schemas.microsoft.com/office/powerpoint/2010/main" val="3108758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55C4DB-6E98-47CA-BEF7-DDBEA80168C3}" type="slidenum">
              <a:rPr lang="en-US"/>
              <a:pPr/>
              <a:t>18</a:t>
            </a:fld>
            <a:endParaRPr lang="en-US"/>
          </a:p>
        </p:txBody>
      </p:sp>
      <p:sp>
        <p:nvSpPr>
          <p:cNvPr id="748546"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mc:AlternateContent xmlns:mc="http://schemas.openxmlformats.org/markup-compatibility/2006" xmlns:a14="http://schemas.microsoft.com/office/drawing/2010/main">
        <mc:Choice Requires="a14">
          <p:sp>
            <p:nvSpPr>
              <p:cNvPr id="7485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We want the direction </a:t>
                </a:r>
                <a14:m>
                  <m:oMath xmlns:m="http://schemas.openxmlformats.org/officeDocument/2006/math">
                    <m:r>
                      <a:rPr lang="en-US" sz="1200" i="1" kern="1200">
                        <a:solidFill>
                          <a:schemeClr val="tx1"/>
                        </a:solidFill>
                        <a:latin typeface="Cambria Math" panose="02040503050406030204" pitchFamily="18" charset="0"/>
                        <a:ea typeface="+mn-ea"/>
                        <a:cs typeface="+mn-cs"/>
                      </a:rPr>
                      <m:t>𝑢</m:t>
                    </m:r>
                  </m:oMath>
                </a14:m>
                <a:r>
                  <a:rPr lang="en-US" sz="1200" b="0" i="0" kern="1200" dirty="0">
                    <a:solidFill>
                      <a:schemeClr val="tx1"/>
                    </a:solidFill>
                    <a:effectLst/>
                    <a:latin typeface="+mn-lt"/>
                    <a:ea typeface="+mn-ea"/>
                    <a:cs typeface="+mn-cs"/>
                  </a:rPr>
                  <a:t>that maximizes variance, but we must constrain </a:t>
                </a:r>
                <a14:m>
                  <m:oMath xmlns:m="http://schemas.openxmlformats.org/officeDocument/2006/math">
                    <m:r>
                      <a:rPr lang="en-US" sz="1200" i="1" kern="1200">
                        <a:solidFill>
                          <a:schemeClr val="tx1"/>
                        </a:solidFill>
                        <a:latin typeface="Cambria Math" panose="02040503050406030204" pitchFamily="18" charset="0"/>
                        <a:ea typeface="+mn-ea"/>
                        <a:cs typeface="+mn-cs"/>
                      </a:rPr>
                      <m:t>𝑢</m:t>
                    </m:r>
                  </m:oMath>
                </a14:m>
                <a:r>
                  <a:rPr lang="en-US" sz="1200" b="0" i="0" kern="1200" dirty="0">
                    <a:solidFill>
                      <a:schemeClr val="tx1"/>
                    </a:solidFill>
                    <a:effectLst/>
                    <a:latin typeface="+mn-lt"/>
                    <a:ea typeface="+mn-ea"/>
                    <a:cs typeface="+mn-cs"/>
                  </a:rPr>
                  <a:t>to unit length, otherwise the objective can grow forever.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you solve this constrained optimization using Lagrange multipliers, you naturally end up with the eigenvector equation.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So eigenvectors aren’t random — they are the </a:t>
                </a:r>
                <a:r>
                  <a:rPr lang="en-US" sz="1200" b="0" i="1" kern="1200" dirty="0">
                    <a:solidFill>
                      <a:schemeClr val="tx1"/>
                    </a:solidFill>
                    <a:effectLst/>
                    <a:latin typeface="+mn-lt"/>
                    <a:ea typeface="+mn-ea"/>
                    <a:cs typeface="+mn-cs"/>
                  </a:rPr>
                  <a:t>optimal solution</a:t>
                </a:r>
                <a:r>
                  <a:rPr lang="en-US" sz="1200" b="0" i="0" kern="1200" dirty="0">
                    <a:solidFill>
                      <a:schemeClr val="tx1"/>
                    </a:solidFill>
                    <a:effectLst/>
                    <a:latin typeface="+mn-lt"/>
                    <a:ea typeface="+mn-ea"/>
                    <a:cs typeface="+mn-cs"/>
                  </a:rPr>
                  <a:t> to ‘maximize variance with unit-length constraint.’</a:t>
                </a:r>
              </a:p>
              <a:p>
                <a:endParaRPr lang="en-US" dirty="0"/>
              </a:p>
            </p:txBody>
          </p:sp>
        </mc:Choice>
        <mc:Fallback xmlns="">
          <p:sp>
            <p:nvSpPr>
              <p:cNvPr id="7485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We want the direction </a:t>
                </a:r>
                <a:r>
                  <a:rPr lang="en-US" sz="1200" i="0" kern="1200">
                    <a:solidFill>
                      <a:schemeClr val="tx1"/>
                    </a:solidFill>
                    <a:latin typeface="+mn-lt"/>
                    <a:ea typeface="+mn-ea"/>
                    <a:cs typeface="+mn-cs"/>
                  </a:rPr>
                  <a:t>𝑢</a:t>
                </a:r>
                <a:r>
                  <a:rPr lang="en-US" sz="1200" b="0" i="0" kern="1200" dirty="0">
                    <a:solidFill>
                      <a:schemeClr val="tx1"/>
                    </a:solidFill>
                    <a:effectLst/>
                    <a:latin typeface="+mn-lt"/>
                    <a:ea typeface="+mn-ea"/>
                    <a:cs typeface="+mn-cs"/>
                  </a:rPr>
                  <a:t>that maximizes variance, but we must constrain </a:t>
                </a:r>
                <a:r>
                  <a:rPr lang="en-US" sz="1200" i="0" kern="1200">
                    <a:solidFill>
                      <a:schemeClr val="tx1"/>
                    </a:solidFill>
                    <a:latin typeface="+mn-lt"/>
                    <a:ea typeface="+mn-ea"/>
                    <a:cs typeface="+mn-cs"/>
                  </a:rPr>
                  <a:t>𝑢</a:t>
                </a:r>
                <a:r>
                  <a:rPr lang="en-US" sz="1200" b="0" i="0" kern="1200" dirty="0">
                    <a:solidFill>
                      <a:schemeClr val="tx1"/>
                    </a:solidFill>
                    <a:effectLst/>
                    <a:latin typeface="+mn-lt"/>
                    <a:ea typeface="+mn-ea"/>
                    <a:cs typeface="+mn-cs"/>
                  </a:rPr>
                  <a:t>to unit length, otherwise the objective can grow forever.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When you solve this constrained optimization using Lagrange multipliers, you naturally end up with the eigenvector equation.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So eigenvectors aren’t random — they are the </a:t>
                </a:r>
                <a:r>
                  <a:rPr lang="en-US" sz="1200" b="0" i="1" kern="1200" dirty="0">
                    <a:solidFill>
                      <a:schemeClr val="tx1"/>
                    </a:solidFill>
                    <a:effectLst/>
                    <a:latin typeface="+mn-lt"/>
                    <a:ea typeface="+mn-ea"/>
                    <a:cs typeface="+mn-cs"/>
                  </a:rPr>
                  <a:t>optimal solution</a:t>
                </a:r>
                <a:r>
                  <a:rPr lang="en-US" sz="1200" b="0" i="0" kern="1200" dirty="0">
                    <a:solidFill>
                      <a:schemeClr val="tx1"/>
                    </a:solidFill>
                    <a:effectLst/>
                    <a:latin typeface="+mn-lt"/>
                    <a:ea typeface="+mn-ea"/>
                    <a:cs typeface="+mn-cs"/>
                  </a:rPr>
                  <a:t> to ‘maximize variance with unit-length constraint.’</a:t>
                </a:r>
              </a:p>
              <a:p>
                <a:endParaRPr lang="en-US" dirty="0"/>
              </a:p>
            </p:txBody>
          </p:sp>
        </mc:Fallback>
      </mc:AlternateContent>
    </p:spTree>
    <p:extLst>
      <p:ext uri="{BB962C8B-B14F-4D97-AF65-F5344CB8AC3E}">
        <p14:creationId xmlns:p14="http://schemas.microsoft.com/office/powerpoint/2010/main" val="2495451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A7C038-1BC3-4CE4-821D-83C67570797A}" type="slidenum">
              <a:rPr lang="en-US"/>
              <a:pPr/>
              <a:t>19</a:t>
            </a:fld>
            <a:endParaRPr lang="en-US"/>
          </a:p>
        </p:txBody>
      </p:sp>
      <p:sp>
        <p:nvSpPr>
          <p:cNvPr id="750594"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7505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Singular values are </a:t>
            </a:r>
            <a:r>
              <a:rPr lang="en-US" sz="1200" b="1" i="0" kern="1200" dirty="0">
                <a:solidFill>
                  <a:schemeClr val="tx1"/>
                </a:solidFill>
                <a:effectLst/>
                <a:latin typeface="+mn-lt"/>
                <a:ea typeface="+mn-ea"/>
                <a:cs typeface="+mn-cs"/>
              </a:rPr>
              <a:t>square roots of eigenvalues</a:t>
            </a:r>
            <a:r>
              <a:rPr lang="en-US" sz="1200" b="0" i="0" kern="1200" dirty="0">
                <a:solidFill>
                  <a:schemeClr val="tx1"/>
                </a:solidFill>
                <a:effectLst/>
                <a:latin typeface="+mn-lt"/>
                <a:ea typeface="+mn-ea"/>
                <a:cs typeface="+mn-cs"/>
              </a:rPr>
              <a:t>.</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This slide says: in practice we often compute PCA using </a:t>
            </a:r>
            <a:r>
              <a:rPr lang="en-US" sz="1200" b="1" i="0" kern="1200" dirty="0">
                <a:solidFill>
                  <a:schemeClr val="tx1"/>
                </a:solidFill>
                <a:effectLst/>
                <a:latin typeface="+mn-lt"/>
                <a:ea typeface="+mn-ea"/>
                <a:cs typeface="+mn-cs"/>
              </a:rPr>
              <a:t>SVD</a:t>
            </a:r>
            <a:r>
              <a:rPr lang="en-US" sz="1200" b="0" i="0" kern="1200" dirty="0">
                <a:solidFill>
                  <a:schemeClr val="tx1"/>
                </a:solidFill>
                <a:effectLst/>
                <a:latin typeface="+mn-lt"/>
                <a:ea typeface="+mn-ea"/>
                <a:cs typeface="+mn-cs"/>
              </a:rPr>
              <a:t>, not by explicitly forming the covariance matrix.</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Why? SVD is numerically stable and works well when D is huge or N is huge.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key relationship is: PCA and SVD are two views of the same thing.</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Eigenvectors give the principal directions; singular values give the strength of each direction.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If someone remembers one thing: </a:t>
            </a:r>
            <a:r>
              <a:rPr lang="en-US" sz="1200" b="1" i="0" kern="1200" dirty="0">
                <a:solidFill>
                  <a:schemeClr val="tx1"/>
                </a:solidFill>
                <a:effectLst/>
                <a:latin typeface="+mn-lt"/>
                <a:ea typeface="+mn-ea"/>
                <a:cs typeface="+mn-cs"/>
              </a:rPr>
              <a:t>PCA can be implemented via SVD</a:t>
            </a:r>
            <a:r>
              <a:rPr lang="en-US" sz="1200" b="0" i="0" kern="1200" dirty="0">
                <a:solidFill>
                  <a:schemeClr val="tx1"/>
                </a:solidFill>
                <a:effectLst/>
                <a:latin typeface="+mn-lt"/>
                <a:ea typeface="+mn-ea"/>
                <a:cs typeface="+mn-cs"/>
              </a:rPr>
              <a:t> and singular values tell you how much variance each component holds.</a:t>
            </a: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SVD is the practical engine behind PCA, especially at scale.</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877062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BD8F69-C102-4A3F-BDE7-33A7DD88D9C6}" type="slidenum">
              <a:rPr lang="en-US"/>
              <a:pPr/>
              <a:t>20</a:t>
            </a:fld>
            <a:endParaRPr lang="en-US"/>
          </a:p>
        </p:txBody>
      </p:sp>
      <p:sp>
        <p:nvSpPr>
          <p:cNvPr id="743426" name="Rectangle 2"/>
          <p:cNvSpPr>
            <a:spLocks noGrp="1" noRot="1" noChangeAspect="1" noChangeArrowheads="1" noTextEdit="1"/>
          </p:cNvSpPr>
          <p:nvPr>
            <p:ph type="sldImg"/>
          </p:nvPr>
        </p:nvSpPr>
        <p:spPr>
          <a:ln/>
        </p:spPr>
      </p:sp>
      <p:sp>
        <p:nvSpPr>
          <p:cNvPr id="743427" name="Rectangle 3"/>
          <p:cNvSpPr>
            <a:spLocks noGrp="1" noChangeArrowheads="1"/>
          </p:cNvSpPr>
          <p:nvPr>
            <p:ph type="body" idx="1"/>
          </p:nvPr>
        </p:nvSpPr>
        <p:spPr/>
        <p:txBody>
          <a:bodyPr/>
          <a:lstStyle/>
          <a:p>
            <a:pPr fontAlgn="t"/>
            <a:r>
              <a:rPr lang="en-US" sz="1200" b="0" i="0" kern="1200" dirty="0">
                <a:solidFill>
                  <a:schemeClr val="tx1"/>
                </a:solidFill>
                <a:effectLst/>
                <a:latin typeface="+mn-lt"/>
                <a:ea typeface="+mn-ea"/>
                <a:cs typeface="+mn-cs"/>
              </a:rPr>
              <a:t>This is the most important intuition slide.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PCA does two simple geometric steps:</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1) Centering:</a:t>
            </a:r>
            <a:r>
              <a:rPr lang="en-US" sz="1200" b="0" i="0" kern="1200" dirty="0">
                <a:solidFill>
                  <a:schemeClr val="tx1"/>
                </a:solidFill>
                <a:effectLst/>
                <a:latin typeface="+mn-lt"/>
                <a:ea typeface="+mn-ea"/>
                <a:cs typeface="+mn-cs"/>
              </a:rPr>
              <a:t> move the data cloud so the mean is at the origin.</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2) Rotation:</a:t>
            </a:r>
            <a:r>
              <a:rPr lang="en-US" sz="1200" b="0" i="0" kern="1200" dirty="0">
                <a:solidFill>
                  <a:schemeClr val="tx1"/>
                </a:solidFill>
                <a:effectLst/>
                <a:latin typeface="+mn-lt"/>
                <a:ea typeface="+mn-ea"/>
                <a:cs typeface="+mn-cs"/>
              </a:rPr>
              <a:t> rotate the coordinate axes so that the first axis points along the longest spread of the cloud.</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we keep only the first few rotated axes and drop the rest.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That’s why PCA is often described as ‘centering followed by rotation.’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And because it’s just rotation + projection, it’s a linear transformation.</a:t>
            </a:r>
          </a:p>
        </p:txBody>
      </p:sp>
    </p:spTree>
    <p:extLst>
      <p:ext uri="{BB962C8B-B14F-4D97-AF65-F5344CB8AC3E}">
        <p14:creationId xmlns:p14="http://schemas.microsoft.com/office/powerpoint/2010/main" val="426266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171EF8-3FEF-45B7-A802-A9905D92E452}" type="slidenum">
              <a:rPr lang="en-US"/>
              <a:pPr/>
              <a:t>21</a:t>
            </a:fld>
            <a:endParaRPr lang="en-US"/>
          </a:p>
        </p:txBody>
      </p:sp>
      <p:sp>
        <p:nvSpPr>
          <p:cNvPr id="609282"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60928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4114223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77AA05-ACC6-4452-9084-71B4FB8E799A}" type="slidenum">
              <a:rPr lang="en-US"/>
              <a:pPr/>
              <a:t>22</a:t>
            </a:fld>
            <a:endParaRPr lang="en-US"/>
          </a:p>
        </p:txBody>
      </p:sp>
      <p:sp>
        <p:nvSpPr>
          <p:cNvPr id="745474" name="Rectangle 2"/>
          <p:cNvSpPr>
            <a:spLocks noGrp="1" noRot="1" noChangeAspect="1" noChangeArrowheads="1" noTextEdit="1"/>
          </p:cNvSpPr>
          <p:nvPr>
            <p:ph type="sldImg"/>
          </p:nvPr>
        </p:nvSpPr>
        <p:spPr>
          <a:ln/>
        </p:spPr>
      </p:sp>
      <p:sp>
        <p:nvSpPr>
          <p:cNvPr id="74547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940534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fontAlgn="t"/>
            <a:r>
              <a:rPr lang="en-US" sz="1200" b="0" i="0" kern="1200" dirty="0">
                <a:solidFill>
                  <a:schemeClr val="tx1"/>
                </a:solidFill>
                <a:effectLst/>
                <a:latin typeface="+mn-lt"/>
                <a:ea typeface="+mn-ea"/>
                <a:cs typeface="+mn-cs"/>
              </a:rPr>
              <a:t>This slide is about making PCA practical when the dataset is huge.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Standard PCA typically uses SVD under the hood, and full SVD can become slow when you have many samples or many features—think millions of rows, or 2,000+ dimensions in embeddings.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Randomized PCA is a clever approximation: instead of doing the exact heavy computation, it uses random projections to quickly find a good approximation of the top principal components.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key message: we usually care about the </a:t>
            </a:r>
            <a:r>
              <a:rPr lang="en-US" sz="1200" b="1" i="0" kern="1200" dirty="0">
                <a:solidFill>
                  <a:schemeClr val="tx1"/>
                </a:solidFill>
                <a:effectLst/>
                <a:latin typeface="+mn-lt"/>
                <a:ea typeface="+mn-ea"/>
                <a:cs typeface="+mn-cs"/>
              </a:rPr>
              <a:t>top 10, 20, 100</a:t>
            </a:r>
            <a:r>
              <a:rPr lang="en-US" sz="1200" b="0" i="0" kern="1200" dirty="0">
                <a:solidFill>
                  <a:schemeClr val="tx1"/>
                </a:solidFill>
                <a:effectLst/>
                <a:latin typeface="+mn-lt"/>
                <a:ea typeface="+mn-ea"/>
                <a:cs typeface="+mn-cs"/>
              </a:rPr>
              <a:t> components, not the full decomposition. Randomized PCA focuses computational effort on those top components—so it becomes dramatically faster with very little loss in quality.</a:t>
            </a:r>
          </a:p>
          <a:p>
            <a:pPr fontAlgn="t"/>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Now, speed is one issue. The next issue is: what if data doesn’t even fit in memory? That’s Incremental PCA.</a:t>
            </a:r>
          </a:p>
          <a:p>
            <a:pPr fontAlgn="t"/>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17" name="Google Shape;17;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 name="Google Shape;18;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 name="Google Shape;19;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0" name="Google Shape;20;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1" name="Google Shape;21;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2" name="Google Shape;22;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23" name="Google Shape;23;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24" name="Google Shape;24;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5" name="Google Shape;25;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6" name="Google Shape;26;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7" name="Google Shape;27;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8" name="Google Shape;28;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9" name="Google Shape;29;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30" name="Google Shape;30;p76"/>
          <p:cNvSpPr txBox="1">
            <a:spLocks noGrp="1"/>
          </p:cNvSpPr>
          <p:nvPr>
            <p:ph type="body" idx="1"/>
          </p:nvPr>
        </p:nvSpPr>
        <p:spPr>
          <a:xfrm>
            <a:off x="2514600" y="4057650"/>
            <a:ext cx="6019800" cy="400050"/>
          </a:xfrm>
          <a:prstGeom prst="rect">
            <a:avLst/>
          </a:prstGeom>
          <a:noFill/>
          <a:ln>
            <a:noFill/>
          </a:ln>
        </p:spPr>
        <p:txBody>
          <a:bodyPr spcFirstLastPara="1" wrap="square" lIns="91425" tIns="45700" rIns="91425" bIns="45700" anchor="b" anchorCtr="0">
            <a:noAutofit/>
          </a:bodyPr>
          <a:lstStyle>
            <a:lvl1pPr marL="342900" lvl="0" indent="-171450" algn="r">
              <a:lnSpc>
                <a:spcPct val="100000"/>
              </a:lnSpc>
              <a:spcBef>
                <a:spcPts val="0"/>
              </a:spcBef>
              <a:spcAft>
                <a:spcPts val="0"/>
              </a:spcAft>
              <a:buClr>
                <a:schemeClr val="lt1"/>
              </a:buClr>
              <a:buSzPts val="1800"/>
              <a:buNone/>
              <a:defRPr sz="1350">
                <a:solidFill>
                  <a:schemeClr val="lt1"/>
                </a:solidFil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31" name="Google Shape;31;p76"/>
          <p:cNvSpPr txBox="1">
            <a:spLocks noGrp="1"/>
          </p:cNvSpPr>
          <p:nvPr>
            <p:ph type="title"/>
          </p:nvPr>
        </p:nvSpPr>
        <p:spPr>
          <a:xfrm>
            <a:off x="2514600" y="2857500"/>
            <a:ext cx="6019800" cy="1143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33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23124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2"/>
        <p:cNvGrpSpPr/>
        <p:nvPr/>
      </p:nvGrpSpPr>
      <p:grpSpPr>
        <a:xfrm>
          <a:off x="0" y="0"/>
          <a:ext cx="0" cy="0"/>
          <a:chOff x="0" y="0"/>
          <a:chExt cx="0" cy="0"/>
        </a:xfrm>
      </p:grpSpPr>
      <p:sp>
        <p:nvSpPr>
          <p:cNvPr id="43" name="Google Shape;43;p78"/>
          <p:cNvSpPr txBox="1"/>
          <p:nvPr/>
        </p:nvSpPr>
        <p:spPr>
          <a:xfrm>
            <a:off x="3276600" y="4947047"/>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1050" kern="0">
              <a:solidFill>
                <a:srgbClr val="000000"/>
              </a:solidFill>
              <a:cs typeface="Arial"/>
              <a:sym typeface="Arial"/>
            </a:endParaRPr>
          </a:p>
        </p:txBody>
      </p:sp>
      <p:grpSp>
        <p:nvGrpSpPr>
          <p:cNvPr id="44" name="Google Shape;44;p78"/>
          <p:cNvGrpSpPr/>
          <p:nvPr/>
        </p:nvGrpSpPr>
        <p:grpSpPr>
          <a:xfrm>
            <a:off x="2084388" y="4912519"/>
            <a:ext cx="7059612" cy="36910"/>
            <a:chOff x="2083888" y="6550671"/>
            <a:chExt cx="7060112" cy="48665"/>
          </a:xfrm>
        </p:grpSpPr>
        <p:sp>
          <p:nvSpPr>
            <p:cNvPr id="45" name="Google Shape;45;p7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6" name="Google Shape;46;p7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7" name="Google Shape;47;p7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pic>
        <p:nvPicPr>
          <p:cNvPr id="48" name="Google Shape;48;p78" descr="Picture 7.png"/>
          <p:cNvPicPr preferRelativeResize="0"/>
          <p:nvPr/>
        </p:nvPicPr>
        <p:blipFill rotWithShape="1">
          <a:blip r:embed="rId2">
            <a:alphaModFix/>
          </a:blip>
          <a:srcRect l="1923" b="5335"/>
          <a:stretch/>
        </p:blipFill>
        <p:spPr>
          <a:xfrm>
            <a:off x="6629401" y="0"/>
            <a:ext cx="2193925" cy="519113"/>
          </a:xfrm>
          <a:prstGeom prst="rect">
            <a:avLst/>
          </a:prstGeom>
          <a:noFill/>
          <a:ln>
            <a:noFill/>
          </a:ln>
        </p:spPr>
      </p:pic>
      <p:grpSp>
        <p:nvGrpSpPr>
          <p:cNvPr id="49" name="Google Shape;49;p78"/>
          <p:cNvGrpSpPr/>
          <p:nvPr/>
        </p:nvGrpSpPr>
        <p:grpSpPr>
          <a:xfrm>
            <a:off x="2133600" y="4914900"/>
            <a:ext cx="7010400" cy="34529"/>
            <a:chOff x="1905000" y="6553200"/>
            <a:chExt cx="7010400" cy="45719"/>
          </a:xfrm>
        </p:grpSpPr>
        <p:sp>
          <p:nvSpPr>
            <p:cNvPr id="50" name="Google Shape;50;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1" name="Google Shape;51;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2" name="Google Shape;52;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53" name="Google Shape;53;p78"/>
          <p:cNvGrpSpPr/>
          <p:nvPr/>
        </p:nvGrpSpPr>
        <p:grpSpPr>
          <a:xfrm>
            <a:off x="0" y="971550"/>
            <a:ext cx="7010400" cy="34529"/>
            <a:chOff x="1905000" y="6553200"/>
            <a:chExt cx="7010400" cy="45719"/>
          </a:xfrm>
        </p:grpSpPr>
        <p:sp>
          <p:nvSpPr>
            <p:cNvPr id="54" name="Google Shape;54;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5" name="Google Shape;55;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6" name="Google Shape;56;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
        <p:nvSpPr>
          <p:cNvPr id="57" name="Google Shape;57;p78"/>
          <p:cNvSpPr txBox="1">
            <a:spLocks noGrp="1"/>
          </p:cNvSpPr>
          <p:nvPr>
            <p:ph type="body" idx="1"/>
          </p:nvPr>
        </p:nvSpPr>
        <p:spPr>
          <a:xfrm>
            <a:off x="304800" y="1120378"/>
            <a:ext cx="8229600" cy="3394472"/>
          </a:xfrm>
          <a:prstGeom prst="rect">
            <a:avLst/>
          </a:prstGeom>
          <a:noFill/>
          <a:ln>
            <a:noFill/>
          </a:ln>
        </p:spPr>
        <p:txBody>
          <a:bodyPr spcFirstLastPara="1" wrap="square" lIns="91425" tIns="45700" rIns="91425" bIns="45700" anchor="t" anchorCtr="0">
            <a:noAutofit/>
          </a:bodyPr>
          <a:lstStyle>
            <a:lvl1pPr marL="342900" marR="0" lvl="0" indent="-171450" algn="l">
              <a:lnSpc>
                <a:spcPct val="100000"/>
              </a:lnSpc>
              <a:spcBef>
                <a:spcPts val="360"/>
              </a:spcBef>
              <a:spcAft>
                <a:spcPts val="0"/>
              </a:spcAft>
              <a:buClr>
                <a:srgbClr val="101141"/>
              </a:buClr>
              <a:buSzPts val="2400"/>
              <a:buFont typeface="Arial"/>
              <a:buNone/>
              <a:defRPr sz="1800">
                <a:latin typeface="Arial"/>
                <a:ea typeface="Arial"/>
                <a:cs typeface="Arial"/>
                <a:sym typeface="Arial"/>
              </a:defRPr>
            </a:lvl1pPr>
            <a:lvl2pPr marL="685800" marR="0" lvl="1" indent="-247650" algn="l">
              <a:lnSpc>
                <a:spcPct val="100000"/>
              </a:lnSpc>
              <a:spcBef>
                <a:spcPts val="240"/>
              </a:spcBef>
              <a:spcAft>
                <a:spcPts val="0"/>
              </a:spcAft>
              <a:buClr>
                <a:schemeClr val="dk1"/>
              </a:buClr>
              <a:buSzPts val="1600"/>
              <a:buFont typeface="Arial"/>
              <a:buChar char="–"/>
              <a:defRPr sz="1200">
                <a:latin typeface="Arial"/>
                <a:ea typeface="Arial"/>
                <a:cs typeface="Arial"/>
                <a:sym typeface="Arial"/>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58" name="Google Shape;58;p78"/>
          <p:cNvSpPr txBox="1">
            <a:spLocks noGrp="1"/>
          </p:cNvSpPr>
          <p:nvPr>
            <p:ph type="body" idx="2"/>
          </p:nvPr>
        </p:nvSpPr>
        <p:spPr>
          <a:xfrm>
            <a:off x="304800" y="114300"/>
            <a:ext cx="6324600" cy="857250"/>
          </a:xfrm>
          <a:prstGeom prst="rect">
            <a:avLst/>
          </a:prstGeom>
          <a:noFill/>
          <a:ln>
            <a:noFill/>
          </a:ln>
        </p:spPr>
        <p:txBody>
          <a:bodyPr spcFirstLastPara="1" wrap="square" lIns="91425" tIns="45700" rIns="91425" bIns="45700" anchor="ctr" anchorCtr="0">
            <a:normAutofit/>
          </a:bodyPr>
          <a:lstStyle>
            <a:lvl1pPr marL="342900" lvl="0" indent="-171450" algn="l">
              <a:lnSpc>
                <a:spcPct val="100000"/>
              </a:lnSpc>
              <a:spcBef>
                <a:spcPts val="0"/>
              </a:spcBef>
              <a:spcAft>
                <a:spcPts val="0"/>
              </a:spcAft>
              <a:buClr>
                <a:schemeClr val="dk1"/>
              </a:buClr>
              <a:buSzPts val="3600"/>
              <a:buNone/>
              <a:defRPr sz="27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916435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369095-6199-624F-BD16-1B6E41EB487B}"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097F88-3D78-EE41-BDDF-9CB676EC9E23}" type="slidenum">
              <a:rPr lang="en-US" smtClean="0"/>
              <a:t>‹#›</a:t>
            </a:fld>
            <a:endParaRPr lang="en-US"/>
          </a:p>
        </p:txBody>
      </p:sp>
    </p:spTree>
    <p:extLst>
      <p:ext uri="{BB962C8B-B14F-4D97-AF65-F5344CB8AC3E}">
        <p14:creationId xmlns:p14="http://schemas.microsoft.com/office/powerpoint/2010/main" val="2875703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8577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579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594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6693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369095-6199-624F-BD16-1B6E41EB487B}" type="datetimeFigureOut">
              <a:rPr lang="en-US" smtClean="0"/>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097F88-3D78-EE41-BDDF-9CB676EC9E23}" type="slidenum">
              <a:rPr lang="en-US" smtClean="0"/>
              <a:t>‹#›</a:t>
            </a:fld>
            <a:endParaRPr lang="en-US"/>
          </a:p>
        </p:txBody>
      </p:sp>
    </p:spTree>
    <p:extLst>
      <p:ext uri="{BB962C8B-B14F-4D97-AF65-F5344CB8AC3E}">
        <p14:creationId xmlns:p14="http://schemas.microsoft.com/office/powerpoint/2010/main" val="2910035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369095-6199-624F-BD16-1B6E41EB487B}"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097F88-3D78-EE41-BDDF-9CB676EC9E23}" type="slidenum">
              <a:rPr lang="en-US" smtClean="0"/>
              <a:t>‹#›</a:t>
            </a:fld>
            <a:endParaRPr lang="en-US"/>
          </a:p>
        </p:txBody>
      </p:sp>
    </p:spTree>
    <p:extLst>
      <p:ext uri="{BB962C8B-B14F-4D97-AF65-F5344CB8AC3E}">
        <p14:creationId xmlns:p14="http://schemas.microsoft.com/office/powerpoint/2010/main" val="92427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85725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85800" y="1485900"/>
            <a:ext cx="3810000" cy="3086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4648200" y="1485900"/>
            <a:ext cx="3810000" cy="14859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4648200" y="3086100"/>
            <a:ext cx="3810000" cy="14859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a:ln/>
        </p:spPr>
        <p:txBody>
          <a:bodyPr/>
          <a:lstStyle>
            <a:lvl1pPr>
              <a:defRPr/>
            </a:lvl1pPr>
          </a:lstStyle>
          <a:p>
            <a:pPr>
              <a:defRPr/>
            </a:pPr>
            <a:fld id="{8F1008A2-A931-4382-8B33-C6AE923D47EA}" type="slidenum">
              <a:rPr lang="en-US" altLang="en-US"/>
              <a:pPr>
                <a:defRPr/>
              </a:pPr>
              <a:t>‹#›</a:t>
            </a:fld>
            <a:endParaRPr lang="en-US" altLang="en-US"/>
          </a:p>
        </p:txBody>
      </p:sp>
    </p:spTree>
    <p:extLst>
      <p:ext uri="{BB962C8B-B14F-4D97-AF65-F5344CB8AC3E}">
        <p14:creationId xmlns:p14="http://schemas.microsoft.com/office/powerpoint/2010/main" val="1270999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485900"/>
            <a:ext cx="3810000" cy="3086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485900"/>
            <a:ext cx="3810000" cy="3086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C5A7D886-B426-46D5-8BC3-46F665546BF3}" type="slidenum">
              <a:rPr lang="en-US" altLang="en-US"/>
              <a:pPr>
                <a:defRPr/>
              </a:pPr>
              <a:t>‹#›</a:t>
            </a:fld>
            <a:endParaRPr lang="en-US" altLang="en-US"/>
          </a:p>
        </p:txBody>
      </p:sp>
    </p:spTree>
    <p:extLst>
      <p:ext uri="{BB962C8B-B14F-4D97-AF65-F5344CB8AC3E}">
        <p14:creationId xmlns:p14="http://schemas.microsoft.com/office/powerpoint/2010/main" val="2250532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85725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85800" y="1485900"/>
            <a:ext cx="3810000" cy="3086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485900"/>
            <a:ext cx="3810000" cy="3086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2A620330-F960-4901-99EA-CC400A81E5B7}" type="slidenum">
              <a:rPr lang="en-US" altLang="en-US"/>
              <a:pPr>
                <a:defRPr/>
              </a:pPr>
              <a:t>‹#›</a:t>
            </a:fld>
            <a:endParaRPr lang="en-US" altLang="en-US"/>
          </a:p>
        </p:txBody>
      </p:sp>
    </p:spTree>
    <p:extLst>
      <p:ext uri="{BB962C8B-B14F-4D97-AF65-F5344CB8AC3E}">
        <p14:creationId xmlns:p14="http://schemas.microsoft.com/office/powerpoint/2010/main" val="737170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98796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2442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907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4413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BE9E449-369D-4FE9-8AA5-9136DD4E2B88}" type="slidenum">
              <a:rPr lang="en-US"/>
              <a:pPr/>
              <a:t>‹#›</a:t>
            </a:fld>
            <a:endParaRPr lang="en-US"/>
          </a:p>
        </p:txBody>
      </p:sp>
    </p:spTree>
    <p:extLst>
      <p:ext uri="{BB962C8B-B14F-4D97-AF65-F5344CB8AC3E}">
        <p14:creationId xmlns:p14="http://schemas.microsoft.com/office/powerpoint/2010/main" val="7005464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857250"/>
          </a:xfrm>
        </p:spPr>
        <p:txBody>
          <a:bodyPr/>
          <a:lstStyle/>
          <a:p>
            <a:r>
              <a:rPr lang="en-US"/>
              <a:t>Click to edit Master title style</a:t>
            </a:r>
            <a:endParaRPr lang="en-IN"/>
          </a:p>
        </p:txBody>
      </p:sp>
      <p:sp>
        <p:nvSpPr>
          <p:cNvPr id="3" name="Content Placeholder 2"/>
          <p:cNvSpPr>
            <a:spLocks noGrp="1"/>
          </p:cNvSpPr>
          <p:nvPr>
            <p:ph sz="half" idx="1"/>
          </p:nvPr>
        </p:nvSpPr>
        <p:spPr>
          <a:xfrm>
            <a:off x="685800" y="1485900"/>
            <a:ext cx="7772400" cy="148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85800" y="3086100"/>
            <a:ext cx="7772400" cy="148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85800" y="4686300"/>
            <a:ext cx="1905000" cy="342900"/>
          </a:xfrm>
        </p:spPr>
        <p:txBody>
          <a:bodyPr/>
          <a:lstStyle>
            <a:lvl1pPr>
              <a:defRPr/>
            </a:lvl1pPr>
          </a:lstStyle>
          <a:p>
            <a:endParaRPr lang="en-US"/>
          </a:p>
        </p:txBody>
      </p:sp>
      <p:sp>
        <p:nvSpPr>
          <p:cNvPr id="6" name="Footer Placeholder 5"/>
          <p:cNvSpPr>
            <a:spLocks noGrp="1"/>
          </p:cNvSpPr>
          <p:nvPr>
            <p:ph type="ftr" sz="quarter" idx="11"/>
          </p:nvPr>
        </p:nvSpPr>
        <p:spPr>
          <a:xfrm>
            <a:off x="3124200" y="4686300"/>
            <a:ext cx="2895600" cy="3429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4686300"/>
            <a:ext cx="1905000" cy="342900"/>
          </a:xfrm>
        </p:spPr>
        <p:txBody>
          <a:bodyPr/>
          <a:lstStyle>
            <a:lvl1pPr>
              <a:defRPr/>
            </a:lvl1pPr>
          </a:lstStyle>
          <a:p>
            <a:fld id="{ED25419A-59E0-42FA-9A1B-2FCE0346411B}" type="slidenum">
              <a:rPr lang="en-US"/>
              <a:pPr/>
              <a:t>‹#›</a:t>
            </a:fld>
            <a:endParaRPr lang="en-US"/>
          </a:p>
        </p:txBody>
      </p:sp>
    </p:spTree>
    <p:extLst>
      <p:ext uri="{BB962C8B-B14F-4D97-AF65-F5344CB8AC3E}">
        <p14:creationId xmlns:p14="http://schemas.microsoft.com/office/powerpoint/2010/main" val="3597029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05979"/>
            <a:ext cx="8229600" cy="857250"/>
          </a:xfrm>
        </p:spPr>
        <p:txBody>
          <a:bodyPr/>
          <a:lstStyle/>
          <a:p>
            <a:r>
              <a:rPr lang="en-US"/>
              <a:t>Click to edit Master title style</a:t>
            </a:r>
          </a:p>
        </p:txBody>
      </p:sp>
      <p:sp>
        <p:nvSpPr>
          <p:cNvPr id="3" name="Content Placeholder 2"/>
          <p:cNvSpPr>
            <a:spLocks noGrp="1"/>
          </p:cNvSpPr>
          <p:nvPr>
            <p:ph sz="quarter" idx="1"/>
          </p:nvPr>
        </p:nvSpPr>
        <p:spPr>
          <a:xfrm>
            <a:off x="457200" y="1200150"/>
            <a:ext cx="4038600" cy="1639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00150"/>
            <a:ext cx="4038600" cy="1639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2953942"/>
            <a:ext cx="4038600" cy="1640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2953942"/>
            <a:ext cx="4038600" cy="1640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5310DF35-9FB3-47F7-A182-11281F3453E8}" type="slidenum">
              <a:rPr lang="en-US"/>
              <a:pPr/>
              <a:t>‹#›</a:t>
            </a:fld>
            <a:endParaRPr lang="en-US"/>
          </a:p>
        </p:txBody>
      </p:sp>
    </p:spTree>
    <p:extLst>
      <p:ext uri="{BB962C8B-B14F-4D97-AF65-F5344CB8AC3E}">
        <p14:creationId xmlns:p14="http://schemas.microsoft.com/office/powerpoint/2010/main" val="343330254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464402994"/>
      </p:ext>
    </p:extLst>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2838423025"/>
      </p:ext>
    </p:extLst>
  </p:cSld>
  <p:clrMap bg1="lt1" tx1="dk1" bg2="dk2" tx2="lt2" accent1="accent1" accent2="accent2" accent3="accent3" accent4="accent4" accent5="accent5" accent6="accent6" hlink="hlink" folHlink="folHlink"/>
  <p:sldLayoutIdLst>
    <p:sldLayoutId id="2147483671"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4.png"/><Relationship Id="rId18" Type="http://schemas.openxmlformats.org/officeDocument/2006/relationships/image" Target="../media/image9.png"/><Relationship Id="rId3" Type="http://schemas.openxmlformats.org/officeDocument/2006/relationships/tags" Target="../tags/tag3.xml"/><Relationship Id="rId21" Type="http://schemas.openxmlformats.org/officeDocument/2006/relationships/image" Target="../media/image12.png"/><Relationship Id="rId7" Type="http://schemas.openxmlformats.org/officeDocument/2006/relationships/tags" Target="../tags/tag7.xml"/><Relationship Id="rId12" Type="http://schemas.openxmlformats.org/officeDocument/2006/relationships/notesSlide" Target="../notesSlides/notesSlide10.xml"/><Relationship Id="rId17" Type="http://schemas.openxmlformats.org/officeDocument/2006/relationships/image" Target="../media/image8.png"/><Relationship Id="rId2" Type="http://schemas.openxmlformats.org/officeDocument/2006/relationships/tags" Target="../tags/tag2.xml"/><Relationship Id="rId16" Type="http://schemas.openxmlformats.org/officeDocument/2006/relationships/image" Target="../media/image7.png"/><Relationship Id="rId20" Type="http://schemas.openxmlformats.org/officeDocument/2006/relationships/image" Target="../media/image11.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2.xml"/><Relationship Id="rId5" Type="http://schemas.openxmlformats.org/officeDocument/2006/relationships/tags" Target="../tags/tag5.xml"/><Relationship Id="rId15" Type="http://schemas.openxmlformats.org/officeDocument/2006/relationships/image" Target="../media/image6.png"/><Relationship Id="rId10" Type="http://schemas.openxmlformats.org/officeDocument/2006/relationships/tags" Target="../tags/tag10.xml"/><Relationship Id="rId19" Type="http://schemas.openxmlformats.org/officeDocument/2006/relationships/image" Target="../media/image10.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png"/><Relationship Id="rId22"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1"/>
          <p:cNvSpPr txBox="1">
            <a:spLocks noGrp="1"/>
          </p:cNvSpPr>
          <p:nvPr>
            <p:ph type="title"/>
          </p:nvPr>
        </p:nvSpPr>
        <p:spPr>
          <a:xfrm>
            <a:off x="2075361" y="2552156"/>
            <a:ext cx="6629400" cy="1143000"/>
          </a:xfrm>
          <a:prstGeom prst="rect">
            <a:avLst/>
          </a:prstGeom>
          <a:noFill/>
          <a:ln>
            <a:noFill/>
          </a:ln>
        </p:spPr>
        <p:txBody>
          <a:bodyPr spcFirstLastPara="1" wrap="square" lIns="68569" tIns="34275" rIns="68569" bIns="34275" anchor="ctr" anchorCtr="0">
            <a:noAutofit/>
          </a:bodyPr>
          <a:lstStyle/>
          <a:p>
            <a:pPr algn="ctr"/>
            <a:r>
              <a:rPr lang="en-US" sz="2800" dirty="0">
                <a:solidFill>
                  <a:srgbClr val="FFFF66"/>
                </a:solidFill>
                <a:latin typeface="Calibri"/>
                <a:ea typeface="Calibri"/>
                <a:cs typeface="Calibri"/>
                <a:sym typeface="Calibri"/>
              </a:rPr>
              <a:t>Advanced Deep Learning</a:t>
            </a:r>
            <a:br>
              <a:rPr lang="en-US" sz="2800" dirty="0">
                <a:solidFill>
                  <a:srgbClr val="FFFF66"/>
                </a:solidFill>
                <a:latin typeface="Calibri"/>
                <a:ea typeface="Calibri"/>
                <a:cs typeface="Calibri"/>
                <a:sym typeface="Calibri"/>
              </a:rPr>
            </a:br>
            <a:r>
              <a:rPr lang="en-US" sz="2800" dirty="0">
                <a:solidFill>
                  <a:srgbClr val="FFFF66"/>
                </a:solidFill>
                <a:latin typeface="Calibri"/>
                <a:ea typeface="Calibri"/>
                <a:cs typeface="Calibri"/>
                <a:sym typeface="Calibri"/>
              </a:rPr>
              <a:t>ZG513 </a:t>
            </a:r>
            <a:endParaRPr sz="2800" dirty="0">
              <a:solidFill>
                <a:srgbClr val="FFFF66"/>
              </a:solidFill>
              <a:latin typeface="Calibri"/>
              <a:ea typeface="Calibri"/>
              <a:cs typeface="Calibri"/>
              <a:sym typeface="Calibri"/>
            </a:endParaRPr>
          </a:p>
        </p:txBody>
      </p:sp>
      <p:sp>
        <p:nvSpPr>
          <p:cNvPr id="437" name="Google Shape;437;p1"/>
          <p:cNvSpPr txBox="1">
            <a:spLocks noGrp="1"/>
          </p:cNvSpPr>
          <p:nvPr>
            <p:ph type="body" idx="4294967295"/>
          </p:nvPr>
        </p:nvSpPr>
        <p:spPr>
          <a:xfrm>
            <a:off x="3886200" y="3695156"/>
            <a:ext cx="4457700" cy="857250"/>
          </a:xfrm>
          <a:prstGeom prst="rect">
            <a:avLst/>
          </a:prstGeom>
          <a:noFill/>
          <a:ln>
            <a:noFill/>
          </a:ln>
        </p:spPr>
        <p:txBody>
          <a:bodyPr spcFirstLastPara="1" wrap="square" lIns="68569" tIns="34275" rIns="68569" bIns="34275" anchor="t" anchorCtr="0">
            <a:normAutofit/>
          </a:bodyPr>
          <a:lstStyle/>
          <a:p>
            <a:pPr marL="274320" indent="-192024" algn="r">
              <a:spcBef>
                <a:spcPts val="0"/>
              </a:spcBef>
              <a:buClr>
                <a:schemeClr val="accent1"/>
              </a:buClr>
              <a:buSzPct val="68000"/>
              <a:buNone/>
            </a:pPr>
            <a:r>
              <a:rPr lang="en-US" sz="2100" dirty="0">
                <a:solidFill>
                  <a:schemeClr val="lt1"/>
                </a:solidFill>
                <a:latin typeface="Calibri"/>
                <a:ea typeface="Calibri"/>
                <a:cs typeface="Calibri"/>
                <a:sym typeface="Calibri"/>
              </a:rPr>
              <a:t>Prepared by Dr. </a:t>
            </a:r>
            <a:r>
              <a:rPr lang="en-IN" sz="2100" dirty="0">
                <a:solidFill>
                  <a:schemeClr val="lt1"/>
                </a:solidFill>
                <a:latin typeface="Calibri"/>
                <a:ea typeface="Calibri"/>
                <a:cs typeface="Calibri"/>
                <a:sym typeface="Calibri"/>
              </a:rPr>
              <a:t>Sugata Ghosal and notes by Aakash Goel</a:t>
            </a:r>
            <a:endParaRPr sz="2100" dirty="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
          <p:cNvSpPr txBox="1">
            <a:spLocks noGrp="1"/>
          </p:cNvSpPr>
          <p:nvPr>
            <p:ph type="body" idx="1"/>
          </p:nvPr>
        </p:nvSpPr>
        <p:spPr>
          <a:xfrm>
            <a:off x="766010" y="1021681"/>
            <a:ext cx="6172200" cy="2997869"/>
          </a:xfrm>
          <a:prstGeom prst="rect">
            <a:avLst/>
          </a:prstGeom>
          <a:noFill/>
          <a:ln>
            <a:noFill/>
          </a:ln>
        </p:spPr>
        <p:txBody>
          <a:bodyPr spcFirstLastPara="1" wrap="square" lIns="68569" tIns="34275" rIns="68569" bIns="34275" anchor="t" anchorCtr="0">
            <a:noAutofit/>
          </a:bodyPr>
          <a:lstStyle/>
          <a:p>
            <a:pPr marL="0" indent="0">
              <a:spcBef>
                <a:spcPts val="0"/>
              </a:spcBef>
              <a:buSzPts val="3200"/>
            </a:pPr>
            <a:r>
              <a:rPr lang="en-US" sz="2000" dirty="0"/>
              <a:t>Factor Analysis</a:t>
            </a:r>
            <a:endParaRPr lang="en-US" dirty="0"/>
          </a:p>
          <a:p>
            <a:pPr marL="285750" indent="-285750">
              <a:spcBef>
                <a:spcPts val="0"/>
              </a:spcBef>
              <a:buSzPct val="100000"/>
              <a:buFont typeface="Arial" panose="020B0604020202020204" pitchFamily="34" charset="0"/>
              <a:buChar char="•"/>
            </a:pPr>
            <a:r>
              <a:rPr lang="en-US" dirty="0"/>
              <a:t>Principal Component Analysis (PCA)</a:t>
            </a:r>
          </a:p>
          <a:p>
            <a:pPr marL="971550" lvl="2" indent="-285750">
              <a:spcBef>
                <a:spcPts val="0"/>
              </a:spcBef>
              <a:buSzPct val="100000"/>
              <a:buFont typeface="Wingdings" panose="05000000000000000000" pitchFamily="2" charset="2"/>
              <a:buChar char="§"/>
            </a:pPr>
            <a:r>
              <a:rPr lang="en-US" sz="1600" dirty="0"/>
              <a:t>Randomized PCA</a:t>
            </a:r>
          </a:p>
          <a:p>
            <a:pPr marL="971550" lvl="2" indent="-285750">
              <a:spcBef>
                <a:spcPts val="0"/>
              </a:spcBef>
              <a:buSzPct val="100000"/>
              <a:buFont typeface="Wingdings" panose="05000000000000000000" pitchFamily="2" charset="2"/>
              <a:buChar char="§"/>
            </a:pPr>
            <a:r>
              <a:rPr lang="en-US" sz="1600" dirty="0"/>
              <a:t>Incremental PCA</a:t>
            </a:r>
          </a:p>
          <a:p>
            <a:pPr marL="971550" lvl="2" indent="-285750">
              <a:spcBef>
                <a:spcPts val="0"/>
              </a:spcBef>
              <a:buSzPct val="100000"/>
              <a:buFont typeface="Wingdings" panose="05000000000000000000" pitchFamily="2" charset="2"/>
              <a:buChar char="§"/>
            </a:pPr>
            <a:r>
              <a:rPr lang="en-US" sz="1800" dirty="0"/>
              <a:t>Kernel PCA</a:t>
            </a:r>
          </a:p>
          <a:p>
            <a:pPr marL="685800" lvl="2" indent="0">
              <a:spcBef>
                <a:spcPts val="0"/>
              </a:spcBef>
              <a:buSzPct val="100000"/>
              <a:buNone/>
            </a:pPr>
            <a:endParaRPr lang="en-US" sz="1600" dirty="0"/>
          </a:p>
          <a:p>
            <a:pPr marL="285750" indent="-285750">
              <a:spcBef>
                <a:spcPts val="0"/>
              </a:spcBef>
              <a:buSzPct val="100000"/>
              <a:buFont typeface="Arial" panose="020B0604020202020204" pitchFamily="34" charset="0"/>
              <a:buChar char="•"/>
            </a:pPr>
            <a:r>
              <a:rPr lang="en-US" dirty="0"/>
              <a:t>Independent Component Analysis (ICA)</a:t>
            </a:r>
          </a:p>
          <a:p>
            <a:pPr indent="-342900">
              <a:spcBef>
                <a:spcPts val="0"/>
              </a:spcBef>
              <a:buSzPct val="100000"/>
              <a:buFont typeface="Wingdings" panose="05000000000000000000" pitchFamily="2" charset="2"/>
              <a:buChar char="ü"/>
            </a:pPr>
            <a:endParaRPr lang="en-US" dirty="0"/>
          </a:p>
          <a:p>
            <a:pPr marL="285750" indent="-285750">
              <a:spcBef>
                <a:spcPts val="0"/>
              </a:spcBef>
              <a:buSzPct val="100000"/>
              <a:buFont typeface="Arial" panose="020B0604020202020204" pitchFamily="34" charset="0"/>
              <a:buChar char="•"/>
            </a:pPr>
            <a:r>
              <a:rPr lang="en-US" dirty="0"/>
              <a:t>Canonical Correlation Analysis (CCA)</a:t>
            </a:r>
          </a:p>
          <a:p>
            <a:pPr indent="-342900">
              <a:spcBef>
                <a:spcPts val="0"/>
              </a:spcBef>
              <a:buSzPct val="100000"/>
              <a:buFont typeface="Wingdings" panose="05000000000000000000" pitchFamily="2" charset="2"/>
              <a:buChar char="ü"/>
            </a:pPr>
            <a:endParaRPr lang="en-US" dirty="0"/>
          </a:p>
          <a:p>
            <a:pPr indent="-342900">
              <a:spcBef>
                <a:spcPts val="0"/>
              </a:spcBef>
              <a:buSzPct val="100000"/>
              <a:buFont typeface="Arial" panose="020B0604020202020204" pitchFamily="34" charset="0"/>
              <a:buChar char="•"/>
            </a:pPr>
            <a:r>
              <a:rPr lang="en-US" dirty="0"/>
              <a:t>Locally Linear Embeddings (LLE)</a:t>
            </a:r>
          </a:p>
        </p:txBody>
      </p:sp>
      <p:sp>
        <p:nvSpPr>
          <p:cNvPr id="450" name="Google Shape;450;p3"/>
          <p:cNvSpPr txBox="1">
            <a:spLocks noGrp="1"/>
          </p:cNvSpPr>
          <p:nvPr>
            <p:ph type="body" idx="2"/>
          </p:nvPr>
        </p:nvSpPr>
        <p:spPr>
          <a:xfrm>
            <a:off x="770021" y="143376"/>
            <a:ext cx="4743450" cy="857250"/>
          </a:xfrm>
          <a:prstGeom prst="rect">
            <a:avLst/>
          </a:prstGeom>
          <a:noFill/>
          <a:ln>
            <a:noFill/>
          </a:ln>
        </p:spPr>
        <p:txBody>
          <a:bodyPr spcFirstLastPara="1" wrap="square" lIns="68569" tIns="34275" rIns="68569" bIns="34275" anchor="ctr" anchorCtr="0">
            <a:normAutofit/>
          </a:bodyPr>
          <a:lstStyle/>
          <a:p>
            <a:pPr marL="0" indent="0"/>
            <a:r>
              <a:rPr lang="en-US" sz="2800" b="0" dirty="0">
                <a:latin typeface="Calibri" panose="020F0502020204030204" pitchFamily="34" charset="0"/>
                <a:cs typeface="Calibri" panose="020F0502020204030204" pitchFamily="34" charset="0"/>
              </a:rPr>
              <a:t>Session Content</a:t>
            </a:r>
            <a:endParaRPr sz="2800" b="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09F3BBBB-5A9B-4411-A1E3-0A07069F74E8}"/>
              </a:ext>
            </a:extLst>
          </p:cNvPr>
          <p:cNvSpPr txBox="1"/>
          <p:nvPr/>
        </p:nvSpPr>
        <p:spPr>
          <a:xfrm>
            <a:off x="786774" y="4400550"/>
            <a:ext cx="4859022" cy="307777"/>
          </a:xfrm>
          <a:prstGeom prst="rect">
            <a:avLst/>
          </a:prstGeom>
          <a:noFill/>
        </p:spPr>
        <p:txBody>
          <a:bodyPr wrap="none" rtlCol="0">
            <a:spAutoFit/>
          </a:bodyPr>
          <a:lstStyle/>
          <a:p>
            <a:r>
              <a:rPr lang="en-US" sz="1400" b="1" dirty="0"/>
              <a:t>Reading</a:t>
            </a:r>
            <a:r>
              <a:rPr lang="en-US" sz="1400" dirty="0"/>
              <a:t>: R1: </a:t>
            </a:r>
            <a:r>
              <a:rPr lang="en-US" sz="1400" b="1" i="1" dirty="0"/>
              <a:t>Hands-On Machine Learning </a:t>
            </a:r>
            <a:r>
              <a:rPr lang="en-US" sz="1400" dirty="0"/>
              <a:t>…, Chapter 8</a:t>
            </a:r>
            <a:endParaRPr lang="en-I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ChangeArrowheads="1"/>
          </p:cNvSpPr>
          <p:nvPr/>
        </p:nvSpPr>
        <p:spPr bwMode="auto">
          <a:xfrm>
            <a:off x="609600" y="1047750"/>
            <a:ext cx="7467600"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sz="1800" dirty="0"/>
              <a:t>Discover a new set of factors/dimensions/axes against which to represent, describe or evaluate the data</a:t>
            </a:r>
          </a:p>
          <a:p>
            <a:pPr lvl="1" eaLnBrk="1" hangingPunct="1"/>
            <a:r>
              <a:rPr lang="en-US" sz="1500" dirty="0"/>
              <a:t>For more effective reasoning, insights, or better visualization</a:t>
            </a:r>
          </a:p>
          <a:p>
            <a:pPr lvl="1" eaLnBrk="1" hangingPunct="1"/>
            <a:r>
              <a:rPr lang="en-US" sz="1500" dirty="0"/>
              <a:t>Reduce noise in the data</a:t>
            </a:r>
          </a:p>
          <a:p>
            <a:pPr lvl="1" eaLnBrk="1" hangingPunct="1"/>
            <a:r>
              <a:rPr lang="en-US" sz="1500" dirty="0"/>
              <a:t>Typically a smaller set of factors: dimension reduction </a:t>
            </a:r>
          </a:p>
          <a:p>
            <a:pPr lvl="1" eaLnBrk="1" hangingPunct="1"/>
            <a:r>
              <a:rPr lang="en-US" sz="1500" dirty="0"/>
              <a:t>Better representation of data without losing much information</a:t>
            </a:r>
          </a:p>
          <a:p>
            <a:pPr lvl="1" eaLnBrk="1" hangingPunct="1"/>
            <a:r>
              <a:rPr lang="en-US" sz="1500" dirty="0"/>
              <a:t>Can build more effective data analyses on the reduced-dimensional space: classification, clustering, pattern recognition</a:t>
            </a:r>
          </a:p>
          <a:p>
            <a:pPr lvl="1" eaLnBrk="1" hangingPunct="1"/>
            <a:endParaRPr lang="en-US" sz="1500" dirty="0"/>
          </a:p>
          <a:p>
            <a:pPr eaLnBrk="1" hangingPunct="1"/>
            <a:r>
              <a:rPr lang="en-US" sz="1800" dirty="0"/>
              <a:t>Factors are combinations of observed variables </a:t>
            </a:r>
          </a:p>
          <a:p>
            <a:pPr lvl="1" eaLnBrk="1" hangingPunct="1"/>
            <a:r>
              <a:rPr lang="en-US" sz="1500" dirty="0"/>
              <a:t>May be more effective bases for insights, even if physical meaning is obscure</a:t>
            </a:r>
          </a:p>
          <a:p>
            <a:pPr lvl="1" eaLnBrk="1" hangingPunct="1"/>
            <a:r>
              <a:rPr lang="en-US" sz="1500" dirty="0"/>
              <a:t>Observed data are described in terms of these factors rather than in terms of original variables/dimensions</a:t>
            </a:r>
          </a:p>
        </p:txBody>
      </p:sp>
      <p:sp>
        <p:nvSpPr>
          <p:cNvPr id="641027" name="Text Box 3"/>
          <p:cNvSpPr txBox="1">
            <a:spLocks noChangeArrowheads="1"/>
          </p:cNvSpPr>
          <p:nvPr/>
        </p:nvSpPr>
        <p:spPr bwMode="auto">
          <a:xfrm>
            <a:off x="228600" y="351651"/>
            <a:ext cx="592455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en-US" sz="3000" dirty="0">
                <a:solidFill>
                  <a:schemeClr val="tx2"/>
                </a:solidFill>
              </a:rPr>
              <a:t>Factor or Component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7" name="Rectangle 3"/>
          <p:cNvSpPr>
            <a:spLocks noGrp="1" noChangeArrowheads="1"/>
          </p:cNvSpPr>
          <p:nvPr>
            <p:ph type="body" idx="1"/>
          </p:nvPr>
        </p:nvSpPr>
        <p:spPr/>
        <p:txBody>
          <a:bodyPr/>
          <a:lstStyle/>
          <a:p>
            <a:pPr marL="457200" indent="-285750">
              <a:lnSpc>
                <a:spcPct val="90000"/>
              </a:lnSpc>
              <a:buFont typeface="Arial" panose="020B0604020202020204" pitchFamily="34" charset="0"/>
              <a:buChar char="•"/>
            </a:pPr>
            <a:r>
              <a:rPr lang="en-US" sz="1500" dirty="0"/>
              <a:t>Areas of variance in data are where items can be best discriminated and key underlying phenomena observed</a:t>
            </a:r>
          </a:p>
          <a:p>
            <a:pPr lvl="1">
              <a:lnSpc>
                <a:spcPct val="90000"/>
              </a:lnSpc>
            </a:pPr>
            <a:r>
              <a:rPr lang="en-US" sz="1350" dirty="0"/>
              <a:t>Areas of greatest “signal” in the data</a:t>
            </a:r>
          </a:p>
          <a:p>
            <a:pPr marL="457200" indent="-285750">
              <a:lnSpc>
                <a:spcPct val="90000"/>
              </a:lnSpc>
              <a:spcBef>
                <a:spcPct val="60000"/>
              </a:spcBef>
              <a:buFont typeface="Arial" panose="020B0604020202020204" pitchFamily="34" charset="0"/>
              <a:buChar char="•"/>
            </a:pPr>
            <a:r>
              <a:rPr lang="en-US" sz="1500" dirty="0"/>
              <a:t>If two items or dimensions are highly correlated or dependent</a:t>
            </a:r>
          </a:p>
          <a:p>
            <a:pPr lvl="1">
              <a:lnSpc>
                <a:spcPct val="90000"/>
              </a:lnSpc>
            </a:pPr>
            <a:r>
              <a:rPr lang="en-US" sz="1350" dirty="0"/>
              <a:t>They are likely to represent highly related phenomena</a:t>
            </a:r>
          </a:p>
          <a:p>
            <a:pPr lvl="1">
              <a:lnSpc>
                <a:spcPct val="90000"/>
              </a:lnSpc>
            </a:pPr>
            <a:r>
              <a:rPr lang="en-US" sz="1350" dirty="0"/>
              <a:t>If they tell us about the same underlying variance in the data, combining them to form a single measure is reasonable</a:t>
            </a:r>
          </a:p>
          <a:p>
            <a:pPr lvl="2">
              <a:lnSpc>
                <a:spcPct val="90000"/>
              </a:lnSpc>
            </a:pPr>
            <a:r>
              <a:rPr lang="en-US" sz="1200" dirty="0"/>
              <a:t>Parsimony - use fewer variables if they explain the same behavior.</a:t>
            </a:r>
          </a:p>
          <a:p>
            <a:pPr lvl="2">
              <a:lnSpc>
                <a:spcPct val="90000"/>
              </a:lnSpc>
            </a:pPr>
            <a:r>
              <a:rPr lang="en-US" sz="1200" dirty="0"/>
              <a:t>Reduction in Error - fewer redundant variables usually means less overfitting, less noise sensitivity, and more stable models</a:t>
            </a:r>
          </a:p>
          <a:p>
            <a:pPr marL="457200" indent="-285750">
              <a:lnSpc>
                <a:spcPct val="90000"/>
              </a:lnSpc>
              <a:spcBef>
                <a:spcPct val="60000"/>
              </a:spcBef>
              <a:buFont typeface="Arial" panose="020B0604020202020204" pitchFamily="34" charset="0"/>
              <a:buChar char="•"/>
            </a:pPr>
            <a:r>
              <a:rPr lang="en-US" sz="1500" dirty="0"/>
              <a:t>So, we want to combine related variables, and focus on uncorrelated or independent ones, especially those along which the observations have high variance</a:t>
            </a:r>
          </a:p>
          <a:p>
            <a:pPr marL="457200" indent="-285750">
              <a:lnSpc>
                <a:spcPct val="90000"/>
              </a:lnSpc>
              <a:spcBef>
                <a:spcPct val="60000"/>
              </a:spcBef>
              <a:buFont typeface="Arial" panose="020B0604020202020204" pitchFamily="34" charset="0"/>
              <a:buChar char="•"/>
            </a:pPr>
            <a:r>
              <a:rPr lang="da-DK" sz="1500" dirty="0"/>
              <a:t>We want a smaller set of variables that explain most of the variance in the original data, in more compact and insightful form</a:t>
            </a:r>
            <a:endParaRPr lang="en-US" sz="1500" dirty="0"/>
          </a:p>
        </p:txBody>
      </p:sp>
      <p:sp>
        <p:nvSpPr>
          <p:cNvPr id="2" name="Text Placeholder 1"/>
          <p:cNvSpPr>
            <a:spLocks noGrp="1"/>
          </p:cNvSpPr>
          <p:nvPr>
            <p:ph type="body" idx="2"/>
          </p:nvPr>
        </p:nvSpPr>
        <p:spPr/>
        <p:txBody>
          <a:bodyPr/>
          <a:lstStyle/>
          <a:p>
            <a:r>
              <a:rPr lang="en-US" dirty="0"/>
              <a:t>Basic Concept</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5" name="Rectangle 3"/>
          <p:cNvSpPr>
            <a:spLocks noGrp="1" noChangeArrowheads="1"/>
          </p:cNvSpPr>
          <p:nvPr>
            <p:ph type="body" idx="1"/>
          </p:nvPr>
        </p:nvSpPr>
        <p:spPr>
          <a:xfrm>
            <a:off x="304800" y="1120378"/>
            <a:ext cx="8305800" cy="3813572"/>
          </a:xfrm>
        </p:spPr>
        <p:txBody>
          <a:bodyPr/>
          <a:lstStyle/>
          <a:p>
            <a:pPr marL="457200" indent="-285750">
              <a:lnSpc>
                <a:spcPct val="90000"/>
              </a:lnSpc>
              <a:buFont typeface="Arial" panose="020B0604020202020204" pitchFamily="34" charset="0"/>
              <a:buChar char="•"/>
            </a:pPr>
            <a:r>
              <a:rPr lang="en-US" sz="1800" dirty="0"/>
              <a:t>What if the dependences and correlations are not so strong or direct? </a:t>
            </a:r>
          </a:p>
          <a:p>
            <a:pPr marL="457200" indent="-285750">
              <a:lnSpc>
                <a:spcPct val="90000"/>
              </a:lnSpc>
              <a:spcBef>
                <a:spcPct val="60000"/>
              </a:spcBef>
              <a:buFont typeface="Arial" panose="020B0604020202020204" pitchFamily="34" charset="0"/>
              <a:buChar char="•"/>
            </a:pPr>
            <a:r>
              <a:rPr lang="en-US" sz="1800" dirty="0"/>
              <a:t>And suppose you have 3 variables, or 4, or 5, or 10000?</a:t>
            </a:r>
          </a:p>
          <a:p>
            <a:pPr marL="457200" indent="-285750">
              <a:lnSpc>
                <a:spcPct val="90000"/>
              </a:lnSpc>
              <a:spcBef>
                <a:spcPct val="60000"/>
              </a:spcBef>
              <a:buFont typeface="Arial" panose="020B0604020202020204" pitchFamily="34" charset="0"/>
              <a:buChar char="•"/>
            </a:pPr>
            <a:r>
              <a:rPr lang="en-US" sz="1800" dirty="0"/>
              <a:t>Look for the phenomena underlying the observed covariance/co-dependence in a set of variables</a:t>
            </a:r>
          </a:p>
          <a:p>
            <a:pPr lvl="1">
              <a:lnSpc>
                <a:spcPct val="90000"/>
              </a:lnSpc>
            </a:pPr>
            <a:r>
              <a:rPr lang="en-US" sz="1500" dirty="0"/>
              <a:t>Once again, phenomena that are uncorrelated or independent, and especially those along which the data show high variance</a:t>
            </a:r>
          </a:p>
          <a:p>
            <a:pPr marL="457200" indent="-285750">
              <a:lnSpc>
                <a:spcPct val="90000"/>
              </a:lnSpc>
              <a:spcBef>
                <a:spcPct val="60000"/>
              </a:spcBef>
              <a:buFont typeface="Arial" panose="020B0604020202020204" pitchFamily="34" charset="0"/>
              <a:buChar char="•"/>
            </a:pPr>
            <a:r>
              <a:rPr lang="en-US" sz="1800" dirty="0"/>
              <a:t>These phenomena are called “factors” or “principal components” or “independent components,” depending on the methods used</a:t>
            </a:r>
          </a:p>
          <a:p>
            <a:pPr lvl="1">
              <a:lnSpc>
                <a:spcPct val="90000"/>
              </a:lnSpc>
            </a:pPr>
            <a:r>
              <a:rPr lang="en-US" sz="1500" dirty="0"/>
              <a:t>Factor analysis: based on variance/covariance/correlation. so it models shared variation and often includes an explicit notion of noise per variable.</a:t>
            </a:r>
          </a:p>
          <a:p>
            <a:pPr lvl="1">
              <a:lnSpc>
                <a:spcPct val="90000"/>
              </a:lnSpc>
            </a:pPr>
            <a:r>
              <a:rPr lang="en-US" sz="1500" dirty="0"/>
              <a:t>Independent Component Analysis: it aims for statistical independence, not just uncorrelated directions. That is useful when we believe observed signals are mixtures of independent sources—like mixed vibration sources or mixed interference in sensor signals.</a:t>
            </a:r>
          </a:p>
        </p:txBody>
      </p:sp>
      <p:sp>
        <p:nvSpPr>
          <p:cNvPr id="2" name="Text Placeholder 1"/>
          <p:cNvSpPr>
            <a:spLocks noGrp="1"/>
          </p:cNvSpPr>
          <p:nvPr>
            <p:ph type="body" idx="2"/>
          </p:nvPr>
        </p:nvSpPr>
        <p:spPr/>
        <p:txBody>
          <a:bodyPr/>
          <a:lstStyle/>
          <a:p>
            <a:r>
              <a:rPr lang="en-US" dirty="0"/>
              <a:t>Basic Concept</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ChangeArrowheads="1"/>
          </p:cNvSpPr>
          <p:nvPr/>
        </p:nvSpPr>
        <p:spPr bwMode="auto">
          <a:xfrm>
            <a:off x="476250" y="971550"/>
            <a:ext cx="691515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sz="1800" dirty="0"/>
              <a:t>We study phenomena that can not be directly observed </a:t>
            </a:r>
          </a:p>
          <a:p>
            <a:pPr lvl="1" eaLnBrk="1" hangingPunct="1"/>
            <a:r>
              <a:rPr lang="en-US" sz="1500" dirty="0"/>
              <a:t>ego, personality, intelligence in psychology</a:t>
            </a:r>
          </a:p>
          <a:p>
            <a:pPr lvl="1" eaLnBrk="1" hangingPunct="1"/>
            <a:r>
              <a:rPr lang="en-US" sz="1500" dirty="0"/>
              <a:t>Underlying factors that govern the observed data</a:t>
            </a:r>
          </a:p>
          <a:p>
            <a:pPr eaLnBrk="1" hangingPunct="1"/>
            <a:r>
              <a:rPr lang="en-US" sz="1800" dirty="0"/>
              <a:t> We want to identify and operate with underlying latent factors rather than the observed data  </a:t>
            </a:r>
          </a:p>
          <a:p>
            <a:pPr lvl="1" eaLnBrk="1" hangingPunct="1"/>
            <a:r>
              <a:rPr lang="en-US" sz="1500" dirty="0"/>
              <a:t>E.g. topics in news articles </a:t>
            </a:r>
          </a:p>
          <a:p>
            <a:pPr lvl="1" eaLnBrk="1" hangingPunct="1"/>
            <a:r>
              <a:rPr lang="en-US" sz="1500" dirty="0"/>
              <a:t>Transcription factors in genomics</a:t>
            </a:r>
          </a:p>
          <a:p>
            <a:pPr eaLnBrk="1" hangingPunct="1"/>
            <a:r>
              <a:rPr lang="en-US" sz="1800" dirty="0"/>
              <a:t>We want to discover and exploit hidden relationships</a:t>
            </a:r>
          </a:p>
          <a:p>
            <a:pPr lvl="1" eaLnBrk="1" hangingPunct="1"/>
            <a:r>
              <a:rPr lang="en-US" sz="1500" dirty="0"/>
              <a:t>“beautiful car” and “gorgeous automobile” are closely related</a:t>
            </a:r>
          </a:p>
          <a:p>
            <a:pPr lvl="1" eaLnBrk="1" hangingPunct="1"/>
            <a:r>
              <a:rPr lang="en-US" sz="1500" dirty="0"/>
              <a:t>So are “driver” and “automobile”</a:t>
            </a:r>
          </a:p>
          <a:p>
            <a:pPr lvl="1" eaLnBrk="1" hangingPunct="1"/>
            <a:r>
              <a:rPr lang="en-US" sz="1500" dirty="0"/>
              <a:t>But does your search engine know this?</a:t>
            </a:r>
          </a:p>
          <a:p>
            <a:pPr lvl="1" eaLnBrk="1" hangingPunct="1"/>
            <a:r>
              <a:rPr lang="en-US" sz="1500" dirty="0"/>
              <a:t>Reduces noise and error in results</a:t>
            </a:r>
          </a:p>
        </p:txBody>
      </p:sp>
      <p:sp>
        <p:nvSpPr>
          <p:cNvPr id="624643" name="Text Box 3"/>
          <p:cNvSpPr txBox="1">
            <a:spLocks noChangeArrowheads="1"/>
          </p:cNvSpPr>
          <p:nvPr/>
        </p:nvSpPr>
        <p:spPr bwMode="auto">
          <a:xfrm>
            <a:off x="304800" y="351651"/>
            <a:ext cx="645795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sz="3000" dirty="0">
                <a:solidFill>
                  <a:schemeClr val="tx2"/>
                </a:solidFill>
              </a:rPr>
              <a:t>Why Factor or Component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Rectangle 2"/>
          <p:cNvSpPr>
            <a:spLocks noChangeArrowheads="1"/>
          </p:cNvSpPr>
          <p:nvPr/>
        </p:nvSpPr>
        <p:spPr bwMode="auto">
          <a:xfrm>
            <a:off x="522514" y="1123950"/>
            <a:ext cx="7630886"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r>
              <a:rPr lang="en-US" sz="1800" dirty="0"/>
              <a:t>We have too many observations and dimensions</a:t>
            </a:r>
          </a:p>
          <a:p>
            <a:pPr lvl="1" eaLnBrk="1" hangingPunct="1"/>
            <a:r>
              <a:rPr lang="en-US" sz="1500" dirty="0"/>
              <a:t>To reason about or obtain insights from</a:t>
            </a:r>
          </a:p>
          <a:p>
            <a:pPr lvl="1" eaLnBrk="1" hangingPunct="1"/>
            <a:r>
              <a:rPr lang="en-US" sz="1500" dirty="0"/>
              <a:t>To visualize</a:t>
            </a:r>
          </a:p>
          <a:p>
            <a:pPr lvl="1" eaLnBrk="1" hangingPunct="1"/>
            <a:r>
              <a:rPr lang="en-US" sz="1500" dirty="0"/>
              <a:t>Too much noise in the data</a:t>
            </a:r>
          </a:p>
          <a:p>
            <a:pPr lvl="1" eaLnBrk="1" hangingPunct="1"/>
            <a:r>
              <a:rPr lang="en-US" sz="1500" dirty="0"/>
              <a:t>Need to “reduce” them to a smaller set of factors</a:t>
            </a:r>
          </a:p>
          <a:p>
            <a:pPr lvl="1" eaLnBrk="1" hangingPunct="1"/>
            <a:r>
              <a:rPr lang="en-US" sz="1500" dirty="0"/>
              <a:t>Better representation of data without losing much information</a:t>
            </a:r>
          </a:p>
          <a:p>
            <a:pPr lvl="1" eaLnBrk="1" hangingPunct="1"/>
            <a:r>
              <a:rPr lang="en-US" sz="1500" dirty="0"/>
              <a:t>Can build more effective data analyses on the reduced-dimensional space: classification, clustering, pattern recognition</a:t>
            </a:r>
          </a:p>
          <a:p>
            <a:pPr lvl="1" eaLnBrk="1" hangingPunct="1"/>
            <a:endParaRPr lang="en-US" sz="1500" dirty="0"/>
          </a:p>
          <a:p>
            <a:pPr eaLnBrk="1" hangingPunct="1"/>
            <a:r>
              <a:rPr lang="en-US" sz="1800" dirty="0"/>
              <a:t>Combinations of observed variables may be more effective bases for insights, even if physical meaning is obscure</a:t>
            </a:r>
          </a:p>
        </p:txBody>
      </p:sp>
      <p:sp>
        <p:nvSpPr>
          <p:cNvPr id="638979" name="Text Box 3"/>
          <p:cNvSpPr txBox="1">
            <a:spLocks noChangeArrowheads="1"/>
          </p:cNvSpPr>
          <p:nvPr/>
        </p:nvSpPr>
        <p:spPr bwMode="auto">
          <a:xfrm>
            <a:off x="293914" y="351651"/>
            <a:ext cx="645795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sz="3000" dirty="0">
                <a:solidFill>
                  <a:schemeClr val="tx2"/>
                </a:solidFill>
              </a:rPr>
              <a:t>Why Factor or Component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3"/>
          <p:cNvSpPr>
            <a:spLocks noGrp="1" noChangeArrowheads="1"/>
          </p:cNvSpPr>
          <p:nvPr>
            <p:ph type="body" idx="1"/>
          </p:nvPr>
        </p:nvSpPr>
        <p:spPr/>
        <p:txBody>
          <a:bodyPr/>
          <a:lstStyle/>
          <a:p>
            <a:pPr marL="514350" indent="-342900" eaLnBrk="1" hangingPunct="1">
              <a:lnSpc>
                <a:spcPct val="90000"/>
              </a:lnSpc>
              <a:buFont typeface="Arial" panose="020B0604020202020204" pitchFamily="34" charset="0"/>
              <a:buChar char="•"/>
            </a:pPr>
            <a:r>
              <a:rPr lang="en-US" altLang="en-US" sz="2000" dirty="0"/>
              <a:t>An exploratory technique used to reduce the dimensionality of the data set to 2D or 3D</a:t>
            </a:r>
          </a:p>
          <a:p>
            <a:pPr marL="171450" indent="0" eaLnBrk="1" hangingPunct="1">
              <a:lnSpc>
                <a:spcPct val="90000"/>
              </a:lnSpc>
            </a:pPr>
            <a:endParaRPr lang="sv-SE" altLang="en-US" sz="2000" dirty="0"/>
          </a:p>
          <a:p>
            <a:pPr marL="514350" indent="-342900" eaLnBrk="1" hangingPunct="1">
              <a:lnSpc>
                <a:spcPct val="90000"/>
              </a:lnSpc>
              <a:buFont typeface="Arial" panose="020B0604020202020204" pitchFamily="34" charset="0"/>
              <a:buChar char="•"/>
            </a:pPr>
            <a:r>
              <a:rPr lang="sv-SE" altLang="en-US" sz="2000" dirty="0"/>
              <a:t>Can be used to:</a:t>
            </a:r>
          </a:p>
          <a:p>
            <a:pPr lvl="1" eaLnBrk="1" hangingPunct="1">
              <a:lnSpc>
                <a:spcPct val="90000"/>
              </a:lnSpc>
            </a:pPr>
            <a:r>
              <a:rPr lang="en-US" altLang="en-US" sz="1400" dirty="0"/>
              <a:t>Reduce number of dimensions in data</a:t>
            </a:r>
          </a:p>
          <a:p>
            <a:pPr lvl="1" eaLnBrk="1" hangingPunct="1">
              <a:lnSpc>
                <a:spcPct val="90000"/>
              </a:lnSpc>
            </a:pPr>
            <a:r>
              <a:rPr lang="en-US" altLang="en-US" sz="1400" dirty="0"/>
              <a:t>Find patterns in high-dimensional data</a:t>
            </a:r>
          </a:p>
          <a:p>
            <a:pPr lvl="1" eaLnBrk="1" hangingPunct="1">
              <a:lnSpc>
                <a:spcPct val="90000"/>
              </a:lnSpc>
            </a:pPr>
            <a:r>
              <a:rPr lang="en-US" altLang="en-US" sz="1400" dirty="0"/>
              <a:t>Visualize data of high dimensionality</a:t>
            </a:r>
          </a:p>
          <a:p>
            <a:pPr marL="438150" lvl="1" indent="0" eaLnBrk="1" hangingPunct="1">
              <a:lnSpc>
                <a:spcPct val="90000"/>
              </a:lnSpc>
              <a:buNone/>
            </a:pPr>
            <a:endParaRPr lang="en-US" altLang="en-US" sz="1400" dirty="0"/>
          </a:p>
          <a:p>
            <a:pPr marL="514350" indent="-342900" eaLnBrk="1" hangingPunct="1">
              <a:lnSpc>
                <a:spcPct val="90000"/>
              </a:lnSpc>
              <a:buFont typeface="Arial" panose="020B0604020202020204" pitchFamily="34" charset="0"/>
              <a:buChar char="•"/>
            </a:pPr>
            <a:r>
              <a:rPr lang="en-US" altLang="en-US" sz="2000" dirty="0"/>
              <a:t>Example applications:</a:t>
            </a:r>
          </a:p>
          <a:p>
            <a:pPr lvl="1" eaLnBrk="1" hangingPunct="1">
              <a:lnSpc>
                <a:spcPct val="90000"/>
              </a:lnSpc>
            </a:pPr>
            <a:r>
              <a:rPr lang="en-US" altLang="en-US" sz="1400" dirty="0"/>
              <a:t>Face recognition</a:t>
            </a:r>
          </a:p>
          <a:p>
            <a:pPr lvl="1" eaLnBrk="1" hangingPunct="1">
              <a:lnSpc>
                <a:spcPct val="90000"/>
              </a:lnSpc>
            </a:pPr>
            <a:r>
              <a:rPr lang="en-US" altLang="en-US" sz="1400" dirty="0"/>
              <a:t>Image compression</a:t>
            </a:r>
          </a:p>
          <a:p>
            <a:pPr lvl="1" eaLnBrk="1" hangingPunct="1">
              <a:lnSpc>
                <a:spcPct val="90000"/>
              </a:lnSpc>
            </a:pPr>
            <a:r>
              <a:rPr lang="en-US" altLang="en-US" sz="1400" dirty="0"/>
              <a:t>Gene expression analysis</a:t>
            </a:r>
          </a:p>
        </p:txBody>
      </p:sp>
      <p:sp>
        <p:nvSpPr>
          <p:cNvPr id="2" name="Text Placeholder 1"/>
          <p:cNvSpPr>
            <a:spLocks noGrp="1"/>
          </p:cNvSpPr>
          <p:nvPr>
            <p:ph type="body" idx="2"/>
          </p:nvPr>
        </p:nvSpPr>
        <p:spPr>
          <a:xfrm>
            <a:off x="304800" y="114300"/>
            <a:ext cx="6477000" cy="857250"/>
          </a:xfrm>
        </p:spPr>
        <p:txBody>
          <a:bodyPr>
            <a:normAutofit fontScale="92500"/>
          </a:bodyPr>
          <a:lstStyle/>
          <a:p>
            <a:r>
              <a:rPr lang="sv-SE" altLang="en-US" sz="2800" dirty="0"/>
              <a:t>Principal Components Analysis ( PCA)</a:t>
            </a:r>
            <a:endParaRPr lang="en-IN" dirty="0"/>
          </a:p>
        </p:txBody>
      </p:sp>
      <p:sp>
        <p:nvSpPr>
          <p:cNvPr id="25602" name="Slide Number Placeholder 5"/>
          <p:cNvSpPr>
            <a:spLocks noGrp="1"/>
          </p:cNvSpPr>
          <p:nvPr>
            <p:ph type="sldNum" idx="12"/>
          </p:nvPr>
        </p:nvSpPr>
        <p:spPr>
          <a:noFill/>
        </p:spPr>
        <p:txBody>
          <a:bodyPr/>
          <a:lstStyle>
            <a:lvl1pPr>
              <a:spcBef>
                <a:spcPct val="20000"/>
              </a:spcBef>
              <a:buChar char="•"/>
              <a:defRPr sz="2400">
                <a:solidFill>
                  <a:schemeClr val="tx1"/>
                </a:solidFill>
                <a:latin typeface="Times New Roman" panose="02020603050405020304" pitchFamily="18" charset="0"/>
              </a:defRPr>
            </a:lvl1pPr>
            <a:lvl2pPr marL="557213" indent="-214313">
              <a:spcBef>
                <a:spcPct val="20000"/>
              </a:spcBef>
              <a:buChar char="–"/>
              <a:defRPr sz="2100">
                <a:solidFill>
                  <a:schemeClr val="tx1"/>
                </a:solidFill>
                <a:latin typeface="Times New Roman" panose="02020603050405020304" pitchFamily="18" charset="0"/>
              </a:defRPr>
            </a:lvl2pPr>
            <a:lvl3pPr marL="857250" indent="-171450">
              <a:spcBef>
                <a:spcPct val="20000"/>
              </a:spcBef>
              <a:buChar char="•"/>
              <a:defRPr sz="1800">
                <a:solidFill>
                  <a:schemeClr val="tx1"/>
                </a:solidFill>
                <a:latin typeface="Times New Roman" panose="02020603050405020304" pitchFamily="18" charset="0"/>
              </a:defRPr>
            </a:lvl3pPr>
            <a:lvl4pPr marL="1200150" indent="-171450">
              <a:spcBef>
                <a:spcPct val="20000"/>
              </a:spcBef>
              <a:buChar char="–"/>
              <a:defRPr sz="1500">
                <a:solidFill>
                  <a:schemeClr val="tx1"/>
                </a:solidFill>
                <a:latin typeface="Times New Roman" panose="02020603050405020304" pitchFamily="18" charset="0"/>
              </a:defRPr>
            </a:lvl4pPr>
            <a:lvl5pPr marL="1543050" indent="-171450">
              <a:spcBef>
                <a:spcPct val="20000"/>
              </a:spcBef>
              <a:buChar char="»"/>
              <a:defRPr sz="1500">
                <a:solidFill>
                  <a:schemeClr val="tx1"/>
                </a:solidFill>
                <a:latin typeface="Times New Roman" panose="02020603050405020304" pitchFamily="18" charset="0"/>
              </a:defRPr>
            </a:lvl5pPr>
            <a:lvl6pPr marL="1885950" indent="-171450" eaLnBrk="0" fontAlgn="base" hangingPunct="0">
              <a:spcBef>
                <a:spcPct val="20000"/>
              </a:spcBef>
              <a:spcAft>
                <a:spcPct val="0"/>
              </a:spcAft>
              <a:buChar char="»"/>
              <a:defRPr sz="1500">
                <a:solidFill>
                  <a:schemeClr val="tx1"/>
                </a:solidFill>
                <a:latin typeface="Times New Roman" panose="02020603050405020304" pitchFamily="18" charset="0"/>
              </a:defRPr>
            </a:lvl6pPr>
            <a:lvl7pPr marL="2228850" indent="-171450" eaLnBrk="0" fontAlgn="base" hangingPunct="0">
              <a:spcBef>
                <a:spcPct val="20000"/>
              </a:spcBef>
              <a:spcAft>
                <a:spcPct val="0"/>
              </a:spcAft>
              <a:buChar char="»"/>
              <a:defRPr sz="1500">
                <a:solidFill>
                  <a:schemeClr val="tx1"/>
                </a:solidFill>
                <a:latin typeface="Times New Roman" panose="02020603050405020304" pitchFamily="18" charset="0"/>
              </a:defRPr>
            </a:lvl7pPr>
            <a:lvl8pPr marL="2571750" indent="-171450" eaLnBrk="0" fontAlgn="base" hangingPunct="0">
              <a:spcBef>
                <a:spcPct val="20000"/>
              </a:spcBef>
              <a:spcAft>
                <a:spcPct val="0"/>
              </a:spcAft>
              <a:buChar char="»"/>
              <a:defRPr sz="1500">
                <a:solidFill>
                  <a:schemeClr val="tx1"/>
                </a:solidFill>
                <a:latin typeface="Times New Roman" panose="02020603050405020304" pitchFamily="18" charset="0"/>
              </a:defRPr>
            </a:lvl8pPr>
            <a:lvl9pPr marL="2914650" indent="-171450" eaLnBrk="0" fontAlgn="base" hangingPunct="0">
              <a:spcBef>
                <a:spcPct val="20000"/>
              </a:spcBef>
              <a:spcAft>
                <a:spcPct val="0"/>
              </a:spcAft>
              <a:buChar char="»"/>
              <a:defRPr sz="1500">
                <a:solidFill>
                  <a:schemeClr val="tx1"/>
                </a:solidFill>
                <a:latin typeface="Times New Roman" panose="02020603050405020304" pitchFamily="18" charset="0"/>
              </a:defRPr>
            </a:lvl9pPr>
          </a:lstStyle>
          <a:p>
            <a:pPr>
              <a:spcBef>
                <a:spcPct val="0"/>
              </a:spcBef>
              <a:buFontTx/>
              <a:buNone/>
            </a:pPr>
            <a:fld id="{66D6CF7B-7723-407D-B8F2-8FFDAB5C1A9C}" type="slidenum">
              <a:rPr lang="en-US" altLang="en-US" sz="1050"/>
              <a:pPr>
                <a:spcBef>
                  <a:spcPct val="0"/>
                </a:spcBef>
                <a:buFontTx/>
                <a:buNone/>
              </a:pPr>
              <a:t>8</a:t>
            </a:fld>
            <a:endParaRPr lang="en-US" altLang="en-US" sz="10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marL="514350" indent="-342900">
              <a:buFont typeface="Arial" panose="020B0604020202020204" pitchFamily="34" charset="0"/>
              <a:buChar char="•"/>
            </a:pPr>
            <a:r>
              <a:rPr lang="en-US" sz="2000" dirty="0"/>
              <a:t>Clustering</a:t>
            </a:r>
          </a:p>
          <a:p>
            <a:pPr lvl="1"/>
            <a:r>
              <a:rPr lang="en-US" sz="1400" dirty="0"/>
              <a:t>One way to summarize a complex real-valued data point with a single categorical variable</a:t>
            </a:r>
          </a:p>
          <a:p>
            <a:pPr marL="514350" indent="-342900">
              <a:buFont typeface="Arial" panose="020B0604020202020204" pitchFamily="34" charset="0"/>
              <a:buChar char="•"/>
            </a:pPr>
            <a:r>
              <a:rPr lang="en-US" sz="2000" dirty="0"/>
              <a:t>Dimensionality reduction</a:t>
            </a:r>
          </a:p>
          <a:p>
            <a:pPr lvl="1"/>
            <a:r>
              <a:rPr lang="en-US" sz="1400" dirty="0"/>
              <a:t>Another way to simplify complex high-dimensional data</a:t>
            </a:r>
          </a:p>
          <a:p>
            <a:pPr lvl="1"/>
            <a:r>
              <a:rPr lang="en-US" sz="1400" dirty="0"/>
              <a:t>Summarize data with a lower dimensional real valued vector</a:t>
            </a:r>
          </a:p>
        </p:txBody>
      </p:sp>
      <p:sp>
        <p:nvSpPr>
          <p:cNvPr id="6" name="Text Placeholder 5"/>
          <p:cNvSpPr>
            <a:spLocks noGrp="1"/>
          </p:cNvSpPr>
          <p:nvPr>
            <p:ph type="body" idx="2"/>
          </p:nvPr>
        </p:nvSpPr>
        <p:spPr/>
        <p:txBody>
          <a:bodyPr/>
          <a:lstStyle/>
          <a:p>
            <a:r>
              <a:rPr lang="en-US" dirty="0"/>
              <a:t>Motivation</a:t>
            </a:r>
            <a:endParaRPr lang="en-IN" dirty="0"/>
          </a:p>
        </p:txBody>
      </p:sp>
      <p:sp>
        <p:nvSpPr>
          <p:cNvPr id="4" name="Content Placeholder 2"/>
          <p:cNvSpPr txBox="1">
            <a:spLocks/>
          </p:cNvSpPr>
          <p:nvPr/>
        </p:nvSpPr>
        <p:spPr>
          <a:xfrm>
            <a:off x="2437280" y="3498407"/>
            <a:ext cx="5604062" cy="1273128"/>
          </a:xfrm>
          <a:prstGeom prst="rect">
            <a:avLst/>
          </a:prstGeom>
          <a:ln w="28575">
            <a:solidFill>
              <a:srgbClr val="00B050"/>
            </a:solidFill>
          </a:ln>
        </p:spPr>
        <p:txBody>
          <a:bodyPr vert="horz" lIns="68580" tIns="34290" rIns="68580" bIns="34290" rtlCol="0">
            <a:normAutofit fontScale="925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100"/>
              <a:t>Given data points in </a:t>
            </a:r>
            <a:r>
              <a:rPr lang="en-US" sz="2100" i="1"/>
              <a:t>d</a:t>
            </a:r>
            <a:r>
              <a:rPr lang="en-US" sz="2100"/>
              <a:t> dimensions</a:t>
            </a:r>
          </a:p>
          <a:p>
            <a:r>
              <a:rPr lang="en-US" sz="2100"/>
              <a:t>Convert them to data points in </a:t>
            </a:r>
            <a:r>
              <a:rPr lang="en-US" sz="2100" i="1"/>
              <a:t>r&lt;d</a:t>
            </a:r>
            <a:r>
              <a:rPr lang="en-US" sz="2100"/>
              <a:t> dimensions</a:t>
            </a:r>
          </a:p>
          <a:p>
            <a:r>
              <a:rPr lang="en-US" sz="2100"/>
              <a:t>With minimal loss of information</a:t>
            </a:r>
            <a:endParaRPr lang="en-US" sz="2100" dirty="0"/>
          </a:p>
        </p:txBody>
      </p:sp>
      <p:sp>
        <p:nvSpPr>
          <p:cNvPr id="5" name="Right Arrow 4"/>
          <p:cNvSpPr/>
          <p:nvPr/>
        </p:nvSpPr>
        <p:spPr>
          <a:xfrm>
            <a:off x="1149724" y="3923180"/>
            <a:ext cx="988358" cy="423582"/>
          </a:xfrm>
          <a:prstGeom prst="right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693080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5" name="Straight Arrow Connector 4"/>
          <p:cNvCxnSpPr/>
          <p:nvPr/>
        </p:nvCxnSpPr>
        <p:spPr>
          <a:xfrm flipH="1" flipV="1">
            <a:off x="1405494" y="1019487"/>
            <a:ext cx="11064" cy="2773368"/>
          </a:xfrm>
          <a:prstGeom prst="straightConnector1">
            <a:avLst/>
          </a:prstGeom>
          <a:ln w="1905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1219200" y="3602057"/>
            <a:ext cx="3352800" cy="0"/>
          </a:xfrm>
          <a:prstGeom prst="straightConnector1">
            <a:avLst/>
          </a:prstGeom>
          <a:ln w="1905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6" name="Cross 35"/>
          <p:cNvSpPr/>
          <p:nvPr/>
        </p:nvSpPr>
        <p:spPr>
          <a:xfrm rot="2734294">
            <a:off x="1568762" y="3149912"/>
            <a:ext cx="216165" cy="216165"/>
          </a:xfrm>
          <a:prstGeom prst="plus">
            <a:avLst>
              <a:gd name="adj" fmla="val 46579"/>
            </a:avLst>
          </a:prstGeom>
          <a:solidFill>
            <a:srgbClr val="C00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ross 18"/>
          <p:cNvSpPr/>
          <p:nvPr/>
        </p:nvSpPr>
        <p:spPr>
          <a:xfrm rot="2734294">
            <a:off x="1949762" y="3073712"/>
            <a:ext cx="216165" cy="216165"/>
          </a:xfrm>
          <a:prstGeom prst="plus">
            <a:avLst>
              <a:gd name="adj" fmla="val 46579"/>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ross 21"/>
          <p:cNvSpPr/>
          <p:nvPr/>
        </p:nvSpPr>
        <p:spPr>
          <a:xfrm rot="2734294">
            <a:off x="2329874" y="2387912"/>
            <a:ext cx="216165" cy="216165"/>
          </a:xfrm>
          <a:prstGeom prst="plus">
            <a:avLst>
              <a:gd name="adj" fmla="val 46579"/>
            </a:avLst>
          </a:prstGeom>
          <a:solidFill>
            <a:srgbClr val="00CC00"/>
          </a:solid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ross 23"/>
          <p:cNvSpPr/>
          <p:nvPr/>
        </p:nvSpPr>
        <p:spPr>
          <a:xfrm rot="2734294">
            <a:off x="2787962" y="2159312"/>
            <a:ext cx="216165" cy="216165"/>
          </a:xfrm>
          <a:prstGeom prst="plus">
            <a:avLst>
              <a:gd name="adj" fmla="val 46579"/>
            </a:avLst>
          </a:prstGeom>
          <a:solidFill>
            <a:srgbClr val="993366"/>
          </a:solidFill>
          <a:ln w="19050">
            <a:solidFill>
              <a:srgbClr val="993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ross 24"/>
          <p:cNvSpPr/>
          <p:nvPr/>
        </p:nvSpPr>
        <p:spPr>
          <a:xfrm rot="2734294">
            <a:off x="3168074" y="1929824"/>
            <a:ext cx="216165" cy="216165"/>
          </a:xfrm>
          <a:prstGeom prst="plus">
            <a:avLst>
              <a:gd name="adj" fmla="val 46579"/>
            </a:avLst>
          </a:prstGeom>
          <a:solidFill>
            <a:schemeClr val="accent6">
              <a:lumMod val="75000"/>
            </a:schemeClr>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ross 25"/>
          <p:cNvSpPr/>
          <p:nvPr/>
        </p:nvSpPr>
        <p:spPr>
          <a:xfrm rot="2734294">
            <a:off x="3403598" y="1568513"/>
            <a:ext cx="216165" cy="216165"/>
          </a:xfrm>
          <a:prstGeom prst="plus">
            <a:avLst>
              <a:gd name="adj" fmla="val 46579"/>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ross 26"/>
          <p:cNvSpPr/>
          <p:nvPr/>
        </p:nvSpPr>
        <p:spPr>
          <a:xfrm rot="2734294">
            <a:off x="3777674" y="1473512"/>
            <a:ext cx="216165" cy="216165"/>
          </a:xfrm>
          <a:prstGeom prst="plus">
            <a:avLst>
              <a:gd name="adj" fmla="val 46579"/>
            </a:avLst>
          </a:prstGeom>
          <a:solidFill>
            <a:srgbClr val="0000CC"/>
          </a:solidFill>
          <a:ln w="1905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ross 28"/>
          <p:cNvSpPr/>
          <p:nvPr/>
        </p:nvSpPr>
        <p:spPr>
          <a:xfrm rot="2734294">
            <a:off x="4006274" y="1167824"/>
            <a:ext cx="216165" cy="216165"/>
          </a:xfrm>
          <a:prstGeom prst="plus">
            <a:avLst>
              <a:gd name="adj" fmla="val 46579"/>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p:nvPr/>
        </p:nvCxnSpPr>
        <p:spPr>
          <a:xfrm>
            <a:off x="1219200" y="4414314"/>
            <a:ext cx="3352800" cy="0"/>
          </a:xfrm>
          <a:prstGeom prst="straightConnector1">
            <a:avLst/>
          </a:prstGeom>
          <a:ln w="1905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custDataLst>
              <p:tags r:id="rId1"/>
            </p:custDataLst>
          </p:nvPr>
        </p:nvPicPr>
        <p:blipFill>
          <a:blip r:embed="rId13" cstate="print">
            <a:extLst>
              <a:ext uri="{28A0092B-C50C-407E-A947-70E740481C1C}">
                <a14:useLocalDpi xmlns:a14="http://schemas.microsoft.com/office/drawing/2010/main" val="0"/>
              </a:ext>
            </a:extLst>
          </a:blip>
          <a:stretch>
            <a:fillRect/>
          </a:stretch>
        </p:blipFill>
        <p:spPr>
          <a:xfrm>
            <a:off x="3886201" y="4644820"/>
            <a:ext cx="192405" cy="150495"/>
          </a:xfrm>
          <a:prstGeom prst="rect">
            <a:avLst/>
          </a:prstGeom>
        </p:spPr>
      </p:pic>
      <p:sp>
        <p:nvSpPr>
          <p:cNvPr id="28" name="Cross 27"/>
          <p:cNvSpPr/>
          <p:nvPr/>
        </p:nvSpPr>
        <p:spPr>
          <a:xfrm rot="2734294">
            <a:off x="1568762" y="4305788"/>
            <a:ext cx="216165" cy="216165"/>
          </a:xfrm>
          <a:prstGeom prst="plus">
            <a:avLst>
              <a:gd name="adj" fmla="val 46579"/>
            </a:avLst>
          </a:prstGeom>
          <a:solidFill>
            <a:srgbClr val="C00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ross 30"/>
          <p:cNvSpPr/>
          <p:nvPr/>
        </p:nvSpPr>
        <p:spPr>
          <a:xfrm rot="2734294">
            <a:off x="1949762" y="4300838"/>
            <a:ext cx="216165" cy="216165"/>
          </a:xfrm>
          <a:prstGeom prst="plus">
            <a:avLst>
              <a:gd name="adj" fmla="val 46579"/>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ross 32"/>
          <p:cNvSpPr/>
          <p:nvPr/>
        </p:nvSpPr>
        <p:spPr>
          <a:xfrm rot="2734294">
            <a:off x="2329874" y="4292912"/>
            <a:ext cx="216165" cy="216165"/>
          </a:xfrm>
          <a:prstGeom prst="plus">
            <a:avLst>
              <a:gd name="adj" fmla="val 46579"/>
            </a:avLst>
          </a:prstGeom>
          <a:solidFill>
            <a:srgbClr val="00CC00"/>
          </a:solidFill>
          <a:ln w="19050">
            <a:solidFill>
              <a:srgbClr val="00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ross 33"/>
          <p:cNvSpPr/>
          <p:nvPr/>
        </p:nvSpPr>
        <p:spPr>
          <a:xfrm rot="2734294">
            <a:off x="2787962" y="4293913"/>
            <a:ext cx="216165" cy="216165"/>
          </a:xfrm>
          <a:prstGeom prst="plus">
            <a:avLst>
              <a:gd name="adj" fmla="val 46579"/>
            </a:avLst>
          </a:prstGeom>
          <a:solidFill>
            <a:srgbClr val="993366"/>
          </a:solidFill>
          <a:ln w="19050">
            <a:solidFill>
              <a:srgbClr val="993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Cross 34"/>
          <p:cNvSpPr/>
          <p:nvPr/>
        </p:nvSpPr>
        <p:spPr>
          <a:xfrm rot="2734294">
            <a:off x="3168074" y="4293913"/>
            <a:ext cx="216165" cy="216165"/>
          </a:xfrm>
          <a:prstGeom prst="plus">
            <a:avLst>
              <a:gd name="adj" fmla="val 46579"/>
            </a:avLst>
          </a:prstGeom>
          <a:solidFill>
            <a:schemeClr val="accent6">
              <a:lumMod val="75000"/>
            </a:schemeClr>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ross 36"/>
          <p:cNvSpPr/>
          <p:nvPr/>
        </p:nvSpPr>
        <p:spPr>
          <a:xfrm rot="2734294">
            <a:off x="3403598" y="4293913"/>
            <a:ext cx="216165" cy="216165"/>
          </a:xfrm>
          <a:prstGeom prst="plus">
            <a:avLst>
              <a:gd name="adj" fmla="val 46579"/>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ross 37"/>
          <p:cNvSpPr/>
          <p:nvPr/>
        </p:nvSpPr>
        <p:spPr>
          <a:xfrm rot="2734294">
            <a:off x="3777674" y="4293913"/>
            <a:ext cx="216165" cy="216165"/>
          </a:xfrm>
          <a:prstGeom prst="plus">
            <a:avLst>
              <a:gd name="adj" fmla="val 46579"/>
            </a:avLst>
          </a:prstGeom>
          <a:solidFill>
            <a:srgbClr val="0000CC"/>
          </a:solidFill>
          <a:ln w="1905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Cross 38"/>
          <p:cNvSpPr/>
          <p:nvPr/>
        </p:nvSpPr>
        <p:spPr>
          <a:xfrm rot="2734294">
            <a:off x="4006274" y="4294802"/>
            <a:ext cx="216165" cy="216165"/>
          </a:xfrm>
          <a:prstGeom prst="plus">
            <a:avLst>
              <a:gd name="adj" fmla="val 46579"/>
            </a:avLst>
          </a:prstGeom>
          <a:solidFill>
            <a:srgbClr val="00B050"/>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5011287" y="971551"/>
            <a:ext cx="3751714" cy="954107"/>
          </a:xfrm>
          <a:prstGeom prst="rect">
            <a:avLst/>
          </a:prstGeom>
          <a:noFill/>
        </p:spPr>
        <p:txBody>
          <a:bodyPr wrap="square" rtlCol="0">
            <a:spAutoFit/>
          </a:bodyPr>
          <a:lstStyle/>
          <a:p>
            <a:r>
              <a:rPr lang="en-US" sz="2800" dirty="0"/>
              <a:t>Reduce data from </a:t>
            </a:r>
          </a:p>
          <a:p>
            <a:r>
              <a:rPr lang="en-US" sz="2800" dirty="0"/>
              <a:t>2D to 1D</a:t>
            </a:r>
          </a:p>
        </p:txBody>
      </p:sp>
      <p:pic>
        <p:nvPicPr>
          <p:cNvPr id="10" name="Picture 9"/>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a:off x="5129151" y="2038350"/>
            <a:ext cx="492823" cy="299656"/>
          </a:xfrm>
          <a:prstGeom prst="rect">
            <a:avLst/>
          </a:prstGeom>
        </p:spPr>
      </p:pic>
      <p:pic>
        <p:nvPicPr>
          <p:cNvPr id="11" name="Picture 10"/>
          <p:cNvPicPr>
            <a:picLocks noChangeAspect="1"/>
          </p:cNvPicPr>
          <p:nvPr>
            <p:custDataLst>
              <p:tags r:id="rId3"/>
            </p:custDataLst>
          </p:nvPr>
        </p:nvPicPr>
        <p:blipFill>
          <a:blip r:embed="rId15" cstate="print">
            <a:extLst>
              <a:ext uri="{28A0092B-C50C-407E-A947-70E740481C1C}">
                <a14:useLocalDpi xmlns:a14="http://schemas.microsoft.com/office/drawing/2010/main" val="0"/>
              </a:ext>
            </a:extLst>
          </a:blip>
          <a:stretch>
            <a:fillRect/>
          </a:stretch>
        </p:blipFill>
        <p:spPr>
          <a:xfrm>
            <a:off x="6705600" y="2045909"/>
            <a:ext cx="884110" cy="302133"/>
          </a:xfrm>
          <a:prstGeom prst="rect">
            <a:avLst/>
          </a:prstGeom>
        </p:spPr>
      </p:pic>
      <p:pic>
        <p:nvPicPr>
          <p:cNvPr id="12" name="Picture 11"/>
          <p:cNvPicPr>
            <a:picLocks noChangeAspect="1"/>
          </p:cNvPicPr>
          <p:nvPr>
            <p:custDataLst>
              <p:tags r:id="rId4"/>
            </p:custDataLst>
          </p:nvPr>
        </p:nvPicPr>
        <p:blipFill>
          <a:blip r:embed="rId16" cstate="print">
            <a:extLst>
              <a:ext uri="{28A0092B-C50C-407E-A947-70E740481C1C}">
                <a14:useLocalDpi xmlns:a14="http://schemas.microsoft.com/office/drawing/2010/main" val="0"/>
              </a:ext>
            </a:extLst>
          </a:blip>
          <a:stretch>
            <a:fillRect/>
          </a:stretch>
        </p:blipFill>
        <p:spPr>
          <a:xfrm>
            <a:off x="6705600" y="2579563"/>
            <a:ext cx="884110" cy="302133"/>
          </a:xfrm>
          <a:prstGeom prst="rect">
            <a:avLst/>
          </a:prstGeom>
        </p:spPr>
      </p:pic>
      <p:pic>
        <p:nvPicPr>
          <p:cNvPr id="14" name="Picture 13"/>
          <p:cNvPicPr>
            <a:picLocks noChangeAspect="1"/>
          </p:cNvPicPr>
          <p:nvPr>
            <p:custDataLst>
              <p:tags r:id="rId5"/>
            </p:custDataLst>
          </p:nvPr>
        </p:nvPicPr>
        <p:blipFill>
          <a:blip r:embed="rId17" cstate="print">
            <a:extLst>
              <a:ext uri="{28A0092B-C50C-407E-A947-70E740481C1C}">
                <a14:useLocalDpi xmlns:a14="http://schemas.microsoft.com/office/drawing/2010/main" val="0"/>
              </a:ext>
            </a:extLst>
          </a:blip>
          <a:stretch>
            <a:fillRect/>
          </a:stretch>
        </p:blipFill>
        <p:spPr>
          <a:xfrm>
            <a:off x="5129151" y="2582040"/>
            <a:ext cx="492823" cy="299656"/>
          </a:xfrm>
          <a:prstGeom prst="rect">
            <a:avLst/>
          </a:prstGeom>
        </p:spPr>
      </p:pic>
      <p:pic>
        <p:nvPicPr>
          <p:cNvPr id="15" name="Picture 14"/>
          <p:cNvPicPr>
            <a:picLocks noChangeAspect="1"/>
          </p:cNvPicPr>
          <p:nvPr>
            <p:custDataLst>
              <p:tags r:id="rId6"/>
            </p:custDataLst>
          </p:nvPr>
        </p:nvPicPr>
        <p:blipFill>
          <a:blip r:embed="rId18" cstate="print">
            <a:extLst>
              <a:ext uri="{28A0092B-C50C-407E-A947-70E740481C1C}">
                <a14:useLocalDpi xmlns:a14="http://schemas.microsoft.com/office/drawing/2010/main" val="0"/>
              </a:ext>
            </a:extLst>
          </a:blip>
          <a:stretch>
            <a:fillRect/>
          </a:stretch>
        </p:blipFill>
        <p:spPr>
          <a:xfrm>
            <a:off x="5129150" y="3625224"/>
            <a:ext cx="594360" cy="299656"/>
          </a:xfrm>
          <a:prstGeom prst="rect">
            <a:avLst/>
          </a:prstGeom>
        </p:spPr>
      </p:pic>
      <p:pic>
        <p:nvPicPr>
          <p:cNvPr id="16" name="Picture 15"/>
          <p:cNvPicPr>
            <a:picLocks noChangeAspect="1"/>
          </p:cNvPicPr>
          <p:nvPr>
            <p:custDataLst>
              <p:tags r:id="rId7"/>
            </p:custDataLst>
          </p:nvPr>
        </p:nvPicPr>
        <p:blipFill>
          <a:blip r:embed="rId19" cstate="print">
            <a:extLst>
              <a:ext uri="{28A0092B-C50C-407E-A947-70E740481C1C}">
                <a14:useLocalDpi xmlns:a14="http://schemas.microsoft.com/office/drawing/2010/main" val="0"/>
              </a:ext>
            </a:extLst>
          </a:blip>
          <a:stretch>
            <a:fillRect/>
          </a:stretch>
        </p:blipFill>
        <p:spPr>
          <a:xfrm>
            <a:off x="6705602" y="3641218"/>
            <a:ext cx="985647" cy="302133"/>
          </a:xfrm>
          <a:prstGeom prst="rect">
            <a:avLst/>
          </a:prstGeom>
        </p:spPr>
      </p:pic>
      <p:pic>
        <p:nvPicPr>
          <p:cNvPr id="17" name="Picture 16"/>
          <p:cNvPicPr>
            <a:picLocks noChangeAspect="1"/>
          </p:cNvPicPr>
          <p:nvPr>
            <p:custDataLst>
              <p:tags r:id="rId8"/>
            </p:custDataLst>
          </p:nvPr>
        </p:nvPicPr>
        <p:blipFill>
          <a:blip r:embed="rId20" cstate="print">
            <a:extLst>
              <a:ext uri="{28A0092B-C50C-407E-A947-70E740481C1C}">
                <a14:useLocalDpi xmlns:a14="http://schemas.microsoft.com/office/drawing/2010/main" val="0"/>
              </a:ext>
            </a:extLst>
          </a:blip>
          <a:stretch>
            <a:fillRect/>
          </a:stretch>
        </p:blipFill>
        <p:spPr>
          <a:xfrm>
            <a:off x="6363654" y="3173169"/>
            <a:ext cx="37147" cy="299656"/>
          </a:xfrm>
          <a:prstGeom prst="rect">
            <a:avLst/>
          </a:prstGeom>
        </p:spPr>
      </p:pic>
      <p:pic>
        <p:nvPicPr>
          <p:cNvPr id="41" name="Picture 40"/>
          <p:cNvPicPr>
            <a:picLocks noChangeAspect="1"/>
          </p:cNvPicPr>
          <p:nvPr>
            <p:custDataLst>
              <p:tags r:id="rId9"/>
            </p:custDataLst>
          </p:nvPr>
        </p:nvPicPr>
        <p:blipFill>
          <a:blip r:embed="rId21" cstate="print">
            <a:extLst>
              <a:ext uri="{28A0092B-C50C-407E-A947-70E740481C1C}">
                <a14:useLocalDpi xmlns:a14="http://schemas.microsoft.com/office/drawing/2010/main" val="0"/>
              </a:ext>
            </a:extLst>
          </a:blip>
          <a:stretch>
            <a:fillRect/>
          </a:stretch>
        </p:blipFill>
        <p:spPr>
          <a:xfrm>
            <a:off x="3733801" y="3792856"/>
            <a:ext cx="222885" cy="150495"/>
          </a:xfrm>
          <a:prstGeom prst="rect">
            <a:avLst/>
          </a:prstGeom>
        </p:spPr>
      </p:pic>
      <p:pic>
        <p:nvPicPr>
          <p:cNvPr id="42" name="Picture 41"/>
          <p:cNvPicPr>
            <a:picLocks noChangeAspect="1"/>
          </p:cNvPicPr>
          <p:nvPr>
            <p:custDataLst>
              <p:tags r:id="rId10"/>
            </p:custDataLst>
          </p:nvPr>
        </p:nvPicPr>
        <p:blipFill>
          <a:blip r:embed="rId22" cstate="print">
            <a:extLst>
              <a:ext uri="{28A0092B-C50C-407E-A947-70E740481C1C}">
                <a14:useLocalDpi xmlns:a14="http://schemas.microsoft.com/office/drawing/2010/main" val="0"/>
              </a:ext>
            </a:extLst>
          </a:blip>
          <a:stretch>
            <a:fillRect/>
          </a:stretch>
        </p:blipFill>
        <p:spPr>
          <a:xfrm rot="16200000">
            <a:off x="948612" y="2080705"/>
            <a:ext cx="228600" cy="150495"/>
          </a:xfrm>
          <a:prstGeom prst="rect">
            <a:avLst/>
          </a:prstGeom>
        </p:spPr>
      </p:pic>
      <p:sp>
        <p:nvSpPr>
          <p:cNvPr id="43" name="TextBox 42"/>
          <p:cNvSpPr txBox="1"/>
          <p:nvPr/>
        </p:nvSpPr>
        <p:spPr>
          <a:xfrm rot="16200000">
            <a:off x="509989" y="1367725"/>
            <a:ext cx="1048886" cy="369332"/>
          </a:xfrm>
          <a:prstGeom prst="rect">
            <a:avLst/>
          </a:prstGeom>
          <a:noFill/>
        </p:spPr>
        <p:txBody>
          <a:bodyPr wrap="square" rtlCol="0">
            <a:spAutoFit/>
          </a:bodyPr>
          <a:lstStyle/>
          <a:p>
            <a:r>
              <a:rPr lang="en-US" dirty="0"/>
              <a:t>(inches)</a:t>
            </a:r>
          </a:p>
        </p:txBody>
      </p:sp>
      <p:sp>
        <p:nvSpPr>
          <p:cNvPr id="44" name="TextBox 43"/>
          <p:cNvSpPr txBox="1"/>
          <p:nvPr/>
        </p:nvSpPr>
        <p:spPr>
          <a:xfrm>
            <a:off x="3962401" y="3659687"/>
            <a:ext cx="1048886" cy="369332"/>
          </a:xfrm>
          <a:prstGeom prst="rect">
            <a:avLst/>
          </a:prstGeom>
          <a:noFill/>
        </p:spPr>
        <p:txBody>
          <a:bodyPr wrap="square" rtlCol="0">
            <a:spAutoFit/>
          </a:bodyPr>
          <a:lstStyle/>
          <a:p>
            <a:r>
              <a:rPr lang="en-US" dirty="0"/>
              <a:t>(cm)</a:t>
            </a:r>
          </a:p>
        </p:txBody>
      </p:sp>
      <p:sp>
        <p:nvSpPr>
          <p:cNvPr id="46" name="Rectangle 45"/>
          <p:cNvSpPr/>
          <p:nvPr/>
        </p:nvSpPr>
        <p:spPr>
          <a:xfrm>
            <a:off x="8215795" y="4866501"/>
            <a:ext cx="1040670" cy="300082"/>
          </a:xfrm>
          <a:prstGeom prst="rect">
            <a:avLst/>
          </a:prstGeom>
        </p:spPr>
        <p:txBody>
          <a:bodyPr wrap="none">
            <a:spAutoFit/>
          </a:bodyPr>
          <a:lstStyle/>
          <a:p>
            <a:r>
              <a:rPr lang="en-US" sz="1350"/>
              <a:t>Andrew Ng</a:t>
            </a:r>
          </a:p>
        </p:txBody>
      </p:sp>
      <p:sp>
        <p:nvSpPr>
          <p:cNvPr id="3" name="Text Placeholder 2"/>
          <p:cNvSpPr>
            <a:spLocks noGrp="1"/>
          </p:cNvSpPr>
          <p:nvPr>
            <p:ph type="body" idx="2"/>
          </p:nvPr>
        </p:nvSpPr>
        <p:spPr>
          <a:xfrm>
            <a:off x="301632" y="66269"/>
            <a:ext cx="6324600" cy="857250"/>
          </a:xfrm>
        </p:spPr>
        <p:txBody>
          <a:bodyPr/>
          <a:lstStyle/>
          <a:p>
            <a:r>
              <a:rPr lang="en-US" sz="2400" dirty="0"/>
              <a:t>Data Compression</a:t>
            </a:r>
          </a:p>
        </p:txBody>
      </p:sp>
    </p:spTree>
    <p:extLst>
      <p:ext uri="{BB962C8B-B14F-4D97-AF65-F5344CB8AC3E}">
        <p14:creationId xmlns:p14="http://schemas.microsoft.com/office/powerpoint/2010/main" val="1562605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1" grpId="0" animBg="1"/>
      <p:bldP spid="33" grpId="0" animBg="1"/>
      <p:bldP spid="34" grpId="0" animBg="1"/>
      <p:bldP spid="35" grpId="0" animBg="1"/>
      <p:bldP spid="37" grpId="0" animBg="1"/>
      <p:bldP spid="38" grpId="0" animBg="1"/>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image14"/>
          <p:cNvPicPr>
            <a:picLocks noChangeAspect="1" noChangeArrowheads="1"/>
          </p:cNvPicPr>
          <p:nvPr>
            <p:custDataLst>
              <p:tags r:id="rId1"/>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152400" y="1171575"/>
            <a:ext cx="5410200" cy="376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3" name="Text Placeholder 2"/>
          <p:cNvSpPr>
            <a:spLocks noGrp="1"/>
          </p:cNvSpPr>
          <p:nvPr>
            <p:ph type="body" idx="2"/>
          </p:nvPr>
        </p:nvSpPr>
        <p:spPr/>
        <p:txBody>
          <a:bodyPr/>
          <a:lstStyle/>
          <a:p>
            <a:r>
              <a:rPr lang="en-US" dirty="0"/>
              <a:t>Pseudo Code</a:t>
            </a:r>
            <a:endParaRPr lang="en-IN" dirty="0"/>
          </a:p>
        </p:txBody>
      </p:sp>
      <p:sp>
        <p:nvSpPr>
          <p:cNvPr id="4" name="Rectangle 3"/>
          <p:cNvSpPr/>
          <p:nvPr/>
        </p:nvSpPr>
        <p:spPr>
          <a:xfrm>
            <a:off x="2590800" y="1200150"/>
            <a:ext cx="38100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079BE13-BD07-0753-4743-600B4F298525}"/>
              </a:ext>
            </a:extLst>
          </p:cNvPr>
          <p:cNvSpPr txBox="1"/>
          <p:nvPr/>
        </p:nvSpPr>
        <p:spPr>
          <a:xfrm>
            <a:off x="5715000" y="1094422"/>
            <a:ext cx="3333750" cy="600164"/>
          </a:xfrm>
          <a:prstGeom prst="rect">
            <a:avLst/>
          </a:prstGeom>
          <a:noFill/>
        </p:spPr>
        <p:txBody>
          <a:bodyPr wrap="square">
            <a:spAutoFit/>
          </a:bodyPr>
          <a:lstStyle/>
          <a:p>
            <a:r>
              <a:rPr lang="en-US" sz="1100" dirty="0"/>
              <a:t>Eigenvectors = directions (axes) in feature space.</a:t>
            </a:r>
          </a:p>
          <a:p>
            <a:r>
              <a:rPr lang="en-US" sz="1100" dirty="0"/>
              <a:t>Eigenvalues = how much variance exists along those directions.</a:t>
            </a:r>
          </a:p>
        </p:txBody>
      </p:sp>
      <p:sp>
        <p:nvSpPr>
          <p:cNvPr id="10" name="TextBox 9">
            <a:extLst>
              <a:ext uri="{FF2B5EF4-FFF2-40B4-BE49-F238E27FC236}">
                <a16:creationId xmlns:a16="http://schemas.microsoft.com/office/drawing/2014/main" id="{A29A6A54-D7CF-0A0C-03DF-3563E080EE6B}"/>
              </a:ext>
            </a:extLst>
          </p:cNvPr>
          <p:cNvSpPr txBox="1"/>
          <p:nvPr/>
        </p:nvSpPr>
        <p:spPr>
          <a:xfrm>
            <a:off x="4724400" y="3110359"/>
            <a:ext cx="4572000" cy="938719"/>
          </a:xfrm>
          <a:prstGeom prst="rect">
            <a:avLst/>
          </a:prstGeom>
          <a:noFill/>
        </p:spPr>
        <p:txBody>
          <a:bodyPr wrap="square">
            <a:spAutoFit/>
          </a:bodyPr>
          <a:lstStyle/>
          <a:p>
            <a:pPr marL="171450" indent="-171450">
              <a:buFont typeface="Arial" panose="020B0604020202020204" pitchFamily="34" charset="0"/>
              <a:buChar char="•"/>
            </a:pPr>
            <a:r>
              <a:rPr lang="en-US" sz="1100" dirty="0"/>
              <a:t>x is your original D-dimensional data point (e.g., one trip, one vehicle snapshot, one part).</a:t>
            </a:r>
          </a:p>
          <a:p>
            <a:pPr marL="171450" indent="-171450">
              <a:buFont typeface="Arial" panose="020B0604020202020204" pitchFamily="34" charset="0"/>
              <a:buChar char="•"/>
            </a:pPr>
            <a:r>
              <a:rPr lang="en-US" sz="1100" dirty="0"/>
              <a:t>(x − μ) means “center it.”</a:t>
            </a:r>
          </a:p>
          <a:p>
            <a:pPr marL="171450" indent="-171450">
              <a:buFont typeface="Arial" panose="020B0604020202020204" pitchFamily="34" charset="0"/>
              <a:buChar char="•"/>
            </a:pPr>
            <a:r>
              <a:rPr lang="en-US" sz="1100" dirty="0"/>
              <a:t>A is a matrix built from the selected eigenvectors.</a:t>
            </a:r>
          </a:p>
          <a:p>
            <a:pPr marL="171450" indent="-171450">
              <a:buFont typeface="Arial" panose="020B0604020202020204" pitchFamily="34" charset="0"/>
              <a:buChar char="•"/>
            </a:pPr>
            <a:r>
              <a:rPr lang="en-US" sz="1100" dirty="0"/>
              <a:t>y is the new r-dimensional representation (compressed features).</a:t>
            </a:r>
          </a:p>
        </p:txBody>
      </p:sp>
      <p:sp>
        <p:nvSpPr>
          <p:cNvPr id="12" name="TextBox 11">
            <a:extLst>
              <a:ext uri="{FF2B5EF4-FFF2-40B4-BE49-F238E27FC236}">
                <a16:creationId xmlns:a16="http://schemas.microsoft.com/office/drawing/2014/main" id="{A678BF9D-CF19-8BD9-5843-FE43CF01A79F}"/>
              </a:ext>
            </a:extLst>
          </p:cNvPr>
          <p:cNvSpPr txBox="1"/>
          <p:nvPr/>
        </p:nvSpPr>
        <p:spPr>
          <a:xfrm>
            <a:off x="4429125" y="4316476"/>
            <a:ext cx="4648200" cy="430887"/>
          </a:xfrm>
          <a:prstGeom prst="rect">
            <a:avLst/>
          </a:prstGeom>
          <a:noFill/>
        </p:spPr>
        <p:txBody>
          <a:bodyPr wrap="square">
            <a:spAutoFit/>
          </a:bodyPr>
          <a:lstStyle/>
          <a:p>
            <a:r>
              <a:rPr lang="en-US" sz="1100" dirty="0"/>
              <a:t>Multiplying by A is like taking dot-products with each principal direction and measuring “how much x lies along each direction.”</a:t>
            </a:r>
          </a:p>
        </p:txBody>
      </p:sp>
    </p:spTree>
    <p:extLst>
      <p:ext uri="{BB962C8B-B14F-4D97-AF65-F5344CB8AC3E}">
        <p14:creationId xmlns:p14="http://schemas.microsoft.com/office/powerpoint/2010/main" val="261142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marL="457200" indent="-285750">
              <a:buFont typeface="Arial" panose="020B0604020202020204" pitchFamily="34" charset="0"/>
              <a:buChar char="•"/>
            </a:pPr>
            <a:r>
              <a:rPr lang="en-US" sz="2400" dirty="0"/>
              <a:t>Variance and Covariance:</a:t>
            </a:r>
          </a:p>
          <a:p>
            <a:pPr lvl="1"/>
            <a:r>
              <a:rPr lang="en-US" sz="1600" dirty="0"/>
              <a:t>Measure of the “spread” of a set of points around their center of mass(mean)</a:t>
            </a:r>
          </a:p>
          <a:p>
            <a:pPr marL="457200" indent="-285750">
              <a:buFont typeface="Arial" panose="020B0604020202020204" pitchFamily="34" charset="0"/>
              <a:buChar char="•"/>
            </a:pPr>
            <a:r>
              <a:rPr lang="en-US" sz="2400" dirty="0"/>
              <a:t>Variance:</a:t>
            </a:r>
          </a:p>
          <a:p>
            <a:pPr lvl="1"/>
            <a:r>
              <a:rPr lang="en-US" sz="1600" dirty="0"/>
              <a:t>Measure of the deviation from the mean for points in one dimension</a:t>
            </a:r>
          </a:p>
          <a:p>
            <a:pPr marL="457200" indent="-285750">
              <a:buFont typeface="Arial" panose="020B0604020202020204" pitchFamily="34" charset="0"/>
              <a:buChar char="•"/>
            </a:pPr>
            <a:r>
              <a:rPr lang="en-US" sz="2400" dirty="0"/>
              <a:t>Covariance:</a:t>
            </a:r>
          </a:p>
          <a:p>
            <a:pPr lvl="1"/>
            <a:r>
              <a:rPr lang="en-US" sz="1600" dirty="0"/>
              <a:t>Measure of how much each of the dimensions vary from the mean with </a:t>
            </a:r>
            <a:r>
              <a:rPr lang="en-US" sz="1600" b="1" dirty="0">
                <a:solidFill>
                  <a:schemeClr val="accent6">
                    <a:lumMod val="75000"/>
                  </a:schemeClr>
                </a:solidFill>
              </a:rPr>
              <a:t>respect to each other</a:t>
            </a:r>
          </a:p>
          <a:p>
            <a:endParaRPr lang="en-US" sz="2000" dirty="0"/>
          </a:p>
        </p:txBody>
      </p:sp>
      <p:sp>
        <p:nvSpPr>
          <p:cNvPr id="6" name="Text Placeholder 5"/>
          <p:cNvSpPr>
            <a:spLocks noGrp="1"/>
          </p:cNvSpPr>
          <p:nvPr>
            <p:ph type="body" idx="2"/>
          </p:nvPr>
        </p:nvSpPr>
        <p:spPr/>
        <p:txBody>
          <a:bodyPr/>
          <a:lstStyle/>
          <a:p>
            <a:r>
              <a:rPr lang="en-US" dirty="0"/>
              <a:t>Covariance</a:t>
            </a:r>
            <a:endParaRPr lang="en-IN" dirty="0"/>
          </a:p>
        </p:txBody>
      </p:sp>
      <p:sp>
        <p:nvSpPr>
          <p:cNvPr id="4" name="Right Arrow 3"/>
          <p:cNvSpPr/>
          <p:nvPr/>
        </p:nvSpPr>
        <p:spPr>
          <a:xfrm>
            <a:off x="619283" y="4060507"/>
            <a:ext cx="728663" cy="4543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TextBox 4"/>
          <p:cNvSpPr txBox="1"/>
          <p:nvPr/>
        </p:nvSpPr>
        <p:spPr>
          <a:xfrm>
            <a:off x="1447800" y="3808700"/>
            <a:ext cx="7467600" cy="957955"/>
          </a:xfrm>
          <a:prstGeom prst="rect">
            <a:avLst/>
          </a:prstGeom>
          <a:noFill/>
          <a:ln w="28575">
            <a:solidFill>
              <a:schemeClr val="accent6"/>
            </a:solidFill>
          </a:ln>
        </p:spPr>
        <p:txBody>
          <a:bodyPr wrap="square" rtlCol="0">
            <a:spAutoFit/>
          </a:bodyPr>
          <a:lstStyle/>
          <a:p>
            <a:pPr marL="214313" indent="-214313">
              <a:buFont typeface="Arial" charset="0"/>
              <a:buChar char="•"/>
            </a:pPr>
            <a:r>
              <a:rPr lang="en-US" sz="1875" b="1" dirty="0"/>
              <a:t>Covariance is measured between two dimensions </a:t>
            </a:r>
          </a:p>
          <a:p>
            <a:pPr marL="214313" indent="-214313">
              <a:buFont typeface="Arial" charset="0"/>
              <a:buChar char="•"/>
            </a:pPr>
            <a:r>
              <a:rPr lang="en-US" sz="1875" b="1" dirty="0"/>
              <a:t>Covariance sees if there is a relation between two dimensions </a:t>
            </a:r>
          </a:p>
          <a:p>
            <a:pPr marL="214313" indent="-214313">
              <a:buFont typeface="Arial" charset="0"/>
              <a:buChar char="•"/>
            </a:pPr>
            <a:r>
              <a:rPr lang="en-US" sz="1875" b="1" dirty="0"/>
              <a:t>Covariance between one dimension is the variance</a:t>
            </a:r>
          </a:p>
        </p:txBody>
      </p:sp>
    </p:spTree>
    <p:extLst>
      <p:ext uri="{BB962C8B-B14F-4D97-AF65-F5344CB8AC3E}">
        <p14:creationId xmlns:p14="http://schemas.microsoft.com/office/powerpoint/2010/main" val="1681434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lstStyle/>
          <a:p>
            <a:pPr marL="514350" indent="-342900">
              <a:buFont typeface="Arial" panose="020B0604020202020204" pitchFamily="34" charset="0"/>
              <a:buChar char="•"/>
            </a:pPr>
            <a:r>
              <a:rPr lang="en-US" sz="2400" dirty="0"/>
              <a:t>Used to find relationships between dimensions in high dimensional data sets</a:t>
            </a:r>
          </a:p>
        </p:txBody>
      </p:sp>
      <p:sp>
        <p:nvSpPr>
          <p:cNvPr id="6" name="Text Placeholder 5"/>
          <p:cNvSpPr>
            <a:spLocks noGrp="1"/>
          </p:cNvSpPr>
          <p:nvPr>
            <p:ph type="body" idx="2"/>
          </p:nvPr>
        </p:nvSpPr>
        <p:spPr/>
        <p:txBody>
          <a:bodyPr/>
          <a:lstStyle/>
          <a:p>
            <a:r>
              <a:rPr lang="en-US" dirty="0"/>
              <a:t>Covariance</a:t>
            </a:r>
            <a:endParaRPr lang="en-IN"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4600" y="1928727"/>
            <a:ext cx="5224463" cy="932940"/>
          </a:xfrm>
          <a:prstGeom prst="rect">
            <a:avLst/>
          </a:prstGeom>
        </p:spPr>
      </p:pic>
      <p:pic>
        <p:nvPicPr>
          <p:cNvPr id="7" name="Picture 6">
            <a:extLst>
              <a:ext uri="{FF2B5EF4-FFF2-40B4-BE49-F238E27FC236}">
                <a16:creationId xmlns:a16="http://schemas.microsoft.com/office/drawing/2014/main" id="{3CFFC37B-2A74-AB3A-D1F7-BD8BF5F3E654}"/>
              </a:ext>
            </a:extLst>
          </p:cNvPr>
          <p:cNvPicPr>
            <a:picLocks noChangeAspect="1"/>
          </p:cNvPicPr>
          <p:nvPr/>
        </p:nvPicPr>
        <p:blipFill>
          <a:blip r:embed="rId4"/>
          <a:stretch>
            <a:fillRect/>
          </a:stretch>
        </p:blipFill>
        <p:spPr>
          <a:xfrm>
            <a:off x="783004" y="2817614"/>
            <a:ext cx="4353352" cy="2074962"/>
          </a:xfrm>
          <a:prstGeom prst="rect">
            <a:avLst/>
          </a:prstGeom>
        </p:spPr>
      </p:pic>
    </p:spTree>
    <p:extLst>
      <p:ext uri="{BB962C8B-B14F-4D97-AF65-F5344CB8AC3E}">
        <p14:creationId xmlns:p14="http://schemas.microsoft.com/office/powerpoint/2010/main" val="218480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Placeholder 3"/>
          <p:cNvSpPr>
            <a:spLocks noGrp="1"/>
          </p:cNvSpPr>
          <p:nvPr>
            <p:ph type="body" idx="2"/>
          </p:nvPr>
        </p:nvSpPr>
        <p:spPr/>
        <p:txBody>
          <a:bodyPr/>
          <a:lstStyle/>
          <a:p>
            <a:r>
              <a:rPr lang="en-US" dirty="0"/>
              <a:t>Principal Component Analysis</a:t>
            </a:r>
            <a:endParaRPr lang="en-I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5910" y="1072229"/>
            <a:ext cx="3895725" cy="44767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4802" y="1776527"/>
            <a:ext cx="1543050" cy="361950"/>
          </a:xfrm>
          <a:prstGeom prst="rect">
            <a:avLst/>
          </a:prstGeom>
        </p:spPr>
      </p:pic>
      <p:grpSp>
        <p:nvGrpSpPr>
          <p:cNvPr id="12" name="Group 11"/>
          <p:cNvGrpSpPr/>
          <p:nvPr/>
        </p:nvGrpSpPr>
        <p:grpSpPr>
          <a:xfrm>
            <a:off x="3585910" y="3048528"/>
            <a:ext cx="2686050" cy="1733550"/>
            <a:chOff x="3368040" y="3759200"/>
            <a:chExt cx="3581400" cy="2311400"/>
          </a:xfrm>
        </p:grpSpPr>
        <p:grpSp>
          <p:nvGrpSpPr>
            <p:cNvPr id="10" name="Group 9"/>
            <p:cNvGrpSpPr/>
            <p:nvPr/>
          </p:nvGrpSpPr>
          <p:grpSpPr>
            <a:xfrm>
              <a:off x="3368040" y="3759200"/>
              <a:ext cx="3581400" cy="2311400"/>
              <a:chOff x="3368040" y="3759200"/>
              <a:chExt cx="3581400" cy="2311400"/>
            </a:xfrm>
          </p:grpSpPr>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68040" y="3759200"/>
                <a:ext cx="3581400" cy="2311400"/>
              </a:xfrm>
              <a:prstGeom prst="rect">
                <a:avLst/>
              </a:prstGeom>
            </p:spPr>
          </p:pic>
          <p:sp>
            <p:nvSpPr>
              <p:cNvPr id="9" name="Rounded Rectangle 8"/>
              <p:cNvSpPr/>
              <p:nvPr/>
            </p:nvSpPr>
            <p:spPr>
              <a:xfrm>
                <a:off x="5552440" y="5634990"/>
                <a:ext cx="334010" cy="331470"/>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a:p>
            </p:txBody>
          </p:sp>
        </p:grpSp>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567680" y="5706931"/>
              <a:ext cx="318770" cy="290643"/>
            </a:xfrm>
            <a:prstGeom prst="rect">
              <a:avLst/>
            </a:prstGeom>
          </p:spPr>
        </p:pic>
      </p:grpSp>
      <p:sp>
        <p:nvSpPr>
          <p:cNvPr id="17" name="Rectangle 16"/>
          <p:cNvSpPr/>
          <p:nvPr/>
        </p:nvSpPr>
        <p:spPr>
          <a:xfrm>
            <a:off x="720625" y="1064491"/>
            <a:ext cx="1332416" cy="438582"/>
          </a:xfrm>
          <a:prstGeom prst="rect">
            <a:avLst/>
          </a:prstGeom>
        </p:spPr>
        <p:txBody>
          <a:bodyPr wrap="none">
            <a:spAutoFit/>
          </a:bodyPr>
          <a:lstStyle/>
          <a:p>
            <a:pPr marL="342900" indent="-342900">
              <a:buFont typeface="Arial" panose="020B0604020202020204" pitchFamily="34" charset="0"/>
              <a:buChar char="•"/>
            </a:pPr>
            <a:r>
              <a:rPr lang="en-US" sz="2250" b="1" dirty="0"/>
              <a:t>Input:</a:t>
            </a:r>
          </a:p>
        </p:txBody>
      </p:sp>
      <p:sp>
        <p:nvSpPr>
          <p:cNvPr id="18" name="Rectangle 17"/>
          <p:cNvSpPr/>
          <p:nvPr/>
        </p:nvSpPr>
        <p:spPr>
          <a:xfrm>
            <a:off x="716614" y="2263698"/>
            <a:ext cx="8274986" cy="784830"/>
          </a:xfrm>
          <a:prstGeom prst="rect">
            <a:avLst/>
          </a:prstGeom>
        </p:spPr>
        <p:txBody>
          <a:bodyPr wrap="square">
            <a:spAutoFit/>
          </a:bodyPr>
          <a:lstStyle/>
          <a:p>
            <a:pPr marL="342900" indent="-342900">
              <a:buFont typeface="Arial" panose="020B0604020202020204" pitchFamily="34" charset="0"/>
              <a:buChar char="•"/>
            </a:pPr>
            <a:r>
              <a:rPr lang="en-US" sz="2250" b="1" dirty="0"/>
              <a:t>Summarize a </a:t>
            </a:r>
            <a:r>
              <a:rPr lang="en-US" sz="2250" b="1" i="1" dirty="0"/>
              <a:t>D</a:t>
            </a:r>
            <a:r>
              <a:rPr lang="en-US" sz="2250" b="1" dirty="0"/>
              <a:t> dimensional vector </a:t>
            </a:r>
            <a:r>
              <a:rPr lang="en-US" sz="2250" b="1" i="1" dirty="0"/>
              <a:t>X</a:t>
            </a:r>
            <a:r>
              <a:rPr lang="en-US" sz="2250" b="1" dirty="0"/>
              <a:t> with </a:t>
            </a:r>
            <a:r>
              <a:rPr lang="en-US" sz="2250" b="1" i="1" dirty="0"/>
              <a:t>K</a:t>
            </a:r>
            <a:r>
              <a:rPr lang="en-US" sz="2250" b="1" dirty="0"/>
              <a:t> dimensional feature vector </a:t>
            </a:r>
            <a:r>
              <a:rPr lang="en-US" sz="2250" b="1" i="1" dirty="0"/>
              <a:t>h(x)</a:t>
            </a:r>
          </a:p>
        </p:txBody>
      </p:sp>
      <p:sp>
        <p:nvSpPr>
          <p:cNvPr id="21" name="Rectangle 20"/>
          <p:cNvSpPr/>
          <p:nvPr/>
        </p:nvSpPr>
        <p:spPr>
          <a:xfrm>
            <a:off x="716614" y="1672510"/>
            <a:ext cx="3352200" cy="438582"/>
          </a:xfrm>
          <a:prstGeom prst="rect">
            <a:avLst/>
          </a:prstGeom>
        </p:spPr>
        <p:txBody>
          <a:bodyPr wrap="none">
            <a:spAutoFit/>
          </a:bodyPr>
          <a:lstStyle/>
          <a:p>
            <a:pPr marL="342900" indent="-342900">
              <a:buFont typeface="Arial" panose="020B0604020202020204" pitchFamily="34" charset="0"/>
              <a:buChar char="•"/>
            </a:pPr>
            <a:r>
              <a:rPr lang="en-US" sz="2250" b="1" dirty="0"/>
              <a:t>Set of basis vectors:</a:t>
            </a:r>
          </a:p>
        </p:txBody>
      </p:sp>
    </p:spTree>
    <p:extLst>
      <p:ext uri="{BB962C8B-B14F-4D97-AF65-F5344CB8AC3E}">
        <p14:creationId xmlns:p14="http://schemas.microsoft.com/office/powerpoint/2010/main" val="2119695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2"/>
          </p:nvPr>
        </p:nvSpPr>
        <p:spPr/>
        <p:txBody>
          <a:bodyPr/>
          <a:lstStyle/>
          <a:p>
            <a:r>
              <a:rPr lang="en-US" dirty="0"/>
              <a:t>Principal Component Analysis</a:t>
            </a:r>
            <a:endParaRPr lang="en-IN" dirty="0"/>
          </a:p>
        </p:txBody>
      </p:sp>
      <p:pic>
        <p:nvPicPr>
          <p:cNvPr id="4" name="Content Placeholder 3"/>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6553200" y="1891254"/>
            <a:ext cx="1609725" cy="514350"/>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5288" y="2713237"/>
            <a:ext cx="1524000" cy="47625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8731" y="3830389"/>
            <a:ext cx="1724025" cy="409575"/>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38731" y="4239964"/>
            <a:ext cx="3248025" cy="495300"/>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0436" y="1183934"/>
            <a:ext cx="2809875" cy="590550"/>
          </a:xfrm>
          <a:prstGeom prst="rect">
            <a:avLst/>
          </a:prstGeom>
        </p:spPr>
      </p:pic>
      <p:sp>
        <p:nvSpPr>
          <p:cNvPr id="11" name="Rectangle 10"/>
          <p:cNvSpPr/>
          <p:nvPr/>
        </p:nvSpPr>
        <p:spPr>
          <a:xfrm>
            <a:off x="486289" y="1929138"/>
            <a:ext cx="4352474" cy="438582"/>
          </a:xfrm>
          <a:prstGeom prst="rect">
            <a:avLst/>
          </a:prstGeom>
        </p:spPr>
        <p:txBody>
          <a:bodyPr wrap="none">
            <a:spAutoFit/>
          </a:bodyPr>
          <a:lstStyle/>
          <a:p>
            <a:r>
              <a:rPr lang="en-US" sz="2250" b="1" dirty="0"/>
              <a:t>Basis vectors are orthonormal</a:t>
            </a:r>
          </a:p>
        </p:txBody>
      </p:sp>
      <p:sp>
        <p:nvSpPr>
          <p:cNvPr id="12" name="Rectangle 11"/>
          <p:cNvSpPr/>
          <p:nvPr/>
        </p:nvSpPr>
        <p:spPr>
          <a:xfrm>
            <a:off x="486289" y="3224233"/>
            <a:ext cx="4144083" cy="438582"/>
          </a:xfrm>
          <a:prstGeom prst="rect">
            <a:avLst/>
          </a:prstGeom>
        </p:spPr>
        <p:txBody>
          <a:bodyPr wrap="none">
            <a:spAutoFit/>
          </a:bodyPr>
          <a:lstStyle/>
          <a:p>
            <a:r>
              <a:rPr lang="en-US" sz="2250" b="1" dirty="0"/>
              <a:t>New data representation </a:t>
            </a:r>
            <a:r>
              <a:rPr lang="en-US" sz="2250" b="1" i="1" dirty="0"/>
              <a:t>h(x)</a:t>
            </a:r>
          </a:p>
        </p:txBody>
      </p:sp>
    </p:spTree>
    <p:extLst>
      <p:ext uri="{BB962C8B-B14F-4D97-AF65-F5344CB8AC3E}">
        <p14:creationId xmlns:p14="http://schemas.microsoft.com/office/powerpoint/2010/main" val="2138178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0435" y="1003720"/>
            <a:ext cx="2809875" cy="590550"/>
          </a:xfrm>
          <a:prstGeom prst="rect">
            <a:avLst/>
          </a:prstGeom>
        </p:spPr>
      </p:pic>
      <p:sp>
        <p:nvSpPr>
          <p:cNvPr id="3" name="Text Placeholder 2"/>
          <p:cNvSpPr>
            <a:spLocks noGrp="1"/>
          </p:cNvSpPr>
          <p:nvPr>
            <p:ph type="body" idx="2"/>
          </p:nvPr>
        </p:nvSpPr>
        <p:spPr/>
        <p:txBody>
          <a:bodyPr/>
          <a:lstStyle/>
          <a:p>
            <a:r>
              <a:rPr lang="en-US" dirty="0"/>
              <a:t>Principal Component Analysis</a:t>
            </a:r>
            <a:endParaRPr lang="en-IN" dirty="0"/>
          </a:p>
        </p:txBody>
      </p:sp>
      <p:sp>
        <p:nvSpPr>
          <p:cNvPr id="12" name="Rectangle 11"/>
          <p:cNvSpPr/>
          <p:nvPr/>
        </p:nvSpPr>
        <p:spPr>
          <a:xfrm>
            <a:off x="528770" y="1621418"/>
            <a:ext cx="4144083" cy="438582"/>
          </a:xfrm>
          <a:prstGeom prst="rect">
            <a:avLst/>
          </a:prstGeom>
        </p:spPr>
        <p:txBody>
          <a:bodyPr wrap="none">
            <a:spAutoFit/>
          </a:bodyPr>
          <a:lstStyle/>
          <a:p>
            <a:r>
              <a:rPr lang="en-US" sz="2250" b="1" dirty="0"/>
              <a:t>New data representation </a:t>
            </a:r>
            <a:r>
              <a:rPr lang="en-US" sz="2250" b="1" i="1" dirty="0"/>
              <a:t>h(x)</a:t>
            </a: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8509" y="2060000"/>
            <a:ext cx="2143125" cy="571500"/>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9063" y="3366676"/>
            <a:ext cx="2781300" cy="638175"/>
          </a:xfrm>
          <a:prstGeom prst="rect">
            <a:avLst/>
          </a:prstGeom>
        </p:spPr>
      </p:pic>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8509" y="2570908"/>
            <a:ext cx="3209925" cy="742950"/>
          </a:xfrm>
          <a:prstGeom prst="rect">
            <a:avLst/>
          </a:prstGeom>
        </p:spPr>
      </p:pic>
      <p:sp>
        <p:nvSpPr>
          <p:cNvPr id="16" name="TextBox 15"/>
          <p:cNvSpPr txBox="1"/>
          <p:nvPr/>
        </p:nvSpPr>
        <p:spPr>
          <a:xfrm>
            <a:off x="528770" y="3658692"/>
            <a:ext cx="1702710" cy="338554"/>
          </a:xfrm>
          <a:prstGeom prst="rect">
            <a:avLst/>
          </a:prstGeom>
          <a:noFill/>
        </p:spPr>
        <p:txBody>
          <a:bodyPr wrap="none" rtlCol="0">
            <a:spAutoFit/>
          </a:bodyPr>
          <a:lstStyle/>
          <a:p>
            <a:r>
              <a:rPr lang="en-US" sz="1600" b="1" dirty="0">
                <a:solidFill>
                  <a:schemeClr val="accent6"/>
                </a:solidFill>
              </a:rPr>
              <a:t>Empirical mean</a:t>
            </a:r>
          </a:p>
        </p:txBody>
      </p:sp>
      <p:cxnSp>
        <p:nvCxnSpPr>
          <p:cNvPr id="17" name="Straight Arrow Connector 16"/>
          <p:cNvCxnSpPr/>
          <p:nvPr/>
        </p:nvCxnSpPr>
        <p:spPr>
          <a:xfrm>
            <a:off x="2319893" y="3827969"/>
            <a:ext cx="56183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48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9220" name="Rectangle 4"/>
          <p:cNvSpPr>
            <a:spLocks noGrp="1" noChangeArrowheads="1"/>
          </p:cNvSpPr>
          <p:nvPr>
            <p:ph type="body" idx="1"/>
          </p:nvPr>
        </p:nvSpPr>
        <p:spPr/>
        <p:txBody>
          <a:bodyPr/>
          <a:lstStyle/>
          <a:p>
            <a:pPr>
              <a:lnSpc>
                <a:spcPct val="90000"/>
              </a:lnSpc>
            </a:pPr>
            <a:r>
              <a:rPr lang="en-US" sz="1800" dirty="0"/>
              <a:t>E((</a:t>
            </a:r>
            <a:r>
              <a:rPr lang="en-US" sz="1800" b="1" dirty="0" err="1"/>
              <a:t>u.x</a:t>
            </a:r>
            <a:r>
              <a:rPr lang="en-US" sz="1800" dirty="0"/>
              <a:t>)</a:t>
            </a:r>
            <a:r>
              <a:rPr lang="en-US" sz="1800" baseline="30000" dirty="0"/>
              <a:t>2</a:t>
            </a:r>
            <a:r>
              <a:rPr lang="en-US" sz="1800" dirty="0"/>
              <a:t>)  = E ((</a:t>
            </a:r>
            <a:r>
              <a:rPr lang="en-US" sz="1800" b="1" dirty="0" err="1"/>
              <a:t>u.x</a:t>
            </a:r>
            <a:r>
              <a:rPr lang="en-US" sz="1800" dirty="0"/>
              <a:t>) (</a:t>
            </a:r>
            <a:r>
              <a:rPr lang="en-US" sz="1800" b="1" dirty="0" err="1"/>
              <a:t>u.x</a:t>
            </a:r>
            <a:r>
              <a:rPr lang="en-US" sz="1800" dirty="0"/>
              <a:t>)</a:t>
            </a:r>
            <a:r>
              <a:rPr lang="en-US" sz="1800" baseline="30000" dirty="0"/>
              <a:t>T</a:t>
            </a:r>
            <a:r>
              <a:rPr lang="en-US" sz="1800" dirty="0"/>
              <a:t>) = E (</a:t>
            </a:r>
            <a:r>
              <a:rPr lang="en-US" sz="1800" b="1" dirty="0" err="1"/>
              <a:t>u.x.x</a:t>
            </a:r>
            <a:r>
              <a:rPr lang="en-US" sz="1800" dirty="0"/>
              <a:t> </a:t>
            </a:r>
            <a:r>
              <a:rPr lang="en-US" sz="1800" baseline="30000" dirty="0" err="1"/>
              <a:t>T</a:t>
            </a:r>
            <a:r>
              <a:rPr lang="en-US" sz="1800" dirty="0" err="1"/>
              <a:t>.</a:t>
            </a:r>
            <a:r>
              <a:rPr lang="en-US" sz="1800" b="1" dirty="0" err="1"/>
              <a:t>u</a:t>
            </a:r>
            <a:r>
              <a:rPr lang="en-US" sz="1800" baseline="30000" dirty="0" err="1"/>
              <a:t>T</a:t>
            </a:r>
            <a:r>
              <a:rPr lang="en-US" sz="1800" dirty="0"/>
              <a:t>)</a:t>
            </a:r>
          </a:p>
          <a:p>
            <a:pPr>
              <a:spcBef>
                <a:spcPct val="60000"/>
              </a:spcBef>
            </a:pPr>
            <a:r>
              <a:rPr lang="en-US" sz="1800" dirty="0"/>
              <a:t>The matrix </a:t>
            </a:r>
            <a:r>
              <a:rPr lang="en-US" sz="1800" b="1" dirty="0"/>
              <a:t>C</a:t>
            </a:r>
            <a:r>
              <a:rPr lang="en-US" sz="1800" dirty="0"/>
              <a:t> = </a:t>
            </a:r>
            <a:r>
              <a:rPr lang="en-US" sz="1800" b="1" dirty="0" err="1"/>
              <a:t>x.x</a:t>
            </a:r>
            <a:r>
              <a:rPr lang="en-US" sz="1800" baseline="30000" dirty="0" err="1"/>
              <a:t>T</a:t>
            </a:r>
            <a:r>
              <a:rPr lang="en-US" sz="1800" dirty="0"/>
              <a:t> contains the correlations (similarities) of the original axes based on how the data values project onto them</a:t>
            </a:r>
          </a:p>
          <a:p>
            <a:pPr>
              <a:spcBef>
                <a:spcPct val="60000"/>
              </a:spcBef>
            </a:pPr>
            <a:r>
              <a:rPr lang="en-US" sz="1800" dirty="0"/>
              <a:t>So we are looking for w that maximizes </a:t>
            </a:r>
            <a:r>
              <a:rPr lang="en-US" sz="1800" b="1" dirty="0" err="1"/>
              <a:t>uCu</a:t>
            </a:r>
            <a:r>
              <a:rPr lang="en-US" sz="1800" baseline="30000" dirty="0" err="1"/>
              <a:t>T</a:t>
            </a:r>
            <a:r>
              <a:rPr lang="en-US" sz="1800" dirty="0"/>
              <a:t>, subject to </a:t>
            </a:r>
            <a:r>
              <a:rPr lang="en-US" sz="1800" b="1" dirty="0"/>
              <a:t>u</a:t>
            </a:r>
            <a:r>
              <a:rPr lang="en-US" sz="1800" dirty="0"/>
              <a:t> being unit-length</a:t>
            </a:r>
          </a:p>
          <a:p>
            <a:pPr>
              <a:spcBef>
                <a:spcPct val="60000"/>
              </a:spcBef>
            </a:pPr>
            <a:r>
              <a:rPr lang="en-US" sz="1800" dirty="0"/>
              <a:t>It is maximized when w is the principal eigenvector of the matrix </a:t>
            </a:r>
            <a:r>
              <a:rPr lang="en-US" sz="1800" b="1" dirty="0"/>
              <a:t>C</a:t>
            </a:r>
            <a:r>
              <a:rPr lang="en-US" sz="1800" dirty="0"/>
              <a:t>, in which case</a:t>
            </a:r>
          </a:p>
          <a:p>
            <a:pPr lvl="1">
              <a:lnSpc>
                <a:spcPct val="90000"/>
              </a:lnSpc>
            </a:pPr>
            <a:r>
              <a:rPr lang="en-US" sz="1650" b="1" dirty="0" err="1"/>
              <a:t>uCu</a:t>
            </a:r>
            <a:r>
              <a:rPr lang="en-US" sz="1650" baseline="30000" dirty="0" err="1"/>
              <a:t>T</a:t>
            </a:r>
            <a:r>
              <a:rPr lang="en-US" sz="1650" baseline="30000" dirty="0"/>
              <a:t> </a:t>
            </a:r>
            <a:r>
              <a:rPr lang="en-US" sz="1650" dirty="0"/>
              <a:t>= </a:t>
            </a:r>
            <a:r>
              <a:rPr lang="en-US" sz="1650" b="1" dirty="0" err="1"/>
              <a:t>u</a:t>
            </a:r>
            <a:r>
              <a:rPr lang="en-US" sz="1650" dirty="0" err="1">
                <a:latin typeface="Symbol" panose="05050102010706020507" pitchFamily="18" charset="2"/>
              </a:rPr>
              <a:t>l</a:t>
            </a:r>
            <a:r>
              <a:rPr lang="en-US" sz="1650" b="1" dirty="0" err="1"/>
              <a:t>u</a:t>
            </a:r>
            <a:r>
              <a:rPr lang="en-US" sz="1650" baseline="30000" dirty="0" err="1"/>
              <a:t>T</a:t>
            </a:r>
            <a:r>
              <a:rPr lang="en-US" sz="1650" baseline="30000" dirty="0"/>
              <a:t> </a:t>
            </a:r>
            <a:r>
              <a:rPr lang="en-US" sz="1650" dirty="0"/>
              <a:t>= </a:t>
            </a:r>
            <a:r>
              <a:rPr lang="en-US" sz="1650" dirty="0">
                <a:latin typeface="Symbol" panose="05050102010706020507" pitchFamily="18" charset="2"/>
              </a:rPr>
              <a:t>l</a:t>
            </a:r>
            <a:r>
              <a:rPr lang="en-US" sz="1650" dirty="0"/>
              <a:t> if </a:t>
            </a:r>
            <a:r>
              <a:rPr lang="en-US" sz="1650" b="1" dirty="0"/>
              <a:t>u</a:t>
            </a:r>
            <a:r>
              <a:rPr lang="en-US" sz="1650" dirty="0"/>
              <a:t> is unit-length, where </a:t>
            </a:r>
            <a:r>
              <a:rPr lang="en-US" sz="1650" dirty="0">
                <a:latin typeface="Symbol" panose="05050102010706020507" pitchFamily="18" charset="2"/>
              </a:rPr>
              <a:t>l</a:t>
            </a:r>
            <a:r>
              <a:rPr lang="en-US" sz="1650" dirty="0"/>
              <a:t> is the principal eigenvalue of the correlation matrix C</a:t>
            </a:r>
          </a:p>
          <a:p>
            <a:pPr lvl="1">
              <a:lnSpc>
                <a:spcPct val="90000"/>
              </a:lnSpc>
            </a:pPr>
            <a:r>
              <a:rPr lang="en-US" sz="1500" dirty="0"/>
              <a:t>The eigenvalue denotes the amount of variability captured along that dimension</a:t>
            </a:r>
          </a:p>
        </p:txBody>
      </p:sp>
      <p:sp>
        <p:nvSpPr>
          <p:cNvPr id="649219" name="Rectangle 3"/>
          <p:cNvSpPr>
            <a:spLocks noGrp="1" noChangeArrowheads="1"/>
          </p:cNvSpPr>
          <p:nvPr>
            <p:ph type="title" idx="4294967295"/>
          </p:nvPr>
        </p:nvSpPr>
        <p:spPr>
          <a:xfrm>
            <a:off x="152400" y="57150"/>
            <a:ext cx="5829300" cy="857250"/>
          </a:xfrm>
        </p:spPr>
        <p:txBody>
          <a:bodyPr>
            <a:normAutofit fontScale="90000"/>
          </a:bodyPr>
          <a:lstStyle/>
          <a:p>
            <a:r>
              <a:rPr lang="en-US" dirty="0"/>
              <a:t>Computing the Components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23" name="Rectangle 3"/>
          <p:cNvSpPr>
            <a:spLocks noGrp="1" noChangeArrowheads="1"/>
          </p:cNvSpPr>
          <p:nvPr>
            <p:ph type="body" idx="1"/>
          </p:nvPr>
        </p:nvSpPr>
        <p:spPr/>
        <p:txBody>
          <a:bodyPr/>
          <a:lstStyle/>
          <a:p>
            <a:pPr>
              <a:buFontTx/>
              <a:buNone/>
            </a:pPr>
            <a:r>
              <a:rPr lang="en-US" sz="1500"/>
              <a:t>Maximise</a:t>
            </a:r>
            <a:r>
              <a:rPr lang="en-US" sz="1500" b="1"/>
              <a:t> u</a:t>
            </a:r>
            <a:r>
              <a:rPr lang="en-US" sz="1500" baseline="30000"/>
              <a:t>T</a:t>
            </a:r>
            <a:r>
              <a:rPr lang="en-US" sz="1800" b="1"/>
              <a:t>xx</a:t>
            </a:r>
            <a:r>
              <a:rPr lang="en-US" sz="1500" baseline="30000"/>
              <a:t>T</a:t>
            </a:r>
            <a:r>
              <a:rPr lang="en-US" sz="1500" b="1"/>
              <a:t>u </a:t>
            </a:r>
            <a:r>
              <a:rPr lang="en-US" sz="1500"/>
              <a:t>s.t</a:t>
            </a:r>
            <a:r>
              <a:rPr lang="en-US" sz="1500" b="1"/>
              <a:t> </a:t>
            </a:r>
            <a:r>
              <a:rPr lang="en-US" sz="1800" b="1"/>
              <a:t>u</a:t>
            </a:r>
            <a:r>
              <a:rPr lang="en-US" sz="1800" baseline="30000"/>
              <a:t>T</a:t>
            </a:r>
            <a:r>
              <a:rPr lang="en-US" sz="1800" b="1"/>
              <a:t>u</a:t>
            </a:r>
            <a:r>
              <a:rPr lang="en-US" sz="1800"/>
              <a:t> = 1 </a:t>
            </a:r>
          </a:p>
          <a:p>
            <a:pPr>
              <a:buFontTx/>
              <a:buNone/>
            </a:pPr>
            <a:r>
              <a:rPr lang="en-US" sz="1800"/>
              <a:t>Construct Langrangian  </a:t>
            </a:r>
            <a:r>
              <a:rPr lang="en-US" sz="1800" b="1"/>
              <a:t>u</a:t>
            </a:r>
            <a:r>
              <a:rPr lang="en-US" sz="1500" baseline="30000"/>
              <a:t>T</a:t>
            </a:r>
            <a:r>
              <a:rPr lang="en-US" sz="1800" b="1"/>
              <a:t>xx</a:t>
            </a:r>
            <a:r>
              <a:rPr lang="en-US" sz="1500" baseline="30000"/>
              <a:t>T</a:t>
            </a:r>
            <a:r>
              <a:rPr lang="en-US" sz="1800" b="1"/>
              <a:t>u</a:t>
            </a:r>
            <a:r>
              <a:rPr lang="en-US" sz="1500" b="1"/>
              <a:t> </a:t>
            </a:r>
            <a:r>
              <a:rPr lang="en-US" sz="1500"/>
              <a:t>–</a:t>
            </a:r>
            <a:r>
              <a:rPr lang="en-US" sz="1500" b="1"/>
              <a:t> </a:t>
            </a:r>
            <a:r>
              <a:rPr lang="el-GR" sz="1500">
                <a:latin typeface="Lucida Grande" pitchFamily="1" charset="0"/>
              </a:rPr>
              <a:t>λ</a:t>
            </a:r>
            <a:r>
              <a:rPr lang="en-US" sz="1800" b="1"/>
              <a:t>u</a:t>
            </a:r>
            <a:r>
              <a:rPr lang="en-US" sz="1800" baseline="30000"/>
              <a:t>T</a:t>
            </a:r>
            <a:r>
              <a:rPr lang="en-US" sz="1800" b="1"/>
              <a:t>u </a:t>
            </a:r>
          </a:p>
          <a:p>
            <a:pPr>
              <a:buFontTx/>
              <a:buNone/>
            </a:pPr>
            <a:r>
              <a:rPr lang="en-US" sz="1800"/>
              <a:t>Vector of partial derivatives set to zero</a:t>
            </a:r>
          </a:p>
          <a:p>
            <a:pPr>
              <a:buFontTx/>
              <a:buNone/>
            </a:pPr>
            <a:r>
              <a:rPr lang="en-US" sz="1800" b="1"/>
              <a:t>		xx</a:t>
            </a:r>
            <a:r>
              <a:rPr lang="en-US" sz="1500" baseline="30000"/>
              <a:t>T</a:t>
            </a:r>
            <a:r>
              <a:rPr lang="en-US" sz="1500" b="1"/>
              <a:t>u </a:t>
            </a:r>
            <a:r>
              <a:rPr lang="en-US" sz="1500"/>
              <a:t>–</a:t>
            </a:r>
            <a:r>
              <a:rPr lang="en-US" sz="1500" b="1"/>
              <a:t> </a:t>
            </a:r>
            <a:r>
              <a:rPr lang="el-GR" sz="1500">
                <a:latin typeface="Lucida Grande" pitchFamily="1" charset="0"/>
              </a:rPr>
              <a:t>λ</a:t>
            </a:r>
            <a:r>
              <a:rPr lang="en-US" sz="1800" b="1"/>
              <a:t>u </a:t>
            </a:r>
            <a:r>
              <a:rPr lang="en-US" sz="1800"/>
              <a:t>=</a:t>
            </a:r>
            <a:r>
              <a:rPr lang="en-US" sz="1800" b="1"/>
              <a:t> </a:t>
            </a:r>
            <a:r>
              <a:rPr lang="en-US" sz="1800"/>
              <a:t>(</a:t>
            </a:r>
            <a:r>
              <a:rPr lang="en-US" sz="1800" b="1"/>
              <a:t>xx</a:t>
            </a:r>
            <a:r>
              <a:rPr lang="en-US" sz="1500" baseline="30000"/>
              <a:t>T </a:t>
            </a:r>
            <a:r>
              <a:rPr lang="en-US" sz="1500"/>
              <a:t>–</a:t>
            </a:r>
            <a:r>
              <a:rPr lang="en-US" sz="1500" b="1"/>
              <a:t> </a:t>
            </a:r>
            <a:r>
              <a:rPr lang="el-GR" sz="1500">
                <a:latin typeface="Lucida Grande" pitchFamily="1" charset="0"/>
              </a:rPr>
              <a:t>λ</a:t>
            </a:r>
            <a:r>
              <a:rPr lang="en-GB" sz="1500" b="1"/>
              <a:t>I</a:t>
            </a:r>
            <a:r>
              <a:rPr lang="en-US" sz="1800"/>
              <a:t>) </a:t>
            </a:r>
            <a:r>
              <a:rPr lang="en-US" sz="1800" b="1"/>
              <a:t>u</a:t>
            </a:r>
            <a:r>
              <a:rPr lang="en-US" sz="1800"/>
              <a:t> = 0</a:t>
            </a:r>
          </a:p>
          <a:p>
            <a:pPr>
              <a:buFontTx/>
              <a:buNone/>
            </a:pPr>
            <a:r>
              <a:rPr lang="en-US" sz="1800"/>
              <a:t>As </a:t>
            </a:r>
            <a:r>
              <a:rPr lang="en-US" sz="1800" b="1"/>
              <a:t>u ≠ 0</a:t>
            </a:r>
            <a:r>
              <a:rPr lang="en-US" sz="1800"/>
              <a:t> then </a:t>
            </a:r>
            <a:r>
              <a:rPr lang="en-US" sz="1800" b="1"/>
              <a:t>u</a:t>
            </a:r>
            <a:r>
              <a:rPr lang="en-US" sz="1800"/>
              <a:t> must be an eigenvector of </a:t>
            </a:r>
            <a:r>
              <a:rPr lang="en-US" sz="1800" b="1"/>
              <a:t>xx</a:t>
            </a:r>
            <a:r>
              <a:rPr lang="en-US" sz="1500" baseline="30000"/>
              <a:t>T </a:t>
            </a:r>
            <a:r>
              <a:rPr lang="en-US" sz="1800"/>
              <a:t>with eigenvalue  </a:t>
            </a:r>
            <a:r>
              <a:rPr lang="el-GR" sz="1500">
                <a:latin typeface="Lucida Grande" pitchFamily="1" charset="0"/>
              </a:rPr>
              <a:t>λ</a:t>
            </a:r>
            <a:endParaRPr lang="el-GR" sz="1500"/>
          </a:p>
          <a:p>
            <a:pPr>
              <a:buFontTx/>
              <a:buNone/>
            </a:pPr>
            <a:endParaRPr lang="el-GR" sz="1500"/>
          </a:p>
        </p:txBody>
      </p:sp>
      <p:sp>
        <p:nvSpPr>
          <p:cNvPr id="747522" name="Rectangle 2"/>
          <p:cNvSpPr>
            <a:spLocks noGrp="1" noChangeArrowheads="1"/>
          </p:cNvSpPr>
          <p:nvPr>
            <p:ph type="title" idx="4294967295"/>
          </p:nvPr>
        </p:nvSpPr>
        <p:spPr>
          <a:xfrm>
            <a:off x="0" y="198438"/>
            <a:ext cx="5829300" cy="857250"/>
          </a:xfrm>
        </p:spPr>
        <p:txBody>
          <a:bodyPr/>
          <a:lstStyle/>
          <a:p>
            <a:r>
              <a:rPr lang="en-GB"/>
              <a:t>Why the Eigenvectors?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47523">
                                            <p:txEl>
                                              <p:pRg st="0" end="0"/>
                                            </p:txEl>
                                          </p:spTgt>
                                        </p:tgtEl>
                                        <p:attrNameLst>
                                          <p:attrName>style.visibility</p:attrName>
                                        </p:attrNameLst>
                                      </p:cBhvr>
                                      <p:to>
                                        <p:strVal val="visible"/>
                                      </p:to>
                                    </p:set>
                                    <p:anim calcmode="lin" valueType="num">
                                      <p:cBhvr additive="base">
                                        <p:cTn id="7" dur="500" fill="hold"/>
                                        <p:tgtEl>
                                          <p:spTgt spid="7475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475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47523">
                                            <p:txEl>
                                              <p:pRg st="1" end="1"/>
                                            </p:txEl>
                                          </p:spTgt>
                                        </p:tgtEl>
                                        <p:attrNameLst>
                                          <p:attrName>style.visibility</p:attrName>
                                        </p:attrNameLst>
                                      </p:cBhvr>
                                      <p:to>
                                        <p:strVal val="visible"/>
                                      </p:to>
                                    </p:set>
                                    <p:anim calcmode="lin" valueType="num">
                                      <p:cBhvr additive="base">
                                        <p:cTn id="13" dur="500" fill="hold"/>
                                        <p:tgtEl>
                                          <p:spTgt spid="7475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475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47523">
                                            <p:txEl>
                                              <p:pRg st="2" end="2"/>
                                            </p:txEl>
                                          </p:spTgt>
                                        </p:tgtEl>
                                        <p:attrNameLst>
                                          <p:attrName>style.visibility</p:attrName>
                                        </p:attrNameLst>
                                      </p:cBhvr>
                                      <p:to>
                                        <p:strVal val="visible"/>
                                      </p:to>
                                    </p:set>
                                    <p:anim calcmode="lin" valueType="num">
                                      <p:cBhvr additive="base">
                                        <p:cTn id="19" dur="500" fill="hold"/>
                                        <p:tgtEl>
                                          <p:spTgt spid="7475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475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55" presetClass="entr" presetSubtype="0" fill="hold" nodeType="clickEffect">
                                  <p:stCondLst>
                                    <p:cond delay="0"/>
                                  </p:stCondLst>
                                  <p:childTnLst>
                                    <p:set>
                                      <p:cBhvr>
                                        <p:cTn id="24" dur="1" fill="hold">
                                          <p:stCondLst>
                                            <p:cond delay="0"/>
                                          </p:stCondLst>
                                        </p:cTn>
                                        <p:tgtEl>
                                          <p:spTgt spid="747523">
                                            <p:txEl>
                                              <p:pRg st="3" end="3"/>
                                            </p:txEl>
                                          </p:spTgt>
                                        </p:tgtEl>
                                        <p:attrNameLst>
                                          <p:attrName>style.visibility</p:attrName>
                                        </p:attrNameLst>
                                      </p:cBhvr>
                                      <p:to>
                                        <p:strVal val="visible"/>
                                      </p:to>
                                    </p:set>
                                    <p:anim calcmode="lin" valueType="num">
                                      <p:cBhvr>
                                        <p:cTn id="25" dur="1000" fill="hold"/>
                                        <p:tgtEl>
                                          <p:spTgt spid="747523">
                                            <p:txEl>
                                              <p:pRg st="3" end="3"/>
                                            </p:txEl>
                                          </p:spTgt>
                                        </p:tgtEl>
                                        <p:attrNameLst>
                                          <p:attrName>ppt_w</p:attrName>
                                        </p:attrNameLst>
                                      </p:cBhvr>
                                      <p:tavLst>
                                        <p:tav tm="0">
                                          <p:val>
                                            <p:strVal val="#ppt_w*0.70"/>
                                          </p:val>
                                        </p:tav>
                                        <p:tav tm="100000">
                                          <p:val>
                                            <p:strVal val="#ppt_w"/>
                                          </p:val>
                                        </p:tav>
                                      </p:tavLst>
                                    </p:anim>
                                    <p:anim calcmode="lin" valueType="num">
                                      <p:cBhvr>
                                        <p:cTn id="26" dur="1000" fill="hold"/>
                                        <p:tgtEl>
                                          <p:spTgt spid="747523">
                                            <p:txEl>
                                              <p:pRg st="3" end="3"/>
                                            </p:txEl>
                                          </p:spTgt>
                                        </p:tgtEl>
                                        <p:attrNameLst>
                                          <p:attrName>ppt_h</p:attrName>
                                        </p:attrNameLst>
                                      </p:cBhvr>
                                      <p:tavLst>
                                        <p:tav tm="0">
                                          <p:val>
                                            <p:strVal val="#ppt_h"/>
                                          </p:val>
                                        </p:tav>
                                        <p:tav tm="100000">
                                          <p:val>
                                            <p:strVal val="#ppt_h"/>
                                          </p:val>
                                        </p:tav>
                                      </p:tavLst>
                                    </p:anim>
                                    <p:animEffect transition="in" filter="fade">
                                      <p:cBhvr>
                                        <p:cTn id="27" dur="1000"/>
                                        <p:tgtEl>
                                          <p:spTgt spid="74752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nodeType="clickEffect">
                                  <p:stCondLst>
                                    <p:cond delay="0"/>
                                  </p:stCondLst>
                                  <p:childTnLst>
                                    <p:set>
                                      <p:cBhvr>
                                        <p:cTn id="31" dur="1" fill="hold">
                                          <p:stCondLst>
                                            <p:cond delay="0"/>
                                          </p:stCondLst>
                                        </p:cTn>
                                        <p:tgtEl>
                                          <p:spTgt spid="747523">
                                            <p:txEl>
                                              <p:pRg st="4" end="4"/>
                                            </p:txEl>
                                          </p:spTgt>
                                        </p:tgtEl>
                                        <p:attrNameLst>
                                          <p:attrName>style.visibility</p:attrName>
                                        </p:attrNameLst>
                                      </p:cBhvr>
                                      <p:to>
                                        <p:strVal val="visible"/>
                                      </p:to>
                                    </p:set>
                                    <p:anim calcmode="lin" valueType="num">
                                      <p:cBhvr additive="base">
                                        <p:cTn id="32" dur="500" fill="hold"/>
                                        <p:tgtEl>
                                          <p:spTgt spid="747523">
                                            <p:txEl>
                                              <p:pRg st="4" end="4"/>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74752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9571" name="Rectangle 3"/>
          <p:cNvSpPr>
            <a:spLocks noGrp="1" noChangeArrowheads="1"/>
          </p:cNvSpPr>
          <p:nvPr>
            <p:ph type="body" idx="1"/>
          </p:nvPr>
        </p:nvSpPr>
        <p:spPr/>
        <p:txBody>
          <a:bodyPr/>
          <a:lstStyle/>
          <a:p>
            <a:pPr marL="457200" indent="-285750">
              <a:lnSpc>
                <a:spcPct val="90000"/>
              </a:lnSpc>
              <a:buFont typeface="Arial" panose="020B0604020202020204" pitchFamily="34" charset="0"/>
              <a:buChar char="•"/>
            </a:pPr>
            <a:r>
              <a:rPr lang="en-US" sz="1800" dirty="0"/>
              <a:t>The first root is called the </a:t>
            </a:r>
            <a:r>
              <a:rPr lang="en-US" sz="1800" dirty="0" err="1"/>
              <a:t>prinicipal</a:t>
            </a:r>
            <a:r>
              <a:rPr lang="en-US" sz="1800" dirty="0"/>
              <a:t> eigenvalue which has an associated orthonormal (</a:t>
            </a:r>
            <a:r>
              <a:rPr lang="en-US" sz="1800" b="1" dirty="0" err="1"/>
              <a:t>u</a:t>
            </a:r>
            <a:r>
              <a:rPr lang="en-US" sz="1800" baseline="30000" dirty="0" err="1"/>
              <a:t>T</a:t>
            </a:r>
            <a:r>
              <a:rPr lang="en-US" sz="1800" b="1" dirty="0" err="1"/>
              <a:t>u</a:t>
            </a:r>
            <a:r>
              <a:rPr lang="en-US" sz="1800" dirty="0"/>
              <a:t> = 1) </a:t>
            </a:r>
            <a:r>
              <a:rPr lang="en-US" sz="1800" i="1" dirty="0"/>
              <a:t>eigenvector</a:t>
            </a:r>
            <a:r>
              <a:rPr lang="en-US" sz="1800" dirty="0"/>
              <a:t>  </a:t>
            </a:r>
            <a:r>
              <a:rPr lang="en-US" sz="1800" b="1" dirty="0"/>
              <a:t>u </a:t>
            </a:r>
            <a:endParaRPr lang="en-US" sz="1800" dirty="0"/>
          </a:p>
          <a:p>
            <a:pPr marL="457200" indent="-285750">
              <a:lnSpc>
                <a:spcPct val="90000"/>
              </a:lnSpc>
              <a:buFont typeface="Arial" panose="020B0604020202020204" pitchFamily="34" charset="0"/>
              <a:buChar char="•"/>
            </a:pPr>
            <a:r>
              <a:rPr lang="en-US" sz="1800" b="1" dirty="0"/>
              <a:t> </a:t>
            </a:r>
            <a:r>
              <a:rPr lang="en-US" sz="1800" dirty="0"/>
              <a:t>Subsequent roots are ordered such that </a:t>
            </a:r>
            <a:r>
              <a:rPr lang="el-GR" sz="1800" dirty="0">
                <a:latin typeface="Lucida Grande" pitchFamily="1" charset="0"/>
              </a:rPr>
              <a:t>λ</a:t>
            </a:r>
            <a:r>
              <a:rPr lang="en-GB" sz="1800" baseline="-25000" dirty="0"/>
              <a:t>1</a:t>
            </a:r>
            <a:r>
              <a:rPr lang="en-GB" sz="1800" dirty="0"/>
              <a:t>&gt; </a:t>
            </a:r>
            <a:r>
              <a:rPr lang="el-GR" sz="1800" dirty="0">
                <a:latin typeface="Lucida Grande" pitchFamily="1" charset="0"/>
              </a:rPr>
              <a:t>λ</a:t>
            </a:r>
            <a:r>
              <a:rPr lang="en-GB" sz="1800" baseline="-25000" dirty="0"/>
              <a:t>2  </a:t>
            </a:r>
            <a:r>
              <a:rPr lang="en-GB" sz="1800" dirty="0"/>
              <a:t>&gt;… &gt; </a:t>
            </a:r>
            <a:r>
              <a:rPr lang="el-GR" sz="1800" dirty="0">
                <a:latin typeface="Lucida Grande" pitchFamily="1" charset="0"/>
              </a:rPr>
              <a:t>λ</a:t>
            </a:r>
            <a:r>
              <a:rPr lang="en-GB" sz="1800" baseline="-25000" dirty="0"/>
              <a:t>M  </a:t>
            </a:r>
            <a:r>
              <a:rPr lang="en-GB" sz="1800" dirty="0"/>
              <a:t>with rank(</a:t>
            </a:r>
            <a:r>
              <a:rPr lang="en-GB" sz="1800" b="1" dirty="0"/>
              <a:t>D</a:t>
            </a:r>
            <a:r>
              <a:rPr lang="en-GB" sz="1800" dirty="0"/>
              <a:t>) non-zero values.</a:t>
            </a:r>
            <a:endParaRPr lang="en-US" sz="1800" b="1" dirty="0"/>
          </a:p>
          <a:p>
            <a:pPr marL="457200" indent="-285750">
              <a:lnSpc>
                <a:spcPct val="90000"/>
              </a:lnSpc>
              <a:buFont typeface="Arial" panose="020B0604020202020204" pitchFamily="34" charset="0"/>
              <a:buChar char="•"/>
            </a:pPr>
            <a:r>
              <a:rPr lang="en-US" sz="1800" dirty="0"/>
              <a:t>Eigenvectors form an orthonormal basis i.e. </a:t>
            </a:r>
            <a:r>
              <a:rPr lang="en-US" sz="1800" b="1" dirty="0" err="1"/>
              <a:t>u</a:t>
            </a:r>
            <a:r>
              <a:rPr lang="en-US" sz="1800" baseline="-25000" dirty="0" err="1"/>
              <a:t>i</a:t>
            </a:r>
            <a:r>
              <a:rPr lang="en-US" sz="1800" baseline="30000" dirty="0" err="1"/>
              <a:t>T</a:t>
            </a:r>
            <a:r>
              <a:rPr lang="en-US" sz="1800" b="1" dirty="0" err="1"/>
              <a:t>u</a:t>
            </a:r>
            <a:r>
              <a:rPr lang="en-US" sz="1800" baseline="-25000" dirty="0" err="1"/>
              <a:t>j</a:t>
            </a:r>
            <a:r>
              <a:rPr lang="en-US" sz="1800" dirty="0"/>
              <a:t> = </a:t>
            </a:r>
            <a:r>
              <a:rPr lang="el-GR" sz="1800" dirty="0">
                <a:latin typeface="Lucida Grande" pitchFamily="1" charset="0"/>
              </a:rPr>
              <a:t>δ</a:t>
            </a:r>
            <a:r>
              <a:rPr lang="en-GB" sz="1800" baseline="-25000" dirty="0" err="1"/>
              <a:t>ij</a:t>
            </a:r>
            <a:r>
              <a:rPr lang="en-GB" sz="1800" baseline="-25000" dirty="0"/>
              <a:t> </a:t>
            </a:r>
            <a:r>
              <a:rPr lang="en-GB" sz="1800" dirty="0"/>
              <a:t> </a:t>
            </a:r>
            <a:endParaRPr lang="el-GR" sz="1800" dirty="0"/>
          </a:p>
          <a:p>
            <a:pPr marL="457200" indent="-285750">
              <a:lnSpc>
                <a:spcPct val="90000"/>
              </a:lnSpc>
              <a:buFont typeface="Arial" panose="020B0604020202020204" pitchFamily="34" charset="0"/>
              <a:buChar char="•"/>
            </a:pPr>
            <a:r>
              <a:rPr lang="en-US" sz="1800" dirty="0"/>
              <a:t>The eigenvalue decomposition of</a:t>
            </a:r>
            <a:r>
              <a:rPr lang="en-US" sz="1800" b="1" dirty="0"/>
              <a:t> </a:t>
            </a:r>
            <a:r>
              <a:rPr lang="en-US" sz="1800" b="1" dirty="0" err="1"/>
              <a:t>xx</a:t>
            </a:r>
            <a:r>
              <a:rPr lang="en-US" sz="1800" baseline="30000" dirty="0" err="1"/>
              <a:t>T</a:t>
            </a:r>
            <a:r>
              <a:rPr lang="en-US" sz="1800" baseline="30000" dirty="0"/>
              <a:t> </a:t>
            </a:r>
            <a:r>
              <a:rPr lang="en-US" sz="1800" dirty="0"/>
              <a:t> = </a:t>
            </a:r>
            <a:r>
              <a:rPr lang="en-US" sz="1800" b="1" dirty="0"/>
              <a:t>U</a:t>
            </a:r>
            <a:r>
              <a:rPr lang="el-GR" sz="1800" b="1" dirty="0">
                <a:latin typeface="Lucida Grande" pitchFamily="1" charset="0"/>
              </a:rPr>
              <a:t>Σ</a:t>
            </a:r>
            <a:r>
              <a:rPr lang="en-GB" sz="1800" b="1" dirty="0"/>
              <a:t>U</a:t>
            </a:r>
            <a:r>
              <a:rPr lang="en-GB" sz="1800" baseline="30000" dirty="0"/>
              <a:t>T</a:t>
            </a:r>
          </a:p>
          <a:p>
            <a:pPr marL="457200" indent="-285750">
              <a:lnSpc>
                <a:spcPct val="90000"/>
              </a:lnSpc>
              <a:buFont typeface="Arial" panose="020B0604020202020204" pitchFamily="34" charset="0"/>
              <a:buChar char="•"/>
            </a:pPr>
            <a:r>
              <a:rPr lang="en-GB" sz="1800" dirty="0"/>
              <a:t>where</a:t>
            </a:r>
            <a:r>
              <a:rPr lang="en-GB" sz="1800" b="1" dirty="0"/>
              <a:t> </a:t>
            </a:r>
            <a:r>
              <a:rPr lang="en-US" sz="1800" b="1" dirty="0"/>
              <a:t>U = </a:t>
            </a:r>
            <a:r>
              <a:rPr lang="en-US" sz="1800" dirty="0"/>
              <a:t>[</a:t>
            </a:r>
            <a:r>
              <a:rPr lang="en-US" sz="1800" b="1" dirty="0"/>
              <a:t>u</a:t>
            </a:r>
            <a:r>
              <a:rPr lang="en-US" sz="1800" baseline="-25000" dirty="0"/>
              <a:t>1</a:t>
            </a:r>
            <a:r>
              <a:rPr lang="en-US" sz="1800" dirty="0"/>
              <a:t>, </a:t>
            </a:r>
            <a:r>
              <a:rPr lang="en-US" sz="1800" b="1" dirty="0"/>
              <a:t>u</a:t>
            </a:r>
            <a:r>
              <a:rPr lang="en-US" sz="1800" baseline="-25000" dirty="0"/>
              <a:t>2</a:t>
            </a:r>
            <a:r>
              <a:rPr lang="en-US" sz="1800" dirty="0"/>
              <a:t>, …, </a:t>
            </a:r>
            <a:r>
              <a:rPr lang="en-US" sz="1800" b="1" dirty="0" err="1"/>
              <a:t>u</a:t>
            </a:r>
            <a:r>
              <a:rPr lang="en-US" sz="1800" baseline="-25000" dirty="0" err="1"/>
              <a:t>M</a:t>
            </a:r>
            <a:r>
              <a:rPr lang="en-US" sz="1800" dirty="0"/>
              <a:t>] and </a:t>
            </a:r>
            <a:r>
              <a:rPr lang="el-GR" sz="1800" b="1" dirty="0">
                <a:latin typeface="Lucida Grande" pitchFamily="1" charset="0"/>
              </a:rPr>
              <a:t>Σ</a:t>
            </a:r>
            <a:r>
              <a:rPr lang="en-GB" sz="1800" b="1" dirty="0"/>
              <a:t> </a:t>
            </a:r>
            <a:r>
              <a:rPr lang="en-US" sz="1800" b="1" dirty="0"/>
              <a:t>= </a:t>
            </a:r>
            <a:r>
              <a:rPr lang="en-US" sz="1800" dirty="0" err="1"/>
              <a:t>diag</a:t>
            </a:r>
            <a:r>
              <a:rPr lang="en-US" sz="1800" dirty="0"/>
              <a:t>[</a:t>
            </a:r>
            <a:r>
              <a:rPr lang="el-GR" sz="1800" dirty="0">
                <a:latin typeface="Lucida Grande" pitchFamily="1" charset="0"/>
              </a:rPr>
              <a:t>λ</a:t>
            </a:r>
            <a:r>
              <a:rPr lang="en-US" sz="1800" b="1" dirty="0"/>
              <a:t> </a:t>
            </a:r>
            <a:r>
              <a:rPr lang="en-US" sz="1800" baseline="-25000" dirty="0"/>
              <a:t>1</a:t>
            </a:r>
            <a:r>
              <a:rPr lang="en-US" sz="1800" dirty="0"/>
              <a:t>, </a:t>
            </a:r>
            <a:r>
              <a:rPr lang="el-GR" sz="1800" dirty="0">
                <a:latin typeface="Lucida Grande" pitchFamily="1" charset="0"/>
              </a:rPr>
              <a:t>λ</a:t>
            </a:r>
            <a:r>
              <a:rPr lang="en-US" sz="1800" b="1" dirty="0"/>
              <a:t> </a:t>
            </a:r>
            <a:r>
              <a:rPr lang="en-US" sz="1800" baseline="-25000" dirty="0"/>
              <a:t>2</a:t>
            </a:r>
            <a:r>
              <a:rPr lang="en-US" sz="1800" dirty="0"/>
              <a:t>, …, </a:t>
            </a:r>
            <a:r>
              <a:rPr lang="el-GR" sz="1800" dirty="0">
                <a:latin typeface="Lucida Grande" pitchFamily="1" charset="0"/>
              </a:rPr>
              <a:t>λ</a:t>
            </a:r>
            <a:r>
              <a:rPr lang="en-US" sz="1800" b="1" dirty="0"/>
              <a:t> </a:t>
            </a:r>
            <a:r>
              <a:rPr lang="en-US" sz="1800" baseline="-25000" dirty="0"/>
              <a:t>M</a:t>
            </a:r>
            <a:r>
              <a:rPr lang="en-US" sz="1800" dirty="0"/>
              <a:t>] </a:t>
            </a:r>
            <a:endParaRPr lang="en-GB" sz="1800" b="1" dirty="0"/>
          </a:p>
          <a:p>
            <a:pPr marL="457200" indent="-285750">
              <a:lnSpc>
                <a:spcPct val="90000"/>
              </a:lnSpc>
              <a:buFont typeface="Arial" panose="020B0604020202020204" pitchFamily="34" charset="0"/>
              <a:buChar char="•"/>
            </a:pPr>
            <a:r>
              <a:rPr lang="en-GB" sz="1800" dirty="0"/>
              <a:t>Similarly the eigenvalue decomposition of</a:t>
            </a:r>
            <a:r>
              <a:rPr lang="en-GB" sz="1800" b="1" dirty="0"/>
              <a:t> </a:t>
            </a:r>
            <a:r>
              <a:rPr lang="en-US" sz="1800" b="1" dirty="0" err="1"/>
              <a:t>x</a:t>
            </a:r>
            <a:r>
              <a:rPr lang="en-US" sz="1800" baseline="30000" dirty="0" err="1"/>
              <a:t>T</a:t>
            </a:r>
            <a:r>
              <a:rPr lang="en-US" sz="1800" b="1" dirty="0" err="1"/>
              <a:t>x</a:t>
            </a:r>
            <a:r>
              <a:rPr lang="en-US" sz="1800" b="1" dirty="0"/>
              <a:t> </a:t>
            </a:r>
            <a:r>
              <a:rPr lang="en-US" sz="1800" dirty="0"/>
              <a:t>= </a:t>
            </a:r>
            <a:r>
              <a:rPr lang="en-US" sz="1800" b="1" dirty="0"/>
              <a:t>V</a:t>
            </a:r>
            <a:r>
              <a:rPr lang="el-GR" sz="1800" b="1" dirty="0">
                <a:latin typeface="Lucida Grande" pitchFamily="1" charset="0"/>
              </a:rPr>
              <a:t>Σ</a:t>
            </a:r>
            <a:r>
              <a:rPr lang="en-GB" sz="1800" b="1" dirty="0"/>
              <a:t>V</a:t>
            </a:r>
            <a:r>
              <a:rPr lang="en-GB" sz="1800" baseline="30000" dirty="0"/>
              <a:t>T</a:t>
            </a:r>
          </a:p>
          <a:p>
            <a:pPr marL="457200" indent="-285750">
              <a:lnSpc>
                <a:spcPct val="90000"/>
              </a:lnSpc>
              <a:buFont typeface="Arial" panose="020B0604020202020204" pitchFamily="34" charset="0"/>
              <a:buChar char="•"/>
            </a:pPr>
            <a:r>
              <a:rPr lang="en-GB" sz="1800" dirty="0"/>
              <a:t>The SVD is closely related to the above </a:t>
            </a:r>
            <a:r>
              <a:rPr lang="en-GB" sz="1800" b="1" dirty="0"/>
              <a:t>x</a:t>
            </a:r>
            <a:r>
              <a:rPr lang="en-GB" sz="1800" dirty="0"/>
              <a:t>=</a:t>
            </a:r>
            <a:r>
              <a:rPr lang="en-GB" sz="1800" b="1" dirty="0"/>
              <a:t>U </a:t>
            </a:r>
            <a:r>
              <a:rPr lang="el-GR" sz="1800" b="1" dirty="0">
                <a:latin typeface="Lucida Grande" pitchFamily="1" charset="0"/>
              </a:rPr>
              <a:t>Σ</a:t>
            </a:r>
            <a:r>
              <a:rPr lang="en-GB" sz="1800" b="1" baseline="30000" dirty="0"/>
              <a:t>1/2</a:t>
            </a:r>
            <a:r>
              <a:rPr lang="en-GB" sz="1800" b="1" dirty="0"/>
              <a:t> V</a:t>
            </a:r>
            <a:r>
              <a:rPr lang="en-GB" sz="1800" baseline="30000" dirty="0"/>
              <a:t>T</a:t>
            </a:r>
          </a:p>
          <a:p>
            <a:pPr marL="457200" indent="-285750">
              <a:lnSpc>
                <a:spcPct val="90000"/>
              </a:lnSpc>
              <a:buFont typeface="Arial" panose="020B0604020202020204" pitchFamily="34" charset="0"/>
              <a:buChar char="•"/>
            </a:pPr>
            <a:r>
              <a:rPr lang="en-GB" sz="1800" dirty="0"/>
              <a:t>The left eigenvectors</a:t>
            </a:r>
            <a:r>
              <a:rPr lang="en-GB" sz="1800" b="1" dirty="0"/>
              <a:t> U, </a:t>
            </a:r>
            <a:r>
              <a:rPr lang="en-GB" sz="1800" dirty="0"/>
              <a:t>right eigenvectors</a:t>
            </a:r>
            <a:r>
              <a:rPr lang="en-GB" sz="1800" b="1" dirty="0"/>
              <a:t> V, </a:t>
            </a:r>
          </a:p>
          <a:p>
            <a:pPr marL="457200" indent="-285750">
              <a:lnSpc>
                <a:spcPct val="90000"/>
              </a:lnSpc>
              <a:buFont typeface="Arial" panose="020B0604020202020204" pitchFamily="34" charset="0"/>
              <a:buChar char="•"/>
            </a:pPr>
            <a:r>
              <a:rPr lang="en-GB" sz="1800" dirty="0"/>
              <a:t>singular values = square root of eigenvalues</a:t>
            </a:r>
            <a:r>
              <a:rPr lang="en-GB" sz="1800" b="1" dirty="0"/>
              <a:t>.</a:t>
            </a:r>
            <a:endParaRPr lang="el-GR" sz="1800" b="1" dirty="0"/>
          </a:p>
        </p:txBody>
      </p:sp>
      <p:sp>
        <p:nvSpPr>
          <p:cNvPr id="2" name="Text Placeholder 1"/>
          <p:cNvSpPr>
            <a:spLocks noGrp="1"/>
          </p:cNvSpPr>
          <p:nvPr>
            <p:ph type="body" idx="2"/>
          </p:nvPr>
        </p:nvSpPr>
        <p:spPr/>
        <p:txBody>
          <a:bodyPr/>
          <a:lstStyle/>
          <a:p>
            <a:r>
              <a:rPr lang="en-GB" dirty="0"/>
              <a:t>Singular Value Decomposition</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49571">
                                            <p:txEl>
                                              <p:pRg st="0" end="0"/>
                                            </p:txEl>
                                          </p:spTgt>
                                        </p:tgtEl>
                                        <p:attrNameLst>
                                          <p:attrName>style.visibility</p:attrName>
                                        </p:attrNameLst>
                                      </p:cBhvr>
                                      <p:to>
                                        <p:strVal val="visible"/>
                                      </p:to>
                                    </p:set>
                                    <p:anim calcmode="lin" valueType="num">
                                      <p:cBhvr additive="base">
                                        <p:cTn id="7" dur="500" fill="hold"/>
                                        <p:tgtEl>
                                          <p:spTgt spid="7495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495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49571">
                                            <p:txEl>
                                              <p:pRg st="1" end="1"/>
                                            </p:txEl>
                                          </p:spTgt>
                                        </p:tgtEl>
                                        <p:attrNameLst>
                                          <p:attrName>style.visibility</p:attrName>
                                        </p:attrNameLst>
                                      </p:cBhvr>
                                      <p:to>
                                        <p:strVal val="visible"/>
                                      </p:to>
                                    </p:set>
                                    <p:anim calcmode="lin" valueType="num">
                                      <p:cBhvr additive="base">
                                        <p:cTn id="13" dur="500" fill="hold"/>
                                        <p:tgtEl>
                                          <p:spTgt spid="7495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495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49571">
                                            <p:txEl>
                                              <p:pRg st="2" end="2"/>
                                            </p:txEl>
                                          </p:spTgt>
                                        </p:tgtEl>
                                        <p:attrNameLst>
                                          <p:attrName>style.visibility</p:attrName>
                                        </p:attrNameLst>
                                      </p:cBhvr>
                                      <p:to>
                                        <p:strVal val="visible"/>
                                      </p:to>
                                    </p:set>
                                    <p:anim calcmode="lin" valueType="num">
                                      <p:cBhvr additive="base">
                                        <p:cTn id="19" dur="500" fill="hold"/>
                                        <p:tgtEl>
                                          <p:spTgt spid="7495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495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749571">
                                            <p:txEl>
                                              <p:pRg st="3" end="3"/>
                                            </p:txEl>
                                          </p:spTgt>
                                        </p:tgtEl>
                                        <p:attrNameLst>
                                          <p:attrName>style.visibility</p:attrName>
                                        </p:attrNameLst>
                                      </p:cBhvr>
                                      <p:to>
                                        <p:strVal val="visible"/>
                                      </p:to>
                                    </p:set>
                                    <p:anim calcmode="lin" valueType="num">
                                      <p:cBhvr additive="base">
                                        <p:cTn id="25" dur="500" fill="hold"/>
                                        <p:tgtEl>
                                          <p:spTgt spid="7495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49571">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749571">
                                            <p:txEl>
                                              <p:pRg st="4" end="4"/>
                                            </p:txEl>
                                          </p:spTgt>
                                        </p:tgtEl>
                                        <p:attrNameLst>
                                          <p:attrName>style.visibility</p:attrName>
                                        </p:attrNameLst>
                                      </p:cBhvr>
                                      <p:to>
                                        <p:strVal val="visible"/>
                                      </p:to>
                                    </p:set>
                                    <p:anim calcmode="lin" valueType="num">
                                      <p:cBhvr additive="base">
                                        <p:cTn id="29" dur="500" fill="hold"/>
                                        <p:tgtEl>
                                          <p:spTgt spid="749571">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74957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55" presetClass="entr" presetSubtype="0" fill="hold" nodeType="clickEffect">
                                  <p:stCondLst>
                                    <p:cond delay="0"/>
                                  </p:stCondLst>
                                  <p:childTnLst>
                                    <p:set>
                                      <p:cBhvr>
                                        <p:cTn id="34" dur="1" fill="hold">
                                          <p:stCondLst>
                                            <p:cond delay="0"/>
                                          </p:stCondLst>
                                        </p:cTn>
                                        <p:tgtEl>
                                          <p:spTgt spid="749571">
                                            <p:txEl>
                                              <p:pRg st="5" end="5"/>
                                            </p:txEl>
                                          </p:spTgt>
                                        </p:tgtEl>
                                        <p:attrNameLst>
                                          <p:attrName>style.visibility</p:attrName>
                                        </p:attrNameLst>
                                      </p:cBhvr>
                                      <p:to>
                                        <p:strVal val="visible"/>
                                      </p:to>
                                    </p:set>
                                    <p:anim calcmode="lin" valueType="num">
                                      <p:cBhvr>
                                        <p:cTn id="35" dur="1000" fill="hold"/>
                                        <p:tgtEl>
                                          <p:spTgt spid="749571">
                                            <p:txEl>
                                              <p:pRg st="5" end="5"/>
                                            </p:txEl>
                                          </p:spTgt>
                                        </p:tgtEl>
                                        <p:attrNameLst>
                                          <p:attrName>ppt_w</p:attrName>
                                        </p:attrNameLst>
                                      </p:cBhvr>
                                      <p:tavLst>
                                        <p:tav tm="0">
                                          <p:val>
                                            <p:strVal val="#ppt_w*0.70"/>
                                          </p:val>
                                        </p:tav>
                                        <p:tav tm="100000">
                                          <p:val>
                                            <p:strVal val="#ppt_w"/>
                                          </p:val>
                                        </p:tav>
                                      </p:tavLst>
                                    </p:anim>
                                    <p:anim calcmode="lin" valueType="num">
                                      <p:cBhvr>
                                        <p:cTn id="36" dur="1000" fill="hold"/>
                                        <p:tgtEl>
                                          <p:spTgt spid="749571">
                                            <p:txEl>
                                              <p:pRg st="5" end="5"/>
                                            </p:txEl>
                                          </p:spTgt>
                                        </p:tgtEl>
                                        <p:attrNameLst>
                                          <p:attrName>ppt_h</p:attrName>
                                        </p:attrNameLst>
                                      </p:cBhvr>
                                      <p:tavLst>
                                        <p:tav tm="0">
                                          <p:val>
                                            <p:strVal val="#ppt_h"/>
                                          </p:val>
                                        </p:tav>
                                        <p:tav tm="100000">
                                          <p:val>
                                            <p:strVal val="#ppt_h"/>
                                          </p:val>
                                        </p:tav>
                                      </p:tavLst>
                                    </p:anim>
                                    <p:animEffect transition="in" filter="fade">
                                      <p:cBhvr>
                                        <p:cTn id="37" dur="1000"/>
                                        <p:tgtEl>
                                          <p:spTgt spid="749571">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5" presetClass="entr" presetSubtype="0" fill="hold" nodeType="clickEffect">
                                  <p:stCondLst>
                                    <p:cond delay="0"/>
                                  </p:stCondLst>
                                  <p:childTnLst>
                                    <p:set>
                                      <p:cBhvr>
                                        <p:cTn id="41" dur="1" fill="hold">
                                          <p:stCondLst>
                                            <p:cond delay="0"/>
                                          </p:stCondLst>
                                        </p:cTn>
                                        <p:tgtEl>
                                          <p:spTgt spid="749571">
                                            <p:txEl>
                                              <p:pRg st="6" end="6"/>
                                            </p:txEl>
                                          </p:spTgt>
                                        </p:tgtEl>
                                        <p:attrNameLst>
                                          <p:attrName>style.visibility</p:attrName>
                                        </p:attrNameLst>
                                      </p:cBhvr>
                                      <p:to>
                                        <p:strVal val="visible"/>
                                      </p:to>
                                    </p:set>
                                    <p:anim calcmode="lin" valueType="num">
                                      <p:cBhvr>
                                        <p:cTn id="42" dur="1000" fill="hold"/>
                                        <p:tgtEl>
                                          <p:spTgt spid="749571">
                                            <p:txEl>
                                              <p:pRg st="6" end="6"/>
                                            </p:txEl>
                                          </p:spTgt>
                                        </p:tgtEl>
                                        <p:attrNameLst>
                                          <p:attrName>ppt_w</p:attrName>
                                        </p:attrNameLst>
                                      </p:cBhvr>
                                      <p:tavLst>
                                        <p:tav tm="0">
                                          <p:val>
                                            <p:strVal val="#ppt_w*0.70"/>
                                          </p:val>
                                        </p:tav>
                                        <p:tav tm="100000">
                                          <p:val>
                                            <p:strVal val="#ppt_w"/>
                                          </p:val>
                                        </p:tav>
                                      </p:tavLst>
                                    </p:anim>
                                    <p:anim calcmode="lin" valueType="num">
                                      <p:cBhvr>
                                        <p:cTn id="43" dur="1000" fill="hold"/>
                                        <p:tgtEl>
                                          <p:spTgt spid="749571">
                                            <p:txEl>
                                              <p:pRg st="6" end="6"/>
                                            </p:txEl>
                                          </p:spTgt>
                                        </p:tgtEl>
                                        <p:attrNameLst>
                                          <p:attrName>ppt_h</p:attrName>
                                        </p:attrNameLst>
                                      </p:cBhvr>
                                      <p:tavLst>
                                        <p:tav tm="0">
                                          <p:val>
                                            <p:strVal val="#ppt_h"/>
                                          </p:val>
                                        </p:tav>
                                        <p:tav tm="100000">
                                          <p:val>
                                            <p:strVal val="#ppt_h"/>
                                          </p:val>
                                        </p:tav>
                                      </p:tavLst>
                                    </p:anim>
                                    <p:animEffect transition="in" filter="fade">
                                      <p:cBhvr>
                                        <p:cTn id="44" dur="1000"/>
                                        <p:tgtEl>
                                          <p:spTgt spid="749571">
                                            <p:txEl>
                                              <p:pRg st="6" end="6"/>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749571">
                                            <p:txEl>
                                              <p:pRg st="7" end="7"/>
                                            </p:txEl>
                                          </p:spTgt>
                                        </p:tgtEl>
                                        <p:attrNameLst>
                                          <p:attrName>style.visibility</p:attrName>
                                        </p:attrNameLst>
                                      </p:cBhvr>
                                      <p:to>
                                        <p:strVal val="visible"/>
                                      </p:to>
                                    </p:set>
                                    <p:anim calcmode="lin" valueType="num">
                                      <p:cBhvr additive="base">
                                        <p:cTn id="49" dur="500" fill="hold"/>
                                        <p:tgtEl>
                                          <p:spTgt spid="74957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749571">
                                            <p:txEl>
                                              <p:pRg st="7" end="7"/>
                                            </p:txEl>
                                          </p:spTgt>
                                        </p:tgtEl>
                                        <p:attrNameLst>
                                          <p:attrName>ppt_y</p:attrName>
                                        </p:attrNameLst>
                                      </p:cBhvr>
                                      <p:tavLst>
                                        <p:tav tm="0">
                                          <p:val>
                                            <p:strVal val="#ppt_y"/>
                                          </p:val>
                                        </p:tav>
                                        <p:tav tm="100000">
                                          <p:val>
                                            <p:strVal val="#ppt_y"/>
                                          </p:val>
                                        </p:tav>
                                      </p:tavLst>
                                    </p:anim>
                                  </p:childTnLst>
                                </p:cTn>
                              </p:par>
                              <p:par>
                                <p:cTn id="51" presetID="2" presetClass="entr" presetSubtype="8" fill="hold" nodeType="withEffect">
                                  <p:stCondLst>
                                    <p:cond delay="0"/>
                                  </p:stCondLst>
                                  <p:childTnLst>
                                    <p:set>
                                      <p:cBhvr>
                                        <p:cTn id="52" dur="1" fill="hold">
                                          <p:stCondLst>
                                            <p:cond delay="0"/>
                                          </p:stCondLst>
                                        </p:cTn>
                                        <p:tgtEl>
                                          <p:spTgt spid="749571">
                                            <p:txEl>
                                              <p:pRg st="8" end="8"/>
                                            </p:txEl>
                                          </p:spTgt>
                                        </p:tgtEl>
                                        <p:attrNameLst>
                                          <p:attrName>style.visibility</p:attrName>
                                        </p:attrNameLst>
                                      </p:cBhvr>
                                      <p:to>
                                        <p:strVal val="visible"/>
                                      </p:to>
                                    </p:set>
                                    <p:anim calcmode="lin" valueType="num">
                                      <p:cBhvr additive="base">
                                        <p:cTn id="53" dur="500" fill="hold"/>
                                        <p:tgtEl>
                                          <p:spTgt spid="749571">
                                            <p:txEl>
                                              <p:pRg st="8" end="8"/>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74957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50244" name="Picture 4" descr="pca_basi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1925242"/>
            <a:ext cx="3750469" cy="2717006"/>
          </a:xfrm>
          <a:prstGeom prst="rect">
            <a:avLst/>
          </a:prstGeom>
          <a:solidFill>
            <a:schemeClr val="accent1"/>
          </a:solidFill>
        </p:spPr>
      </p:pic>
      <p:sp>
        <p:nvSpPr>
          <p:cNvPr id="650245" name="Line 5"/>
          <p:cNvSpPr>
            <a:spLocks noChangeShapeType="1"/>
          </p:cNvSpPr>
          <p:nvPr/>
        </p:nvSpPr>
        <p:spPr bwMode="auto">
          <a:xfrm flipV="1">
            <a:off x="3486150" y="2480072"/>
            <a:ext cx="0" cy="16573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sz="1350"/>
          </a:p>
        </p:txBody>
      </p:sp>
      <p:sp>
        <p:nvSpPr>
          <p:cNvPr id="650246" name="Line 6"/>
          <p:cNvSpPr>
            <a:spLocks noChangeShapeType="1"/>
          </p:cNvSpPr>
          <p:nvPr/>
        </p:nvSpPr>
        <p:spPr bwMode="auto">
          <a:xfrm>
            <a:off x="3486150" y="4137422"/>
            <a:ext cx="21145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sz="1350"/>
          </a:p>
        </p:txBody>
      </p:sp>
      <p:sp>
        <p:nvSpPr>
          <p:cNvPr id="650247" name="Line 7"/>
          <p:cNvSpPr>
            <a:spLocks noChangeShapeType="1"/>
          </p:cNvSpPr>
          <p:nvPr/>
        </p:nvSpPr>
        <p:spPr bwMode="auto">
          <a:xfrm>
            <a:off x="4441031" y="3394472"/>
            <a:ext cx="12001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sz="1350"/>
          </a:p>
        </p:txBody>
      </p:sp>
      <p:sp>
        <p:nvSpPr>
          <p:cNvPr id="650248" name="Line 8"/>
          <p:cNvSpPr>
            <a:spLocks noChangeShapeType="1"/>
          </p:cNvSpPr>
          <p:nvPr/>
        </p:nvSpPr>
        <p:spPr bwMode="auto">
          <a:xfrm flipV="1">
            <a:off x="4441031" y="2624138"/>
            <a:ext cx="0" cy="7703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sz="1350"/>
          </a:p>
        </p:txBody>
      </p:sp>
      <p:sp>
        <p:nvSpPr>
          <p:cNvPr id="650249" name="Line 9"/>
          <p:cNvSpPr>
            <a:spLocks noChangeShapeType="1"/>
          </p:cNvSpPr>
          <p:nvPr/>
        </p:nvSpPr>
        <p:spPr bwMode="auto">
          <a:xfrm flipH="1">
            <a:off x="3350419" y="3251597"/>
            <a:ext cx="1284685" cy="8858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350"/>
          </a:p>
        </p:txBody>
      </p:sp>
      <p:sp>
        <p:nvSpPr>
          <p:cNvPr id="650243" name="Rectangle 3"/>
          <p:cNvSpPr>
            <a:spLocks noGrp="1" noChangeArrowheads="1"/>
          </p:cNvSpPr>
          <p:nvPr>
            <p:ph type="body" idx="1"/>
          </p:nvPr>
        </p:nvSpPr>
        <p:spPr/>
        <p:txBody>
          <a:bodyPr/>
          <a:lstStyle/>
          <a:p>
            <a:pPr>
              <a:lnSpc>
                <a:spcPct val="90000"/>
              </a:lnSpc>
            </a:pPr>
            <a:r>
              <a:rPr lang="en-US" sz="1800"/>
              <a:t>Similarly for the next axis, etc. </a:t>
            </a:r>
          </a:p>
          <a:p>
            <a:pPr>
              <a:lnSpc>
                <a:spcPct val="90000"/>
              </a:lnSpc>
            </a:pPr>
            <a:r>
              <a:rPr lang="en-US" sz="1800"/>
              <a:t>So, the new axes are the eigenvectors of the matrix of correlations of the original variables, which captures the similarities of the original variables based on how data samples project to them</a:t>
            </a:r>
          </a:p>
        </p:txBody>
      </p:sp>
      <p:sp>
        <p:nvSpPr>
          <p:cNvPr id="650242" name="Rectangle 2"/>
          <p:cNvSpPr>
            <a:spLocks noGrp="1" noChangeArrowheads="1"/>
          </p:cNvSpPr>
          <p:nvPr>
            <p:ph type="title" idx="4294967295"/>
          </p:nvPr>
        </p:nvSpPr>
        <p:spPr>
          <a:xfrm>
            <a:off x="0" y="82550"/>
            <a:ext cx="5829300" cy="857250"/>
          </a:xfrm>
        </p:spPr>
        <p:txBody>
          <a:bodyPr>
            <a:normAutofit fontScale="90000"/>
          </a:bodyPr>
          <a:lstStyle/>
          <a:p>
            <a:r>
              <a:rPr lang="en-US"/>
              <a:t>Computing the Components</a:t>
            </a:r>
          </a:p>
        </p:txBody>
      </p:sp>
      <p:sp>
        <p:nvSpPr>
          <p:cNvPr id="650250" name="Rectangle 10"/>
          <p:cNvSpPr>
            <a:spLocks noChangeArrowheads="1"/>
          </p:cNvSpPr>
          <p:nvPr/>
        </p:nvSpPr>
        <p:spPr bwMode="auto">
          <a:xfrm>
            <a:off x="1872854" y="4363641"/>
            <a:ext cx="5829300" cy="598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pPr>
            <a:r>
              <a:rPr lang="en-US" sz="1800"/>
              <a:t>Geometrically: centering followed by rotation</a:t>
            </a:r>
          </a:p>
          <a:p>
            <a:pPr lvl="1" eaLnBrk="1" hangingPunct="1">
              <a:lnSpc>
                <a:spcPct val="90000"/>
              </a:lnSpc>
            </a:pPr>
            <a:r>
              <a:rPr lang="en-US" sz="1500"/>
              <a:t>Linear transformation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8259" name="Rectangle 3"/>
          <p:cNvSpPr>
            <a:spLocks noGrp="1" noChangeArrowheads="1"/>
          </p:cNvSpPr>
          <p:nvPr>
            <p:ph type="body" idx="1"/>
          </p:nvPr>
        </p:nvSpPr>
        <p:spPr/>
        <p:txBody>
          <a:bodyPr/>
          <a:lstStyle/>
          <a:p>
            <a:r>
              <a:rPr lang="en-US" sz="1800" dirty="0">
                <a:latin typeface="Times New Roman" panose="02020603050405020304" pitchFamily="18" charset="0"/>
                <a:cs typeface="Arial" panose="020B0604020202020204" pitchFamily="34" charset="0"/>
              </a:rPr>
              <a:t>The first PC retains the greatest amount of variation in the sample</a:t>
            </a:r>
          </a:p>
          <a:p>
            <a:pPr>
              <a:spcBef>
                <a:spcPct val="0"/>
              </a:spcBef>
              <a:buClr>
                <a:srgbClr val="FF0000"/>
              </a:buClr>
            </a:pPr>
            <a:r>
              <a:rPr lang="en-US" sz="1800" dirty="0">
                <a:latin typeface="Times New Roman" panose="02020603050405020304" pitchFamily="18" charset="0"/>
                <a:cs typeface="Arial" panose="020B0604020202020204" pitchFamily="34" charset="0"/>
              </a:rPr>
              <a:t>The </a:t>
            </a:r>
            <a:r>
              <a:rPr lang="en-US" sz="1800" i="1" dirty="0">
                <a:latin typeface="Times New Roman" panose="02020603050405020304" pitchFamily="18" charset="0"/>
                <a:cs typeface="Arial" panose="020B0604020202020204" pitchFamily="34" charset="0"/>
              </a:rPr>
              <a:t>k</a:t>
            </a:r>
            <a:r>
              <a:rPr lang="en-US" sz="1800" baseline="30000" dirty="0">
                <a:latin typeface="Times New Roman" panose="02020603050405020304" pitchFamily="18" charset="0"/>
                <a:cs typeface="Arial" panose="020B0604020202020204" pitchFamily="34" charset="0"/>
              </a:rPr>
              <a:t>th</a:t>
            </a:r>
            <a:r>
              <a:rPr lang="en-US" sz="1800" dirty="0">
                <a:latin typeface="Times New Roman" panose="02020603050405020304" pitchFamily="18" charset="0"/>
                <a:cs typeface="Arial" panose="020B0604020202020204" pitchFamily="34" charset="0"/>
              </a:rPr>
              <a:t> PC retains the </a:t>
            </a:r>
            <a:r>
              <a:rPr lang="en-US" sz="1800" i="1" dirty="0">
                <a:latin typeface="Times New Roman" panose="02020603050405020304" pitchFamily="18" charset="0"/>
                <a:cs typeface="Arial" panose="020B0604020202020204" pitchFamily="34" charset="0"/>
              </a:rPr>
              <a:t>k</a:t>
            </a:r>
            <a:r>
              <a:rPr lang="en-US" sz="1800" baseline="30000" dirty="0">
                <a:latin typeface="Times New Roman" panose="02020603050405020304" pitchFamily="18" charset="0"/>
                <a:cs typeface="Arial" panose="020B0604020202020204" pitchFamily="34" charset="0"/>
              </a:rPr>
              <a:t>th</a:t>
            </a:r>
            <a:r>
              <a:rPr lang="en-US" sz="1800" dirty="0">
                <a:latin typeface="Times New Roman" panose="02020603050405020304" pitchFamily="18" charset="0"/>
                <a:cs typeface="Arial" panose="020B0604020202020204" pitchFamily="34" charset="0"/>
              </a:rPr>
              <a:t> greatest fraction of the variation in the sample</a:t>
            </a:r>
          </a:p>
          <a:p>
            <a:pPr>
              <a:spcBef>
                <a:spcPct val="0"/>
              </a:spcBef>
              <a:buClr>
                <a:srgbClr val="FF0000"/>
              </a:buClr>
            </a:pPr>
            <a:r>
              <a:rPr lang="en-US" sz="1800" dirty="0">
                <a:latin typeface="Times New Roman" panose="02020603050405020304" pitchFamily="18" charset="0"/>
                <a:cs typeface="Arial" panose="020B0604020202020204" pitchFamily="34" charset="0"/>
              </a:rPr>
              <a:t>The </a:t>
            </a:r>
            <a:r>
              <a:rPr lang="en-US" sz="1800" i="1" dirty="0">
                <a:latin typeface="Times New Roman" panose="02020603050405020304" pitchFamily="18" charset="0"/>
                <a:cs typeface="Arial" panose="020B0604020202020204" pitchFamily="34" charset="0"/>
              </a:rPr>
              <a:t>k</a:t>
            </a:r>
            <a:r>
              <a:rPr lang="en-US" sz="1800" baseline="30000" dirty="0">
                <a:latin typeface="Times New Roman" panose="02020603050405020304" pitchFamily="18" charset="0"/>
                <a:cs typeface="Arial" panose="020B0604020202020204" pitchFamily="34" charset="0"/>
              </a:rPr>
              <a:t>th</a:t>
            </a:r>
            <a:r>
              <a:rPr lang="en-US" sz="1800" dirty="0">
                <a:latin typeface="Times New Roman" panose="02020603050405020304" pitchFamily="18" charset="0"/>
                <a:cs typeface="Arial" panose="020B0604020202020204" pitchFamily="34" charset="0"/>
              </a:rPr>
              <a:t> largest eigenvalue of the correlation matrix C is the variance in the sample along the </a:t>
            </a:r>
            <a:r>
              <a:rPr lang="en-US" sz="1800" i="1" dirty="0">
                <a:latin typeface="Times New Roman" panose="02020603050405020304" pitchFamily="18" charset="0"/>
                <a:cs typeface="Arial" panose="020B0604020202020204" pitchFamily="34" charset="0"/>
              </a:rPr>
              <a:t>k</a:t>
            </a:r>
            <a:r>
              <a:rPr lang="en-US" sz="1800" baseline="30000" dirty="0">
                <a:latin typeface="Times New Roman" panose="02020603050405020304" pitchFamily="18" charset="0"/>
                <a:cs typeface="Arial" panose="020B0604020202020204" pitchFamily="34" charset="0"/>
              </a:rPr>
              <a:t>th </a:t>
            </a:r>
            <a:r>
              <a:rPr lang="en-US" sz="1800" dirty="0">
                <a:latin typeface="Times New Roman" panose="02020603050405020304" pitchFamily="18" charset="0"/>
                <a:cs typeface="Arial" panose="020B0604020202020204" pitchFamily="34" charset="0"/>
              </a:rPr>
              <a:t>PC</a:t>
            </a:r>
          </a:p>
          <a:p>
            <a:pPr>
              <a:spcBef>
                <a:spcPct val="0"/>
              </a:spcBef>
              <a:buClr>
                <a:srgbClr val="FF0000"/>
              </a:buClr>
            </a:pPr>
            <a:endParaRPr lang="en-US" sz="1800" dirty="0">
              <a:latin typeface="Times New Roman" panose="02020603050405020304" pitchFamily="18" charset="0"/>
              <a:cs typeface="Arial" panose="020B0604020202020204" pitchFamily="34" charset="0"/>
            </a:endParaRPr>
          </a:p>
          <a:p>
            <a:pPr>
              <a:spcBef>
                <a:spcPct val="0"/>
              </a:spcBef>
              <a:buClr>
                <a:srgbClr val="FF0000"/>
              </a:buClr>
            </a:pPr>
            <a:endParaRPr lang="en-US" sz="1800" dirty="0">
              <a:latin typeface="Times New Roman" panose="02020603050405020304" pitchFamily="18" charset="0"/>
              <a:cs typeface="Arial" panose="020B0604020202020204" pitchFamily="34" charset="0"/>
            </a:endParaRPr>
          </a:p>
          <a:p>
            <a:pPr>
              <a:spcBef>
                <a:spcPct val="0"/>
              </a:spcBef>
              <a:buClr>
                <a:srgbClr val="FF0000"/>
              </a:buClr>
            </a:pPr>
            <a:r>
              <a:rPr lang="en-US" sz="1800" dirty="0">
                <a:latin typeface="Times New Roman" panose="02020603050405020304" pitchFamily="18" charset="0"/>
                <a:cs typeface="Arial" panose="020B0604020202020204" pitchFamily="34" charset="0"/>
              </a:rPr>
              <a:t>The least-squares view: PCs are a series of linear least squares fits to a sample, each orthogonal to all previous ones </a:t>
            </a:r>
          </a:p>
        </p:txBody>
      </p:sp>
      <p:sp>
        <p:nvSpPr>
          <p:cNvPr id="608258" name="Rectangle 2"/>
          <p:cNvSpPr>
            <a:spLocks noGrp="1" noChangeArrowheads="1"/>
          </p:cNvSpPr>
          <p:nvPr>
            <p:ph type="title" idx="4294967295"/>
          </p:nvPr>
        </p:nvSpPr>
        <p:spPr>
          <a:xfrm>
            <a:off x="152400" y="142310"/>
            <a:ext cx="6664325" cy="857250"/>
          </a:xfrm>
        </p:spPr>
        <p:txBody>
          <a:bodyPr>
            <a:normAutofit fontScale="90000"/>
          </a:bodyPr>
          <a:lstStyle/>
          <a:p>
            <a:r>
              <a:rPr lang="en-US" dirty="0"/>
              <a:t>PCs, Variance and Least-Squares</a:t>
            </a:r>
          </a:p>
        </p:txBody>
      </p:sp>
      <p:sp>
        <p:nvSpPr>
          <p:cNvPr id="608261" name="Text Box 5"/>
          <p:cNvSpPr txBox="1">
            <a:spLocks noChangeArrowheads="1"/>
          </p:cNvSpPr>
          <p:nvPr/>
        </p:nvSpPr>
        <p:spPr bwMode="auto">
          <a:xfrm>
            <a:off x="1600200" y="3886201"/>
            <a:ext cx="57150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buClr>
                <a:srgbClr val="FF0000"/>
              </a:buClr>
            </a:pPr>
            <a:endParaRPr lang="en-US" sz="1350">
              <a:solidFill>
                <a:srgbClr val="FF0000"/>
              </a:solidFill>
              <a:cs typeface="Arial" panose="020B0604020202020204" pitchFamily="34" charset="0"/>
            </a:endParaRPr>
          </a:p>
          <a:p>
            <a:pPr eaLnBrk="1" hangingPunct="1"/>
            <a:endParaRPr lang="en-US" sz="1350">
              <a:latin typeface="Times New Roman" panose="02020603050405020304" pitchFamily="18"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2293" name="Object 5"/>
          <p:cNvGraphicFramePr>
            <a:graphicFrameLocks noChangeAspect="1"/>
          </p:cNvGraphicFramePr>
          <p:nvPr/>
        </p:nvGraphicFramePr>
        <p:xfrm>
          <a:off x="2160985" y="1148954"/>
          <a:ext cx="4961334" cy="2325290"/>
        </p:xfrm>
        <a:graphic>
          <a:graphicData uri="http://schemas.openxmlformats.org/presentationml/2006/ole">
            <mc:AlternateContent xmlns:mc="http://schemas.openxmlformats.org/markup-compatibility/2006">
              <mc:Choice xmlns:v="urn:schemas-microsoft-com:vml" Requires="v">
                <p:oleObj name="Chart" r:id="rId3" imgW="4667278" imgH="2524285" progId="Excel.Chart.8">
                  <p:embed/>
                </p:oleObj>
              </mc:Choice>
              <mc:Fallback>
                <p:oleObj name="Chart" r:id="rId3" imgW="4667278" imgH="2524285"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0985" y="1148954"/>
                        <a:ext cx="4961334" cy="232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 Placeholder 2"/>
          <p:cNvSpPr>
            <a:spLocks noGrp="1"/>
          </p:cNvSpPr>
          <p:nvPr>
            <p:ph type="body" idx="2"/>
          </p:nvPr>
        </p:nvSpPr>
        <p:spPr/>
        <p:txBody>
          <a:bodyPr/>
          <a:lstStyle/>
          <a:p>
            <a:r>
              <a:rPr lang="en-US" dirty="0"/>
              <a:t>Dimensionality Reduction</a:t>
            </a:r>
            <a:endParaRPr lang="en-IN" dirty="0"/>
          </a:p>
        </p:txBody>
      </p:sp>
      <p:sp>
        <p:nvSpPr>
          <p:cNvPr id="652292" name="Rectangle 4"/>
          <p:cNvSpPr>
            <a:spLocks noChangeArrowheads="1"/>
          </p:cNvSpPr>
          <p:nvPr/>
        </p:nvSpPr>
        <p:spPr bwMode="auto">
          <a:xfrm>
            <a:off x="533400" y="972741"/>
            <a:ext cx="7620000" cy="32754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fontAlgn="base">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buFontTx/>
              <a:buNone/>
            </a:pPr>
            <a:r>
              <a:rPr lang="en-US" sz="1800" dirty="0"/>
              <a:t>Can </a:t>
            </a:r>
            <a:r>
              <a:rPr lang="en-US" sz="1800" i="1" dirty="0">
                <a:solidFill>
                  <a:srgbClr val="0066FF"/>
                </a:solidFill>
              </a:rPr>
              <a:t>ignore </a:t>
            </a:r>
            <a:r>
              <a:rPr lang="en-US" sz="1800" dirty="0">
                <a:solidFill>
                  <a:srgbClr val="0066FF"/>
                </a:solidFill>
              </a:rPr>
              <a:t>the components of lesser significance</a:t>
            </a:r>
            <a:r>
              <a:rPr lang="en-US" sz="1800" dirty="0"/>
              <a:t>. </a:t>
            </a:r>
          </a:p>
          <a:p>
            <a:pPr eaLnBrk="1" hangingPunct="1">
              <a:lnSpc>
                <a:spcPct val="90000"/>
              </a:lnSpc>
              <a:buFontTx/>
              <a:buNone/>
            </a:pPr>
            <a:endParaRPr lang="en-US" sz="1800" dirty="0"/>
          </a:p>
          <a:p>
            <a:pPr eaLnBrk="1" hangingPunct="1">
              <a:lnSpc>
                <a:spcPct val="90000"/>
              </a:lnSpc>
              <a:buFontTx/>
              <a:buNone/>
            </a:pPr>
            <a:r>
              <a:rPr lang="en-US" sz="1800" dirty="0"/>
              <a:t>	</a:t>
            </a:r>
          </a:p>
          <a:p>
            <a:pPr eaLnBrk="1" hangingPunct="1">
              <a:lnSpc>
                <a:spcPct val="90000"/>
              </a:lnSpc>
              <a:buFontTx/>
              <a:buNone/>
            </a:pPr>
            <a:endParaRPr lang="en-US" sz="1800" dirty="0"/>
          </a:p>
          <a:p>
            <a:pPr eaLnBrk="1" hangingPunct="1">
              <a:lnSpc>
                <a:spcPct val="90000"/>
              </a:lnSpc>
              <a:buFontTx/>
              <a:buNone/>
            </a:pPr>
            <a:endParaRPr lang="en-US" sz="1800" dirty="0"/>
          </a:p>
          <a:p>
            <a:pPr eaLnBrk="1" hangingPunct="1">
              <a:lnSpc>
                <a:spcPct val="90000"/>
              </a:lnSpc>
              <a:buFontTx/>
              <a:buNone/>
            </a:pPr>
            <a:endParaRPr lang="en-US" sz="1800" dirty="0"/>
          </a:p>
          <a:p>
            <a:pPr eaLnBrk="1" hangingPunct="1">
              <a:lnSpc>
                <a:spcPct val="90000"/>
              </a:lnSpc>
              <a:buFontTx/>
              <a:buNone/>
            </a:pPr>
            <a:endParaRPr lang="en-US" sz="1800" dirty="0"/>
          </a:p>
          <a:p>
            <a:pPr eaLnBrk="1" hangingPunct="1">
              <a:lnSpc>
                <a:spcPct val="90000"/>
              </a:lnSpc>
              <a:buFontTx/>
              <a:buNone/>
            </a:pPr>
            <a:endParaRPr lang="en-US" sz="1800" dirty="0"/>
          </a:p>
          <a:p>
            <a:pPr eaLnBrk="1" hangingPunct="1">
              <a:lnSpc>
                <a:spcPct val="90000"/>
              </a:lnSpc>
              <a:buFontTx/>
              <a:buNone/>
            </a:pPr>
            <a:r>
              <a:rPr lang="en-US" sz="1800" dirty="0"/>
              <a:t>Do </a:t>
            </a:r>
            <a:r>
              <a:rPr lang="en-US" sz="1800" dirty="0">
                <a:solidFill>
                  <a:srgbClr val="0066FF"/>
                </a:solidFill>
              </a:rPr>
              <a:t>lose some information</a:t>
            </a:r>
            <a:r>
              <a:rPr lang="en-US" sz="1800" dirty="0"/>
              <a:t>, but if eigenvalues are small, don’t lose much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p:txBody>
          <a:bodyPr/>
          <a:lstStyle/>
          <a:p>
            <a:r>
              <a:rPr lang="en-US" dirty="0"/>
              <a:t>Randomized PCA</a:t>
            </a:r>
            <a:endParaRPr lang="en-IN" dirty="0"/>
          </a:p>
        </p:txBody>
      </p:sp>
      <p:pic>
        <p:nvPicPr>
          <p:cNvPr id="4" name="Picture 3"/>
          <p:cNvPicPr>
            <a:picLocks noChangeAspect="1"/>
          </p:cNvPicPr>
          <p:nvPr/>
        </p:nvPicPr>
        <p:blipFill>
          <a:blip r:embed="rId3"/>
          <a:stretch>
            <a:fillRect/>
          </a:stretch>
        </p:blipFill>
        <p:spPr>
          <a:xfrm>
            <a:off x="381000" y="1123950"/>
            <a:ext cx="8385647" cy="3505200"/>
          </a:xfrm>
          <a:prstGeom prst="rect">
            <a:avLst/>
          </a:prstGeom>
        </p:spPr>
      </p:pic>
    </p:spTree>
    <p:extLst>
      <p:ext uri="{BB962C8B-B14F-4D97-AF65-F5344CB8AC3E}">
        <p14:creationId xmlns:p14="http://schemas.microsoft.com/office/powerpoint/2010/main" val="20608364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z_1&#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1)}&#10;$&#10;&#10;\end{document}"/>
  <p:tag name="IGUANATEXSIZE" val="26"/>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rightarrow z^{(1)}&#10;$&#10;&#10;\end{document}"/>
  <p:tag name="IGUANATEXSIZE" val="26"/>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rightarrow z^{(2)}&#10;$&#10;&#10;\end{document}"/>
  <p:tag name="IGUANATEXSIZE" val="26"/>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2)}&#10;$&#10;&#10;\end{document}"/>
  <p:tag name="IGUANATEXSIZE" val="26"/>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m)}&#10;$&#10;&#10;\end{document}"/>
  <p:tag name="IGUANATEXSIZE" val="26"/>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rightarrow z^{(m)}&#10;$&#10;&#10;\end{document}"/>
  <p:tag name="IGUANATEXSIZE" val="26"/>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vdots&#10;$&#10;&#10;\end{document}"/>
  <p:tag name="IGUANATEXSIZE" val="26"/>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1&#10;$&#10;&#10;\end{document}"/>
  <p:tag name="IGUANATEXSIZE" val="2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2&#10;$&#10;&#10;\end{document}"/>
  <p:tag name="IGUANATEXSIZE" val="20"/>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19604</TotalTime>
  <Words>3297</Words>
  <Application>Microsoft Office PowerPoint</Application>
  <PresentationFormat>On-screen Show (16:9)</PresentationFormat>
  <Paragraphs>257</Paragraphs>
  <Slides>23</Slides>
  <Notes>23</Notes>
  <HiddenSlides>11</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34" baseType="lpstr">
      <vt:lpstr>Arial</vt:lpstr>
      <vt:lpstr>Calibri</vt:lpstr>
      <vt:lpstr>Cambria Math</vt:lpstr>
      <vt:lpstr>Lucida Grande</vt:lpstr>
      <vt:lpstr>Symbol</vt:lpstr>
      <vt:lpstr>Tahoma</vt:lpstr>
      <vt:lpstr>Times New Roman</vt:lpstr>
      <vt:lpstr>Wingdings</vt:lpstr>
      <vt:lpstr>1_Office Theme</vt:lpstr>
      <vt:lpstr>3_Office Theme</vt:lpstr>
      <vt:lpstr>Chart</vt:lpstr>
      <vt:lpstr>Advanced Deep Learning ZG513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Computing the Components</vt:lpstr>
      <vt:lpstr>Why the Eigenvectors?</vt:lpstr>
      <vt:lpstr>PowerPoint Presentation</vt:lpstr>
      <vt:lpstr>Computing the Components</vt:lpstr>
      <vt:lpstr>PCs, Variance and Least-Squares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Biases and Fairness</dc:title>
  <dc:creator>bits</dc:creator>
  <cp:lastModifiedBy>Aakash Goel (DSAI)</cp:lastModifiedBy>
  <cp:revision>155</cp:revision>
  <dcterms:created xsi:type="dcterms:W3CDTF">2021-03-10T15:42:36Z</dcterms:created>
  <dcterms:modified xsi:type="dcterms:W3CDTF">2026-01-03T12:49:22Z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LastSaved">
    <vt:filetime>2021-03-10T00:00:00Z</vt:filetime>
  </property>
</Properties>
</file>